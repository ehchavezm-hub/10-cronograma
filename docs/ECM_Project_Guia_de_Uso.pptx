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</p:sldIdLst>
  <p:notesMasterIdLst>
    <p:notesMasterId r:id="rId10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notesMaster" Target="notesMasters/notesMaster1.xml"/><Relationship Id="rId106" Type="http://schemas.openxmlformats.org/officeDocument/2006/relationships/presProps" Target="presProps.xml"/><Relationship Id="rId107" Type="http://schemas.openxmlformats.org/officeDocument/2006/relationships/viewProps" Target="viewProps.xml"/><Relationship Id="rId108" Type="http://schemas.openxmlformats.org/officeDocument/2006/relationships/theme" Target="theme/theme1.xml"/><Relationship Id="rId10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9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image" Target="../media/image-9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image" Target="../media/image-9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image" Target="../media/image-9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image" Target="../media/image-9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image" Target="../media/image-10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image" Target="../media/image-10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image" Target="../media/image-10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56032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54864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 Project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Usuario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de Proyectos · Gantt · CPM · DCMA · EVM · Sincronización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640080"/>
            <a:ext cx="411480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Introducción y Primer Uso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Interfaz Principal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Vista Gantt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EDT — Tabla de Tareas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Estructura de Proyectos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Red CPM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Análisis DCMA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Valor Ganado EVM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640080"/>
            <a:ext cx="411480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Sincronización en la Nube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Recursos y Calendario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Línea Base e Historial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Edición de Tareas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Tema Oscuro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· Exportar e Imprimir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· Pantalla Grande 1920×1080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· Comparativas y Cierre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194560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" y="45720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5544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 y Primer Uso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24231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puede hacer ECM Project por tu proyecto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 Project — Gestor de Proyectos Completo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82880" y="548640"/>
            <a:ext cx="40233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 con diagrama de Gantt interactivo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la ruta crítica con Red CPM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Evalúa el avance con metodología DCMA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Mide el valor ganado con EVM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 en la nube en tiempo real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 a PDF, Excel y PNG</a:t>
            </a:r>
            <a:endParaRPr lang="en-US" sz="1050" dirty="0"/>
          </a:p>
        </p:txBody>
      </p:sp>
      <p:pic>
        <p:nvPicPr>
          <p:cNvPr id="6" name="Image 0" descr="/tmp/claude-0/-home-user-10-cronograma/f53744eb-0c7b-42b0-ad19-f4c48856525d/scratchpad/screens/A01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397889"/>
            <a:ext cx="4572000" cy="25717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389120" y="486460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principal — ECM Project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General de ECM Project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A01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principal con proyecto cargado en 1600×900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un Proyecto Nuevo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82880" y="548640"/>
            <a:ext cx="40233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el botón "Nuevo Proyecto" en la barra de herramientas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Ingresa el nombre y las fechas del proyecto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 tareas en la tabla EDT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dependencias entre tareas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diagrama Gantt se actualiza automáticamente</a:t>
            </a:r>
            <a:endParaRPr lang="en-US" sz="1050" dirty="0"/>
          </a:p>
        </p:txBody>
      </p:sp>
      <p:pic>
        <p:nvPicPr>
          <p:cNvPr id="6" name="Image 0" descr="/tmp/claude-0/-home-user-10-cronograma/f53744eb-0c7b-42b0-ad19-f4c48856525d/scratchpad/screens/C08-nuevo-proyec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397889"/>
            <a:ext cx="4572000" cy="25717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389120" y="486460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de nuevo proyecto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194560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" y="45720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5544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Principal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24231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Anatomía y componentes de la pantalla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Anatomía de la Interfaz Principal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A01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superior · Herramientas · Filtros · Panel WBS · Gantt · Barra de estado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Superior y Barra de Herramientas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A03-top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590324"/>
            <a:ext cx="4343400" cy="141161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A04-toolb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586779"/>
            <a:ext cx="4343400" cy="14825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superior — acciones globales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de herramientas — operaciones de proyecto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de Filtros y Barra de Estado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A05-filter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599396"/>
            <a:ext cx="4343400" cy="123016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A06-statusb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625614"/>
            <a:ext cx="4343400" cy="705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— vistas y ruta crítica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de estado — estadísticas en tiempo real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WBS y Panel Gráfico Gantt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A07-wb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739" y="512064"/>
            <a:ext cx="3516802" cy="4297680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A08-gantt-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0620" y="512064"/>
            <a:ext cx="4320479" cy="42976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tareas (WBS)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barras Gantt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Lateral — Explorador de Proyecto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82880" y="548640"/>
            <a:ext cx="40233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Accede al árbol de estructura del proyecto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 entre las vistas disponibles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Colapsa el panel para ampliar el área de trabajo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en todas las vistas principales</a:t>
            </a:r>
            <a:endParaRPr lang="en-US" sz="1050" dirty="0"/>
          </a:p>
        </p:txBody>
      </p:sp>
      <p:pic>
        <p:nvPicPr>
          <p:cNvPr id="6" name="Image 0" descr="/tmp/claude-0/-home-user-10-cronograma/f53744eb-0c7b-42b0-ad19-f4c48856525d/scratchpad/screens/A02-side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0432" y="512064"/>
            <a:ext cx="1169377" cy="4343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389120" y="486460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lateral izquierdo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194560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" y="45720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5544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Gantt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24231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visual con barras de tiempo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Gantt — Diagrama Completo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B07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de tiempo con colores según estado de cada tarea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WBS — Tabla de Tareas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A07-wb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739" y="512064"/>
            <a:ext cx="3516802" cy="4297680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A08-gantt-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0620" y="512064"/>
            <a:ext cx="4320479" cy="42976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EDT con jerarquía de tareas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Gantt sincronizadas con la tabla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de Vista Gantt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82880" y="548640"/>
            <a:ext cx="40233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tareas — vista completa del proyecto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crítica — resalta las tareas críticas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completadas — seguimiento del avance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Hitos — puntos de control del proyecto</a:t>
            </a:r>
            <a:endParaRPr lang="en-US" sz="1050" dirty="0"/>
          </a:p>
        </p:txBody>
      </p:sp>
      <p:pic>
        <p:nvPicPr>
          <p:cNvPr id="6" name="Image 0" descr="/tmp/claude-0/-home-user-10-cronograma/f53744eb-0c7b-42b0-ad19-f4c48856525d/scratchpad/screens/E02-ruta-crit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397889"/>
            <a:ext cx="4572000" cy="25717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389120" y="486460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de ruta crítica activado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de Zoom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D01-zoom-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39323"/>
            <a:ext cx="4343400" cy="2443163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D03-zoom-o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39323"/>
            <a:ext cx="4343400" cy="244316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acercado — detalle diario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alejado — vista del proyecto completo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Automático y Ruta Crítica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D02-zoom-f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39323"/>
            <a:ext cx="4343400" cy="2443163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E02-ruta-critic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39323"/>
            <a:ext cx="4343400" cy="244316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automático al proyecto completo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crítica resaltada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Colapsado — Máximo Espacio para Gantt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E01-sidebar-colaps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lateral colapsado para ampliar el diagrama de barras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194560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" y="45720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5544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 — Tabla de Tareas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24231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Edición estructurada de la jerarquía de tareas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EDT — Tabla de Tareas Completa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B01-ed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Edición de tareas, fechas, duraciones y dependencias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Edición de Tareas en EDT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82880" y="548640"/>
            <a:ext cx="40233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Doble clic en una celda para editar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nombre, fechas de inicio y fin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 la duración y el porcentaje completado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predecesoras para la cadena de dependencias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cambios se reflejan inmediatamente en el Gantt</a:t>
            </a:r>
            <a:endParaRPr lang="en-US" sz="1050" dirty="0"/>
          </a:p>
        </p:txBody>
      </p:sp>
      <p:pic>
        <p:nvPicPr>
          <p:cNvPr id="6" name="Image 0" descr="/tmp/claude-0/-home-user-10-cronograma/f53744eb-0c7b-42b0-ad19-f4c48856525d/scratchpad/screens/B01-ed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397889"/>
            <a:ext cx="4572000" cy="25717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389120" y="486460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EDT con tareas editables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Configurables de la Tabla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82880" y="548640"/>
            <a:ext cx="40233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 o desactiva columnas según tus necesidades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Nombre, Inicio, Fin, Duración, % Completado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Predecesoras, Responsable, Notas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columnas seleccionadas persisten entre sesiones</a:t>
            </a:r>
            <a:endParaRPr lang="en-US" sz="1050" dirty="0"/>
          </a:p>
        </p:txBody>
      </p:sp>
      <p:pic>
        <p:nvPicPr>
          <p:cNvPr id="6" name="Image 0" descr="/tmp/claude-0/-home-user-10-cronograma/f53744eb-0c7b-42b0-ad19-f4c48856525d/scratchpad/screens/C10-column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397889"/>
            <a:ext cx="4572000" cy="25717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389120" y="486460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 de columnas visibles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Tarea — Modal Completo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C11-task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atributos de la tarea en un panel dedicado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EDT en Pantalla Grande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82880" y="548640"/>
            <a:ext cx="40233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espacio para ver más tareas simultáneamente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proyectos con muchas actividades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adicionales visibles sin desplazamiento</a:t>
            </a:r>
            <a:endParaRPr lang="en-US" sz="1050" dirty="0"/>
          </a:p>
        </p:txBody>
      </p:sp>
      <p:pic>
        <p:nvPicPr>
          <p:cNvPr id="6" name="Image 0" descr="/tmp/claude-0/-home-user-10-cronograma/f53744eb-0c7b-42b0-ad19-f4c48856525d/scratchpad/screens/F02-edt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397889"/>
            <a:ext cx="4572000" cy="25717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389120" y="486460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 en resolución 1920×1080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194560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" y="45720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5544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Proyectos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24231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jerárquico visual del proyecto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Proyectos — Vista Árbol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B02-estru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Representación jerárquica visual de todas las tareas y subtareas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Proyectos — Detalle del Canvas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B02b-estructura-canv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1659" y="512064"/>
            <a:ext cx="4360681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Nodos y conexiones de la jerarquía de tareas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Usar la Estructura de Proyectos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82880" y="548640"/>
            <a:ext cx="40233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desde el botón "Estructura de Proyectos" en la barra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se muestra en pantalla completa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 haciendo clic en los nodos del árbol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 relaciones padre-hijo de las tareas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Cierra con el botón de cerrar o presiona Escape</a:t>
            </a:r>
            <a:endParaRPr lang="en-US" sz="1050" dirty="0"/>
          </a:p>
        </p:txBody>
      </p:sp>
      <p:pic>
        <p:nvPicPr>
          <p:cNvPr id="6" name="Image 0" descr="/tmp/claude-0/-home-user-10-cronograma/f53744eb-0c7b-42b0-ad19-f4c48856525d/scratchpad/screens/B02-estru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397889"/>
            <a:ext cx="4572000" cy="25717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389120" y="486460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Estructura de Proyectos activa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Proyectos — Claro y Oscuro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B02-estru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39323"/>
            <a:ext cx="4343400" cy="2443163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D06-dark-estructur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39323"/>
            <a:ext cx="4343400" cy="244316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claro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oscuro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194560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" y="45720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5544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24231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precedencias y ruta crítica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 — Diagrama de Precedencias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B03-red-cp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Nodos y flechas que representan la secuencia de actividades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 — Detalle del Diagrama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B03b-cpm-canv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1659" y="512064"/>
            <a:ext cx="4360681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Nodos con fechas tempranas y tardías, holguras y ruta crítica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Leer la Red CPM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82880" y="548640"/>
            <a:ext cx="40233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nodo representa una actividad del proyecto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flechas muestran las dependencias entre actividades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ruta crítica se resalta con color diferenciado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holguras indican el margen de tiempo disponible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en pantalla completa para mejor visualización</a:t>
            </a:r>
            <a:endParaRPr lang="en-US" sz="1050" dirty="0"/>
          </a:p>
        </p:txBody>
      </p:sp>
      <p:pic>
        <p:nvPicPr>
          <p:cNvPr id="6" name="Image 0" descr="/tmp/claude-0/-home-user-10-cronograma/f53744eb-0c7b-42b0-ad19-f4c48856525d/scratchpad/screens/B03-red-cp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397889"/>
            <a:ext cx="4572000" cy="25717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389120" y="486460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 con ruta crítica visible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 en Laptop — 1366×768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G06-cpm-13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315" y="512064"/>
            <a:ext cx="772537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Adaptación de la Red CPM a pantalla de laptop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194560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" y="45720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5544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DCMA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24231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puntos de control de calidad del cronograma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DCMA — Análisis de Calidad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B04-dc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los 14 indicadores de calidad del cronograma DCMA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Lateral DCMA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C03-dcma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39323"/>
            <a:ext cx="4343400" cy="2443163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C03b-dcma-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531620"/>
            <a:ext cx="4343400" cy="22585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lateral DCMA abierto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indicadores DCMA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14 Puntos DCMA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82880" y="548640"/>
            <a:ext cx="40233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faltante · Dependencias inversas · Leads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Lags · Relaciones no FS · Fechas fijas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de alta duración · Tareas incompletas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Hitos mal clasificados · Línea base faltante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Progreso inválido · Holgura negativa total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faltantes · Holgura total alta</a:t>
            </a:r>
            <a:endParaRPr lang="en-US" sz="1050" dirty="0"/>
          </a:p>
        </p:txBody>
      </p:sp>
      <p:pic>
        <p:nvPicPr>
          <p:cNvPr id="6" name="Image 0" descr="/tmp/claude-0/-home-user-10-cronograma/f53744eb-0c7b-42b0-ad19-f4c48856525d/scratchpad/screens/B04-dc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397889"/>
            <a:ext cx="4572000" cy="25717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389120" y="486460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DCMA con semáforo de cumplimiento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DCMA en 1920×1080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F05-dcma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DCMA en resolución completa con más detalles visibles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DCMA — Modo Claro y Oscuro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B04-dc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39323"/>
            <a:ext cx="4343400" cy="2443163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D08-dark-dcm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39323"/>
            <a:ext cx="4343400" cy="244316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DCMA en modo claro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DCMA en modo oscuro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194560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" y="45720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5544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Ganado EVM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24231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Medición de desempeño de costo y cronograma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EVM — Valor Ganado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B05-ev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Curvas S de PV, EV y AC con KPIs de desempeño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Lateral EVM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C04-evm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39323"/>
            <a:ext cx="4343400" cy="2443163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C04b-evm-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531620"/>
            <a:ext cx="4343400" cy="22585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lateral EVM abierto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índices de desempeño</a:t>
            </a:r>
            <a:endParaRPr lang="en-US" sz="8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Clave de EVM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82880" y="548640"/>
            <a:ext cx="40233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— Valor Planificado (línea base de costo)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— Valor Ganado (trabajo realizado)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— Costo Real (gasto incurrido)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 — Índice de Desempeño del Cronograma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 — Índice de Desempeño del Costo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 — Variación a la Conclusión</a:t>
            </a:r>
            <a:endParaRPr lang="en-US" sz="1050" dirty="0"/>
          </a:p>
        </p:txBody>
      </p:sp>
      <p:pic>
        <p:nvPicPr>
          <p:cNvPr id="6" name="Image 0" descr="/tmp/claude-0/-home-user-10-cronograma/f53744eb-0c7b-42b0-ad19-f4c48856525d/scratchpad/screens/B05-ev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397889"/>
            <a:ext cx="4572000" cy="25717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389120" y="486460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Curvas S y KPIs de valor ganado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EVM en 1920×1080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F06-evm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Curvas S con mayor detalle en resolución completa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EVM — Modo Claro y Oscuro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B05-ev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39323"/>
            <a:ext cx="4343400" cy="2443163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D09-dark-ev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39323"/>
            <a:ext cx="4343400" cy="244316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EVM en modo claro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EVM en modo oscuro</a:t>
            </a:r>
            <a:endParaRPr lang="en-US" sz="8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194560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" y="45720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5544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Sincronización en la Nube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24231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colaborativo en tiempo real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Sincronización — Estado de la Nube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B06-sy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conexión y sincronización del proyecto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 la Sincronización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82880" y="548640"/>
            <a:ext cx="40233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 tu proyecto a la nube con un clic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cambios se sincronizan automáticamente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 en equipo desde diferentes dispositivos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historial de cambios queda registrado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con o sin conexión (modo offline)</a:t>
            </a:r>
            <a:endParaRPr lang="en-US" sz="1050" dirty="0"/>
          </a:p>
        </p:txBody>
      </p:sp>
      <p:pic>
        <p:nvPicPr>
          <p:cNvPr id="6" name="Image 0" descr="/tmp/claude-0/-home-user-10-cronograma/f53744eb-0c7b-42b0-ad19-f4c48856525d/scratchpad/screens/B06-sy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397889"/>
            <a:ext cx="4572000" cy="25717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389120" y="486460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sincronización activo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Sincronización — Claro y Oscuro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B06-sy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39323"/>
            <a:ext cx="4343400" cy="2443163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D10-dark-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39323"/>
            <a:ext cx="4343400" cy="244316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Sincronización en modo claro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Sincronización en modo oscuro</a:t>
            </a:r>
            <a:endParaRPr lang="en-US" sz="8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Sincronización en 1920×1080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F07-sync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del panel de sincronización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194560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" y="45720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5544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y Calendario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24231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recursos y jornada laboral</a:t>
            </a:r>
            <a:endParaRPr lang="en-US" sz="1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de Gestión de Recursos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C07-recurs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y asigna recursos a las tareas del proyecto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de Calendario Laboral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C06-calend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 los días hábiles, feriados y horarios de trabajo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y Calendario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C07-recurs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39323"/>
            <a:ext cx="4343400" cy="2443163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C06-calendar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39323"/>
            <a:ext cx="4343400" cy="244316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recursos del proyecto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del calendario laboral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Recursos en 1920×1080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F12-recursos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de recursos con mayor espacio de visualización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194560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" y="45720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5544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Base e Historial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24231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cambios y seguimiento del plan original</a:t>
            </a:r>
            <a:endParaRPr lang="en-US" sz="14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de Línea Base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C02-linea-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y gestiona la línea base del cronograma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Base del Proyecto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82880" y="548640"/>
            <a:ext cx="40233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una fotografía del estado actual del proyecto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el avance real contra el plan original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 las variaciones de fechas y duraciones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Múltiples líneas base para diferentes versiones del plan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 para la medición de valor ganado EVM</a:t>
            </a:r>
            <a:endParaRPr lang="en-US" sz="1050" dirty="0"/>
          </a:p>
        </p:txBody>
      </p:sp>
      <p:pic>
        <p:nvPicPr>
          <p:cNvPr id="6" name="Image 0" descr="/tmp/claude-0/-home-user-10-cronograma/f53744eb-0c7b-42b0-ad19-f4c48856525d/scratchpad/screens/C02-linea-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397889"/>
            <a:ext cx="4572000" cy="25717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389120" y="486460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de gestión de línea base</a:t>
            </a:r>
            <a:endParaRPr lang="en-US" sz="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Historial de Cambios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C05-histor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completo de todas las modificaciones del proyecto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Base e Historial de Cambios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C02-linea-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39323"/>
            <a:ext cx="4343400" cy="2443163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C05b-historial-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531620"/>
            <a:ext cx="4343400" cy="22585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base guardada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historial de cambios</a:t>
            </a:r>
            <a:endParaRPr lang="en-US" sz="8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194560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" y="45720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5544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Edición de Tareas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24231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detalle y edición avanzada</a:t>
            </a:r>
            <a:endParaRPr lang="en-US" sz="14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de Detalle de Tarea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C11-task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atributos editables de una tarea en un panel completo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Editables de una Tarea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82880" y="548640"/>
            <a:ext cx="40233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y código de la tarea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Fechas de inicio y fin planificadas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en días hábiles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Porcentaje de avance (0-100%)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Predecesoras y tipo de dependencia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Responsable, recursos y notas</a:t>
            </a:r>
            <a:endParaRPr lang="en-US" sz="1050" dirty="0"/>
          </a:p>
        </p:txBody>
      </p:sp>
      <p:pic>
        <p:nvPicPr>
          <p:cNvPr id="6" name="Image 0" descr="/tmp/claude-0/-home-user-10-cronograma/f53744eb-0c7b-42b0-ad19-f4c48856525d/scratchpad/screens/C11-task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397889"/>
            <a:ext cx="4572000" cy="25717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389120" y="486460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detalle con todos los campos</a:t>
            </a:r>
            <a:endParaRPr lang="en-US" sz="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Edición Rápida y Detalle Completo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B01-ed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39323"/>
            <a:ext cx="4343400" cy="2443163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C11-task-de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39323"/>
            <a:ext cx="4343400" cy="244316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Edición rápida en la tabla EDT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de detalle completo de la tarea</a:t>
            </a:r>
            <a:endParaRPr lang="en-US" sz="8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Dependencias entre Tareas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82880" y="548640"/>
            <a:ext cx="40233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 — Fin a Inicio (la más común)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 — Fin a Fin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 — Inicio a Inicio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 — Inicio a Fin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(adelantos) y Lags (retrasos)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dependencias se visualizan como flechas en el Gantt</a:t>
            </a:r>
            <a:endParaRPr lang="en-US" sz="1050" dirty="0"/>
          </a:p>
        </p:txBody>
      </p:sp>
      <p:pic>
        <p:nvPicPr>
          <p:cNvPr id="6" name="Image 0" descr="/tmp/claude-0/-home-user-10-cronograma/f53744eb-0c7b-42b0-ad19-f4c48856525d/scratchpad/screens/B01-ed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397889"/>
            <a:ext cx="4572000" cy="25717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389120" y="486460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EDT con dependencias entre tareas</a:t>
            </a:r>
            <a:endParaRPr lang="en-US" sz="8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194560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" y="45720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5544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Oscuro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24231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adaptada para trabajo nocturno y presentaciones</a:t>
            </a:r>
            <a:endParaRPr lang="en-US" sz="14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 en Modo Oscuro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D04-dark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principal de ECM Project en tema oscuro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 en Modo Oscuro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D05-dark-ed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tareas con fondo oscuro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Proyectos en Modo Oscuro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D06-dark-estru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de jerarquía con tema oscuro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 en Modo Oscuro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D07-dark-cp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precedencias en tema oscuro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DCMA en Modo Oscuro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D08-dark-dc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calidad del cronograma con tema oscuro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EVM en Modo Oscuro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D09-dark-ev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ganado y curvas S en tema oscuro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Sincronización en Modo Oscuro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D10-dark-sy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sincronización con tema oscuro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Paneles Laterales en Modo Oscuro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D11-dark-dcma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39323"/>
            <a:ext cx="4343400" cy="2443163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D12-dark-evm-pan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39323"/>
            <a:ext cx="4343400" cy="244316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DCMA en modo oscuro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EVM en modo oscuro</a:t>
            </a:r>
            <a:endParaRPr lang="en-US" sz="8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194560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" y="45720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5544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e Imprimir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24231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Comparte tu proyecto en múltiples formatos</a:t>
            </a:r>
            <a:endParaRPr lang="en-US" sz="14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de Exportación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C01-expor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Opciones para exportar el proyecto a distintos formatos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Formatos de Exportación Disponibles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82880" y="548640"/>
            <a:ext cx="40233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— Documento listo para imprimir o compartir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Excel/CSV — Datos tabulares para análisis externo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 — Imagen del diagrama Gantt en alta resolución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modal permite configurar opciones de exportación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Compatible con herramientas externas de gestión</a:t>
            </a:r>
            <a:endParaRPr lang="en-US" sz="1050" dirty="0"/>
          </a:p>
        </p:txBody>
      </p:sp>
      <p:pic>
        <p:nvPicPr>
          <p:cNvPr id="6" name="Image 0" descr="/tmp/claude-0/-home-user-10-cronograma/f53744eb-0c7b-42b0-ad19-f4c48856525d/scratchpad/screens/C01-expor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397889"/>
            <a:ext cx="4572000" cy="25717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389120" y="486460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con opciones de exportación</a:t>
            </a:r>
            <a:endParaRPr lang="en-US" sz="8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en 1920×1080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F13-exportar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de exportación con mayor detalle de opciones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Base en 1920×1080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F14-baseline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de línea base con mayor espacio de visualización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194560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" y="45720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5544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Grande 1920×1080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24231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 Project en resolución Full HD</a:t>
            </a:r>
            <a:endParaRPr lang="en-US" sz="14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 en 1920×1080 — Vista Completa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F01-gantt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Gantt con más tareas y columnas visibles en Full HD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Tareas en 1920×1080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F01b-wbs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2553" y="512064"/>
            <a:ext cx="3538894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WBS ampliada con columnas adicionales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 en 1920×1080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F02-edt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 edición de tareas en pantalla completa Full HD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Proyectos en 1920×1080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F03-estructura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de jerarquía con mayor espacio de canvas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 en 1920×1080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F04-cpm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precedencias con más nodos visibles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DCMA en 1920×1080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F05-dcma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DCMA con panel expandido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EVM en 1920×1080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F06-evm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Curvas S de valor ganado con mayor resolución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54864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Sincronización en 1920×1080</a:t>
            </a:r>
            <a:endParaRPr lang="en-US" sz="1300" dirty="0"/>
          </a:p>
        </p:txBody>
      </p:sp>
      <p:pic>
        <p:nvPicPr>
          <p:cNvPr id="5" name="Image 0" descr="/tmp/claude-0/-home-user-10-cronograma/f53744eb-0c7b-42b0-ad19-f4c48856525d/scratchpad/screens/F07-sync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512064"/>
            <a:ext cx="772160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" y="4800600"/>
            <a:ext cx="8961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sincronización en Full HD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Paneles Laterales en 1920×1080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F08-dcma-panel-19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39323"/>
            <a:ext cx="4343400" cy="2443163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F09-evm-panel-19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39323"/>
            <a:ext cx="4343400" cy="244316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DCMA en Full HD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EVM en Full HD</a:t>
            </a:r>
            <a:endParaRPr lang="en-US" sz="8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194560"/>
            <a:ext cx="91440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" y="45720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5544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Comparativas y Cierre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24231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visual y próximos pasos</a:t>
            </a:r>
            <a:endParaRPr lang="en-US" sz="14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 — Modo Claro vs Oscuro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B07-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39323"/>
            <a:ext cx="4343400" cy="2443163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D04-dark-gant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39323"/>
            <a:ext cx="4343400" cy="244316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claro — 1600×900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oscuro — 1600×900</a:t>
            </a:r>
            <a:endParaRPr lang="en-US" sz="8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DCMA — Comparativa de Resoluciones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B04-dc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39323"/>
            <a:ext cx="4343400" cy="2443163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F05-dcma-19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39323"/>
            <a:ext cx="4343400" cy="244316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DCMA en 1600×900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DCMA en 1920×1080</a:t>
            </a:r>
            <a:endParaRPr lang="en-US" sz="85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EVM — Comparativa de Resoluciones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B05-ev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39323"/>
            <a:ext cx="4343400" cy="2443163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F06-evm-19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39323"/>
            <a:ext cx="4343400" cy="244316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EVM en 1600×900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EVM en 1920×1080</a:t>
            </a:r>
            <a:endParaRPr lang="en-US" sz="85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 — Resoluciones Múltiples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B03-red-cp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39323"/>
            <a:ext cx="4343400" cy="2443163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G06-cpm-136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39919"/>
            <a:ext cx="4343400" cy="244197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 en 1600×900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 en laptop 1366×768</a:t>
            </a:r>
            <a:endParaRPr lang="en-US" sz="85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Proyectos — Resoluciones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B02-estru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39323"/>
            <a:ext cx="4343400" cy="2443163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F03-estructura-19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39323"/>
            <a:ext cx="4343400" cy="244316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en 1600×900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en 1920×1080</a:t>
            </a:r>
            <a:endParaRPr lang="en-US" sz="85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Sincronización — Claro y 1920×1080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B06-sy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39323"/>
            <a:ext cx="4343400" cy="2443163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F07-sync-19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39323"/>
            <a:ext cx="4343400" cy="244316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Sincronización modo claro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Sincronización en Full HD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 1366×768 — Vistas Principales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G01-gantt-13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39919"/>
            <a:ext cx="4343400" cy="2441970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G02-edt-136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39919"/>
            <a:ext cx="4343400" cy="244197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 en laptop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 en laptop</a:t>
            </a:r>
            <a:endParaRPr lang="en-US" sz="85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 1366×768 — Análisis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G03-dcma-13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39919"/>
            <a:ext cx="4343400" cy="2441970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G04-evm-136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39919"/>
            <a:ext cx="4343400" cy="244197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DCMA en laptop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EVM en laptop</a:t>
            </a:r>
            <a:endParaRPr lang="en-US" sz="85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 1366×768 — Estructura y CPM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G05-estructura-13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39919"/>
            <a:ext cx="4343400" cy="2441970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G06-cpm-136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39919"/>
            <a:ext cx="4343400" cy="244197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proyectos en laptop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CPM en laptop</a:t>
            </a:r>
            <a:endParaRPr lang="en-US" sz="85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37744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731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A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 Project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profesional de proyectos con Gantt, CPM, DCMA, EVM y Sincronización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 · Analiza · Controla · Sincroniza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Usuario · 2026</a:t>
            </a:r>
            <a:endParaRPr lang="en-US" sz="10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82880" y="73152"/>
            <a:ext cx="8778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Modales — Exportar y Línea Base</a:t>
            </a:r>
            <a:endParaRPr lang="en-US" sz="1400" dirty="0"/>
          </a:p>
        </p:txBody>
      </p:sp>
      <p:pic>
        <p:nvPicPr>
          <p:cNvPr id="5" name="Image 0" descr="/tmp/claude-0/-home-user-10-cronograma/f53744eb-0c7b-42b0-ad19-f4c48856525d/scratchpad/screens/C01-expor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439323"/>
            <a:ext cx="4343400" cy="2443163"/>
          </a:xfrm>
          <a:prstGeom prst="rect">
            <a:avLst/>
          </a:prstGeom>
        </p:spPr>
      </p:pic>
      <p:pic>
        <p:nvPicPr>
          <p:cNvPr id="6" name="Image 1" descr="/tmp/claude-0/-home-user-10-cronograma/f53744eb-0c7b-42b0-ad19-f4c48856525d/scratchpad/screens/C02-linea-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439323"/>
            <a:ext cx="4343400" cy="244316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exportar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4846320"/>
            <a:ext cx="4343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línea base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oomberg">
  <a:themeElements>
    <a:clrScheme name="Bloomberg">
      <a:dk1>
        <a:srgbClr val="111111"/>
      </a:dk1>
      <a:lt1>
        <a:srgbClr val="FFFFFF"/>
      </a:lt1>
      <a:dk2>
        <a:srgbClr val="222222"/>
      </a:dk2>
      <a:lt2>
        <a:srgbClr val="F5F5F5"/>
      </a:lt2>
      <a:accent1>
        <a:srgbClr val="FFA028"/>
      </a:accent1>
      <a:accent2>
        <a:srgbClr val="1976D2"/>
      </a:accent2>
      <a:accent3>
        <a:srgbClr val="D32F2F"/>
      </a:accent3>
      <a:accent4>
        <a:srgbClr val="388E3C"/>
      </a:accent4>
      <a:accent5>
        <a:srgbClr val="FB8C00"/>
      </a:accent5>
      <a:accent6>
        <a:srgbClr val="F9A825"/>
      </a:accent6>
      <a:hlink>
        <a:srgbClr val="FFA028"/>
      </a:hlink>
      <a:folHlink>
        <a:srgbClr val="CC7A00"/>
      </a:folHlink>
    </a:clrScheme>
    <a:fontScheme name="Bloomberg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103</Slides>
  <Notes>103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103</vt:i4>
      </vt:variant>
    </vt:vector>
  </HeadingPairs>
  <TitlesOfParts>
    <vt:vector size="10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ECM Project — Guía de Usuario</dc:title>
  <dc:subject>Manual de usuario de la aplicación ECM Project</dc:subject>
  <dc:creator>ECM Project</dc:creator>
  <cp:lastModifiedBy>ECM Project</cp:lastModifiedBy>
  <cp:revision>1</cp:revision>
  <dcterms:created xsi:type="dcterms:W3CDTF">2026-10-18T19:48:30Z</dcterms:created>
  <dcterms:modified xsi:type="dcterms:W3CDTF">2026-10-18T19:48:30Z</dcterms:modified>
</cp:coreProperties>
</file>