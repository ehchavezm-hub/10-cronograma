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e764bbce-1fb3-da57-e779-6409a8660eaf}">
          <p14:sldIdLst>
            <p14:sldId id="256"/>
          </p14:sldIdLst>
        </p14:section>
        <p14:section name="Índice" id="{d27f8972-10c5-9e65-e774-d6284e51c5d5}">
          <p14:sldIdLst>
            <p14:sldId id="257"/>
          </p14:sldIdLst>
        </p14:section>
        <p14:section name="Sección 1 — ¿Qué es ECM Project?" id="{888bdfa9-3336-7856-65f1-e637ab7012d8}">
          <p14:sldIdLst>
            <p14:sldId id="258"/>
            <p14:sldId id="259"/>
            <p14:sldId id="260"/>
            <p14:sldId id="261"/>
            <p14:sldId id="262"/>
          </p14:sldIdLst>
        </p14:section>
        <p14:section name="Sección 2 — Interfaz Principal" id="{2edc3f4e-2b8f-9746-f230-3dc062a68b3e}">
          <p14:sldIdLst>
            <p14:sldId id="263"/>
            <p14:sldId id="264"/>
            <p14:sldId id="265"/>
            <p14:sldId id="266"/>
            <p14:sldId id="267"/>
            <p14:sldId id="268"/>
          </p14:sldIdLst>
        </p14:section>
        <p14:section name="Sección 3 — Gestión de Proyectos" id="{69ed0381-9ea2-c14a-feea-505a17a84eab}">
          <p14:sldIdLst>
            <p14:sldId id="269"/>
            <p14:sldId id="270"/>
            <p14:sldId id="271"/>
            <p14:sldId id="272"/>
          </p14:sldIdLst>
        </p14:section>
        <p14:section name="Sección 4 — Gestión de Actividades" id="{323fd515-0d87-4d6b-3acc-15d5ca24d238}">
          <p14:sldIdLst>
            <p14:sldId id="273"/>
            <p14:sldId id="274"/>
            <p14:sldId id="275"/>
            <p14:sldId id="276"/>
            <p14:sldId id="277"/>
          </p14:sldIdLst>
        </p14:section>
        <p14:section name="Sección 5 — Diagrama de Gantt" id="{97919866-7b73-7fb6-45a9-ff685c3bb1ab}">
          <p14:sldIdLst>
            <p14:sldId id="278"/>
            <p14:sldId id="279"/>
            <p14:sldId id="280"/>
          </p14:sldIdLst>
        </p14:section>
        <p14:section name="Sección 6 — Dependencias" id="{41fc3b69-10f5-1257-dbba-e9df3bbbb156}">
          <p14:sldIdLst>
            <p14:sldId id="281"/>
            <p14:sldId id="282"/>
            <p14:sldId id="283"/>
            <p14:sldId id="284"/>
          </p14:sldIdLst>
        </p14:section>
        <p14:section name="Sección 7 — Ruta Crítica CPM" id="{bf7096f2-adcc-812e-3529-7b5b23025758}">
          <p14:sldIdLst>
            <p14:sldId id="285"/>
            <p14:sldId id="286"/>
            <p14:sldId id="287"/>
          </p14:sldIdLst>
        </p14:section>
        <p14:section name="Sección 8 — Línea Base" id="{1f521ab7-7fe4-2eec-999e-3374fc0c22a9}">
          <p14:sldIdLst>
            <p14:sldId id="288"/>
            <p14:sldId id="289"/>
          </p14:sldIdLst>
        </p14:section>
        <p14:section name="Sección 9 — Calendario" id="{6a36a3d3-f7fe-d78c-ab41-0afe28c49620}">
          <p14:sldIdLst>
            <p14:sldId id="290"/>
            <p14:sldId id="291"/>
          </p14:sldIdLst>
        </p14:section>
        <p14:section name="Sección 10 — Valor Ganado EVM" id="{528a1ff4-87fa-fcad-db65-3ba9c208bdad}">
          <p14:sldIdLst>
            <p14:sldId id="292"/>
            <p14:sldId id="293"/>
            <p14:sldId id="294"/>
            <p14:sldId id="295"/>
          </p14:sldIdLst>
        </p14:section>
        <p14:section name="Sección 11 — DCMA 14 Puntos" id="{b5066eae-470b-7d47-b1b1-cd36e94a21cb}">
          <p14:sldIdLst>
            <p14:sldId id="296"/>
            <p14:sldId id="297"/>
            <p14:sldId id="298"/>
            <p14:sldId id="299"/>
          </p14:sldIdLst>
        </p14:section>
        <p14:section name="Sección 12 — Caso Práctico" id="{6ca1ce71-108f-21a2-5ed5-7d38badae161}">
          <p14:sldIdLst>
            <p14:sldId id="300"/>
            <p14:sldId id="301"/>
            <p14:sldId id="302"/>
            <p14:sldId id="303"/>
          </p14:sldIdLst>
        </p14:section>
        <p14:section name="Sección 13 — Referencia Rápida" id="{060f0a0b-1126-26c5-0c75-c745d86ead04}">
          <p14:sldIdLst>
            <p14:sldId id="304"/>
            <p14:sldId id="305"/>
            <p14:sldId id="306"/>
            <p14:sldId id="307"/>
          </p14:sldIdLst>
        </p14:section>
        <p14:section name="Cierre" id="{1b28705a-b75a-87d4-fd8d-176de5b005ba}">
          <p14:sldIdLst>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00000"/>
          </a:solidFill>
          <a:ln w="12700">
            <a:solidFill>
              <a:srgbClr val="000000"/>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Shape 2"/>
          <p:cNvSpPr/>
          <p:nvPr/>
        </p:nvSpPr>
        <p:spPr>
          <a:xfrm>
            <a:off x="0" y="6217920"/>
            <a:ext cx="12188952" cy="640080"/>
          </a:xfrm>
          <a:prstGeom prst="rect">
            <a:avLst/>
          </a:prstGeom>
          <a:solidFill>
            <a:srgbClr val="1A1A1A"/>
          </a:solidFill>
          <a:ln w="12700">
            <a:solidFill>
              <a:srgbClr val="1A1A1A"/>
            </a:solidFill>
            <a:prstDash val="solid"/>
          </a:ln>
        </p:spPr>
      </p:sp>
      <p:sp>
        <p:nvSpPr>
          <p:cNvPr id="5" name="Text 3"/>
          <p:cNvSpPr txBox="1"/>
          <p:nvPr/>
        </p:nvSpPr>
        <p:spPr>
          <a:xfrm>
            <a:off x="411480" y="1097280"/>
            <a:ext cx="11430000" cy="1097280"/>
          </a:xfrm>
          <a:prstGeom prst="rect">
            <a:avLst/>
          </a:prstGeom>
          <a:noFill/>
          <a:ln/>
        </p:spPr>
        <p:txBody>
          <a:bodyPr wrap="square" lIns="0" tIns="0" rIns="0" bIns="0" rtlCol="0" anchor="ctr"/>
          <a:lstStyle/>
          <a:p>
            <a:pPr indent="0" marL="0">
              <a:buNone/>
            </a:pPr>
            <a:r>
              <a:rPr lang="en-US" sz="6000" b="1" dirty="0">
                <a:solidFill>
                  <a:srgbClr val="FFA028"/>
                </a:solidFill>
                <a:latin typeface="Epilogue" pitchFamily="34" charset="0"/>
                <a:ea typeface="Epilogue" pitchFamily="34" charset="-122"/>
                <a:cs typeface="Epilogue" pitchFamily="34" charset="-120"/>
              </a:rPr>
              <a:t>ECM Project</a:t>
            </a:r>
            <a:endParaRPr lang="en-US" sz="6000" dirty="0"/>
          </a:p>
        </p:txBody>
      </p:sp>
      <p:sp>
        <p:nvSpPr>
          <p:cNvPr id="6" name="Text 4"/>
          <p:cNvSpPr txBox="1"/>
          <p:nvPr/>
        </p:nvSpPr>
        <p:spPr>
          <a:xfrm>
            <a:off x="411480" y="2286000"/>
            <a:ext cx="11430000" cy="731520"/>
          </a:xfrm>
          <a:prstGeom prst="rect">
            <a:avLst/>
          </a:prstGeom>
          <a:noFill/>
          <a:ln/>
        </p:spPr>
        <p:txBody>
          <a:bodyPr wrap="square" lIns="0" tIns="0" rIns="0" bIns="0" rtlCol="0" anchor="ctr"/>
          <a:lstStyle/>
          <a:p>
            <a:pPr indent="0" marL="0">
              <a:buNone/>
            </a:pPr>
            <a:r>
              <a:rPr lang="en-US" sz="3400" dirty="0">
                <a:solidFill>
                  <a:srgbClr val="FFFFFF"/>
                </a:solidFill>
                <a:latin typeface="Epilogue" pitchFamily="34" charset="0"/>
                <a:ea typeface="Epilogue" pitchFamily="34" charset="-122"/>
                <a:cs typeface="Epilogue" pitchFamily="34" charset="-120"/>
              </a:rPr>
              <a:t>Guía Completa de Usuario</a:t>
            </a:r>
            <a:endParaRPr lang="en-US" sz="3400" dirty="0"/>
          </a:p>
        </p:txBody>
      </p:sp>
      <p:sp>
        <p:nvSpPr>
          <p:cNvPr id="7" name="Text 5"/>
          <p:cNvSpPr txBox="1"/>
          <p:nvPr/>
        </p:nvSpPr>
        <p:spPr>
          <a:xfrm>
            <a:off x="411480" y="310896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Sistema Profesional de Gestión de Cronogramas de Proyectos</a:t>
            </a:r>
            <a:endParaRPr lang="en-US" sz="1800" dirty="0"/>
          </a:p>
        </p:txBody>
      </p:sp>
      <p:sp>
        <p:nvSpPr>
          <p:cNvPr id="8" name="Shape 6"/>
          <p:cNvSpPr/>
          <p:nvPr/>
        </p:nvSpPr>
        <p:spPr>
          <a:xfrm>
            <a:off x="411480" y="3840480"/>
            <a:ext cx="5486400" cy="36576"/>
          </a:xfrm>
          <a:prstGeom prst="rect">
            <a:avLst/>
          </a:prstGeom>
          <a:solidFill>
            <a:srgbClr val="FFA028"/>
          </a:solidFill>
          <a:ln w="12700">
            <a:solidFill>
              <a:srgbClr val="FFA028"/>
            </a:solidFill>
            <a:prstDash val="solid"/>
          </a:ln>
        </p:spPr>
      </p:sp>
      <p:sp>
        <p:nvSpPr>
          <p:cNvPr id="9" name="Text 7"/>
          <p:cNvSpPr txBox="1"/>
          <p:nvPr/>
        </p:nvSpPr>
        <p:spPr>
          <a:xfrm>
            <a:off x="411480" y="4023360"/>
            <a:ext cx="11430000" cy="36576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 Chávez  |  ECM Project v1.0.0  |  © 2026</a:t>
            </a:r>
            <a:endParaRPr lang="en-US" sz="1300" dirty="0"/>
          </a:p>
        </p:txBody>
      </p:sp>
      <p:sp>
        <p:nvSpPr>
          <p:cNvPr id="10" name="Text 8"/>
          <p:cNvSpPr txBox="1"/>
          <p:nvPr/>
        </p:nvSpPr>
        <p:spPr>
          <a:xfrm>
            <a:off x="411480" y="4572000"/>
            <a:ext cx="11430000" cy="365760"/>
          </a:xfrm>
          <a:prstGeom prst="rect">
            <a:avLst/>
          </a:prstGeom>
          <a:noFill/>
          <a:ln/>
        </p:spPr>
        <p:txBody>
          <a:bodyPr wrap="square" lIns="0" tIns="0" rIns="0" bIns="0" rtlCol="0" anchor="ctr"/>
          <a:lstStyle/>
          <a:p>
            <a:pPr indent="0" marL="0">
              <a:buNone/>
            </a:pPr>
            <a:r>
              <a:rPr lang="en-US" sz="1200" dirty="0">
                <a:solidFill>
                  <a:srgbClr val="555555"/>
                </a:solidFill>
                <a:latin typeface="Epilogue" pitchFamily="34" charset="0"/>
                <a:ea typeface="Epilogue" pitchFamily="34" charset="-122"/>
                <a:cs typeface="Epilogue" pitchFamily="34" charset="-120"/>
              </a:rPr>
              <a:t>Módulos: EDT • Gantt • CPM • EVM • DCMA • Línea Base • Calendario • Sync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ÍNDICE DE CONTENIDOS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365760" y="822960"/>
            <a:ext cx="502920" cy="384048"/>
          </a:xfrm>
          <a:prstGeom prst="roundRect">
            <a:avLst>
              <a:gd name="adj" fmla="val 14286"/>
            </a:avLst>
          </a:prstGeom>
          <a:solidFill>
            <a:srgbClr val="FFA028"/>
          </a:solidFill>
          <a:ln w="12700">
            <a:solidFill>
              <a:srgbClr val="FFA028"/>
            </a:solidFill>
            <a:prstDash val="solid"/>
          </a:ln>
        </p:spPr>
      </p:sp>
      <p:sp>
        <p:nvSpPr>
          <p:cNvPr id="7" name="Text 5"/>
          <p:cNvSpPr txBox="1"/>
          <p:nvPr/>
        </p:nvSpPr>
        <p:spPr>
          <a:xfrm>
            <a:off x="365760" y="8229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01</a:t>
            </a:r>
            <a:endParaRPr lang="en-US" sz="1600" dirty="0"/>
          </a:p>
        </p:txBody>
      </p:sp>
      <p:sp>
        <p:nvSpPr>
          <p:cNvPr id="8" name="Text 6"/>
          <p:cNvSpPr txBox="1"/>
          <p:nvPr/>
        </p:nvSpPr>
        <p:spPr>
          <a:xfrm>
            <a:off x="960120" y="8229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¿Qué es ECM Project?</a:t>
            </a:r>
            <a:endParaRPr lang="en-US" sz="1300" dirty="0"/>
          </a:p>
        </p:txBody>
      </p:sp>
      <p:sp>
        <p:nvSpPr>
          <p:cNvPr id="9" name="Text 7"/>
          <p:cNvSpPr txBox="1"/>
          <p:nvPr/>
        </p:nvSpPr>
        <p:spPr>
          <a:xfrm>
            <a:off x="960120" y="10424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Definición, módulos y conceptos clave</a:t>
            </a:r>
            <a:endParaRPr lang="en-US" sz="1000" dirty="0"/>
          </a:p>
        </p:txBody>
      </p:sp>
      <p:sp>
        <p:nvSpPr>
          <p:cNvPr id="10" name="Shape 8"/>
          <p:cNvSpPr/>
          <p:nvPr/>
        </p:nvSpPr>
        <p:spPr>
          <a:xfrm>
            <a:off x="365760" y="1508760"/>
            <a:ext cx="502920" cy="384048"/>
          </a:xfrm>
          <a:prstGeom prst="roundRect">
            <a:avLst>
              <a:gd name="adj" fmla="val 14286"/>
            </a:avLst>
          </a:prstGeom>
          <a:solidFill>
            <a:srgbClr val="FFA028"/>
          </a:solidFill>
          <a:ln w="12700">
            <a:solidFill>
              <a:srgbClr val="FFA028"/>
            </a:solidFill>
            <a:prstDash val="solid"/>
          </a:ln>
        </p:spPr>
      </p:sp>
      <p:sp>
        <p:nvSpPr>
          <p:cNvPr id="11" name="Text 9"/>
          <p:cNvSpPr txBox="1"/>
          <p:nvPr/>
        </p:nvSpPr>
        <p:spPr>
          <a:xfrm>
            <a:off x="365760" y="15087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02</a:t>
            </a:r>
            <a:endParaRPr lang="en-US" sz="1600" dirty="0"/>
          </a:p>
        </p:txBody>
      </p:sp>
      <p:sp>
        <p:nvSpPr>
          <p:cNvPr id="12" name="Text 10"/>
          <p:cNvSpPr txBox="1"/>
          <p:nvPr/>
        </p:nvSpPr>
        <p:spPr>
          <a:xfrm>
            <a:off x="960120" y="15087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Interfaz Principal</a:t>
            </a:r>
            <a:endParaRPr lang="en-US" sz="1300" dirty="0"/>
          </a:p>
        </p:txBody>
      </p:sp>
      <p:sp>
        <p:nvSpPr>
          <p:cNvPr id="13" name="Text 11"/>
          <p:cNvSpPr txBox="1"/>
          <p:nvPr/>
        </p:nvSpPr>
        <p:spPr>
          <a:xfrm>
            <a:off x="960120" y="17282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Barra superior, explorador, herramientas</a:t>
            </a:r>
            <a:endParaRPr lang="en-US" sz="1000" dirty="0"/>
          </a:p>
        </p:txBody>
      </p:sp>
      <p:sp>
        <p:nvSpPr>
          <p:cNvPr id="14" name="Shape 12"/>
          <p:cNvSpPr/>
          <p:nvPr/>
        </p:nvSpPr>
        <p:spPr>
          <a:xfrm>
            <a:off x="365760" y="2194560"/>
            <a:ext cx="502920" cy="384048"/>
          </a:xfrm>
          <a:prstGeom prst="roundRect">
            <a:avLst>
              <a:gd name="adj" fmla="val 14286"/>
            </a:avLst>
          </a:prstGeom>
          <a:solidFill>
            <a:srgbClr val="FFA028"/>
          </a:solidFill>
          <a:ln w="12700">
            <a:solidFill>
              <a:srgbClr val="FFA028"/>
            </a:solidFill>
            <a:prstDash val="solid"/>
          </a:ln>
        </p:spPr>
      </p:sp>
      <p:sp>
        <p:nvSpPr>
          <p:cNvPr id="15" name="Text 13"/>
          <p:cNvSpPr txBox="1"/>
          <p:nvPr/>
        </p:nvSpPr>
        <p:spPr>
          <a:xfrm>
            <a:off x="365760" y="21945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03</a:t>
            </a:r>
            <a:endParaRPr lang="en-US" sz="1600" dirty="0"/>
          </a:p>
        </p:txBody>
      </p:sp>
      <p:sp>
        <p:nvSpPr>
          <p:cNvPr id="16" name="Text 14"/>
          <p:cNvSpPr txBox="1"/>
          <p:nvPr/>
        </p:nvSpPr>
        <p:spPr>
          <a:xfrm>
            <a:off x="960120" y="21945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Gestión de Proyectos</a:t>
            </a:r>
            <a:endParaRPr lang="en-US" sz="1300" dirty="0"/>
          </a:p>
        </p:txBody>
      </p:sp>
      <p:sp>
        <p:nvSpPr>
          <p:cNvPr id="17" name="Text 15"/>
          <p:cNvSpPr txBox="1"/>
          <p:nvPr/>
        </p:nvSpPr>
        <p:spPr>
          <a:xfrm>
            <a:off x="960120" y="24140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Crear, abrir, exportar e importar</a:t>
            </a:r>
            <a:endParaRPr lang="en-US" sz="1000" dirty="0"/>
          </a:p>
        </p:txBody>
      </p:sp>
      <p:sp>
        <p:nvSpPr>
          <p:cNvPr id="18" name="Shape 16"/>
          <p:cNvSpPr/>
          <p:nvPr/>
        </p:nvSpPr>
        <p:spPr>
          <a:xfrm>
            <a:off x="365760" y="2880360"/>
            <a:ext cx="502920" cy="384048"/>
          </a:xfrm>
          <a:prstGeom prst="roundRect">
            <a:avLst>
              <a:gd name="adj" fmla="val 14286"/>
            </a:avLst>
          </a:prstGeom>
          <a:solidFill>
            <a:srgbClr val="FFA028"/>
          </a:solidFill>
          <a:ln w="12700">
            <a:solidFill>
              <a:srgbClr val="FFA028"/>
            </a:solidFill>
            <a:prstDash val="solid"/>
          </a:ln>
        </p:spPr>
      </p:sp>
      <p:sp>
        <p:nvSpPr>
          <p:cNvPr id="19" name="Text 17"/>
          <p:cNvSpPr txBox="1"/>
          <p:nvPr/>
        </p:nvSpPr>
        <p:spPr>
          <a:xfrm>
            <a:off x="365760" y="28803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04</a:t>
            </a:r>
            <a:endParaRPr lang="en-US" sz="1600" dirty="0"/>
          </a:p>
        </p:txBody>
      </p:sp>
      <p:sp>
        <p:nvSpPr>
          <p:cNvPr id="20" name="Text 18"/>
          <p:cNvSpPr txBox="1"/>
          <p:nvPr/>
        </p:nvSpPr>
        <p:spPr>
          <a:xfrm>
            <a:off x="960120" y="28803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Gestión de Actividades</a:t>
            </a:r>
            <a:endParaRPr lang="en-US" sz="1300" dirty="0"/>
          </a:p>
        </p:txBody>
      </p:sp>
      <p:sp>
        <p:nvSpPr>
          <p:cNvPr id="21" name="Text 19"/>
          <p:cNvSpPr txBox="1"/>
          <p:nvPr/>
        </p:nvSpPr>
        <p:spPr>
          <a:xfrm>
            <a:off x="960120" y="30998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Tareas, hitos, WBS, jerarquía</a:t>
            </a:r>
            <a:endParaRPr lang="en-US" sz="1000" dirty="0"/>
          </a:p>
        </p:txBody>
      </p:sp>
      <p:sp>
        <p:nvSpPr>
          <p:cNvPr id="22" name="Shape 20"/>
          <p:cNvSpPr/>
          <p:nvPr/>
        </p:nvSpPr>
        <p:spPr>
          <a:xfrm>
            <a:off x="365760" y="3566160"/>
            <a:ext cx="502920" cy="384048"/>
          </a:xfrm>
          <a:prstGeom prst="roundRect">
            <a:avLst>
              <a:gd name="adj" fmla="val 14286"/>
            </a:avLst>
          </a:prstGeom>
          <a:solidFill>
            <a:srgbClr val="FFA028"/>
          </a:solidFill>
          <a:ln w="12700">
            <a:solidFill>
              <a:srgbClr val="FFA028"/>
            </a:solidFill>
            <a:prstDash val="solid"/>
          </a:ln>
        </p:spPr>
      </p:sp>
      <p:sp>
        <p:nvSpPr>
          <p:cNvPr id="23" name="Text 21"/>
          <p:cNvSpPr txBox="1"/>
          <p:nvPr/>
        </p:nvSpPr>
        <p:spPr>
          <a:xfrm>
            <a:off x="365760" y="35661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05</a:t>
            </a:r>
            <a:endParaRPr lang="en-US" sz="1600" dirty="0"/>
          </a:p>
        </p:txBody>
      </p:sp>
      <p:sp>
        <p:nvSpPr>
          <p:cNvPr id="24" name="Text 22"/>
          <p:cNvSpPr txBox="1"/>
          <p:nvPr/>
        </p:nvSpPr>
        <p:spPr>
          <a:xfrm>
            <a:off x="960120" y="35661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Diagrama de Gantt</a:t>
            </a:r>
            <a:endParaRPr lang="en-US" sz="1300" dirty="0"/>
          </a:p>
        </p:txBody>
      </p:sp>
      <p:sp>
        <p:nvSpPr>
          <p:cNvPr id="25" name="Text 23"/>
          <p:cNvSpPr txBox="1"/>
          <p:nvPr/>
        </p:nvSpPr>
        <p:spPr>
          <a:xfrm>
            <a:off x="960120" y="37856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Lectura, zoom, colores, barras</a:t>
            </a:r>
            <a:endParaRPr lang="en-US" sz="1000" dirty="0"/>
          </a:p>
        </p:txBody>
      </p:sp>
      <p:sp>
        <p:nvSpPr>
          <p:cNvPr id="26" name="Shape 24"/>
          <p:cNvSpPr/>
          <p:nvPr/>
        </p:nvSpPr>
        <p:spPr>
          <a:xfrm>
            <a:off x="365760" y="4251960"/>
            <a:ext cx="502920" cy="384048"/>
          </a:xfrm>
          <a:prstGeom prst="roundRect">
            <a:avLst>
              <a:gd name="adj" fmla="val 14286"/>
            </a:avLst>
          </a:prstGeom>
          <a:solidFill>
            <a:srgbClr val="FFA028"/>
          </a:solidFill>
          <a:ln w="12700">
            <a:solidFill>
              <a:srgbClr val="FFA028"/>
            </a:solidFill>
            <a:prstDash val="solid"/>
          </a:ln>
        </p:spPr>
      </p:sp>
      <p:sp>
        <p:nvSpPr>
          <p:cNvPr id="27" name="Text 25"/>
          <p:cNvSpPr txBox="1"/>
          <p:nvPr/>
        </p:nvSpPr>
        <p:spPr>
          <a:xfrm>
            <a:off x="365760" y="42519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06</a:t>
            </a:r>
            <a:endParaRPr lang="en-US" sz="1600" dirty="0"/>
          </a:p>
        </p:txBody>
      </p:sp>
      <p:sp>
        <p:nvSpPr>
          <p:cNvPr id="28" name="Text 26"/>
          <p:cNvSpPr txBox="1"/>
          <p:nvPr/>
        </p:nvSpPr>
        <p:spPr>
          <a:xfrm>
            <a:off x="960120" y="42519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Dependencias</a:t>
            </a:r>
            <a:endParaRPr lang="en-US" sz="1300" dirty="0"/>
          </a:p>
        </p:txBody>
      </p:sp>
      <p:sp>
        <p:nvSpPr>
          <p:cNvPr id="29" name="Text 27"/>
          <p:cNvSpPr txBox="1"/>
          <p:nvPr/>
        </p:nvSpPr>
        <p:spPr>
          <a:xfrm>
            <a:off x="960120" y="44714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Tipos FS/SS/FF/SF, lag/lead</a:t>
            </a:r>
            <a:endParaRPr lang="en-US" sz="1000" dirty="0"/>
          </a:p>
        </p:txBody>
      </p:sp>
      <p:sp>
        <p:nvSpPr>
          <p:cNvPr id="30" name="Shape 28"/>
          <p:cNvSpPr/>
          <p:nvPr/>
        </p:nvSpPr>
        <p:spPr>
          <a:xfrm>
            <a:off x="365760" y="4937760"/>
            <a:ext cx="502920" cy="384048"/>
          </a:xfrm>
          <a:prstGeom prst="roundRect">
            <a:avLst>
              <a:gd name="adj" fmla="val 14286"/>
            </a:avLst>
          </a:prstGeom>
          <a:solidFill>
            <a:srgbClr val="FFA028"/>
          </a:solidFill>
          <a:ln w="12700">
            <a:solidFill>
              <a:srgbClr val="FFA028"/>
            </a:solidFill>
            <a:prstDash val="solid"/>
          </a:ln>
        </p:spPr>
      </p:sp>
      <p:sp>
        <p:nvSpPr>
          <p:cNvPr id="31" name="Text 29"/>
          <p:cNvSpPr txBox="1"/>
          <p:nvPr/>
        </p:nvSpPr>
        <p:spPr>
          <a:xfrm>
            <a:off x="365760" y="49377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07</a:t>
            </a:r>
            <a:endParaRPr lang="en-US" sz="1600" dirty="0"/>
          </a:p>
        </p:txBody>
      </p:sp>
      <p:sp>
        <p:nvSpPr>
          <p:cNvPr id="32" name="Text 30"/>
          <p:cNvSpPr txBox="1"/>
          <p:nvPr/>
        </p:nvSpPr>
        <p:spPr>
          <a:xfrm>
            <a:off x="960120" y="49377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Ruta Crítica CPM</a:t>
            </a:r>
            <a:endParaRPr lang="en-US" sz="1300" dirty="0"/>
          </a:p>
        </p:txBody>
      </p:sp>
      <p:sp>
        <p:nvSpPr>
          <p:cNvPr id="33" name="Text 31"/>
          <p:cNvSpPr txBox="1"/>
          <p:nvPr/>
        </p:nvSpPr>
        <p:spPr>
          <a:xfrm>
            <a:off x="960120" y="51572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HT, HL, restricciones, alertas</a:t>
            </a:r>
            <a:endParaRPr lang="en-US" sz="1000" dirty="0"/>
          </a:p>
        </p:txBody>
      </p:sp>
      <p:sp>
        <p:nvSpPr>
          <p:cNvPr id="34" name="Shape 32"/>
          <p:cNvSpPr/>
          <p:nvPr/>
        </p:nvSpPr>
        <p:spPr>
          <a:xfrm>
            <a:off x="6309360" y="822960"/>
            <a:ext cx="502920" cy="384048"/>
          </a:xfrm>
          <a:prstGeom prst="roundRect">
            <a:avLst>
              <a:gd name="adj" fmla="val 14286"/>
            </a:avLst>
          </a:prstGeom>
          <a:solidFill>
            <a:srgbClr val="FFA028"/>
          </a:solidFill>
          <a:ln w="12700">
            <a:solidFill>
              <a:srgbClr val="FFA028"/>
            </a:solidFill>
            <a:prstDash val="solid"/>
          </a:ln>
        </p:spPr>
      </p:sp>
      <p:sp>
        <p:nvSpPr>
          <p:cNvPr id="35" name="Text 33"/>
          <p:cNvSpPr txBox="1"/>
          <p:nvPr/>
        </p:nvSpPr>
        <p:spPr>
          <a:xfrm>
            <a:off x="6309360" y="8229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08</a:t>
            </a:r>
            <a:endParaRPr lang="en-US" sz="1600" dirty="0"/>
          </a:p>
        </p:txBody>
      </p:sp>
      <p:sp>
        <p:nvSpPr>
          <p:cNvPr id="36" name="Text 34"/>
          <p:cNvSpPr txBox="1"/>
          <p:nvPr/>
        </p:nvSpPr>
        <p:spPr>
          <a:xfrm>
            <a:off x="6903720" y="8229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Línea Base</a:t>
            </a:r>
            <a:endParaRPr lang="en-US" sz="1300" dirty="0"/>
          </a:p>
        </p:txBody>
      </p:sp>
      <p:sp>
        <p:nvSpPr>
          <p:cNvPr id="37" name="Text 35"/>
          <p:cNvSpPr txBox="1"/>
          <p:nvPr/>
        </p:nvSpPr>
        <p:spPr>
          <a:xfrm>
            <a:off x="6903720" y="10424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Guardar, aplicar, varianzas ΔI/ΔF/ΔD</a:t>
            </a:r>
            <a:endParaRPr lang="en-US" sz="1000" dirty="0"/>
          </a:p>
        </p:txBody>
      </p:sp>
      <p:sp>
        <p:nvSpPr>
          <p:cNvPr id="38" name="Shape 36"/>
          <p:cNvSpPr/>
          <p:nvPr/>
        </p:nvSpPr>
        <p:spPr>
          <a:xfrm>
            <a:off x="6309360" y="1508760"/>
            <a:ext cx="502920" cy="384048"/>
          </a:xfrm>
          <a:prstGeom prst="roundRect">
            <a:avLst>
              <a:gd name="adj" fmla="val 14286"/>
            </a:avLst>
          </a:prstGeom>
          <a:solidFill>
            <a:srgbClr val="FFA028"/>
          </a:solidFill>
          <a:ln w="12700">
            <a:solidFill>
              <a:srgbClr val="FFA028"/>
            </a:solidFill>
            <a:prstDash val="solid"/>
          </a:ln>
        </p:spPr>
      </p:sp>
      <p:sp>
        <p:nvSpPr>
          <p:cNvPr id="39" name="Text 37"/>
          <p:cNvSpPr txBox="1"/>
          <p:nvPr/>
        </p:nvSpPr>
        <p:spPr>
          <a:xfrm>
            <a:off x="6309360" y="15087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09</a:t>
            </a:r>
            <a:endParaRPr lang="en-US" sz="1600" dirty="0"/>
          </a:p>
        </p:txBody>
      </p:sp>
      <p:sp>
        <p:nvSpPr>
          <p:cNvPr id="40" name="Text 38"/>
          <p:cNvSpPr txBox="1"/>
          <p:nvPr/>
        </p:nvSpPr>
        <p:spPr>
          <a:xfrm>
            <a:off x="6903720" y="15087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Calendario</a:t>
            </a:r>
            <a:endParaRPr lang="en-US" sz="1300" dirty="0"/>
          </a:p>
        </p:txBody>
      </p:sp>
      <p:sp>
        <p:nvSpPr>
          <p:cNvPr id="41" name="Text 39"/>
          <p:cNvSpPr txBox="1"/>
          <p:nvPr/>
        </p:nvSpPr>
        <p:spPr>
          <a:xfrm>
            <a:off x="6903720" y="17282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Días laborables, excepciones</a:t>
            </a:r>
            <a:endParaRPr lang="en-US" sz="1000" dirty="0"/>
          </a:p>
        </p:txBody>
      </p:sp>
      <p:sp>
        <p:nvSpPr>
          <p:cNvPr id="42" name="Shape 40"/>
          <p:cNvSpPr/>
          <p:nvPr/>
        </p:nvSpPr>
        <p:spPr>
          <a:xfrm>
            <a:off x="6309360" y="2194560"/>
            <a:ext cx="502920" cy="384048"/>
          </a:xfrm>
          <a:prstGeom prst="roundRect">
            <a:avLst>
              <a:gd name="adj" fmla="val 14286"/>
            </a:avLst>
          </a:prstGeom>
          <a:solidFill>
            <a:srgbClr val="FFA028"/>
          </a:solidFill>
          <a:ln w="12700">
            <a:solidFill>
              <a:srgbClr val="FFA028"/>
            </a:solidFill>
            <a:prstDash val="solid"/>
          </a:ln>
        </p:spPr>
      </p:sp>
      <p:sp>
        <p:nvSpPr>
          <p:cNvPr id="43" name="Text 41"/>
          <p:cNvSpPr txBox="1"/>
          <p:nvPr/>
        </p:nvSpPr>
        <p:spPr>
          <a:xfrm>
            <a:off x="6309360" y="21945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10</a:t>
            </a:r>
            <a:endParaRPr lang="en-US" sz="1600" dirty="0"/>
          </a:p>
        </p:txBody>
      </p:sp>
      <p:sp>
        <p:nvSpPr>
          <p:cNvPr id="44" name="Text 42"/>
          <p:cNvSpPr txBox="1"/>
          <p:nvPr/>
        </p:nvSpPr>
        <p:spPr>
          <a:xfrm>
            <a:off x="6903720" y="21945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Valor Ganado EVM</a:t>
            </a:r>
            <a:endParaRPr lang="en-US" sz="1300" dirty="0"/>
          </a:p>
        </p:txBody>
      </p:sp>
      <p:sp>
        <p:nvSpPr>
          <p:cNvPr id="45" name="Text 43"/>
          <p:cNvSpPr txBox="1"/>
          <p:nvPr/>
        </p:nvSpPr>
        <p:spPr>
          <a:xfrm>
            <a:off x="6903720" y="24140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BAC, PV, EV, AC, SPI, CPI, S-Curve</a:t>
            </a:r>
            <a:endParaRPr lang="en-US" sz="1000" dirty="0"/>
          </a:p>
        </p:txBody>
      </p:sp>
      <p:sp>
        <p:nvSpPr>
          <p:cNvPr id="46" name="Shape 44"/>
          <p:cNvSpPr/>
          <p:nvPr/>
        </p:nvSpPr>
        <p:spPr>
          <a:xfrm>
            <a:off x="6309360" y="2880360"/>
            <a:ext cx="502920" cy="384048"/>
          </a:xfrm>
          <a:prstGeom prst="roundRect">
            <a:avLst>
              <a:gd name="adj" fmla="val 14286"/>
            </a:avLst>
          </a:prstGeom>
          <a:solidFill>
            <a:srgbClr val="FFA028"/>
          </a:solidFill>
          <a:ln w="12700">
            <a:solidFill>
              <a:srgbClr val="FFA028"/>
            </a:solidFill>
            <a:prstDash val="solid"/>
          </a:ln>
        </p:spPr>
      </p:sp>
      <p:sp>
        <p:nvSpPr>
          <p:cNvPr id="47" name="Text 45"/>
          <p:cNvSpPr txBox="1"/>
          <p:nvPr/>
        </p:nvSpPr>
        <p:spPr>
          <a:xfrm>
            <a:off x="6309360" y="28803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11</a:t>
            </a:r>
            <a:endParaRPr lang="en-US" sz="1600" dirty="0"/>
          </a:p>
        </p:txBody>
      </p:sp>
      <p:sp>
        <p:nvSpPr>
          <p:cNvPr id="48" name="Text 46"/>
          <p:cNvSpPr txBox="1"/>
          <p:nvPr/>
        </p:nvSpPr>
        <p:spPr>
          <a:xfrm>
            <a:off x="6903720" y="28803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DCMA 14 Puntos</a:t>
            </a:r>
            <a:endParaRPr lang="en-US" sz="1300" dirty="0"/>
          </a:p>
        </p:txBody>
      </p:sp>
      <p:sp>
        <p:nvSpPr>
          <p:cNvPr id="49" name="Text 47"/>
          <p:cNvSpPr txBox="1"/>
          <p:nvPr/>
        </p:nvSpPr>
        <p:spPr>
          <a:xfrm>
            <a:off x="6903720" y="30998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Calidad de cronograma, semáforo</a:t>
            </a:r>
            <a:endParaRPr lang="en-US" sz="1000" dirty="0"/>
          </a:p>
        </p:txBody>
      </p:sp>
      <p:sp>
        <p:nvSpPr>
          <p:cNvPr id="50" name="Shape 48"/>
          <p:cNvSpPr/>
          <p:nvPr/>
        </p:nvSpPr>
        <p:spPr>
          <a:xfrm>
            <a:off x="6309360" y="3566160"/>
            <a:ext cx="502920" cy="384048"/>
          </a:xfrm>
          <a:prstGeom prst="roundRect">
            <a:avLst>
              <a:gd name="adj" fmla="val 14286"/>
            </a:avLst>
          </a:prstGeom>
          <a:solidFill>
            <a:srgbClr val="FFA028"/>
          </a:solidFill>
          <a:ln w="12700">
            <a:solidFill>
              <a:srgbClr val="FFA028"/>
            </a:solidFill>
            <a:prstDash val="solid"/>
          </a:ln>
        </p:spPr>
      </p:sp>
      <p:sp>
        <p:nvSpPr>
          <p:cNvPr id="51" name="Text 49"/>
          <p:cNvSpPr txBox="1"/>
          <p:nvPr/>
        </p:nvSpPr>
        <p:spPr>
          <a:xfrm>
            <a:off x="6309360" y="35661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12</a:t>
            </a:r>
            <a:endParaRPr lang="en-US" sz="1600" dirty="0"/>
          </a:p>
        </p:txBody>
      </p:sp>
      <p:sp>
        <p:nvSpPr>
          <p:cNvPr id="52" name="Text 50"/>
          <p:cNvSpPr txBox="1"/>
          <p:nvPr/>
        </p:nvSpPr>
        <p:spPr>
          <a:xfrm>
            <a:off x="6903720" y="35661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Caso Práctico</a:t>
            </a:r>
            <a:endParaRPr lang="en-US" sz="1300" dirty="0"/>
          </a:p>
        </p:txBody>
      </p:sp>
      <p:sp>
        <p:nvSpPr>
          <p:cNvPr id="53" name="Text 51"/>
          <p:cNvSpPr txBox="1"/>
          <p:nvPr/>
        </p:nvSpPr>
        <p:spPr>
          <a:xfrm>
            <a:off x="6903720" y="37856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Remodelación de Oficina paso a paso</a:t>
            </a:r>
            <a:endParaRPr lang="en-US" sz="1000" dirty="0"/>
          </a:p>
        </p:txBody>
      </p:sp>
      <p:sp>
        <p:nvSpPr>
          <p:cNvPr id="54" name="Shape 52"/>
          <p:cNvSpPr/>
          <p:nvPr/>
        </p:nvSpPr>
        <p:spPr>
          <a:xfrm>
            <a:off x="6309360" y="4251960"/>
            <a:ext cx="502920" cy="384048"/>
          </a:xfrm>
          <a:prstGeom prst="roundRect">
            <a:avLst>
              <a:gd name="adj" fmla="val 14286"/>
            </a:avLst>
          </a:prstGeom>
          <a:solidFill>
            <a:srgbClr val="FFA028"/>
          </a:solidFill>
          <a:ln w="12700">
            <a:solidFill>
              <a:srgbClr val="FFA028"/>
            </a:solidFill>
            <a:prstDash val="solid"/>
          </a:ln>
        </p:spPr>
      </p:sp>
      <p:sp>
        <p:nvSpPr>
          <p:cNvPr id="55" name="Text 53"/>
          <p:cNvSpPr txBox="1"/>
          <p:nvPr/>
        </p:nvSpPr>
        <p:spPr>
          <a:xfrm>
            <a:off x="6309360" y="4251960"/>
            <a:ext cx="502920" cy="384048"/>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13</a:t>
            </a:r>
            <a:endParaRPr lang="en-US" sz="1600" dirty="0"/>
          </a:p>
        </p:txBody>
      </p:sp>
      <p:sp>
        <p:nvSpPr>
          <p:cNvPr id="56" name="Text 54"/>
          <p:cNvSpPr txBox="1"/>
          <p:nvPr/>
        </p:nvSpPr>
        <p:spPr>
          <a:xfrm>
            <a:off x="6903720" y="4251960"/>
            <a:ext cx="4023360" cy="237744"/>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Referencia Rápida</a:t>
            </a:r>
            <a:endParaRPr lang="en-US" sz="1300" dirty="0"/>
          </a:p>
        </p:txBody>
      </p:sp>
      <p:sp>
        <p:nvSpPr>
          <p:cNvPr id="57" name="Text 55"/>
          <p:cNvSpPr txBox="1"/>
          <p:nvPr/>
        </p:nvSpPr>
        <p:spPr>
          <a:xfrm>
            <a:off x="6903720" y="4471416"/>
            <a:ext cx="4023360" cy="20116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Atajos, errores frecuentes, tips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01</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¿Qué es ECM Project?</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Definición, módulos y conceptos clave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¿QUÉ ES ECM PROJECT?</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777240"/>
            <a:ext cx="11338560" cy="640080"/>
          </a:xfrm>
          <a:prstGeom prst="rect">
            <a:avLst/>
          </a:prstGeom>
          <a:noFill/>
          <a:ln/>
        </p:spPr>
        <p:txBody>
          <a:bodyPr wrap="square" lIns="0" tIns="0" rIns="0" bIns="0" rtlCol="0" anchor="ctr"/>
          <a:lstStyle/>
          <a:p>
            <a:pPr indent="0" marL="0">
              <a:buNone/>
            </a:pPr>
            <a:r>
              <a:rPr lang="en-US" sz="1400" dirty="0">
                <a:solidFill>
                  <a:srgbClr val="FFFFFF"/>
                </a:solidFill>
                <a:latin typeface="Epilogue" pitchFamily="34" charset="0"/>
                <a:ea typeface="Epilogue" pitchFamily="34" charset="-122"/>
                <a:cs typeface="Epilogue" pitchFamily="34" charset="-120"/>
              </a:rPr>
              <a:t>ECM Project es una aplicación web profesional para la gestión de cronogramas de proyectos de construcción e ingeniería. Funciona directamente en el navegador, sin instalación, y opera de forma offline como PWA (Progressive Web App).</a:t>
            </a:r>
            <a:endParaRPr lang="en-US" sz="1400" dirty="0"/>
          </a:p>
        </p:txBody>
      </p:sp>
      <p:sp>
        <p:nvSpPr>
          <p:cNvPr id="7" name="Shape 5"/>
          <p:cNvSpPr/>
          <p:nvPr/>
        </p:nvSpPr>
        <p:spPr>
          <a:xfrm>
            <a:off x="411480" y="1554480"/>
            <a:ext cx="2651760" cy="1920240"/>
          </a:xfrm>
          <a:prstGeom prst="roundRect">
            <a:avLst>
              <a:gd name="adj" fmla="val 3810"/>
            </a:avLst>
          </a:prstGeom>
          <a:solidFill>
            <a:srgbClr val="1A1A1A"/>
          </a:solidFill>
          <a:ln w="12700">
            <a:solidFill>
              <a:srgbClr val="333333"/>
            </a:solidFill>
            <a:prstDash val="solid"/>
          </a:ln>
        </p:spPr>
      </p:sp>
      <p:sp>
        <p:nvSpPr>
          <p:cNvPr id="8" name="Text 6"/>
          <p:cNvSpPr txBox="1"/>
          <p:nvPr/>
        </p:nvSpPr>
        <p:spPr>
          <a:xfrm>
            <a:off x="502920" y="171907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9" name="Text 7"/>
          <p:cNvSpPr txBox="1"/>
          <p:nvPr/>
        </p:nvSpPr>
        <p:spPr>
          <a:xfrm>
            <a:off x="502920" y="224028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EDT / WBS</a:t>
            </a:r>
            <a:endParaRPr lang="en-US" sz="1500" dirty="0"/>
          </a:p>
        </p:txBody>
      </p:sp>
      <p:sp>
        <p:nvSpPr>
          <p:cNvPr id="10" name="Text 8"/>
          <p:cNvSpPr txBox="1"/>
          <p:nvPr/>
        </p:nvSpPr>
        <p:spPr>
          <a:xfrm>
            <a:off x="502920" y="257860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Estructura de Desglose del Trabajo jerárquica</a:t>
            </a:r>
            <a:endParaRPr lang="en-US" sz="1100" dirty="0"/>
          </a:p>
        </p:txBody>
      </p:sp>
      <p:sp>
        <p:nvSpPr>
          <p:cNvPr id="11" name="Shape 9"/>
          <p:cNvSpPr/>
          <p:nvPr/>
        </p:nvSpPr>
        <p:spPr>
          <a:xfrm>
            <a:off x="3337560" y="1554480"/>
            <a:ext cx="2651760" cy="1920240"/>
          </a:xfrm>
          <a:prstGeom prst="roundRect">
            <a:avLst>
              <a:gd name="adj" fmla="val 3810"/>
            </a:avLst>
          </a:prstGeom>
          <a:solidFill>
            <a:srgbClr val="1A1A1A"/>
          </a:solidFill>
          <a:ln w="12700">
            <a:solidFill>
              <a:srgbClr val="333333"/>
            </a:solidFill>
            <a:prstDash val="solid"/>
          </a:ln>
        </p:spPr>
      </p:sp>
      <p:sp>
        <p:nvSpPr>
          <p:cNvPr id="12" name="Text 10"/>
          <p:cNvSpPr txBox="1"/>
          <p:nvPr/>
        </p:nvSpPr>
        <p:spPr>
          <a:xfrm>
            <a:off x="3429000" y="171907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13" name="Text 11"/>
          <p:cNvSpPr txBox="1"/>
          <p:nvPr/>
        </p:nvSpPr>
        <p:spPr>
          <a:xfrm>
            <a:off x="3429000" y="224028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Gantt</a:t>
            </a:r>
            <a:endParaRPr lang="en-US" sz="1500" dirty="0"/>
          </a:p>
        </p:txBody>
      </p:sp>
      <p:sp>
        <p:nvSpPr>
          <p:cNvPr id="14" name="Text 12"/>
          <p:cNvSpPr txBox="1"/>
          <p:nvPr/>
        </p:nvSpPr>
        <p:spPr>
          <a:xfrm>
            <a:off x="3429000" y="257860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Diagrama de barras con escala de tiempo</a:t>
            </a:r>
            <a:endParaRPr lang="en-US" sz="1100" dirty="0"/>
          </a:p>
        </p:txBody>
      </p:sp>
      <p:sp>
        <p:nvSpPr>
          <p:cNvPr id="15" name="Shape 13"/>
          <p:cNvSpPr/>
          <p:nvPr/>
        </p:nvSpPr>
        <p:spPr>
          <a:xfrm>
            <a:off x="6263640" y="1554480"/>
            <a:ext cx="2651760" cy="1920240"/>
          </a:xfrm>
          <a:prstGeom prst="roundRect">
            <a:avLst>
              <a:gd name="adj" fmla="val 3810"/>
            </a:avLst>
          </a:prstGeom>
          <a:solidFill>
            <a:srgbClr val="1A1A1A"/>
          </a:solidFill>
          <a:ln w="12700">
            <a:solidFill>
              <a:srgbClr val="333333"/>
            </a:solidFill>
            <a:prstDash val="solid"/>
          </a:ln>
        </p:spPr>
      </p:sp>
      <p:sp>
        <p:nvSpPr>
          <p:cNvPr id="16" name="Text 14"/>
          <p:cNvSpPr txBox="1"/>
          <p:nvPr/>
        </p:nvSpPr>
        <p:spPr>
          <a:xfrm>
            <a:off x="6355080" y="171907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17" name="Text 15"/>
          <p:cNvSpPr txBox="1"/>
          <p:nvPr/>
        </p:nvSpPr>
        <p:spPr>
          <a:xfrm>
            <a:off x="6355080" y="224028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CPM</a:t>
            </a:r>
            <a:endParaRPr lang="en-US" sz="1500" dirty="0"/>
          </a:p>
        </p:txBody>
      </p:sp>
      <p:sp>
        <p:nvSpPr>
          <p:cNvPr id="18" name="Text 16"/>
          <p:cNvSpPr txBox="1"/>
          <p:nvPr/>
        </p:nvSpPr>
        <p:spPr>
          <a:xfrm>
            <a:off x="6355080" y="257860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Motor de Ruta Crítica (Critical Path Method)</a:t>
            </a:r>
            <a:endParaRPr lang="en-US" sz="1100" dirty="0"/>
          </a:p>
        </p:txBody>
      </p:sp>
      <p:sp>
        <p:nvSpPr>
          <p:cNvPr id="19" name="Shape 17"/>
          <p:cNvSpPr/>
          <p:nvPr/>
        </p:nvSpPr>
        <p:spPr>
          <a:xfrm>
            <a:off x="9189720" y="1554480"/>
            <a:ext cx="2651760" cy="1920240"/>
          </a:xfrm>
          <a:prstGeom prst="roundRect">
            <a:avLst>
              <a:gd name="adj" fmla="val 3810"/>
            </a:avLst>
          </a:prstGeom>
          <a:solidFill>
            <a:srgbClr val="1A1A1A"/>
          </a:solidFill>
          <a:ln w="12700">
            <a:solidFill>
              <a:srgbClr val="333333"/>
            </a:solidFill>
            <a:prstDash val="solid"/>
          </a:ln>
        </p:spPr>
      </p:sp>
      <p:sp>
        <p:nvSpPr>
          <p:cNvPr id="20" name="Text 18"/>
          <p:cNvSpPr txBox="1"/>
          <p:nvPr/>
        </p:nvSpPr>
        <p:spPr>
          <a:xfrm>
            <a:off x="9281160" y="171907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21" name="Text 19"/>
          <p:cNvSpPr txBox="1"/>
          <p:nvPr/>
        </p:nvSpPr>
        <p:spPr>
          <a:xfrm>
            <a:off x="9281160" y="224028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EVM</a:t>
            </a:r>
            <a:endParaRPr lang="en-US" sz="1500" dirty="0"/>
          </a:p>
        </p:txBody>
      </p:sp>
      <p:sp>
        <p:nvSpPr>
          <p:cNvPr id="22" name="Text 20"/>
          <p:cNvSpPr txBox="1"/>
          <p:nvPr/>
        </p:nvSpPr>
        <p:spPr>
          <a:xfrm>
            <a:off x="9281160" y="257860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Valor Ganado (Earned Value Management)</a:t>
            </a:r>
            <a:endParaRPr lang="en-US" sz="1100" dirty="0"/>
          </a:p>
        </p:txBody>
      </p:sp>
      <p:sp>
        <p:nvSpPr>
          <p:cNvPr id="23" name="Shape 21"/>
          <p:cNvSpPr/>
          <p:nvPr/>
        </p:nvSpPr>
        <p:spPr>
          <a:xfrm>
            <a:off x="411480" y="3749040"/>
            <a:ext cx="2651760" cy="1920240"/>
          </a:xfrm>
          <a:prstGeom prst="roundRect">
            <a:avLst>
              <a:gd name="adj" fmla="val 3810"/>
            </a:avLst>
          </a:prstGeom>
          <a:solidFill>
            <a:srgbClr val="1A1A1A"/>
          </a:solidFill>
          <a:ln w="12700">
            <a:solidFill>
              <a:srgbClr val="333333"/>
            </a:solidFill>
            <a:prstDash val="solid"/>
          </a:ln>
        </p:spPr>
      </p:sp>
      <p:sp>
        <p:nvSpPr>
          <p:cNvPr id="24" name="Text 22"/>
          <p:cNvSpPr txBox="1"/>
          <p:nvPr/>
        </p:nvSpPr>
        <p:spPr>
          <a:xfrm>
            <a:off x="502920" y="391363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25" name="Text 23"/>
          <p:cNvSpPr txBox="1"/>
          <p:nvPr/>
        </p:nvSpPr>
        <p:spPr>
          <a:xfrm>
            <a:off x="502920" y="443484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DCMA</a:t>
            </a:r>
            <a:endParaRPr lang="en-US" sz="1500" dirty="0"/>
          </a:p>
        </p:txBody>
      </p:sp>
      <p:sp>
        <p:nvSpPr>
          <p:cNvPr id="26" name="Text 24"/>
          <p:cNvSpPr txBox="1"/>
          <p:nvPr/>
        </p:nvSpPr>
        <p:spPr>
          <a:xfrm>
            <a:off x="502920" y="477316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14 Puntos de calidad de cronograma</a:t>
            </a:r>
            <a:endParaRPr lang="en-US" sz="1100" dirty="0"/>
          </a:p>
        </p:txBody>
      </p:sp>
      <p:sp>
        <p:nvSpPr>
          <p:cNvPr id="27" name="Shape 25"/>
          <p:cNvSpPr/>
          <p:nvPr/>
        </p:nvSpPr>
        <p:spPr>
          <a:xfrm>
            <a:off x="3337560" y="3749040"/>
            <a:ext cx="2651760" cy="1920240"/>
          </a:xfrm>
          <a:prstGeom prst="roundRect">
            <a:avLst>
              <a:gd name="adj" fmla="val 3810"/>
            </a:avLst>
          </a:prstGeom>
          <a:solidFill>
            <a:srgbClr val="1A1A1A"/>
          </a:solidFill>
          <a:ln w="12700">
            <a:solidFill>
              <a:srgbClr val="333333"/>
            </a:solidFill>
            <a:prstDash val="solid"/>
          </a:ln>
        </p:spPr>
      </p:sp>
      <p:sp>
        <p:nvSpPr>
          <p:cNvPr id="28" name="Text 26"/>
          <p:cNvSpPr txBox="1"/>
          <p:nvPr/>
        </p:nvSpPr>
        <p:spPr>
          <a:xfrm>
            <a:off x="3429000" y="391363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29" name="Text 27"/>
          <p:cNvSpPr txBox="1"/>
          <p:nvPr/>
        </p:nvSpPr>
        <p:spPr>
          <a:xfrm>
            <a:off x="3429000" y="443484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Línea Base</a:t>
            </a:r>
            <a:endParaRPr lang="en-US" sz="1500" dirty="0"/>
          </a:p>
        </p:txBody>
      </p:sp>
      <p:sp>
        <p:nvSpPr>
          <p:cNvPr id="30" name="Text 28"/>
          <p:cNvSpPr txBox="1"/>
          <p:nvPr/>
        </p:nvSpPr>
        <p:spPr>
          <a:xfrm>
            <a:off x="3429000" y="477316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Comparación planificado vs actual</a:t>
            </a:r>
            <a:endParaRPr lang="en-US" sz="1100" dirty="0"/>
          </a:p>
        </p:txBody>
      </p:sp>
      <p:sp>
        <p:nvSpPr>
          <p:cNvPr id="31" name="Shape 29"/>
          <p:cNvSpPr/>
          <p:nvPr/>
        </p:nvSpPr>
        <p:spPr>
          <a:xfrm>
            <a:off x="6263640" y="3749040"/>
            <a:ext cx="2651760" cy="1920240"/>
          </a:xfrm>
          <a:prstGeom prst="roundRect">
            <a:avLst>
              <a:gd name="adj" fmla="val 3810"/>
            </a:avLst>
          </a:prstGeom>
          <a:solidFill>
            <a:srgbClr val="1A1A1A"/>
          </a:solidFill>
          <a:ln w="12700">
            <a:solidFill>
              <a:srgbClr val="333333"/>
            </a:solidFill>
            <a:prstDash val="solid"/>
          </a:ln>
        </p:spPr>
      </p:sp>
      <p:sp>
        <p:nvSpPr>
          <p:cNvPr id="32" name="Text 30"/>
          <p:cNvSpPr txBox="1"/>
          <p:nvPr/>
        </p:nvSpPr>
        <p:spPr>
          <a:xfrm>
            <a:off x="6355080" y="391363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33" name="Text 31"/>
          <p:cNvSpPr txBox="1"/>
          <p:nvPr/>
        </p:nvSpPr>
        <p:spPr>
          <a:xfrm>
            <a:off x="6355080" y="443484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Calendario</a:t>
            </a:r>
            <a:endParaRPr lang="en-US" sz="1500" dirty="0"/>
          </a:p>
        </p:txBody>
      </p:sp>
      <p:sp>
        <p:nvSpPr>
          <p:cNvPr id="34" name="Text 32"/>
          <p:cNvSpPr txBox="1"/>
          <p:nvPr/>
        </p:nvSpPr>
        <p:spPr>
          <a:xfrm>
            <a:off x="6355080" y="477316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Días hábiles y excepciones</a:t>
            </a:r>
            <a:endParaRPr lang="en-US" sz="1100" dirty="0"/>
          </a:p>
        </p:txBody>
      </p:sp>
      <p:sp>
        <p:nvSpPr>
          <p:cNvPr id="35" name="Shape 33"/>
          <p:cNvSpPr/>
          <p:nvPr/>
        </p:nvSpPr>
        <p:spPr>
          <a:xfrm>
            <a:off x="9189720" y="3749040"/>
            <a:ext cx="2651760" cy="1920240"/>
          </a:xfrm>
          <a:prstGeom prst="roundRect">
            <a:avLst>
              <a:gd name="adj" fmla="val 3810"/>
            </a:avLst>
          </a:prstGeom>
          <a:solidFill>
            <a:srgbClr val="1A1A1A"/>
          </a:solidFill>
          <a:ln w="12700">
            <a:solidFill>
              <a:srgbClr val="333333"/>
            </a:solidFill>
            <a:prstDash val="solid"/>
          </a:ln>
        </p:spPr>
      </p:sp>
      <p:sp>
        <p:nvSpPr>
          <p:cNvPr id="36" name="Text 34"/>
          <p:cNvSpPr txBox="1"/>
          <p:nvPr/>
        </p:nvSpPr>
        <p:spPr>
          <a:xfrm>
            <a:off x="9281160" y="3913632"/>
            <a:ext cx="502920" cy="502920"/>
          </a:xfrm>
          <a:prstGeom prst="rect">
            <a:avLst/>
          </a:prstGeom>
          <a:noFill/>
          <a:ln/>
        </p:spPr>
        <p:txBody>
          <a:bodyPr wrap="square" lIns="0" tIns="0" rIns="0" bIns="0" rtlCol="0" anchor="ctr"/>
          <a:lstStyle/>
          <a:p>
            <a:pPr algn="ctr" indent="0" marL="0">
              <a:buNone/>
            </a:pPr>
            <a:r>
              <a:rPr lang="en-US" sz="2600" dirty="0">
                <a:solidFill>
                  <a:srgbClr val="000000"/>
                </a:solidFill>
                <a:latin typeface="Epilogue" pitchFamily="34" charset="0"/>
                <a:ea typeface="Epilogue" pitchFamily="34" charset="-122"/>
                <a:cs typeface="Epilogue" pitchFamily="34" charset="-120"/>
              </a:rPr>
              <a:t>☁</a:t>
            </a:r>
            <a:endParaRPr lang="en-US" sz="2600" dirty="0"/>
          </a:p>
        </p:txBody>
      </p:sp>
      <p:sp>
        <p:nvSpPr>
          <p:cNvPr id="37" name="Text 35"/>
          <p:cNvSpPr txBox="1"/>
          <p:nvPr/>
        </p:nvSpPr>
        <p:spPr>
          <a:xfrm>
            <a:off x="9281160" y="4434840"/>
            <a:ext cx="2468880" cy="329184"/>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Sync</a:t>
            </a:r>
            <a:endParaRPr lang="en-US" sz="1500" dirty="0"/>
          </a:p>
        </p:txBody>
      </p:sp>
      <p:sp>
        <p:nvSpPr>
          <p:cNvPr id="38" name="Text 36"/>
          <p:cNvSpPr txBox="1"/>
          <p:nvPr/>
        </p:nvSpPr>
        <p:spPr>
          <a:xfrm>
            <a:off x="9281160" y="4773168"/>
            <a:ext cx="2468880" cy="65836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Sincronización en tiempo real con Supabase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CONCEPTOS CLAVE</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261872"/>
          </a:xfrm>
          <a:prstGeom prst="roundRect">
            <a:avLst>
              <a:gd name="adj" fmla="val 5797"/>
            </a:avLst>
          </a:prstGeom>
          <a:solidFill>
            <a:srgbClr val="1A1A1A"/>
          </a:solidFill>
          <a:ln w="12700">
            <a:solidFill>
              <a:srgbClr val="333333"/>
            </a:solidFill>
            <a:prstDash val="solid"/>
          </a:ln>
        </p:spPr>
      </p:sp>
      <p:sp>
        <p:nvSpPr>
          <p:cNvPr id="7" name="Shape 5"/>
          <p:cNvSpPr/>
          <p:nvPr/>
        </p:nvSpPr>
        <p:spPr>
          <a:xfrm>
            <a:off x="411480" y="914400"/>
            <a:ext cx="54864" cy="1261872"/>
          </a:xfrm>
          <a:prstGeom prst="rect">
            <a:avLst/>
          </a:prstGeom>
          <a:solidFill>
            <a:srgbClr val="FFA028"/>
          </a:solidFill>
          <a:ln w="12700">
            <a:solidFill>
              <a:srgbClr val="FFA028"/>
            </a:solidFill>
            <a:prstDash val="solid"/>
          </a:ln>
        </p:spPr>
      </p:sp>
      <p:sp>
        <p:nvSpPr>
          <p:cNvPr id="8" name="Text 6"/>
          <p:cNvSpPr txBox="1"/>
          <p:nvPr/>
        </p:nvSpPr>
        <p:spPr>
          <a:xfrm>
            <a:off x="594360" y="100584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Actividad / Tarea</a:t>
            </a:r>
            <a:endParaRPr lang="en-US" sz="1400" dirty="0"/>
          </a:p>
        </p:txBody>
      </p:sp>
      <p:sp>
        <p:nvSpPr>
          <p:cNvPr id="9" name="Text 7"/>
          <p:cNvSpPr txBox="1"/>
          <p:nvPr/>
        </p:nvSpPr>
        <p:spPr>
          <a:xfrm>
            <a:off x="594360" y="137160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Unidad de trabajo con duración, fechas y porcentaje de avance. Elemento básico del cronograma.</a:t>
            </a:r>
            <a:endParaRPr lang="en-US" sz="1100" dirty="0"/>
          </a:p>
        </p:txBody>
      </p:sp>
      <p:sp>
        <p:nvSpPr>
          <p:cNvPr id="10" name="Shape 8"/>
          <p:cNvSpPr/>
          <p:nvPr/>
        </p:nvSpPr>
        <p:spPr>
          <a:xfrm>
            <a:off x="6263640" y="914400"/>
            <a:ext cx="5486400" cy="1261872"/>
          </a:xfrm>
          <a:prstGeom prst="roundRect">
            <a:avLst>
              <a:gd name="adj" fmla="val 5797"/>
            </a:avLst>
          </a:prstGeom>
          <a:solidFill>
            <a:srgbClr val="1A1A1A"/>
          </a:solidFill>
          <a:ln w="12700">
            <a:solidFill>
              <a:srgbClr val="333333"/>
            </a:solidFill>
            <a:prstDash val="solid"/>
          </a:ln>
        </p:spPr>
      </p:sp>
      <p:sp>
        <p:nvSpPr>
          <p:cNvPr id="11" name="Shape 9"/>
          <p:cNvSpPr/>
          <p:nvPr/>
        </p:nvSpPr>
        <p:spPr>
          <a:xfrm>
            <a:off x="6263640" y="914400"/>
            <a:ext cx="54864" cy="1261872"/>
          </a:xfrm>
          <a:prstGeom prst="rect">
            <a:avLst/>
          </a:prstGeom>
          <a:solidFill>
            <a:srgbClr val="FFA028"/>
          </a:solidFill>
          <a:ln w="12700">
            <a:solidFill>
              <a:srgbClr val="FFA028"/>
            </a:solidFill>
            <a:prstDash val="solid"/>
          </a:ln>
        </p:spPr>
      </p:sp>
      <p:sp>
        <p:nvSpPr>
          <p:cNvPr id="12" name="Text 10"/>
          <p:cNvSpPr txBox="1"/>
          <p:nvPr/>
        </p:nvSpPr>
        <p:spPr>
          <a:xfrm>
            <a:off x="6446520" y="100584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Hito (Milestone)</a:t>
            </a:r>
            <a:endParaRPr lang="en-US" sz="1400" dirty="0"/>
          </a:p>
        </p:txBody>
      </p:sp>
      <p:sp>
        <p:nvSpPr>
          <p:cNvPr id="13" name="Text 11"/>
          <p:cNvSpPr txBox="1"/>
          <p:nvPr/>
        </p:nvSpPr>
        <p:spPr>
          <a:xfrm>
            <a:off x="6446520" y="137160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Evento puntual de duración cero. Marca un logro o entregable importante del proyecto.</a:t>
            </a:r>
            <a:endParaRPr lang="en-US" sz="1100" dirty="0"/>
          </a:p>
        </p:txBody>
      </p:sp>
      <p:sp>
        <p:nvSpPr>
          <p:cNvPr id="14" name="Shape 12"/>
          <p:cNvSpPr/>
          <p:nvPr/>
        </p:nvSpPr>
        <p:spPr>
          <a:xfrm>
            <a:off x="411480" y="2331720"/>
            <a:ext cx="5486400" cy="1261872"/>
          </a:xfrm>
          <a:prstGeom prst="roundRect">
            <a:avLst>
              <a:gd name="adj" fmla="val 5797"/>
            </a:avLst>
          </a:prstGeom>
          <a:solidFill>
            <a:srgbClr val="1A1A1A"/>
          </a:solidFill>
          <a:ln w="12700">
            <a:solidFill>
              <a:srgbClr val="333333"/>
            </a:solidFill>
            <a:prstDash val="solid"/>
          </a:ln>
        </p:spPr>
      </p:sp>
      <p:sp>
        <p:nvSpPr>
          <p:cNvPr id="15" name="Shape 13"/>
          <p:cNvSpPr/>
          <p:nvPr/>
        </p:nvSpPr>
        <p:spPr>
          <a:xfrm>
            <a:off x="411480" y="2331720"/>
            <a:ext cx="54864" cy="1261872"/>
          </a:xfrm>
          <a:prstGeom prst="rect">
            <a:avLst/>
          </a:prstGeom>
          <a:solidFill>
            <a:srgbClr val="FFA028"/>
          </a:solidFill>
          <a:ln w="12700">
            <a:solidFill>
              <a:srgbClr val="FFA028"/>
            </a:solidFill>
            <a:prstDash val="solid"/>
          </a:ln>
        </p:spPr>
      </p:sp>
      <p:sp>
        <p:nvSpPr>
          <p:cNvPr id="16" name="Text 14"/>
          <p:cNvSpPr txBox="1"/>
          <p:nvPr/>
        </p:nvSpPr>
        <p:spPr>
          <a:xfrm>
            <a:off x="594360" y="242316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Resumen / Fase</a:t>
            </a:r>
            <a:endParaRPr lang="en-US" sz="1400" dirty="0"/>
          </a:p>
        </p:txBody>
      </p:sp>
      <p:sp>
        <p:nvSpPr>
          <p:cNvPr id="17" name="Text 15"/>
          <p:cNvSpPr txBox="1"/>
          <p:nvPr/>
        </p:nvSpPr>
        <p:spPr>
          <a:xfrm>
            <a:off x="594360" y="278892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Agrupación de tareas hijas. Su duración es calculada automáticamente por el CPM.</a:t>
            </a:r>
            <a:endParaRPr lang="en-US" sz="1100" dirty="0"/>
          </a:p>
        </p:txBody>
      </p:sp>
      <p:sp>
        <p:nvSpPr>
          <p:cNvPr id="18" name="Shape 16"/>
          <p:cNvSpPr/>
          <p:nvPr/>
        </p:nvSpPr>
        <p:spPr>
          <a:xfrm>
            <a:off x="6263640" y="2331720"/>
            <a:ext cx="5486400" cy="1261872"/>
          </a:xfrm>
          <a:prstGeom prst="roundRect">
            <a:avLst>
              <a:gd name="adj" fmla="val 5797"/>
            </a:avLst>
          </a:prstGeom>
          <a:solidFill>
            <a:srgbClr val="1A1A1A"/>
          </a:solidFill>
          <a:ln w="12700">
            <a:solidFill>
              <a:srgbClr val="333333"/>
            </a:solidFill>
            <a:prstDash val="solid"/>
          </a:ln>
        </p:spPr>
      </p:sp>
      <p:sp>
        <p:nvSpPr>
          <p:cNvPr id="19" name="Shape 17"/>
          <p:cNvSpPr/>
          <p:nvPr/>
        </p:nvSpPr>
        <p:spPr>
          <a:xfrm>
            <a:off x="6263640" y="2331720"/>
            <a:ext cx="54864" cy="1261872"/>
          </a:xfrm>
          <a:prstGeom prst="rect">
            <a:avLst/>
          </a:prstGeom>
          <a:solidFill>
            <a:srgbClr val="FFA028"/>
          </a:solidFill>
          <a:ln w="12700">
            <a:solidFill>
              <a:srgbClr val="FFA028"/>
            </a:solidFill>
            <a:prstDash val="solid"/>
          </a:ln>
        </p:spPr>
      </p:sp>
      <p:sp>
        <p:nvSpPr>
          <p:cNvPr id="20" name="Text 18"/>
          <p:cNvSpPr txBox="1"/>
          <p:nvPr/>
        </p:nvSpPr>
        <p:spPr>
          <a:xfrm>
            <a:off x="6446520" y="242316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WBS / EDT</a:t>
            </a:r>
            <a:endParaRPr lang="en-US" sz="1400" dirty="0"/>
          </a:p>
        </p:txBody>
      </p:sp>
      <p:sp>
        <p:nvSpPr>
          <p:cNvPr id="21" name="Text 19"/>
          <p:cNvSpPr txBox="1"/>
          <p:nvPr/>
        </p:nvSpPr>
        <p:spPr>
          <a:xfrm>
            <a:off x="6446520" y="278892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Work Breakdown Structure. Código jerárquico que identifica la posición de cada elemento.</a:t>
            </a:r>
            <a:endParaRPr lang="en-US" sz="1100" dirty="0"/>
          </a:p>
        </p:txBody>
      </p:sp>
      <p:sp>
        <p:nvSpPr>
          <p:cNvPr id="22" name="Shape 20"/>
          <p:cNvSpPr/>
          <p:nvPr/>
        </p:nvSpPr>
        <p:spPr>
          <a:xfrm>
            <a:off x="411480" y="3749040"/>
            <a:ext cx="5486400" cy="1261872"/>
          </a:xfrm>
          <a:prstGeom prst="roundRect">
            <a:avLst>
              <a:gd name="adj" fmla="val 5797"/>
            </a:avLst>
          </a:prstGeom>
          <a:solidFill>
            <a:srgbClr val="1A1A1A"/>
          </a:solidFill>
          <a:ln w="12700">
            <a:solidFill>
              <a:srgbClr val="333333"/>
            </a:solidFill>
            <a:prstDash val="solid"/>
          </a:ln>
        </p:spPr>
      </p:sp>
      <p:sp>
        <p:nvSpPr>
          <p:cNvPr id="23" name="Shape 21"/>
          <p:cNvSpPr/>
          <p:nvPr/>
        </p:nvSpPr>
        <p:spPr>
          <a:xfrm>
            <a:off x="411480" y="3749040"/>
            <a:ext cx="54864" cy="1261872"/>
          </a:xfrm>
          <a:prstGeom prst="rect">
            <a:avLst/>
          </a:prstGeom>
          <a:solidFill>
            <a:srgbClr val="FFA028"/>
          </a:solidFill>
          <a:ln w="12700">
            <a:solidFill>
              <a:srgbClr val="FFA028"/>
            </a:solidFill>
            <a:prstDash val="solid"/>
          </a:ln>
        </p:spPr>
      </p:sp>
      <p:sp>
        <p:nvSpPr>
          <p:cNvPr id="24" name="Text 22"/>
          <p:cNvSpPr txBox="1"/>
          <p:nvPr/>
        </p:nvSpPr>
        <p:spPr>
          <a:xfrm>
            <a:off x="594360" y="384048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Dependencia</a:t>
            </a:r>
            <a:endParaRPr lang="en-US" sz="1400" dirty="0"/>
          </a:p>
        </p:txBody>
      </p:sp>
      <p:sp>
        <p:nvSpPr>
          <p:cNvPr id="25" name="Text 23"/>
          <p:cNvSpPr txBox="1"/>
          <p:nvPr/>
        </p:nvSpPr>
        <p:spPr>
          <a:xfrm>
            <a:off x="594360" y="420624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Relación lógica entre dos actividades que determina su secuencia de ejecución.</a:t>
            </a:r>
            <a:endParaRPr lang="en-US" sz="1100" dirty="0"/>
          </a:p>
        </p:txBody>
      </p:sp>
      <p:sp>
        <p:nvSpPr>
          <p:cNvPr id="26" name="Shape 24"/>
          <p:cNvSpPr/>
          <p:nvPr/>
        </p:nvSpPr>
        <p:spPr>
          <a:xfrm>
            <a:off x="6263640" y="3749040"/>
            <a:ext cx="5486400" cy="1261872"/>
          </a:xfrm>
          <a:prstGeom prst="roundRect">
            <a:avLst>
              <a:gd name="adj" fmla="val 5797"/>
            </a:avLst>
          </a:prstGeom>
          <a:solidFill>
            <a:srgbClr val="1A1A1A"/>
          </a:solidFill>
          <a:ln w="12700">
            <a:solidFill>
              <a:srgbClr val="333333"/>
            </a:solidFill>
            <a:prstDash val="solid"/>
          </a:ln>
        </p:spPr>
      </p:sp>
      <p:sp>
        <p:nvSpPr>
          <p:cNvPr id="27" name="Shape 25"/>
          <p:cNvSpPr/>
          <p:nvPr/>
        </p:nvSpPr>
        <p:spPr>
          <a:xfrm>
            <a:off x="6263640" y="3749040"/>
            <a:ext cx="54864" cy="1261872"/>
          </a:xfrm>
          <a:prstGeom prst="rect">
            <a:avLst/>
          </a:prstGeom>
          <a:solidFill>
            <a:srgbClr val="FFA028"/>
          </a:solidFill>
          <a:ln w="12700">
            <a:solidFill>
              <a:srgbClr val="FFA028"/>
            </a:solidFill>
            <a:prstDash val="solid"/>
          </a:ln>
        </p:spPr>
      </p:sp>
      <p:sp>
        <p:nvSpPr>
          <p:cNvPr id="28" name="Text 26"/>
          <p:cNvSpPr txBox="1"/>
          <p:nvPr/>
        </p:nvSpPr>
        <p:spPr>
          <a:xfrm>
            <a:off x="6446520" y="384048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Ruta Crítica</a:t>
            </a:r>
            <a:endParaRPr lang="en-US" sz="1400" dirty="0"/>
          </a:p>
        </p:txBody>
      </p:sp>
      <p:sp>
        <p:nvSpPr>
          <p:cNvPr id="29" name="Text 27"/>
          <p:cNvSpPr txBox="1"/>
          <p:nvPr/>
        </p:nvSpPr>
        <p:spPr>
          <a:xfrm>
            <a:off x="6446520" y="420624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Secuencia de actividades con Holgura Total = 0. Determina la duración mínima del proyecto.</a:t>
            </a:r>
            <a:endParaRPr lang="en-US" sz="1100" dirty="0"/>
          </a:p>
        </p:txBody>
      </p:sp>
      <p:sp>
        <p:nvSpPr>
          <p:cNvPr id="30" name="Shape 28"/>
          <p:cNvSpPr/>
          <p:nvPr/>
        </p:nvSpPr>
        <p:spPr>
          <a:xfrm>
            <a:off x="411480" y="5166360"/>
            <a:ext cx="5486400" cy="1261872"/>
          </a:xfrm>
          <a:prstGeom prst="roundRect">
            <a:avLst>
              <a:gd name="adj" fmla="val 5797"/>
            </a:avLst>
          </a:prstGeom>
          <a:solidFill>
            <a:srgbClr val="1A1A1A"/>
          </a:solidFill>
          <a:ln w="12700">
            <a:solidFill>
              <a:srgbClr val="333333"/>
            </a:solidFill>
            <a:prstDash val="solid"/>
          </a:ln>
        </p:spPr>
      </p:sp>
      <p:sp>
        <p:nvSpPr>
          <p:cNvPr id="31" name="Shape 29"/>
          <p:cNvSpPr/>
          <p:nvPr/>
        </p:nvSpPr>
        <p:spPr>
          <a:xfrm>
            <a:off x="411480" y="5166360"/>
            <a:ext cx="54864" cy="1261872"/>
          </a:xfrm>
          <a:prstGeom prst="rect">
            <a:avLst/>
          </a:prstGeom>
          <a:solidFill>
            <a:srgbClr val="FFA028"/>
          </a:solidFill>
          <a:ln w="12700">
            <a:solidFill>
              <a:srgbClr val="FFA028"/>
            </a:solidFill>
            <a:prstDash val="solid"/>
          </a:ln>
        </p:spPr>
      </p:sp>
      <p:sp>
        <p:nvSpPr>
          <p:cNvPr id="32" name="Text 30"/>
          <p:cNvSpPr txBox="1"/>
          <p:nvPr/>
        </p:nvSpPr>
        <p:spPr>
          <a:xfrm>
            <a:off x="594360" y="525780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Holgura Total (HT)</a:t>
            </a:r>
            <a:endParaRPr lang="en-US" sz="1400" dirty="0"/>
          </a:p>
        </p:txBody>
      </p:sp>
      <p:sp>
        <p:nvSpPr>
          <p:cNvPr id="33" name="Text 31"/>
          <p:cNvSpPr txBox="1"/>
          <p:nvPr/>
        </p:nvSpPr>
        <p:spPr>
          <a:xfrm>
            <a:off x="594360" y="562356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Días que puede retrasarse una actividad sin retrasar la fecha fin del proyecto.</a:t>
            </a:r>
            <a:endParaRPr lang="en-US" sz="1100" dirty="0"/>
          </a:p>
        </p:txBody>
      </p:sp>
      <p:sp>
        <p:nvSpPr>
          <p:cNvPr id="34" name="Shape 32"/>
          <p:cNvSpPr/>
          <p:nvPr/>
        </p:nvSpPr>
        <p:spPr>
          <a:xfrm>
            <a:off x="6263640" y="5166360"/>
            <a:ext cx="5486400" cy="1261872"/>
          </a:xfrm>
          <a:prstGeom prst="roundRect">
            <a:avLst>
              <a:gd name="adj" fmla="val 5797"/>
            </a:avLst>
          </a:prstGeom>
          <a:solidFill>
            <a:srgbClr val="1A1A1A"/>
          </a:solidFill>
          <a:ln w="12700">
            <a:solidFill>
              <a:srgbClr val="333333"/>
            </a:solidFill>
            <a:prstDash val="solid"/>
          </a:ln>
        </p:spPr>
      </p:sp>
      <p:sp>
        <p:nvSpPr>
          <p:cNvPr id="35" name="Shape 33"/>
          <p:cNvSpPr/>
          <p:nvPr/>
        </p:nvSpPr>
        <p:spPr>
          <a:xfrm>
            <a:off x="6263640" y="5166360"/>
            <a:ext cx="54864" cy="1261872"/>
          </a:xfrm>
          <a:prstGeom prst="rect">
            <a:avLst/>
          </a:prstGeom>
          <a:solidFill>
            <a:srgbClr val="FFA028"/>
          </a:solidFill>
          <a:ln w="12700">
            <a:solidFill>
              <a:srgbClr val="FFA028"/>
            </a:solidFill>
            <a:prstDash val="solid"/>
          </a:ln>
        </p:spPr>
      </p:sp>
      <p:sp>
        <p:nvSpPr>
          <p:cNvPr id="36" name="Text 34"/>
          <p:cNvSpPr txBox="1"/>
          <p:nvPr/>
        </p:nvSpPr>
        <p:spPr>
          <a:xfrm>
            <a:off x="6446520" y="5257800"/>
            <a:ext cx="5212080" cy="329184"/>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Línea Base</a:t>
            </a:r>
            <a:endParaRPr lang="en-US" sz="1400" dirty="0"/>
          </a:p>
        </p:txBody>
      </p:sp>
      <p:sp>
        <p:nvSpPr>
          <p:cNvPr id="37" name="Text 35"/>
          <p:cNvSpPr txBox="1"/>
          <p:nvPr/>
        </p:nvSpPr>
        <p:spPr>
          <a:xfrm>
            <a:off x="6446520" y="5623560"/>
            <a:ext cx="5212080" cy="6858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Snapshot del cronograma aprobado. Permite comparar el plan original vs el avance real.</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EL DIAGRAMA DE GANTT</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50292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diagrama de Gantt es una representación visual del cronograma. Cada barra representa una actividad, su posición horizontal indica las fechas y su longitud indica la duración.</a:t>
            </a:r>
            <a:endParaRPr lang="en-US" sz="1300" dirty="0"/>
          </a:p>
        </p:txBody>
      </p:sp>
      <p:sp>
        <p:nvSpPr>
          <p:cNvPr id="7" name="Shape 5"/>
          <p:cNvSpPr/>
          <p:nvPr/>
        </p:nvSpPr>
        <p:spPr>
          <a:xfrm>
            <a:off x="411480" y="1554480"/>
            <a:ext cx="2011680" cy="384048"/>
          </a:xfrm>
          <a:prstGeom prst="roundRect">
            <a:avLst>
              <a:gd name="adj" fmla="val 14286"/>
            </a:avLst>
          </a:prstGeom>
          <a:solidFill>
            <a:srgbClr val="1976D2"/>
          </a:solidFill>
          <a:ln w="12700">
            <a:solidFill>
              <a:srgbClr val="1976D2"/>
            </a:solidFill>
            <a:prstDash val="solid"/>
          </a:ln>
        </p:spPr>
      </p:sp>
      <p:sp>
        <p:nvSpPr>
          <p:cNvPr id="8" name="Text 6"/>
          <p:cNvSpPr txBox="1"/>
          <p:nvPr/>
        </p:nvSpPr>
        <p:spPr>
          <a:xfrm>
            <a:off x="2560320" y="1554480"/>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Tarea Normal</a:t>
            </a:r>
            <a:endParaRPr lang="en-US" sz="1400" dirty="0"/>
          </a:p>
        </p:txBody>
      </p:sp>
      <p:sp>
        <p:nvSpPr>
          <p:cNvPr id="9" name="Text 7"/>
          <p:cNvSpPr txBox="1"/>
          <p:nvPr/>
        </p:nvSpPr>
        <p:spPr>
          <a:xfrm>
            <a:off x="5577840" y="1554480"/>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Actividad con holgura mayor al umbral near-critical</a:t>
            </a:r>
            <a:endParaRPr lang="en-US" sz="1200" dirty="0"/>
          </a:p>
        </p:txBody>
      </p:sp>
      <p:sp>
        <p:nvSpPr>
          <p:cNvPr id="10" name="Shape 8"/>
          <p:cNvSpPr/>
          <p:nvPr/>
        </p:nvSpPr>
        <p:spPr>
          <a:xfrm>
            <a:off x="411480" y="2249424"/>
            <a:ext cx="2011680" cy="384048"/>
          </a:xfrm>
          <a:prstGeom prst="roundRect">
            <a:avLst>
              <a:gd name="adj" fmla="val 14286"/>
            </a:avLst>
          </a:prstGeom>
          <a:solidFill>
            <a:srgbClr val="D32F2F"/>
          </a:solidFill>
          <a:ln w="12700">
            <a:solidFill>
              <a:srgbClr val="D32F2F"/>
            </a:solidFill>
            <a:prstDash val="solid"/>
          </a:ln>
        </p:spPr>
      </p:sp>
      <p:sp>
        <p:nvSpPr>
          <p:cNvPr id="11" name="Text 9"/>
          <p:cNvSpPr txBox="1"/>
          <p:nvPr/>
        </p:nvSpPr>
        <p:spPr>
          <a:xfrm>
            <a:off x="2560320" y="2249424"/>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Tarea Crítica</a:t>
            </a:r>
            <a:endParaRPr lang="en-US" sz="1400" dirty="0"/>
          </a:p>
        </p:txBody>
      </p:sp>
      <p:sp>
        <p:nvSpPr>
          <p:cNvPr id="12" name="Text 10"/>
          <p:cNvSpPr txBox="1"/>
          <p:nvPr/>
        </p:nvSpPr>
        <p:spPr>
          <a:xfrm>
            <a:off x="5577840" y="2249424"/>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Holgura Total ≤ 0. Cualquier retraso retrasa el proyecto</a:t>
            </a:r>
            <a:endParaRPr lang="en-US" sz="1200" dirty="0"/>
          </a:p>
        </p:txBody>
      </p:sp>
      <p:sp>
        <p:nvSpPr>
          <p:cNvPr id="13" name="Shape 11"/>
          <p:cNvSpPr/>
          <p:nvPr/>
        </p:nvSpPr>
        <p:spPr>
          <a:xfrm>
            <a:off x="411480" y="2944368"/>
            <a:ext cx="2011680" cy="384048"/>
          </a:xfrm>
          <a:prstGeom prst="roundRect">
            <a:avLst>
              <a:gd name="adj" fmla="val 14286"/>
            </a:avLst>
          </a:prstGeom>
          <a:solidFill>
            <a:srgbClr val="FB8C00"/>
          </a:solidFill>
          <a:ln w="12700">
            <a:solidFill>
              <a:srgbClr val="FB8C00"/>
            </a:solidFill>
            <a:prstDash val="solid"/>
          </a:ln>
        </p:spPr>
      </p:sp>
      <p:sp>
        <p:nvSpPr>
          <p:cNvPr id="14" name="Text 12"/>
          <p:cNvSpPr txBox="1"/>
          <p:nvPr/>
        </p:nvSpPr>
        <p:spPr>
          <a:xfrm>
            <a:off x="2560320" y="2944368"/>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Near-Critical</a:t>
            </a:r>
            <a:endParaRPr lang="en-US" sz="1400" dirty="0"/>
          </a:p>
        </p:txBody>
      </p:sp>
      <p:sp>
        <p:nvSpPr>
          <p:cNvPr id="15" name="Text 13"/>
          <p:cNvSpPr txBox="1"/>
          <p:nvPr/>
        </p:nvSpPr>
        <p:spPr>
          <a:xfrm>
            <a:off x="5577840" y="2944368"/>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HT ≤ 5 días. Requiere monitoreo especial</a:t>
            </a:r>
            <a:endParaRPr lang="en-US" sz="1200" dirty="0"/>
          </a:p>
        </p:txBody>
      </p:sp>
      <p:sp>
        <p:nvSpPr>
          <p:cNvPr id="16" name="Shape 14"/>
          <p:cNvSpPr/>
          <p:nvPr/>
        </p:nvSpPr>
        <p:spPr>
          <a:xfrm>
            <a:off x="411480" y="3639312"/>
            <a:ext cx="2011680" cy="384048"/>
          </a:xfrm>
          <a:prstGeom prst="roundRect">
            <a:avLst>
              <a:gd name="adj" fmla="val 14286"/>
            </a:avLst>
          </a:prstGeom>
          <a:solidFill>
            <a:srgbClr val="388E3C"/>
          </a:solidFill>
          <a:ln w="12700">
            <a:solidFill>
              <a:srgbClr val="388E3C"/>
            </a:solidFill>
            <a:prstDash val="solid"/>
          </a:ln>
        </p:spPr>
      </p:sp>
      <p:sp>
        <p:nvSpPr>
          <p:cNvPr id="17" name="Text 15"/>
          <p:cNvSpPr txBox="1"/>
          <p:nvPr/>
        </p:nvSpPr>
        <p:spPr>
          <a:xfrm>
            <a:off x="2560320" y="3639312"/>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Completada</a:t>
            </a:r>
            <a:endParaRPr lang="en-US" sz="1400" dirty="0"/>
          </a:p>
        </p:txBody>
      </p:sp>
      <p:sp>
        <p:nvSpPr>
          <p:cNvPr id="18" name="Text 16"/>
          <p:cNvSpPr txBox="1"/>
          <p:nvPr/>
        </p:nvSpPr>
        <p:spPr>
          <a:xfrm>
            <a:off x="5577840" y="3639312"/>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Avance = 100%. Tarea finalizada</a:t>
            </a:r>
            <a:endParaRPr lang="en-US" sz="1200" dirty="0"/>
          </a:p>
        </p:txBody>
      </p:sp>
      <p:sp>
        <p:nvSpPr>
          <p:cNvPr id="19" name="Shape 17"/>
          <p:cNvSpPr/>
          <p:nvPr/>
        </p:nvSpPr>
        <p:spPr>
          <a:xfrm>
            <a:off x="411480" y="4334256"/>
            <a:ext cx="2011680" cy="384048"/>
          </a:xfrm>
          <a:prstGeom prst="roundRect">
            <a:avLst>
              <a:gd name="adj" fmla="val 14286"/>
            </a:avLst>
          </a:prstGeom>
          <a:solidFill>
            <a:srgbClr val="F9A825"/>
          </a:solidFill>
          <a:ln w="12700">
            <a:solidFill>
              <a:srgbClr val="F9A825"/>
            </a:solidFill>
            <a:prstDash val="solid"/>
          </a:ln>
        </p:spPr>
      </p:sp>
      <p:sp>
        <p:nvSpPr>
          <p:cNvPr id="20" name="Text 18"/>
          <p:cNvSpPr txBox="1"/>
          <p:nvPr/>
        </p:nvSpPr>
        <p:spPr>
          <a:xfrm>
            <a:off x="2560320" y="4334256"/>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Hito</a:t>
            </a:r>
            <a:endParaRPr lang="en-US" sz="1400" dirty="0"/>
          </a:p>
        </p:txBody>
      </p:sp>
      <p:sp>
        <p:nvSpPr>
          <p:cNvPr id="21" name="Text 19"/>
          <p:cNvSpPr txBox="1"/>
          <p:nvPr/>
        </p:nvSpPr>
        <p:spPr>
          <a:xfrm>
            <a:off x="5577840" y="4334256"/>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Evento puntual, duración = 0, forma de diamante</a:t>
            </a:r>
            <a:endParaRPr lang="en-US" sz="1200" dirty="0"/>
          </a:p>
        </p:txBody>
      </p:sp>
      <p:sp>
        <p:nvSpPr>
          <p:cNvPr id="22" name="Shape 20"/>
          <p:cNvSpPr/>
          <p:nvPr/>
        </p:nvSpPr>
        <p:spPr>
          <a:xfrm>
            <a:off x="411480" y="5029200"/>
            <a:ext cx="2011680" cy="384048"/>
          </a:xfrm>
          <a:prstGeom prst="roundRect">
            <a:avLst>
              <a:gd name="adj" fmla="val 14286"/>
            </a:avLst>
          </a:prstGeom>
          <a:solidFill>
            <a:srgbClr val="9E9E9E"/>
          </a:solidFill>
          <a:ln w="12700">
            <a:solidFill>
              <a:srgbClr val="9E9E9E"/>
            </a:solidFill>
            <a:prstDash val="solid"/>
          </a:ln>
        </p:spPr>
      </p:sp>
      <p:sp>
        <p:nvSpPr>
          <p:cNvPr id="23" name="Text 21"/>
          <p:cNvSpPr txBox="1"/>
          <p:nvPr/>
        </p:nvSpPr>
        <p:spPr>
          <a:xfrm>
            <a:off x="2560320" y="5029200"/>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Sin fechas</a:t>
            </a:r>
            <a:endParaRPr lang="en-US" sz="1400" dirty="0"/>
          </a:p>
        </p:txBody>
      </p:sp>
      <p:sp>
        <p:nvSpPr>
          <p:cNvPr id="24" name="Text 22"/>
          <p:cNvSpPr txBox="1"/>
          <p:nvPr/>
        </p:nvSpPr>
        <p:spPr>
          <a:xfrm>
            <a:off x="5577840" y="5029200"/>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Pendiente de programar o sin predecesoras asignadas</a:t>
            </a:r>
            <a:endParaRPr lang="en-US" sz="1200" dirty="0"/>
          </a:p>
        </p:txBody>
      </p:sp>
      <p:sp>
        <p:nvSpPr>
          <p:cNvPr id="25" name="Shape 23"/>
          <p:cNvSpPr/>
          <p:nvPr/>
        </p:nvSpPr>
        <p:spPr>
          <a:xfrm>
            <a:off x="411480" y="5724144"/>
            <a:ext cx="2011680" cy="384048"/>
          </a:xfrm>
          <a:prstGeom prst="roundRect">
            <a:avLst>
              <a:gd name="adj" fmla="val 14286"/>
            </a:avLst>
          </a:prstGeom>
          <a:solidFill>
            <a:srgbClr val="455A64"/>
          </a:solidFill>
          <a:ln w="12700">
            <a:solidFill>
              <a:srgbClr val="455A64"/>
            </a:solidFill>
            <a:prstDash val="solid"/>
          </a:ln>
        </p:spPr>
      </p:sp>
      <p:sp>
        <p:nvSpPr>
          <p:cNvPr id="26" name="Text 24"/>
          <p:cNvSpPr txBox="1"/>
          <p:nvPr/>
        </p:nvSpPr>
        <p:spPr>
          <a:xfrm>
            <a:off x="2560320" y="5724144"/>
            <a:ext cx="2926080" cy="384048"/>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Resumen</a:t>
            </a:r>
            <a:endParaRPr lang="en-US" sz="1400" dirty="0"/>
          </a:p>
        </p:txBody>
      </p:sp>
      <p:sp>
        <p:nvSpPr>
          <p:cNvPr id="27" name="Text 25"/>
          <p:cNvSpPr txBox="1"/>
          <p:nvPr/>
        </p:nvSpPr>
        <p:spPr>
          <a:xfrm>
            <a:off x="5577840" y="5724144"/>
            <a:ext cx="621792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Barra padre/fase. Duración calculada por el CPM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MÉTODO DE RUTA CRÍTICA (CPM)</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41148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CPM calcula automáticamente las fechas más tempranas y tardías de cada actividad usando dos pasadas:</a:t>
            </a:r>
            <a:endParaRPr lang="en-US" sz="1300" dirty="0"/>
          </a:p>
        </p:txBody>
      </p:sp>
      <p:sp>
        <p:nvSpPr>
          <p:cNvPr id="7" name="Shape 5"/>
          <p:cNvSpPr/>
          <p:nvPr/>
        </p:nvSpPr>
        <p:spPr>
          <a:xfrm>
            <a:off x="411480" y="1417320"/>
            <a:ext cx="5486400" cy="2377440"/>
          </a:xfrm>
          <a:prstGeom prst="roundRect">
            <a:avLst>
              <a:gd name="adj" fmla="val 3077"/>
            </a:avLst>
          </a:prstGeom>
          <a:solidFill>
            <a:srgbClr val="1A1A1A"/>
          </a:solidFill>
          <a:ln w="12700">
            <a:solidFill>
              <a:srgbClr val="FFA028"/>
            </a:solidFill>
            <a:prstDash val="solid"/>
          </a:ln>
        </p:spPr>
      </p:sp>
      <p:sp>
        <p:nvSpPr>
          <p:cNvPr id="8" name="Shape 6"/>
          <p:cNvSpPr/>
          <p:nvPr/>
        </p:nvSpPr>
        <p:spPr>
          <a:xfrm>
            <a:off x="411480" y="1417320"/>
            <a:ext cx="5486400" cy="64008"/>
          </a:xfrm>
          <a:prstGeom prst="rect">
            <a:avLst/>
          </a:prstGeom>
          <a:solidFill>
            <a:srgbClr val="FFA028"/>
          </a:solidFill>
          <a:ln w="12700">
            <a:solidFill>
              <a:srgbClr val="FFA028"/>
            </a:solidFill>
            <a:prstDash val="solid"/>
          </a:ln>
        </p:spPr>
      </p:sp>
      <p:sp>
        <p:nvSpPr>
          <p:cNvPr id="9" name="Text 7"/>
          <p:cNvSpPr txBox="1"/>
          <p:nvPr/>
        </p:nvSpPr>
        <p:spPr>
          <a:xfrm>
            <a:off x="594360" y="1554480"/>
            <a:ext cx="5120640" cy="384048"/>
          </a:xfrm>
          <a:prstGeom prst="rect">
            <a:avLst/>
          </a:prstGeom>
          <a:noFill/>
          <a:ln/>
        </p:spPr>
        <p:txBody>
          <a:bodyPr wrap="square" lIns="0" tIns="0" rIns="0" bIns="0" rtlCol="0" anchor="ctr"/>
          <a:lstStyle/>
          <a:p>
            <a:pPr indent="0" marL="0">
              <a:buNone/>
            </a:pPr>
            <a:r>
              <a:rPr lang="en-US" sz="1600" b="1" dirty="0">
                <a:solidFill>
                  <a:srgbClr val="FFA028"/>
                </a:solidFill>
                <a:latin typeface="Epilogue" pitchFamily="34" charset="0"/>
                <a:ea typeface="Epilogue" pitchFamily="34" charset="-122"/>
                <a:cs typeface="Epilogue" pitchFamily="34" charset="-120"/>
              </a:rPr>
              <a:t>Pasada Hacia Adelante</a:t>
            </a:r>
            <a:endParaRPr lang="en-US" sz="1600" dirty="0"/>
          </a:p>
        </p:txBody>
      </p:sp>
      <p:sp>
        <p:nvSpPr>
          <p:cNvPr id="10" name="Text 8"/>
          <p:cNvSpPr txBox="1"/>
          <p:nvPr/>
        </p:nvSpPr>
        <p:spPr>
          <a:xfrm>
            <a:off x="594360" y="1993392"/>
            <a:ext cx="5120640" cy="329184"/>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ES (Early Start) y EF (Early Finish)</a:t>
            </a:r>
            <a:endParaRPr lang="en-US" sz="1300" dirty="0"/>
          </a:p>
        </p:txBody>
      </p:sp>
      <p:sp>
        <p:nvSpPr>
          <p:cNvPr id="11" name="Text 9"/>
          <p:cNvSpPr txBox="1"/>
          <p:nvPr/>
        </p:nvSpPr>
        <p:spPr>
          <a:xfrm>
            <a:off x="594360" y="2377440"/>
            <a:ext cx="5120640" cy="109728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Calcula las fechas más tempranas posibles para cada actividad comenzando desde el inicio del proyecto.</a:t>
            </a:r>
            <a:endParaRPr lang="en-US" sz="1200" dirty="0"/>
          </a:p>
        </p:txBody>
      </p:sp>
      <p:sp>
        <p:nvSpPr>
          <p:cNvPr id="12" name="Shape 10"/>
          <p:cNvSpPr/>
          <p:nvPr/>
        </p:nvSpPr>
        <p:spPr>
          <a:xfrm>
            <a:off x="6263640" y="1417320"/>
            <a:ext cx="5486400" cy="2377440"/>
          </a:xfrm>
          <a:prstGeom prst="roundRect">
            <a:avLst>
              <a:gd name="adj" fmla="val 3077"/>
            </a:avLst>
          </a:prstGeom>
          <a:solidFill>
            <a:srgbClr val="1A1A1A"/>
          </a:solidFill>
          <a:ln w="12700">
            <a:solidFill>
              <a:srgbClr val="4AF6C3"/>
            </a:solidFill>
            <a:prstDash val="solid"/>
          </a:ln>
        </p:spPr>
      </p:sp>
      <p:sp>
        <p:nvSpPr>
          <p:cNvPr id="13" name="Shape 11"/>
          <p:cNvSpPr/>
          <p:nvPr/>
        </p:nvSpPr>
        <p:spPr>
          <a:xfrm>
            <a:off x="6263640" y="1417320"/>
            <a:ext cx="5486400" cy="64008"/>
          </a:xfrm>
          <a:prstGeom prst="rect">
            <a:avLst/>
          </a:prstGeom>
          <a:solidFill>
            <a:srgbClr val="4AF6C3"/>
          </a:solidFill>
          <a:ln w="12700">
            <a:solidFill>
              <a:srgbClr val="4AF6C3"/>
            </a:solidFill>
            <a:prstDash val="solid"/>
          </a:ln>
        </p:spPr>
      </p:sp>
      <p:sp>
        <p:nvSpPr>
          <p:cNvPr id="14" name="Text 12"/>
          <p:cNvSpPr txBox="1"/>
          <p:nvPr/>
        </p:nvSpPr>
        <p:spPr>
          <a:xfrm>
            <a:off x="6446520" y="1554480"/>
            <a:ext cx="5120640" cy="384048"/>
          </a:xfrm>
          <a:prstGeom prst="rect">
            <a:avLst/>
          </a:prstGeom>
          <a:noFill/>
          <a:ln/>
        </p:spPr>
        <p:txBody>
          <a:bodyPr wrap="square" lIns="0" tIns="0" rIns="0" bIns="0" rtlCol="0" anchor="ctr"/>
          <a:lstStyle/>
          <a:p>
            <a:pPr indent="0" marL="0">
              <a:buNone/>
            </a:pPr>
            <a:r>
              <a:rPr lang="en-US" sz="1600" b="1" dirty="0">
                <a:solidFill>
                  <a:srgbClr val="4AF6C3"/>
                </a:solidFill>
                <a:latin typeface="Epilogue" pitchFamily="34" charset="0"/>
                <a:ea typeface="Epilogue" pitchFamily="34" charset="-122"/>
                <a:cs typeface="Epilogue" pitchFamily="34" charset="-120"/>
              </a:rPr>
              <a:t>Pasada Hacia Atrás</a:t>
            </a:r>
            <a:endParaRPr lang="en-US" sz="1600" dirty="0"/>
          </a:p>
        </p:txBody>
      </p:sp>
      <p:sp>
        <p:nvSpPr>
          <p:cNvPr id="15" name="Text 13"/>
          <p:cNvSpPr txBox="1"/>
          <p:nvPr/>
        </p:nvSpPr>
        <p:spPr>
          <a:xfrm>
            <a:off x="6446520" y="1993392"/>
            <a:ext cx="5120640" cy="329184"/>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LS (Late Start) y LF (Late Finish)</a:t>
            </a:r>
            <a:endParaRPr lang="en-US" sz="1300" dirty="0"/>
          </a:p>
        </p:txBody>
      </p:sp>
      <p:sp>
        <p:nvSpPr>
          <p:cNvPr id="16" name="Text 14"/>
          <p:cNvSpPr txBox="1"/>
          <p:nvPr/>
        </p:nvSpPr>
        <p:spPr>
          <a:xfrm>
            <a:off x="6446520" y="2377440"/>
            <a:ext cx="5120640" cy="109728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Calcula las fechas más tardías permitidas para cada actividad sin retrasar la fecha fin del proyecto.</a:t>
            </a:r>
            <a:endParaRPr lang="en-US" sz="1200" dirty="0"/>
          </a:p>
        </p:txBody>
      </p:sp>
      <p:sp>
        <p:nvSpPr>
          <p:cNvPr id="17" name="Shape 15"/>
          <p:cNvSpPr/>
          <p:nvPr/>
        </p:nvSpPr>
        <p:spPr>
          <a:xfrm>
            <a:off x="411480" y="3977640"/>
            <a:ext cx="11338560" cy="713232"/>
          </a:xfrm>
          <a:prstGeom prst="roundRect">
            <a:avLst>
              <a:gd name="adj" fmla="val 10256"/>
            </a:avLst>
          </a:prstGeom>
          <a:solidFill>
            <a:srgbClr val="0D0D0D"/>
          </a:solidFill>
          <a:ln w="12700">
            <a:solidFill>
              <a:srgbClr val="FFA028"/>
            </a:solidFill>
            <a:prstDash val="solid"/>
          </a:ln>
        </p:spPr>
      </p:sp>
      <p:sp>
        <p:nvSpPr>
          <p:cNvPr id="18" name="Text 16"/>
          <p:cNvSpPr txBox="1"/>
          <p:nvPr/>
        </p:nvSpPr>
        <p:spPr>
          <a:xfrm>
            <a:off x="594360" y="4087368"/>
            <a:ext cx="3200400" cy="502920"/>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HT (Holgura Total)</a:t>
            </a:r>
            <a:endParaRPr lang="en-US" sz="1400" dirty="0"/>
          </a:p>
        </p:txBody>
      </p:sp>
      <p:sp>
        <p:nvSpPr>
          <p:cNvPr id="19" name="Text 17"/>
          <p:cNvSpPr txBox="1"/>
          <p:nvPr/>
        </p:nvSpPr>
        <p:spPr>
          <a:xfrm>
            <a:off x="3931920" y="4087368"/>
            <a:ext cx="2743200" cy="50292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 LS − ES = LF − EF</a:t>
            </a:r>
            <a:endParaRPr lang="en-US" sz="1400" dirty="0"/>
          </a:p>
        </p:txBody>
      </p:sp>
      <p:sp>
        <p:nvSpPr>
          <p:cNvPr id="20" name="Text 18"/>
          <p:cNvSpPr txBox="1"/>
          <p:nvPr/>
        </p:nvSpPr>
        <p:spPr>
          <a:xfrm>
            <a:off x="6858000" y="4087368"/>
            <a:ext cx="4754880" cy="5029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Cuánto puede retrasarse sin afectar la fecha fin</a:t>
            </a:r>
            <a:endParaRPr lang="en-US" sz="1200" dirty="0"/>
          </a:p>
        </p:txBody>
      </p:sp>
      <p:sp>
        <p:nvSpPr>
          <p:cNvPr id="21" name="Shape 19"/>
          <p:cNvSpPr/>
          <p:nvPr/>
        </p:nvSpPr>
        <p:spPr>
          <a:xfrm>
            <a:off x="411480" y="4818888"/>
            <a:ext cx="11338560" cy="713232"/>
          </a:xfrm>
          <a:prstGeom prst="roundRect">
            <a:avLst>
              <a:gd name="adj" fmla="val 10256"/>
            </a:avLst>
          </a:prstGeom>
          <a:solidFill>
            <a:srgbClr val="0D0D0D"/>
          </a:solidFill>
          <a:ln w="12700">
            <a:solidFill>
              <a:srgbClr val="4AF6C3"/>
            </a:solidFill>
            <a:prstDash val="solid"/>
          </a:ln>
        </p:spPr>
      </p:sp>
      <p:sp>
        <p:nvSpPr>
          <p:cNvPr id="22" name="Text 20"/>
          <p:cNvSpPr txBox="1"/>
          <p:nvPr/>
        </p:nvSpPr>
        <p:spPr>
          <a:xfrm>
            <a:off x="594360" y="4928616"/>
            <a:ext cx="3200400" cy="502920"/>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HL (Holgura Libre)</a:t>
            </a:r>
            <a:endParaRPr lang="en-US" sz="1400" dirty="0"/>
          </a:p>
        </p:txBody>
      </p:sp>
      <p:sp>
        <p:nvSpPr>
          <p:cNvPr id="23" name="Text 21"/>
          <p:cNvSpPr txBox="1"/>
          <p:nvPr/>
        </p:nvSpPr>
        <p:spPr>
          <a:xfrm>
            <a:off x="3931920" y="4928616"/>
            <a:ext cx="2743200" cy="50292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 ES(sucesor) − EF</a:t>
            </a:r>
            <a:endParaRPr lang="en-US" sz="1400" dirty="0"/>
          </a:p>
        </p:txBody>
      </p:sp>
      <p:sp>
        <p:nvSpPr>
          <p:cNvPr id="24" name="Text 22"/>
          <p:cNvSpPr txBox="1"/>
          <p:nvPr/>
        </p:nvSpPr>
        <p:spPr>
          <a:xfrm>
            <a:off x="6858000" y="4928616"/>
            <a:ext cx="4754880" cy="5029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Cuánto puede retrasarse sin afectar la siguiente tarea</a:t>
            </a:r>
            <a:endParaRPr lang="en-US" sz="1200" dirty="0"/>
          </a:p>
        </p:txBody>
      </p:sp>
      <p:sp>
        <p:nvSpPr>
          <p:cNvPr id="25" name="Shape 23"/>
          <p:cNvSpPr/>
          <p:nvPr/>
        </p:nvSpPr>
        <p:spPr>
          <a:xfrm>
            <a:off x="411480" y="5660136"/>
            <a:ext cx="11338560" cy="713232"/>
          </a:xfrm>
          <a:prstGeom prst="roundRect">
            <a:avLst>
              <a:gd name="adj" fmla="val 10256"/>
            </a:avLst>
          </a:prstGeom>
          <a:solidFill>
            <a:srgbClr val="0D0D0D"/>
          </a:solidFill>
          <a:ln w="12700">
            <a:solidFill>
              <a:srgbClr val="FF433D"/>
            </a:solidFill>
            <a:prstDash val="solid"/>
          </a:ln>
        </p:spPr>
      </p:sp>
      <p:sp>
        <p:nvSpPr>
          <p:cNvPr id="26" name="Text 24"/>
          <p:cNvSpPr txBox="1"/>
          <p:nvPr/>
        </p:nvSpPr>
        <p:spPr>
          <a:xfrm>
            <a:off x="594360" y="5769864"/>
            <a:ext cx="3200400" cy="502920"/>
          </a:xfrm>
          <a:prstGeom prst="rect">
            <a:avLst/>
          </a:prstGeom>
          <a:noFill/>
          <a:ln/>
        </p:spPr>
        <p:txBody>
          <a:bodyPr wrap="square" lIns="0" tIns="0" rIns="0" bIns="0" rtlCol="0" anchor="ctr"/>
          <a:lstStyle/>
          <a:p>
            <a:pPr indent="0" marL="0">
              <a:buNone/>
            </a:pPr>
            <a:r>
              <a:rPr lang="en-US" sz="1400" b="1" dirty="0">
                <a:solidFill>
                  <a:srgbClr val="FF433D"/>
                </a:solidFill>
                <a:latin typeface="Epilogue" pitchFamily="34" charset="0"/>
                <a:ea typeface="Epilogue" pitchFamily="34" charset="-122"/>
                <a:cs typeface="Epilogue" pitchFamily="34" charset="-120"/>
              </a:rPr>
              <a:t>Ruta Crítica</a:t>
            </a:r>
            <a:endParaRPr lang="en-US" sz="1400" dirty="0"/>
          </a:p>
        </p:txBody>
      </p:sp>
      <p:sp>
        <p:nvSpPr>
          <p:cNvPr id="27" name="Text 25"/>
          <p:cNvSpPr txBox="1"/>
          <p:nvPr/>
        </p:nvSpPr>
        <p:spPr>
          <a:xfrm>
            <a:off x="3931920" y="5769864"/>
            <a:ext cx="2743200" cy="50292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HT = 0</a:t>
            </a:r>
            <a:endParaRPr lang="en-US" sz="1400" dirty="0"/>
          </a:p>
        </p:txBody>
      </p:sp>
      <p:sp>
        <p:nvSpPr>
          <p:cNvPr id="28" name="Text 26"/>
          <p:cNvSpPr txBox="1"/>
          <p:nvPr/>
        </p:nvSpPr>
        <p:spPr>
          <a:xfrm>
            <a:off x="6858000" y="5769864"/>
            <a:ext cx="4754880" cy="5029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Actividades sin holgura. Color rojo en Gantt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02</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Interfaz Principal</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Topbar • Explorador • Herramientas • Filtros • Estado</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ZONAS DE LA INTERFAZ</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548640"/>
          </a:xfrm>
          <a:prstGeom prst="roundRect">
            <a:avLst>
              <a:gd name="adj" fmla="val 13333"/>
            </a:avLst>
          </a:prstGeom>
          <a:solidFill>
            <a:srgbClr val="1A1A1A"/>
          </a:solidFill>
          <a:ln w="12700">
            <a:solidFill>
              <a:srgbClr val="2251FF"/>
            </a:solidFill>
            <a:prstDash val="solid"/>
          </a:ln>
        </p:spPr>
      </p:sp>
      <p:sp>
        <p:nvSpPr>
          <p:cNvPr id="7" name="Shape 5"/>
          <p:cNvSpPr/>
          <p:nvPr/>
        </p:nvSpPr>
        <p:spPr>
          <a:xfrm>
            <a:off x="411480" y="914400"/>
            <a:ext cx="11338560" cy="54864"/>
          </a:xfrm>
          <a:prstGeom prst="rect">
            <a:avLst/>
          </a:prstGeom>
          <a:solidFill>
            <a:srgbClr val="2251FF"/>
          </a:solidFill>
          <a:ln w="12700">
            <a:solidFill>
              <a:srgbClr val="2251FF"/>
            </a:solidFill>
            <a:prstDash val="solid"/>
          </a:ln>
        </p:spPr>
      </p:sp>
      <p:sp>
        <p:nvSpPr>
          <p:cNvPr id="8" name="Text 6"/>
          <p:cNvSpPr txBox="1"/>
          <p:nvPr/>
        </p:nvSpPr>
        <p:spPr>
          <a:xfrm>
            <a:off x="548640" y="1078992"/>
            <a:ext cx="11064240" cy="32004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① BARRA SUPERIOR — Logo, nombre proyecto, duración, tema claro/oscuro</a:t>
            </a:r>
            <a:endParaRPr lang="en-US" sz="1100" dirty="0"/>
          </a:p>
        </p:txBody>
      </p:sp>
      <p:sp>
        <p:nvSpPr>
          <p:cNvPr id="9" name="Shape 7"/>
          <p:cNvSpPr/>
          <p:nvPr/>
        </p:nvSpPr>
        <p:spPr>
          <a:xfrm>
            <a:off x="411480" y="1600200"/>
            <a:ext cx="2377440" cy="4389120"/>
          </a:xfrm>
          <a:prstGeom prst="roundRect">
            <a:avLst>
              <a:gd name="adj" fmla="val 3077"/>
            </a:avLst>
          </a:prstGeom>
          <a:solidFill>
            <a:srgbClr val="1A1A1A"/>
          </a:solidFill>
          <a:ln w="12700">
            <a:solidFill>
              <a:srgbClr val="FFA028"/>
            </a:solidFill>
            <a:prstDash val="solid"/>
          </a:ln>
        </p:spPr>
      </p:sp>
      <p:sp>
        <p:nvSpPr>
          <p:cNvPr id="10" name="Shape 8"/>
          <p:cNvSpPr/>
          <p:nvPr/>
        </p:nvSpPr>
        <p:spPr>
          <a:xfrm>
            <a:off x="411480" y="1600200"/>
            <a:ext cx="2377440" cy="54864"/>
          </a:xfrm>
          <a:prstGeom prst="rect">
            <a:avLst/>
          </a:prstGeom>
          <a:solidFill>
            <a:srgbClr val="FFA028"/>
          </a:solidFill>
          <a:ln w="12700">
            <a:solidFill>
              <a:srgbClr val="FFA028"/>
            </a:solidFill>
            <a:prstDash val="solid"/>
          </a:ln>
        </p:spPr>
      </p:sp>
      <p:sp>
        <p:nvSpPr>
          <p:cNvPr id="11" name="Text 9"/>
          <p:cNvSpPr txBox="1"/>
          <p:nvPr/>
        </p:nvSpPr>
        <p:spPr>
          <a:xfrm>
            <a:off x="548640" y="1764792"/>
            <a:ext cx="2103120" cy="416052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② EXPLORADOR</a:t>
            </a:r>
            <a:endParaRPr lang="en-US" sz="1100" dirty="0"/>
          </a:p>
          <a:p>
            <a:pPr indent="0" marL="0">
              <a:buNone/>
            </a:pPr>
            <a:r>
              <a:rPr lang="en-US" sz="1100" dirty="0">
                <a:solidFill>
                  <a:srgbClr val="FFFFFF"/>
                </a:solidFill>
                <a:latin typeface="Epilogue" pitchFamily="34" charset="0"/>
                <a:ea typeface="Epilogue" pitchFamily="34" charset="-122"/>
                <a:cs typeface="Epilogue" pitchFamily="34" charset="-120"/>
              </a:rPr>
              <a:t>Proyectos</a:t>
            </a:r>
            <a:endParaRPr lang="en-US" sz="1100" dirty="0"/>
          </a:p>
          <a:p>
            <a:pPr indent="0" marL="0">
              <a:buNone/>
            </a:pPr>
            <a:r>
              <a:rPr lang="en-US" sz="1100" dirty="0">
                <a:solidFill>
                  <a:srgbClr val="FFFFFF"/>
                </a:solidFill>
                <a:latin typeface="Epilogue" pitchFamily="34" charset="0"/>
                <a:ea typeface="Epilogue" pitchFamily="34" charset="-122"/>
                <a:cs typeface="Epilogue" pitchFamily="34" charset="-120"/>
              </a:rPr>
              <a:t>y Vistas</a:t>
            </a:r>
            <a:endParaRPr lang="en-US" sz="1100" dirty="0"/>
          </a:p>
        </p:txBody>
      </p:sp>
      <p:sp>
        <p:nvSpPr>
          <p:cNvPr id="12" name="Shape 10"/>
          <p:cNvSpPr/>
          <p:nvPr/>
        </p:nvSpPr>
        <p:spPr>
          <a:xfrm>
            <a:off x="2926080" y="1600200"/>
            <a:ext cx="8823960" cy="594360"/>
          </a:xfrm>
          <a:prstGeom prst="roundRect">
            <a:avLst>
              <a:gd name="adj" fmla="val 12308"/>
            </a:avLst>
          </a:prstGeom>
          <a:solidFill>
            <a:srgbClr val="1A1A1A"/>
          </a:solidFill>
          <a:ln w="12700">
            <a:solidFill>
              <a:srgbClr val="198038"/>
            </a:solidFill>
            <a:prstDash val="solid"/>
          </a:ln>
        </p:spPr>
      </p:sp>
      <p:sp>
        <p:nvSpPr>
          <p:cNvPr id="13" name="Shape 11"/>
          <p:cNvSpPr/>
          <p:nvPr/>
        </p:nvSpPr>
        <p:spPr>
          <a:xfrm>
            <a:off x="2926080" y="1600200"/>
            <a:ext cx="8823960" cy="54864"/>
          </a:xfrm>
          <a:prstGeom prst="rect">
            <a:avLst/>
          </a:prstGeom>
          <a:solidFill>
            <a:srgbClr val="198038"/>
          </a:solidFill>
          <a:ln w="12700">
            <a:solidFill>
              <a:srgbClr val="198038"/>
            </a:solidFill>
            <a:prstDash val="solid"/>
          </a:ln>
        </p:spPr>
      </p:sp>
      <p:sp>
        <p:nvSpPr>
          <p:cNvPr id="14" name="Text 12"/>
          <p:cNvSpPr txBox="1"/>
          <p:nvPr/>
        </p:nvSpPr>
        <p:spPr>
          <a:xfrm>
            <a:off x="3063240" y="1764792"/>
            <a:ext cx="854964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③ BARRA HERRAMIENTAS EDT — Undo, Redo, +Tarea, ◆Hito, Indentar, Enlace, Zoom, Etiquetas, Columnas</a:t>
            </a:r>
            <a:endParaRPr lang="en-US" sz="1100" dirty="0"/>
          </a:p>
        </p:txBody>
      </p:sp>
      <p:sp>
        <p:nvSpPr>
          <p:cNvPr id="15" name="Shape 13"/>
          <p:cNvSpPr/>
          <p:nvPr/>
        </p:nvSpPr>
        <p:spPr>
          <a:xfrm>
            <a:off x="2926080" y="2331720"/>
            <a:ext cx="8823960" cy="2743200"/>
          </a:xfrm>
          <a:prstGeom prst="roundRect">
            <a:avLst>
              <a:gd name="adj" fmla="val 2667"/>
            </a:avLst>
          </a:prstGeom>
          <a:solidFill>
            <a:srgbClr val="1A1A1A"/>
          </a:solidFill>
          <a:ln w="12700">
            <a:solidFill>
              <a:srgbClr val="4AF6C3"/>
            </a:solidFill>
            <a:prstDash val="solid"/>
          </a:ln>
        </p:spPr>
      </p:sp>
      <p:sp>
        <p:nvSpPr>
          <p:cNvPr id="16" name="Shape 14"/>
          <p:cNvSpPr/>
          <p:nvPr/>
        </p:nvSpPr>
        <p:spPr>
          <a:xfrm>
            <a:off x="2926080" y="2331720"/>
            <a:ext cx="8823960" cy="54864"/>
          </a:xfrm>
          <a:prstGeom prst="rect">
            <a:avLst/>
          </a:prstGeom>
          <a:solidFill>
            <a:srgbClr val="4AF6C3"/>
          </a:solidFill>
          <a:ln w="12700">
            <a:solidFill>
              <a:srgbClr val="4AF6C3"/>
            </a:solidFill>
            <a:prstDash val="solid"/>
          </a:ln>
        </p:spPr>
      </p:sp>
      <p:sp>
        <p:nvSpPr>
          <p:cNvPr id="17" name="Text 15"/>
          <p:cNvSpPr txBox="1"/>
          <p:nvPr/>
        </p:nvSpPr>
        <p:spPr>
          <a:xfrm>
            <a:off x="3063240" y="2496312"/>
            <a:ext cx="8549640" cy="251460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④ TABLA EDT (WBS) + DIAGRAMA GANTT</a:t>
            </a:r>
            <a:endParaRPr lang="en-US" sz="1100" dirty="0"/>
          </a:p>
        </p:txBody>
      </p:sp>
      <p:sp>
        <p:nvSpPr>
          <p:cNvPr id="18" name="Shape 16"/>
          <p:cNvSpPr/>
          <p:nvPr/>
        </p:nvSpPr>
        <p:spPr>
          <a:xfrm>
            <a:off x="2926080" y="5212080"/>
            <a:ext cx="8823960" cy="594360"/>
          </a:xfrm>
          <a:prstGeom prst="roundRect">
            <a:avLst>
              <a:gd name="adj" fmla="val 12308"/>
            </a:avLst>
          </a:prstGeom>
          <a:solidFill>
            <a:srgbClr val="1A1A1A"/>
          </a:solidFill>
          <a:ln w="12700">
            <a:solidFill>
              <a:srgbClr val="FF6B35"/>
            </a:solidFill>
            <a:prstDash val="solid"/>
          </a:ln>
        </p:spPr>
      </p:sp>
      <p:sp>
        <p:nvSpPr>
          <p:cNvPr id="19" name="Shape 17"/>
          <p:cNvSpPr/>
          <p:nvPr/>
        </p:nvSpPr>
        <p:spPr>
          <a:xfrm>
            <a:off x="2926080" y="5212080"/>
            <a:ext cx="8823960" cy="54864"/>
          </a:xfrm>
          <a:prstGeom prst="rect">
            <a:avLst/>
          </a:prstGeom>
          <a:solidFill>
            <a:srgbClr val="FF6B35"/>
          </a:solidFill>
          <a:ln w="12700">
            <a:solidFill>
              <a:srgbClr val="FF6B35"/>
            </a:solidFill>
            <a:prstDash val="solid"/>
          </a:ln>
        </p:spPr>
      </p:sp>
      <p:sp>
        <p:nvSpPr>
          <p:cNvPr id="20" name="Text 18"/>
          <p:cNvSpPr txBox="1"/>
          <p:nvPr/>
        </p:nvSpPr>
        <p:spPr>
          <a:xfrm>
            <a:off x="3063240" y="5376672"/>
            <a:ext cx="854964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⑤ BARRA FILTROS — Recursos, Calendario, Línea base, Auto-calc, DCMA, EVM, Historial, Exportar</a:t>
            </a:r>
            <a:endParaRPr lang="en-US" sz="1100" dirty="0"/>
          </a:p>
        </p:txBody>
      </p:sp>
      <p:sp>
        <p:nvSpPr>
          <p:cNvPr id="21" name="Shape 19"/>
          <p:cNvSpPr/>
          <p:nvPr/>
        </p:nvSpPr>
        <p:spPr>
          <a:xfrm>
            <a:off x="411480" y="5943600"/>
            <a:ext cx="11338560" cy="502920"/>
          </a:xfrm>
          <a:prstGeom prst="roundRect">
            <a:avLst>
              <a:gd name="adj" fmla="val 14545"/>
            </a:avLst>
          </a:prstGeom>
          <a:solidFill>
            <a:srgbClr val="1A1A1A"/>
          </a:solidFill>
          <a:ln w="12700">
            <a:solidFill>
              <a:srgbClr val="555555"/>
            </a:solidFill>
            <a:prstDash val="solid"/>
          </a:ln>
        </p:spPr>
      </p:sp>
      <p:sp>
        <p:nvSpPr>
          <p:cNvPr id="22" name="Shape 20"/>
          <p:cNvSpPr/>
          <p:nvPr/>
        </p:nvSpPr>
        <p:spPr>
          <a:xfrm>
            <a:off x="411480" y="5943600"/>
            <a:ext cx="11338560" cy="54864"/>
          </a:xfrm>
          <a:prstGeom prst="rect">
            <a:avLst/>
          </a:prstGeom>
          <a:solidFill>
            <a:srgbClr val="555555"/>
          </a:solidFill>
          <a:ln w="12700">
            <a:solidFill>
              <a:srgbClr val="555555"/>
            </a:solidFill>
            <a:prstDash val="solid"/>
          </a:ln>
        </p:spPr>
      </p:sp>
      <p:sp>
        <p:nvSpPr>
          <p:cNvPr id="23" name="Text 21"/>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⑥ BARRA DE ESTADO — Modo local / Sync status / Versión ECM Project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BARRA SUPERIOR</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508760"/>
          </a:xfrm>
          <a:prstGeom prst="roundRect">
            <a:avLst>
              <a:gd name="adj" fmla="val 4848"/>
            </a:avLst>
          </a:prstGeom>
          <a:solidFill>
            <a:srgbClr val="1A1A1A"/>
          </a:solidFill>
          <a:ln w="12700">
            <a:solidFill>
              <a:srgbClr val="333333"/>
            </a:solidFill>
            <a:prstDash val="solid"/>
          </a:ln>
        </p:spPr>
      </p:sp>
      <p:sp>
        <p:nvSpPr>
          <p:cNvPr id="7" name="Shape 5"/>
          <p:cNvSpPr/>
          <p:nvPr/>
        </p:nvSpPr>
        <p:spPr>
          <a:xfrm>
            <a:off x="548640" y="1097280"/>
            <a:ext cx="457200" cy="457200"/>
          </a:xfrm>
          <a:prstGeom prst="roundRect">
            <a:avLst>
              <a:gd name="adj" fmla="val 50000"/>
            </a:avLst>
          </a:prstGeom>
          <a:solidFill>
            <a:srgbClr val="FFA028"/>
          </a:solidFill>
          <a:ln w="12700">
            <a:solidFill>
              <a:srgbClr val="FFA028"/>
            </a:solidFill>
            <a:prstDash val="solid"/>
          </a:ln>
        </p:spPr>
      </p:sp>
      <p:sp>
        <p:nvSpPr>
          <p:cNvPr id="8" name="Text 6"/>
          <p:cNvSpPr txBox="1"/>
          <p:nvPr/>
        </p:nvSpPr>
        <p:spPr>
          <a:xfrm>
            <a:off x="548640" y="1097280"/>
            <a:ext cx="457200" cy="45720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 Menú</a:t>
            </a:r>
            <a:endParaRPr lang="en-US" sz="1100" dirty="0"/>
          </a:p>
        </p:txBody>
      </p:sp>
      <p:sp>
        <p:nvSpPr>
          <p:cNvPr id="9" name="Text 7"/>
          <p:cNvSpPr txBox="1"/>
          <p:nvPr/>
        </p:nvSpPr>
        <p:spPr>
          <a:xfrm>
            <a:off x="1143000" y="1143000"/>
            <a:ext cx="4572000" cy="1005840"/>
          </a:xfrm>
          <a:prstGeom prst="rect">
            <a:avLst/>
          </a:prstGeom>
          <a:noFill/>
          <a:ln/>
        </p:spPr>
        <p:txBody>
          <a:bodyPr wrap="square" lIns="0" tIns="0" rIns="0" bIns="0" rtlCol="0" anchor="t"/>
          <a:lstStyle/>
          <a:p>
            <a:pPr indent="0" marL="0">
              <a:buNone/>
            </a:pPr>
            <a:r>
              <a:rPr lang="en-US" sz="1300" dirty="0">
                <a:solidFill>
                  <a:srgbClr val="FFFFFF"/>
                </a:solidFill>
                <a:latin typeface="Epilogue" pitchFamily="34" charset="0"/>
                <a:ea typeface="Epilogue" pitchFamily="34" charset="-122"/>
                <a:cs typeface="Epilogue" pitchFamily="34" charset="-120"/>
              </a:rPr>
              <a:t>Abre/cierra el panel explorador lateral izquierdo</a:t>
            </a:r>
            <a:endParaRPr lang="en-US" sz="1300" dirty="0"/>
          </a:p>
        </p:txBody>
      </p:sp>
      <p:sp>
        <p:nvSpPr>
          <p:cNvPr id="10" name="Shape 8"/>
          <p:cNvSpPr/>
          <p:nvPr/>
        </p:nvSpPr>
        <p:spPr>
          <a:xfrm>
            <a:off x="6263640" y="914400"/>
            <a:ext cx="5486400" cy="1508760"/>
          </a:xfrm>
          <a:prstGeom prst="roundRect">
            <a:avLst>
              <a:gd name="adj" fmla="val 4848"/>
            </a:avLst>
          </a:prstGeom>
          <a:solidFill>
            <a:srgbClr val="1A1A1A"/>
          </a:solidFill>
          <a:ln w="12700">
            <a:solidFill>
              <a:srgbClr val="333333"/>
            </a:solidFill>
            <a:prstDash val="solid"/>
          </a:ln>
        </p:spPr>
      </p:sp>
      <p:sp>
        <p:nvSpPr>
          <p:cNvPr id="11" name="Shape 9"/>
          <p:cNvSpPr/>
          <p:nvPr/>
        </p:nvSpPr>
        <p:spPr>
          <a:xfrm>
            <a:off x="6400800" y="1097280"/>
            <a:ext cx="457200" cy="457200"/>
          </a:xfrm>
          <a:prstGeom prst="roundRect">
            <a:avLst>
              <a:gd name="adj" fmla="val 50000"/>
            </a:avLst>
          </a:prstGeom>
          <a:solidFill>
            <a:srgbClr val="FFA028"/>
          </a:solidFill>
          <a:ln w="12700">
            <a:solidFill>
              <a:srgbClr val="FFA028"/>
            </a:solidFill>
            <a:prstDash val="solid"/>
          </a:ln>
        </p:spPr>
      </p:sp>
      <p:sp>
        <p:nvSpPr>
          <p:cNvPr id="12" name="Text 10"/>
          <p:cNvSpPr txBox="1"/>
          <p:nvPr/>
        </p:nvSpPr>
        <p:spPr>
          <a:xfrm>
            <a:off x="6400800" y="1097280"/>
            <a:ext cx="457200" cy="45720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 Logo ECM</a:t>
            </a:r>
            <a:endParaRPr lang="en-US" sz="1100" dirty="0"/>
          </a:p>
        </p:txBody>
      </p:sp>
      <p:sp>
        <p:nvSpPr>
          <p:cNvPr id="13" name="Text 11"/>
          <p:cNvSpPr txBox="1"/>
          <p:nvPr/>
        </p:nvSpPr>
        <p:spPr>
          <a:xfrm>
            <a:off x="6995160" y="1143000"/>
            <a:ext cx="4572000" cy="1005840"/>
          </a:xfrm>
          <a:prstGeom prst="rect">
            <a:avLst/>
          </a:prstGeom>
          <a:noFill/>
          <a:ln/>
        </p:spPr>
        <p:txBody>
          <a:bodyPr wrap="square" lIns="0" tIns="0" rIns="0" bIns="0" rtlCol="0" anchor="t"/>
          <a:lstStyle/>
          <a:p>
            <a:pPr indent="0" marL="0">
              <a:buNone/>
            </a:pPr>
            <a:r>
              <a:rPr lang="en-US" sz="1300" dirty="0">
                <a:solidFill>
                  <a:srgbClr val="FFFFFF"/>
                </a:solidFill>
                <a:latin typeface="Epilogue" pitchFamily="34" charset="0"/>
                <a:ea typeface="Epilogue" pitchFamily="34" charset="-122"/>
                <a:cs typeface="Epilogue" pitchFamily="34" charset="-120"/>
              </a:rPr>
              <a:t>Logotipo de la aplicación. Identifica ECM Project.</a:t>
            </a:r>
            <a:endParaRPr lang="en-US" sz="1300" dirty="0"/>
          </a:p>
        </p:txBody>
      </p:sp>
      <p:sp>
        <p:nvSpPr>
          <p:cNvPr id="14" name="Shape 12"/>
          <p:cNvSpPr/>
          <p:nvPr/>
        </p:nvSpPr>
        <p:spPr>
          <a:xfrm>
            <a:off x="411480" y="2606040"/>
            <a:ext cx="5486400" cy="1508760"/>
          </a:xfrm>
          <a:prstGeom prst="roundRect">
            <a:avLst>
              <a:gd name="adj" fmla="val 4848"/>
            </a:avLst>
          </a:prstGeom>
          <a:solidFill>
            <a:srgbClr val="1A1A1A"/>
          </a:solidFill>
          <a:ln w="12700">
            <a:solidFill>
              <a:srgbClr val="333333"/>
            </a:solidFill>
            <a:prstDash val="solid"/>
          </a:ln>
        </p:spPr>
      </p:sp>
      <p:sp>
        <p:nvSpPr>
          <p:cNvPr id="15" name="Shape 13"/>
          <p:cNvSpPr/>
          <p:nvPr/>
        </p:nvSpPr>
        <p:spPr>
          <a:xfrm>
            <a:off x="548640" y="2788920"/>
            <a:ext cx="457200" cy="457200"/>
          </a:xfrm>
          <a:prstGeom prst="roundRect">
            <a:avLst>
              <a:gd name="adj" fmla="val 50000"/>
            </a:avLst>
          </a:prstGeom>
          <a:solidFill>
            <a:srgbClr val="FFA028"/>
          </a:solidFill>
          <a:ln w="12700">
            <a:solidFill>
              <a:srgbClr val="FFA028"/>
            </a:solidFill>
            <a:prstDash val="solid"/>
          </a:ln>
        </p:spPr>
      </p:sp>
      <p:sp>
        <p:nvSpPr>
          <p:cNvPr id="16" name="Text 14"/>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Nombre proyecto</a:t>
            </a:r>
            <a:endParaRPr lang="en-US" sz="1100" dirty="0"/>
          </a:p>
        </p:txBody>
      </p:sp>
      <p:sp>
        <p:nvSpPr>
          <p:cNvPr id="17" name="Text 15"/>
          <p:cNvSpPr txBox="1"/>
          <p:nvPr/>
        </p:nvSpPr>
        <p:spPr>
          <a:xfrm>
            <a:off x="1143000" y="2834640"/>
            <a:ext cx="4572000" cy="1005840"/>
          </a:xfrm>
          <a:prstGeom prst="rect">
            <a:avLst/>
          </a:prstGeom>
          <a:noFill/>
          <a:ln/>
        </p:spPr>
        <p:txBody>
          <a:bodyPr wrap="square" lIns="0" tIns="0" rIns="0" bIns="0" rtlCol="0" anchor="t"/>
          <a:lstStyle/>
          <a:p>
            <a:pPr indent="0" marL="0">
              <a:buNone/>
            </a:pPr>
            <a:r>
              <a:rPr lang="en-US" sz="1300" dirty="0">
                <a:solidFill>
                  <a:srgbClr val="FFFFFF"/>
                </a:solidFill>
                <a:latin typeface="Epilogue" pitchFamily="34" charset="0"/>
                <a:ea typeface="Epilogue" pitchFamily="34" charset="-122"/>
                <a:cs typeface="Epilogue" pitchFamily="34" charset="-120"/>
              </a:rPr>
              <a:t>Muestra el nombre del proyecto activo (actualización en tiempo real)</a:t>
            </a:r>
            <a:endParaRPr lang="en-US" sz="1300" dirty="0"/>
          </a:p>
        </p:txBody>
      </p:sp>
      <p:sp>
        <p:nvSpPr>
          <p:cNvPr id="18" name="Shape 16"/>
          <p:cNvSpPr/>
          <p:nvPr/>
        </p:nvSpPr>
        <p:spPr>
          <a:xfrm>
            <a:off x="6263640" y="2606040"/>
            <a:ext cx="5486400" cy="1508760"/>
          </a:xfrm>
          <a:prstGeom prst="roundRect">
            <a:avLst>
              <a:gd name="adj" fmla="val 4848"/>
            </a:avLst>
          </a:prstGeom>
          <a:solidFill>
            <a:srgbClr val="1A1A1A"/>
          </a:solidFill>
          <a:ln w="12700">
            <a:solidFill>
              <a:srgbClr val="333333"/>
            </a:solidFill>
            <a:prstDash val="solid"/>
          </a:ln>
        </p:spPr>
      </p:sp>
      <p:sp>
        <p:nvSpPr>
          <p:cNvPr id="19" name="Shape 17"/>
          <p:cNvSpPr/>
          <p:nvPr/>
        </p:nvSpPr>
        <p:spPr>
          <a:xfrm>
            <a:off x="6400800" y="2788920"/>
            <a:ext cx="457200" cy="457200"/>
          </a:xfrm>
          <a:prstGeom prst="roundRect">
            <a:avLst>
              <a:gd name="adj" fmla="val 50000"/>
            </a:avLst>
          </a:prstGeom>
          <a:solidFill>
            <a:srgbClr val="FFA028"/>
          </a:solidFill>
          <a:ln w="12700">
            <a:solidFill>
              <a:srgbClr val="FFA028"/>
            </a:solidFill>
            <a:prstDash val="solid"/>
          </a:ln>
        </p:spPr>
      </p:sp>
      <p:sp>
        <p:nvSpPr>
          <p:cNvPr id="20" name="Text 18"/>
          <p:cNvSpPr txBox="1"/>
          <p:nvPr/>
        </p:nvSpPr>
        <p:spPr>
          <a:xfrm>
            <a:off x="6400800" y="2788920"/>
            <a:ext cx="457200" cy="45720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Duración</a:t>
            </a:r>
            <a:endParaRPr lang="en-US" sz="1100" dirty="0"/>
          </a:p>
        </p:txBody>
      </p:sp>
      <p:sp>
        <p:nvSpPr>
          <p:cNvPr id="21" name="Text 19"/>
          <p:cNvSpPr txBox="1"/>
          <p:nvPr/>
        </p:nvSpPr>
        <p:spPr>
          <a:xfrm>
            <a:off x="6995160" y="2834640"/>
            <a:ext cx="4572000" cy="1005840"/>
          </a:xfrm>
          <a:prstGeom prst="rect">
            <a:avLst/>
          </a:prstGeom>
          <a:noFill/>
          <a:ln/>
        </p:spPr>
        <p:txBody>
          <a:bodyPr wrap="square" lIns="0" tIns="0" rIns="0" bIns="0" rtlCol="0" anchor="t"/>
          <a:lstStyle/>
          <a:p>
            <a:pPr indent="0" marL="0">
              <a:buNone/>
            </a:pPr>
            <a:r>
              <a:rPr lang="en-US" sz="1300" dirty="0">
                <a:solidFill>
                  <a:srgbClr val="FFFFFF"/>
                </a:solidFill>
                <a:latin typeface="Epilogue" pitchFamily="34" charset="0"/>
                <a:ea typeface="Epilogue" pitchFamily="34" charset="-122"/>
                <a:cs typeface="Epilogue" pitchFamily="34" charset="-120"/>
              </a:rPr>
              <a:t>Duración total calculada por el motor CPM en días hábiles</a:t>
            </a:r>
            <a:endParaRPr lang="en-US" sz="1300" dirty="0"/>
          </a:p>
        </p:txBody>
      </p:sp>
      <p:sp>
        <p:nvSpPr>
          <p:cNvPr id="22" name="Shape 20"/>
          <p:cNvSpPr/>
          <p:nvPr/>
        </p:nvSpPr>
        <p:spPr>
          <a:xfrm>
            <a:off x="411480" y="4297680"/>
            <a:ext cx="5486400" cy="1508760"/>
          </a:xfrm>
          <a:prstGeom prst="roundRect">
            <a:avLst>
              <a:gd name="adj" fmla="val 4848"/>
            </a:avLst>
          </a:prstGeom>
          <a:solidFill>
            <a:srgbClr val="1A1A1A"/>
          </a:solidFill>
          <a:ln w="12700">
            <a:solidFill>
              <a:srgbClr val="333333"/>
            </a:solidFill>
            <a:prstDash val="solid"/>
          </a:ln>
        </p:spPr>
      </p:sp>
      <p:sp>
        <p:nvSpPr>
          <p:cNvPr id="23" name="Shape 21"/>
          <p:cNvSpPr/>
          <p:nvPr/>
        </p:nvSpPr>
        <p:spPr>
          <a:xfrm>
            <a:off x="548640" y="4480560"/>
            <a:ext cx="457200" cy="457200"/>
          </a:xfrm>
          <a:prstGeom prst="roundRect">
            <a:avLst>
              <a:gd name="adj" fmla="val 50000"/>
            </a:avLst>
          </a:prstGeom>
          <a:solidFill>
            <a:srgbClr val="FFA028"/>
          </a:solidFill>
          <a:ln w="12700">
            <a:solidFill>
              <a:srgbClr val="FFA028"/>
            </a:solidFill>
            <a:prstDash val="solid"/>
          </a:ln>
        </p:spPr>
      </p:sp>
      <p:sp>
        <p:nvSpPr>
          <p:cNvPr id="24" name="Text 22"/>
          <p:cNvSpPr txBox="1"/>
          <p:nvPr/>
        </p:nvSpPr>
        <p:spPr>
          <a:xfrm>
            <a:off x="548640" y="4480560"/>
            <a:ext cx="457200" cy="45720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 Tema</a:t>
            </a:r>
            <a:endParaRPr lang="en-US" sz="1100" dirty="0"/>
          </a:p>
        </p:txBody>
      </p:sp>
      <p:sp>
        <p:nvSpPr>
          <p:cNvPr id="25" name="Text 23"/>
          <p:cNvSpPr txBox="1"/>
          <p:nvPr/>
        </p:nvSpPr>
        <p:spPr>
          <a:xfrm>
            <a:off x="1143000" y="4526280"/>
            <a:ext cx="4572000" cy="1005840"/>
          </a:xfrm>
          <a:prstGeom prst="rect">
            <a:avLst/>
          </a:prstGeom>
          <a:noFill/>
          <a:ln/>
        </p:spPr>
        <p:txBody>
          <a:bodyPr wrap="square" lIns="0" tIns="0" rIns="0" bIns="0" rtlCol="0" anchor="t"/>
          <a:lstStyle/>
          <a:p>
            <a:pPr indent="0" marL="0">
              <a:buNone/>
            </a:pPr>
            <a:r>
              <a:rPr lang="en-US" sz="1300" dirty="0">
                <a:solidFill>
                  <a:srgbClr val="FFFFFF"/>
                </a:solidFill>
                <a:latin typeface="Epilogue" pitchFamily="34" charset="0"/>
                <a:ea typeface="Epilogue" pitchFamily="34" charset="-122"/>
                <a:cs typeface="Epilogue" pitchFamily="34" charset="-120"/>
              </a:rPr>
              <a:t>Alterna entre modo claro y oscuro (data-theme attribute en HTML)</a:t>
            </a:r>
            <a:endParaRPr lang="en-US" sz="1300" dirty="0"/>
          </a:p>
        </p:txBody>
      </p:sp>
      <p:sp>
        <p:nvSpPr>
          <p:cNvPr id="26" name="Shape 24"/>
          <p:cNvSpPr/>
          <p:nvPr/>
        </p:nvSpPr>
        <p:spPr>
          <a:xfrm>
            <a:off x="6263640" y="4297680"/>
            <a:ext cx="5486400" cy="1508760"/>
          </a:xfrm>
          <a:prstGeom prst="roundRect">
            <a:avLst>
              <a:gd name="adj" fmla="val 4848"/>
            </a:avLst>
          </a:prstGeom>
          <a:solidFill>
            <a:srgbClr val="1A1A1A"/>
          </a:solidFill>
          <a:ln w="12700">
            <a:solidFill>
              <a:srgbClr val="333333"/>
            </a:solidFill>
            <a:prstDash val="solid"/>
          </a:ln>
        </p:spPr>
      </p:sp>
      <p:sp>
        <p:nvSpPr>
          <p:cNvPr id="27" name="Shape 25"/>
          <p:cNvSpPr/>
          <p:nvPr/>
        </p:nvSpPr>
        <p:spPr>
          <a:xfrm>
            <a:off x="6400800" y="4480560"/>
            <a:ext cx="457200" cy="457200"/>
          </a:xfrm>
          <a:prstGeom prst="roundRect">
            <a:avLst>
              <a:gd name="adj" fmla="val 50000"/>
            </a:avLst>
          </a:prstGeom>
          <a:solidFill>
            <a:srgbClr val="FFA028"/>
          </a:solidFill>
          <a:ln w="12700">
            <a:solidFill>
              <a:srgbClr val="FFA028"/>
            </a:solidFill>
            <a:prstDash val="solid"/>
          </a:ln>
        </p:spPr>
      </p:sp>
      <p:sp>
        <p:nvSpPr>
          <p:cNvPr id="28" name="Text 26"/>
          <p:cNvSpPr txBox="1"/>
          <p:nvPr/>
        </p:nvSpPr>
        <p:spPr>
          <a:xfrm>
            <a:off x="6400800" y="4480560"/>
            <a:ext cx="457200" cy="45720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Badge Modo Local</a:t>
            </a:r>
            <a:endParaRPr lang="en-US" sz="1100" dirty="0"/>
          </a:p>
        </p:txBody>
      </p:sp>
      <p:sp>
        <p:nvSpPr>
          <p:cNvPr id="29" name="Text 27"/>
          <p:cNvSpPr txBox="1"/>
          <p:nvPr/>
        </p:nvSpPr>
        <p:spPr>
          <a:xfrm>
            <a:off x="6995160" y="4526280"/>
            <a:ext cx="4572000" cy="1005840"/>
          </a:xfrm>
          <a:prstGeom prst="rect">
            <a:avLst/>
          </a:prstGeom>
          <a:noFill/>
          <a:ln/>
        </p:spPr>
        <p:txBody>
          <a:bodyPr wrap="square" lIns="0" tIns="0" rIns="0" bIns="0" rtlCol="0" anchor="t"/>
          <a:lstStyle/>
          <a:p>
            <a:pPr indent="0" marL="0">
              <a:buNone/>
            </a:pPr>
            <a:r>
              <a:rPr lang="en-US" sz="1300" dirty="0">
                <a:solidFill>
                  <a:srgbClr val="FFFFFF"/>
                </a:solidFill>
                <a:latin typeface="Epilogue" pitchFamily="34" charset="0"/>
                <a:ea typeface="Epilogue" pitchFamily="34" charset="-122"/>
                <a:cs typeface="Epilogue" pitchFamily="34" charset="-120"/>
              </a:rPr>
              <a:t>Aparece cuando no hay conexión a Supabase (modo offline)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PANEL EXPLORADOR</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41148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panel izquierdo centraliza el acceso a todos los proyectos y las 7 vistas analíticas disponibles:</a:t>
            </a:r>
            <a:endParaRPr lang="en-US" sz="1300" dirty="0"/>
          </a:p>
        </p:txBody>
      </p:sp>
      <p:sp>
        <p:nvSpPr>
          <p:cNvPr id="7" name="Shape 5"/>
          <p:cNvSpPr/>
          <p:nvPr/>
        </p:nvSpPr>
        <p:spPr>
          <a:xfrm>
            <a:off x="411480" y="1371600"/>
            <a:ext cx="11338560" cy="548640"/>
          </a:xfrm>
          <a:prstGeom prst="roundRect">
            <a:avLst>
              <a:gd name="adj" fmla="val 13333"/>
            </a:avLst>
          </a:prstGeom>
          <a:solidFill>
            <a:srgbClr val="0D0D0D"/>
          </a:solidFill>
          <a:ln w="12700">
            <a:solidFill>
              <a:srgbClr val="FFA028"/>
            </a:solidFill>
            <a:prstDash val="solid"/>
          </a:ln>
        </p:spPr>
      </p:sp>
      <p:sp>
        <p:nvSpPr>
          <p:cNvPr id="8" name="Text 6"/>
          <p:cNvSpPr txBox="1"/>
          <p:nvPr/>
        </p:nvSpPr>
        <p:spPr>
          <a:xfrm>
            <a:off x="548640" y="1444752"/>
            <a:ext cx="2286000" cy="402336"/>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Nuevo</a:t>
            </a:r>
            <a:endParaRPr lang="en-US" sz="1400" dirty="0"/>
          </a:p>
        </p:txBody>
      </p:sp>
      <p:sp>
        <p:nvSpPr>
          <p:cNvPr id="9" name="Text 7"/>
          <p:cNvSpPr txBox="1"/>
          <p:nvPr/>
        </p:nvSpPr>
        <p:spPr>
          <a:xfrm>
            <a:off x="2926080" y="144475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Abre diálogo para crear Portafolio, Programa o Proyecto</a:t>
            </a:r>
            <a:endParaRPr lang="en-US" sz="1200" dirty="0"/>
          </a:p>
        </p:txBody>
      </p:sp>
      <p:sp>
        <p:nvSpPr>
          <p:cNvPr id="10" name="Shape 8"/>
          <p:cNvSpPr/>
          <p:nvPr/>
        </p:nvSpPr>
        <p:spPr>
          <a:xfrm>
            <a:off x="411480" y="2011680"/>
            <a:ext cx="11338560" cy="548640"/>
          </a:xfrm>
          <a:prstGeom prst="roundRect">
            <a:avLst>
              <a:gd name="adj" fmla="val 13333"/>
            </a:avLst>
          </a:prstGeom>
          <a:solidFill>
            <a:srgbClr val="0D0D0D"/>
          </a:solidFill>
          <a:ln w="12700">
            <a:solidFill>
              <a:srgbClr val="A0A0A0"/>
            </a:solidFill>
            <a:prstDash val="solid"/>
          </a:ln>
        </p:spPr>
      </p:sp>
      <p:sp>
        <p:nvSpPr>
          <p:cNvPr id="11" name="Text 9"/>
          <p:cNvSpPr txBox="1"/>
          <p:nvPr/>
        </p:nvSpPr>
        <p:spPr>
          <a:xfrm>
            <a:off x="548640" y="2084832"/>
            <a:ext cx="2286000" cy="402336"/>
          </a:xfrm>
          <a:prstGeom prst="rect">
            <a:avLst/>
          </a:prstGeom>
          <a:noFill/>
          <a:ln/>
        </p:spPr>
        <p:txBody>
          <a:bodyPr wrap="square" lIns="0" tIns="0" rIns="0" bIns="0" rtlCol="0" anchor="ctr"/>
          <a:lstStyle/>
          <a:p>
            <a:pPr indent="0" marL="0">
              <a:buNone/>
            </a:pPr>
            <a:r>
              <a:rPr lang="en-US" sz="1400" b="1" dirty="0">
                <a:solidFill>
                  <a:srgbClr val="A0A0A0"/>
                </a:solidFill>
                <a:latin typeface="Epilogue" pitchFamily="34" charset="0"/>
                <a:ea typeface="Epilogue" pitchFamily="34" charset="-122"/>
                <a:cs typeface="Epilogue" pitchFamily="34" charset="-120"/>
              </a:rPr>
              <a:t>🏗 Estructura</a:t>
            </a:r>
            <a:endParaRPr lang="en-US" sz="1400" dirty="0"/>
          </a:p>
        </p:txBody>
      </p:sp>
      <p:sp>
        <p:nvSpPr>
          <p:cNvPr id="12" name="Text 10"/>
          <p:cNvSpPr txBox="1"/>
          <p:nvPr/>
        </p:nvSpPr>
        <p:spPr>
          <a:xfrm>
            <a:off x="2926080" y="208483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Vista de jerarquía de proyectos (Portafolio → Programa → Proyecto)</a:t>
            </a:r>
            <a:endParaRPr lang="en-US" sz="1200" dirty="0"/>
          </a:p>
        </p:txBody>
      </p:sp>
      <p:sp>
        <p:nvSpPr>
          <p:cNvPr id="13" name="Shape 11"/>
          <p:cNvSpPr/>
          <p:nvPr/>
        </p:nvSpPr>
        <p:spPr>
          <a:xfrm>
            <a:off x="411480" y="2651760"/>
            <a:ext cx="11338560" cy="548640"/>
          </a:xfrm>
          <a:prstGeom prst="roundRect">
            <a:avLst>
              <a:gd name="adj" fmla="val 13333"/>
            </a:avLst>
          </a:prstGeom>
          <a:solidFill>
            <a:srgbClr val="0D0D0D"/>
          </a:solidFill>
          <a:ln w="12700">
            <a:solidFill>
              <a:srgbClr val="4AF6C3"/>
            </a:solidFill>
            <a:prstDash val="solid"/>
          </a:ln>
        </p:spPr>
      </p:sp>
      <p:sp>
        <p:nvSpPr>
          <p:cNvPr id="14" name="Text 12"/>
          <p:cNvSpPr txBox="1"/>
          <p:nvPr/>
        </p:nvSpPr>
        <p:spPr>
          <a:xfrm>
            <a:off x="548640" y="2724912"/>
            <a:ext cx="2286000" cy="402336"/>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 Red CPM</a:t>
            </a:r>
            <a:endParaRPr lang="en-US" sz="1400" dirty="0"/>
          </a:p>
        </p:txBody>
      </p:sp>
      <p:sp>
        <p:nvSpPr>
          <p:cNvPr id="15" name="Text 13"/>
          <p:cNvSpPr txBox="1"/>
          <p:nvPr/>
        </p:nvSpPr>
        <p:spPr>
          <a:xfrm>
            <a:off x="2926080" y="272491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Diagrama de red AON (Activity-On-Node) con nodos y flechas</a:t>
            </a:r>
            <a:endParaRPr lang="en-US" sz="1200" dirty="0"/>
          </a:p>
        </p:txBody>
      </p:sp>
      <p:sp>
        <p:nvSpPr>
          <p:cNvPr id="16" name="Shape 14"/>
          <p:cNvSpPr/>
          <p:nvPr/>
        </p:nvSpPr>
        <p:spPr>
          <a:xfrm>
            <a:off x="411480" y="3291840"/>
            <a:ext cx="11338560" cy="548640"/>
          </a:xfrm>
          <a:prstGeom prst="roundRect">
            <a:avLst>
              <a:gd name="adj" fmla="val 13333"/>
            </a:avLst>
          </a:prstGeom>
          <a:solidFill>
            <a:srgbClr val="0D0D0D"/>
          </a:solidFill>
          <a:ln w="12700">
            <a:solidFill>
              <a:srgbClr val="FFFFFF"/>
            </a:solidFill>
            <a:prstDash val="solid"/>
          </a:ln>
        </p:spPr>
      </p:sp>
      <p:sp>
        <p:nvSpPr>
          <p:cNvPr id="17" name="Text 15"/>
          <p:cNvSpPr txBox="1"/>
          <p:nvPr/>
        </p:nvSpPr>
        <p:spPr>
          <a:xfrm>
            <a:off x="548640" y="3364992"/>
            <a:ext cx="2286000" cy="402336"/>
          </a:xfrm>
          <a:prstGeom prst="rect">
            <a:avLst/>
          </a:prstGeom>
          <a:noFill/>
          <a:ln/>
        </p:spPr>
        <p:txBody>
          <a:bodyPr wrap="square" lIns="0" tIns="0" rIns="0" bIns="0" rtlCol="0" anchor="ctr"/>
          <a:lstStyle/>
          <a:p>
            <a:pPr indent="0" marL="0">
              <a:buNone/>
            </a:pPr>
            <a:r>
              <a:rPr lang="en-US" sz="1400" b="1" dirty="0">
                <a:solidFill>
                  <a:srgbClr val="FFFFFF"/>
                </a:solidFill>
                <a:latin typeface="Epilogue" pitchFamily="34" charset="0"/>
                <a:ea typeface="Epilogue" pitchFamily="34" charset="-122"/>
                <a:cs typeface="Epilogue" pitchFamily="34" charset="-120"/>
              </a:rPr>
              <a:t>📋 EDT</a:t>
            </a:r>
            <a:endParaRPr lang="en-US" sz="1400" dirty="0"/>
          </a:p>
        </p:txBody>
      </p:sp>
      <p:sp>
        <p:nvSpPr>
          <p:cNvPr id="18" name="Text 16"/>
          <p:cNvSpPr txBox="1"/>
          <p:nvPr/>
        </p:nvSpPr>
        <p:spPr>
          <a:xfrm>
            <a:off x="2926080" y="336499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Tabla de actividades con columnas editables (vista principal)</a:t>
            </a:r>
            <a:endParaRPr lang="en-US" sz="1200" dirty="0"/>
          </a:p>
        </p:txBody>
      </p:sp>
      <p:sp>
        <p:nvSpPr>
          <p:cNvPr id="19" name="Shape 17"/>
          <p:cNvSpPr/>
          <p:nvPr/>
        </p:nvSpPr>
        <p:spPr>
          <a:xfrm>
            <a:off x="411480" y="3931920"/>
            <a:ext cx="11338560" cy="548640"/>
          </a:xfrm>
          <a:prstGeom prst="roundRect">
            <a:avLst>
              <a:gd name="adj" fmla="val 13333"/>
            </a:avLst>
          </a:prstGeom>
          <a:solidFill>
            <a:srgbClr val="0D0D0D"/>
          </a:solidFill>
          <a:ln w="12700">
            <a:solidFill>
              <a:srgbClr val="1976D2"/>
            </a:solidFill>
            <a:prstDash val="solid"/>
          </a:ln>
        </p:spPr>
      </p:sp>
      <p:sp>
        <p:nvSpPr>
          <p:cNvPr id="20" name="Text 18"/>
          <p:cNvSpPr txBox="1"/>
          <p:nvPr/>
        </p:nvSpPr>
        <p:spPr>
          <a:xfrm>
            <a:off x="548640" y="4005072"/>
            <a:ext cx="2286000" cy="402336"/>
          </a:xfrm>
          <a:prstGeom prst="rect">
            <a:avLst/>
          </a:prstGeom>
          <a:noFill/>
          <a:ln/>
        </p:spPr>
        <p:txBody>
          <a:bodyPr wrap="square" lIns="0" tIns="0" rIns="0" bIns="0" rtlCol="0" anchor="ctr"/>
          <a:lstStyle/>
          <a:p>
            <a:pPr indent="0" marL="0">
              <a:buNone/>
            </a:pPr>
            <a:r>
              <a:rPr lang="en-US" sz="1400" b="1" dirty="0">
                <a:solidFill>
                  <a:srgbClr val="1976D2"/>
                </a:solidFill>
                <a:latin typeface="Epilogue" pitchFamily="34" charset="0"/>
                <a:ea typeface="Epilogue" pitchFamily="34" charset="-122"/>
                <a:cs typeface="Epilogue" pitchFamily="34" charset="-120"/>
              </a:rPr>
              <a:t>📊 Gantt</a:t>
            </a:r>
            <a:endParaRPr lang="en-US" sz="1400" dirty="0"/>
          </a:p>
        </p:txBody>
      </p:sp>
      <p:sp>
        <p:nvSpPr>
          <p:cNvPr id="21" name="Text 19"/>
          <p:cNvSpPr txBox="1"/>
          <p:nvPr/>
        </p:nvSpPr>
        <p:spPr>
          <a:xfrm>
            <a:off x="2926080" y="400507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Diagrama de barras con línea de tiempo visual</a:t>
            </a:r>
            <a:endParaRPr lang="en-US" sz="1200" dirty="0"/>
          </a:p>
        </p:txBody>
      </p:sp>
      <p:sp>
        <p:nvSpPr>
          <p:cNvPr id="22" name="Shape 20"/>
          <p:cNvSpPr/>
          <p:nvPr/>
        </p:nvSpPr>
        <p:spPr>
          <a:xfrm>
            <a:off x="411480" y="4572000"/>
            <a:ext cx="11338560" cy="548640"/>
          </a:xfrm>
          <a:prstGeom prst="roundRect">
            <a:avLst>
              <a:gd name="adj" fmla="val 13333"/>
            </a:avLst>
          </a:prstGeom>
          <a:solidFill>
            <a:srgbClr val="0D0D0D"/>
          </a:solidFill>
          <a:ln w="12700">
            <a:solidFill>
              <a:srgbClr val="198038"/>
            </a:solidFill>
            <a:prstDash val="solid"/>
          </a:ln>
        </p:spPr>
      </p:sp>
      <p:sp>
        <p:nvSpPr>
          <p:cNvPr id="23" name="Text 21"/>
          <p:cNvSpPr txBox="1"/>
          <p:nvPr/>
        </p:nvSpPr>
        <p:spPr>
          <a:xfrm>
            <a:off x="548640" y="4645152"/>
            <a:ext cx="2286000" cy="402336"/>
          </a:xfrm>
          <a:prstGeom prst="rect">
            <a:avLst/>
          </a:prstGeom>
          <a:noFill/>
          <a:ln/>
        </p:spPr>
        <p:txBody>
          <a:bodyPr wrap="square" lIns="0" tIns="0" rIns="0" bIns="0" rtlCol="0" anchor="ctr"/>
          <a:lstStyle/>
          <a:p>
            <a:pPr indent="0" marL="0">
              <a:buNone/>
            </a:pPr>
            <a:r>
              <a:rPr lang="en-US" sz="1400" b="1" dirty="0">
                <a:solidFill>
                  <a:srgbClr val="198038"/>
                </a:solidFill>
                <a:latin typeface="Epilogue" pitchFamily="34" charset="0"/>
                <a:ea typeface="Epilogue" pitchFamily="34" charset="-122"/>
                <a:cs typeface="Epilogue" pitchFamily="34" charset="-120"/>
              </a:rPr>
              <a:t>✅ DCMA</a:t>
            </a:r>
            <a:endParaRPr lang="en-US" sz="1400" dirty="0"/>
          </a:p>
        </p:txBody>
      </p:sp>
      <p:sp>
        <p:nvSpPr>
          <p:cNvPr id="24" name="Text 22"/>
          <p:cNvSpPr txBox="1"/>
          <p:nvPr/>
        </p:nvSpPr>
        <p:spPr>
          <a:xfrm>
            <a:off x="2926080" y="464515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Panel de evaluación de calidad DCMA 14 puntos</a:t>
            </a:r>
            <a:endParaRPr lang="en-US" sz="1200" dirty="0"/>
          </a:p>
        </p:txBody>
      </p:sp>
      <p:sp>
        <p:nvSpPr>
          <p:cNvPr id="25" name="Shape 23"/>
          <p:cNvSpPr/>
          <p:nvPr/>
        </p:nvSpPr>
        <p:spPr>
          <a:xfrm>
            <a:off x="411480" y="5212080"/>
            <a:ext cx="11338560" cy="548640"/>
          </a:xfrm>
          <a:prstGeom prst="roundRect">
            <a:avLst>
              <a:gd name="adj" fmla="val 13333"/>
            </a:avLst>
          </a:prstGeom>
          <a:solidFill>
            <a:srgbClr val="0D0D0D"/>
          </a:solidFill>
          <a:ln w="12700">
            <a:solidFill>
              <a:srgbClr val="0068FF"/>
            </a:solidFill>
            <a:prstDash val="solid"/>
          </a:ln>
        </p:spPr>
      </p:sp>
      <p:sp>
        <p:nvSpPr>
          <p:cNvPr id="26" name="Text 24"/>
          <p:cNvSpPr txBox="1"/>
          <p:nvPr/>
        </p:nvSpPr>
        <p:spPr>
          <a:xfrm>
            <a:off x="548640" y="5285232"/>
            <a:ext cx="2286000" cy="402336"/>
          </a:xfrm>
          <a:prstGeom prst="rect">
            <a:avLst/>
          </a:prstGeom>
          <a:noFill/>
          <a:ln/>
        </p:spPr>
        <p:txBody>
          <a:bodyPr wrap="square" lIns="0" tIns="0" rIns="0" bIns="0" rtlCol="0" anchor="ctr"/>
          <a:lstStyle/>
          <a:p>
            <a:pPr indent="0" marL="0">
              <a:buNone/>
            </a:pPr>
            <a:r>
              <a:rPr lang="en-US" sz="1400" b="1" dirty="0">
                <a:solidFill>
                  <a:srgbClr val="0068FF"/>
                </a:solidFill>
                <a:latin typeface="Epilogue" pitchFamily="34" charset="0"/>
                <a:ea typeface="Epilogue" pitchFamily="34" charset="-122"/>
                <a:cs typeface="Epilogue" pitchFamily="34" charset="-120"/>
              </a:rPr>
              <a:t>☁ Sync</a:t>
            </a:r>
            <a:endParaRPr lang="en-US" sz="1400" dirty="0"/>
          </a:p>
        </p:txBody>
      </p:sp>
      <p:sp>
        <p:nvSpPr>
          <p:cNvPr id="27" name="Text 25"/>
          <p:cNvSpPr txBox="1"/>
          <p:nvPr/>
        </p:nvSpPr>
        <p:spPr>
          <a:xfrm>
            <a:off x="2926080" y="528523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Estado de sincronización con Supabase (online/offline/conflict)</a:t>
            </a:r>
            <a:endParaRPr lang="en-US" sz="1200" dirty="0"/>
          </a:p>
        </p:txBody>
      </p:sp>
      <p:sp>
        <p:nvSpPr>
          <p:cNvPr id="28" name="Shape 26"/>
          <p:cNvSpPr/>
          <p:nvPr/>
        </p:nvSpPr>
        <p:spPr>
          <a:xfrm>
            <a:off x="411480" y="5852160"/>
            <a:ext cx="11338560" cy="548640"/>
          </a:xfrm>
          <a:prstGeom prst="roundRect">
            <a:avLst>
              <a:gd name="adj" fmla="val 13333"/>
            </a:avLst>
          </a:prstGeom>
          <a:solidFill>
            <a:srgbClr val="0D0D0D"/>
          </a:solidFill>
          <a:ln w="12700">
            <a:solidFill>
              <a:srgbClr val="FFA028"/>
            </a:solidFill>
            <a:prstDash val="solid"/>
          </a:ln>
        </p:spPr>
      </p:sp>
      <p:sp>
        <p:nvSpPr>
          <p:cNvPr id="29" name="Text 27"/>
          <p:cNvSpPr txBox="1"/>
          <p:nvPr/>
        </p:nvSpPr>
        <p:spPr>
          <a:xfrm>
            <a:off x="548640" y="5925312"/>
            <a:ext cx="2286000" cy="402336"/>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EVM</a:t>
            </a:r>
            <a:endParaRPr lang="en-US" sz="1400" dirty="0"/>
          </a:p>
        </p:txBody>
      </p:sp>
      <p:sp>
        <p:nvSpPr>
          <p:cNvPr id="30" name="Text 28"/>
          <p:cNvSpPr txBox="1"/>
          <p:nvPr/>
        </p:nvSpPr>
        <p:spPr>
          <a:xfrm>
            <a:off x="2926080" y="5925312"/>
            <a:ext cx="8686800" cy="402336"/>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Panel de Valor Ganado: KPIs, métricas y Curva 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BARRA DE HERRAMIENTAS EDT</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777240"/>
          </a:xfrm>
          <a:prstGeom prst="roundRect">
            <a:avLst>
              <a:gd name="adj" fmla="val 9412"/>
            </a:avLst>
          </a:prstGeom>
          <a:solidFill>
            <a:srgbClr val="1A1A1A"/>
          </a:solidFill>
          <a:ln w="12700">
            <a:solidFill>
              <a:srgbClr val="333333"/>
            </a:solidFill>
            <a:prstDash val="solid"/>
          </a:ln>
        </p:spPr>
      </p:sp>
      <p:sp>
        <p:nvSpPr>
          <p:cNvPr id="7" name="Text 5"/>
          <p:cNvSpPr txBox="1"/>
          <p:nvPr/>
        </p:nvSpPr>
        <p:spPr>
          <a:xfrm>
            <a:off x="548640" y="10058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Deshacer</a:t>
            </a:r>
            <a:endParaRPr lang="en-US" sz="1300" dirty="0"/>
          </a:p>
        </p:txBody>
      </p:sp>
      <p:sp>
        <p:nvSpPr>
          <p:cNvPr id="8" name="Text 6"/>
          <p:cNvSpPr txBox="1"/>
          <p:nvPr/>
        </p:nvSpPr>
        <p:spPr>
          <a:xfrm>
            <a:off x="2880360" y="10058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Ctrl+Z</a:t>
            </a:r>
            <a:endParaRPr lang="en-US" sz="1100" dirty="0"/>
          </a:p>
        </p:txBody>
      </p:sp>
      <p:sp>
        <p:nvSpPr>
          <p:cNvPr id="9" name="Text 7"/>
          <p:cNvSpPr txBox="1"/>
          <p:nvPr/>
        </p:nvSpPr>
        <p:spPr>
          <a:xfrm>
            <a:off x="4434840" y="10058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Revierte la última acción. Hasta 50 pasos de historial.</a:t>
            </a:r>
            <a:endParaRPr lang="en-US" sz="1000" dirty="0"/>
          </a:p>
        </p:txBody>
      </p:sp>
      <p:sp>
        <p:nvSpPr>
          <p:cNvPr id="10" name="Shape 8"/>
          <p:cNvSpPr/>
          <p:nvPr/>
        </p:nvSpPr>
        <p:spPr>
          <a:xfrm>
            <a:off x="6263640" y="914400"/>
            <a:ext cx="5486400" cy="777240"/>
          </a:xfrm>
          <a:prstGeom prst="roundRect">
            <a:avLst>
              <a:gd name="adj" fmla="val 9412"/>
            </a:avLst>
          </a:prstGeom>
          <a:solidFill>
            <a:srgbClr val="1A1A1A"/>
          </a:solidFill>
          <a:ln w="12700">
            <a:solidFill>
              <a:srgbClr val="333333"/>
            </a:solidFill>
            <a:prstDash val="solid"/>
          </a:ln>
        </p:spPr>
      </p:sp>
      <p:sp>
        <p:nvSpPr>
          <p:cNvPr id="11" name="Text 9"/>
          <p:cNvSpPr txBox="1"/>
          <p:nvPr/>
        </p:nvSpPr>
        <p:spPr>
          <a:xfrm>
            <a:off x="6400800" y="10058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Rehacer</a:t>
            </a:r>
            <a:endParaRPr lang="en-US" sz="1300" dirty="0"/>
          </a:p>
        </p:txBody>
      </p:sp>
      <p:sp>
        <p:nvSpPr>
          <p:cNvPr id="12" name="Text 10"/>
          <p:cNvSpPr txBox="1"/>
          <p:nvPr/>
        </p:nvSpPr>
        <p:spPr>
          <a:xfrm>
            <a:off x="8732520" y="10058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Ctrl+Y / Ctrl+Shift+Z</a:t>
            </a:r>
            <a:endParaRPr lang="en-US" sz="1100" dirty="0"/>
          </a:p>
        </p:txBody>
      </p:sp>
      <p:sp>
        <p:nvSpPr>
          <p:cNvPr id="13" name="Text 11"/>
          <p:cNvSpPr txBox="1"/>
          <p:nvPr/>
        </p:nvSpPr>
        <p:spPr>
          <a:xfrm>
            <a:off x="10287000" y="10058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Rehace la última acción revertida.</a:t>
            </a:r>
            <a:endParaRPr lang="en-US" sz="1000" dirty="0"/>
          </a:p>
        </p:txBody>
      </p:sp>
      <p:sp>
        <p:nvSpPr>
          <p:cNvPr id="14" name="Shape 12"/>
          <p:cNvSpPr/>
          <p:nvPr/>
        </p:nvSpPr>
        <p:spPr>
          <a:xfrm>
            <a:off x="411480" y="1828800"/>
            <a:ext cx="5486400" cy="777240"/>
          </a:xfrm>
          <a:prstGeom prst="roundRect">
            <a:avLst>
              <a:gd name="adj" fmla="val 9412"/>
            </a:avLst>
          </a:prstGeom>
          <a:solidFill>
            <a:srgbClr val="1A1A1A"/>
          </a:solidFill>
          <a:ln w="12700">
            <a:solidFill>
              <a:srgbClr val="333333"/>
            </a:solidFill>
            <a:prstDash val="solid"/>
          </a:ln>
        </p:spPr>
      </p:sp>
      <p:sp>
        <p:nvSpPr>
          <p:cNvPr id="15" name="Text 13"/>
          <p:cNvSpPr txBox="1"/>
          <p:nvPr/>
        </p:nvSpPr>
        <p:spPr>
          <a:xfrm>
            <a:off x="548640" y="19202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Tarea</a:t>
            </a:r>
            <a:endParaRPr lang="en-US" sz="1300" dirty="0"/>
          </a:p>
        </p:txBody>
      </p:sp>
      <p:sp>
        <p:nvSpPr>
          <p:cNvPr id="16" name="Text 14"/>
          <p:cNvSpPr txBox="1"/>
          <p:nvPr/>
        </p:nvSpPr>
        <p:spPr>
          <a:xfrm>
            <a:off x="2880360" y="19202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Clic</a:t>
            </a:r>
            <a:endParaRPr lang="en-US" sz="1100" dirty="0"/>
          </a:p>
        </p:txBody>
      </p:sp>
      <p:sp>
        <p:nvSpPr>
          <p:cNvPr id="17" name="Text 15"/>
          <p:cNvSpPr txBox="1"/>
          <p:nvPr/>
        </p:nvSpPr>
        <p:spPr>
          <a:xfrm>
            <a:off x="4434840" y="19202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Agrega una nueva tarea después de la selección actual.</a:t>
            </a:r>
            <a:endParaRPr lang="en-US" sz="1000" dirty="0"/>
          </a:p>
        </p:txBody>
      </p:sp>
      <p:sp>
        <p:nvSpPr>
          <p:cNvPr id="18" name="Shape 16"/>
          <p:cNvSpPr/>
          <p:nvPr/>
        </p:nvSpPr>
        <p:spPr>
          <a:xfrm>
            <a:off x="6263640" y="1828800"/>
            <a:ext cx="5486400" cy="777240"/>
          </a:xfrm>
          <a:prstGeom prst="roundRect">
            <a:avLst>
              <a:gd name="adj" fmla="val 9412"/>
            </a:avLst>
          </a:prstGeom>
          <a:solidFill>
            <a:srgbClr val="1A1A1A"/>
          </a:solidFill>
          <a:ln w="12700">
            <a:solidFill>
              <a:srgbClr val="333333"/>
            </a:solidFill>
            <a:prstDash val="solid"/>
          </a:ln>
        </p:spPr>
      </p:sp>
      <p:sp>
        <p:nvSpPr>
          <p:cNvPr id="19" name="Text 17"/>
          <p:cNvSpPr txBox="1"/>
          <p:nvPr/>
        </p:nvSpPr>
        <p:spPr>
          <a:xfrm>
            <a:off x="6400800" y="19202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Hito</a:t>
            </a:r>
            <a:endParaRPr lang="en-US" sz="1300" dirty="0"/>
          </a:p>
        </p:txBody>
      </p:sp>
      <p:sp>
        <p:nvSpPr>
          <p:cNvPr id="20" name="Text 18"/>
          <p:cNvSpPr txBox="1"/>
          <p:nvPr/>
        </p:nvSpPr>
        <p:spPr>
          <a:xfrm>
            <a:off x="8732520" y="19202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Clic</a:t>
            </a:r>
            <a:endParaRPr lang="en-US" sz="1100" dirty="0"/>
          </a:p>
        </p:txBody>
      </p:sp>
      <p:sp>
        <p:nvSpPr>
          <p:cNvPr id="21" name="Text 19"/>
          <p:cNvSpPr txBox="1"/>
          <p:nvPr/>
        </p:nvSpPr>
        <p:spPr>
          <a:xfrm>
            <a:off x="10287000" y="19202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Agrega un hito (milestone) de duración cero.</a:t>
            </a:r>
            <a:endParaRPr lang="en-US" sz="1000" dirty="0"/>
          </a:p>
        </p:txBody>
      </p:sp>
      <p:sp>
        <p:nvSpPr>
          <p:cNvPr id="22" name="Shape 20"/>
          <p:cNvSpPr/>
          <p:nvPr/>
        </p:nvSpPr>
        <p:spPr>
          <a:xfrm>
            <a:off x="411480" y="2743200"/>
            <a:ext cx="5486400" cy="777240"/>
          </a:xfrm>
          <a:prstGeom prst="roundRect">
            <a:avLst>
              <a:gd name="adj" fmla="val 9412"/>
            </a:avLst>
          </a:prstGeom>
          <a:solidFill>
            <a:srgbClr val="1A1A1A"/>
          </a:solidFill>
          <a:ln w="12700">
            <a:solidFill>
              <a:srgbClr val="333333"/>
            </a:solidFill>
            <a:prstDash val="solid"/>
          </a:ln>
        </p:spPr>
      </p:sp>
      <p:sp>
        <p:nvSpPr>
          <p:cNvPr id="23" name="Text 21"/>
          <p:cNvSpPr txBox="1"/>
          <p:nvPr/>
        </p:nvSpPr>
        <p:spPr>
          <a:xfrm>
            <a:off x="548640" y="28346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Indentar</a:t>
            </a:r>
            <a:endParaRPr lang="en-US" sz="1300" dirty="0"/>
          </a:p>
        </p:txBody>
      </p:sp>
      <p:sp>
        <p:nvSpPr>
          <p:cNvPr id="24" name="Text 22"/>
          <p:cNvSpPr txBox="1"/>
          <p:nvPr/>
        </p:nvSpPr>
        <p:spPr>
          <a:xfrm>
            <a:off x="2880360" y="28346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Tab</a:t>
            </a:r>
            <a:endParaRPr lang="en-US" sz="1100" dirty="0"/>
          </a:p>
        </p:txBody>
      </p:sp>
      <p:sp>
        <p:nvSpPr>
          <p:cNvPr id="25" name="Text 23"/>
          <p:cNvSpPr txBox="1"/>
          <p:nvPr/>
        </p:nvSpPr>
        <p:spPr>
          <a:xfrm>
            <a:off x="4434840" y="28346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Convierte la tarea en hija de la tarea anterior (crea resumen).</a:t>
            </a:r>
            <a:endParaRPr lang="en-US" sz="1000" dirty="0"/>
          </a:p>
        </p:txBody>
      </p:sp>
      <p:sp>
        <p:nvSpPr>
          <p:cNvPr id="26" name="Shape 24"/>
          <p:cNvSpPr/>
          <p:nvPr/>
        </p:nvSpPr>
        <p:spPr>
          <a:xfrm>
            <a:off x="6263640" y="2743200"/>
            <a:ext cx="5486400" cy="777240"/>
          </a:xfrm>
          <a:prstGeom prst="roundRect">
            <a:avLst>
              <a:gd name="adj" fmla="val 9412"/>
            </a:avLst>
          </a:prstGeom>
          <a:solidFill>
            <a:srgbClr val="1A1A1A"/>
          </a:solidFill>
          <a:ln w="12700">
            <a:solidFill>
              <a:srgbClr val="333333"/>
            </a:solidFill>
            <a:prstDash val="solid"/>
          </a:ln>
        </p:spPr>
      </p:sp>
      <p:sp>
        <p:nvSpPr>
          <p:cNvPr id="27" name="Text 25"/>
          <p:cNvSpPr txBox="1"/>
          <p:nvPr/>
        </p:nvSpPr>
        <p:spPr>
          <a:xfrm>
            <a:off x="6400800" y="28346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Desindentar</a:t>
            </a:r>
            <a:endParaRPr lang="en-US" sz="1300" dirty="0"/>
          </a:p>
        </p:txBody>
      </p:sp>
      <p:sp>
        <p:nvSpPr>
          <p:cNvPr id="28" name="Text 26"/>
          <p:cNvSpPr txBox="1"/>
          <p:nvPr/>
        </p:nvSpPr>
        <p:spPr>
          <a:xfrm>
            <a:off x="8732520" y="28346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Shift+Tab</a:t>
            </a:r>
            <a:endParaRPr lang="en-US" sz="1100" dirty="0"/>
          </a:p>
        </p:txBody>
      </p:sp>
      <p:sp>
        <p:nvSpPr>
          <p:cNvPr id="29" name="Text 27"/>
          <p:cNvSpPr txBox="1"/>
          <p:nvPr/>
        </p:nvSpPr>
        <p:spPr>
          <a:xfrm>
            <a:off x="10287000" y="28346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Sube la tarea un nivel en la jerarquía WBS.</a:t>
            </a:r>
            <a:endParaRPr lang="en-US" sz="1000" dirty="0"/>
          </a:p>
        </p:txBody>
      </p:sp>
      <p:sp>
        <p:nvSpPr>
          <p:cNvPr id="30" name="Shape 28"/>
          <p:cNvSpPr/>
          <p:nvPr/>
        </p:nvSpPr>
        <p:spPr>
          <a:xfrm>
            <a:off x="411480" y="3657600"/>
            <a:ext cx="5486400" cy="777240"/>
          </a:xfrm>
          <a:prstGeom prst="roundRect">
            <a:avLst>
              <a:gd name="adj" fmla="val 9412"/>
            </a:avLst>
          </a:prstGeom>
          <a:solidFill>
            <a:srgbClr val="1A1A1A"/>
          </a:solidFill>
          <a:ln w="12700">
            <a:solidFill>
              <a:srgbClr val="333333"/>
            </a:solidFill>
            <a:prstDash val="solid"/>
          </a:ln>
        </p:spPr>
      </p:sp>
      <p:sp>
        <p:nvSpPr>
          <p:cNvPr id="31" name="Text 29"/>
          <p:cNvSpPr txBox="1"/>
          <p:nvPr/>
        </p:nvSpPr>
        <p:spPr>
          <a:xfrm>
            <a:off x="548640" y="37490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Enlace FS</a:t>
            </a:r>
            <a:endParaRPr lang="en-US" sz="1300" dirty="0"/>
          </a:p>
        </p:txBody>
      </p:sp>
      <p:sp>
        <p:nvSpPr>
          <p:cNvPr id="32" name="Text 30"/>
          <p:cNvSpPr txBox="1"/>
          <p:nvPr/>
        </p:nvSpPr>
        <p:spPr>
          <a:xfrm>
            <a:off x="2880360" y="37490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Clic+Drag</a:t>
            </a:r>
            <a:endParaRPr lang="en-US" sz="1100" dirty="0"/>
          </a:p>
        </p:txBody>
      </p:sp>
      <p:sp>
        <p:nvSpPr>
          <p:cNvPr id="33" name="Text 31"/>
          <p:cNvSpPr txBox="1"/>
          <p:nvPr/>
        </p:nvSpPr>
        <p:spPr>
          <a:xfrm>
            <a:off x="4434840" y="37490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Modo de creación de dependencias: clic fin → clic inicio.</a:t>
            </a:r>
            <a:endParaRPr lang="en-US" sz="1000" dirty="0"/>
          </a:p>
        </p:txBody>
      </p:sp>
      <p:sp>
        <p:nvSpPr>
          <p:cNvPr id="34" name="Shape 32"/>
          <p:cNvSpPr/>
          <p:nvPr/>
        </p:nvSpPr>
        <p:spPr>
          <a:xfrm>
            <a:off x="6263640" y="3657600"/>
            <a:ext cx="5486400" cy="777240"/>
          </a:xfrm>
          <a:prstGeom prst="roundRect">
            <a:avLst>
              <a:gd name="adj" fmla="val 9412"/>
            </a:avLst>
          </a:prstGeom>
          <a:solidFill>
            <a:srgbClr val="1A1A1A"/>
          </a:solidFill>
          <a:ln w="12700">
            <a:solidFill>
              <a:srgbClr val="333333"/>
            </a:solidFill>
            <a:prstDash val="solid"/>
          </a:ln>
        </p:spPr>
      </p:sp>
      <p:sp>
        <p:nvSpPr>
          <p:cNvPr id="35" name="Text 33"/>
          <p:cNvSpPr txBox="1"/>
          <p:nvPr/>
        </p:nvSpPr>
        <p:spPr>
          <a:xfrm>
            <a:off x="6400800" y="37490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Zoom In/Out</a:t>
            </a:r>
            <a:endParaRPr lang="en-US" sz="1300" dirty="0"/>
          </a:p>
        </p:txBody>
      </p:sp>
      <p:sp>
        <p:nvSpPr>
          <p:cNvPr id="36" name="Text 34"/>
          <p:cNvSpPr txBox="1"/>
          <p:nvPr/>
        </p:nvSpPr>
        <p:spPr>
          <a:xfrm>
            <a:off x="8732520" y="37490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Ctrl+Rueda</a:t>
            </a:r>
            <a:endParaRPr lang="en-US" sz="1100" dirty="0"/>
          </a:p>
        </p:txBody>
      </p:sp>
      <p:sp>
        <p:nvSpPr>
          <p:cNvPr id="37" name="Text 35"/>
          <p:cNvSpPr txBox="1"/>
          <p:nvPr/>
        </p:nvSpPr>
        <p:spPr>
          <a:xfrm>
            <a:off x="10287000" y="37490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Ajusta la escala temporal del diagrama Gantt.</a:t>
            </a:r>
            <a:endParaRPr lang="en-US" sz="1000" dirty="0"/>
          </a:p>
        </p:txBody>
      </p:sp>
      <p:sp>
        <p:nvSpPr>
          <p:cNvPr id="38" name="Shape 36"/>
          <p:cNvSpPr/>
          <p:nvPr/>
        </p:nvSpPr>
        <p:spPr>
          <a:xfrm>
            <a:off x="411480" y="4572000"/>
            <a:ext cx="5486400" cy="777240"/>
          </a:xfrm>
          <a:prstGeom prst="roundRect">
            <a:avLst>
              <a:gd name="adj" fmla="val 9412"/>
            </a:avLst>
          </a:prstGeom>
          <a:solidFill>
            <a:srgbClr val="1A1A1A"/>
          </a:solidFill>
          <a:ln w="12700">
            <a:solidFill>
              <a:srgbClr val="333333"/>
            </a:solidFill>
            <a:prstDash val="solid"/>
          </a:ln>
        </p:spPr>
      </p:sp>
      <p:sp>
        <p:nvSpPr>
          <p:cNvPr id="39" name="Text 37"/>
          <p:cNvSpPr txBox="1"/>
          <p:nvPr/>
        </p:nvSpPr>
        <p:spPr>
          <a:xfrm>
            <a:off x="548640" y="46634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Ajustar</a:t>
            </a:r>
            <a:endParaRPr lang="en-US" sz="1300" dirty="0"/>
          </a:p>
        </p:txBody>
      </p:sp>
      <p:sp>
        <p:nvSpPr>
          <p:cNvPr id="40" name="Text 38"/>
          <p:cNvSpPr txBox="1"/>
          <p:nvPr/>
        </p:nvSpPr>
        <p:spPr>
          <a:xfrm>
            <a:off x="2880360" y="46634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Clic</a:t>
            </a:r>
            <a:endParaRPr lang="en-US" sz="1100" dirty="0"/>
          </a:p>
        </p:txBody>
      </p:sp>
      <p:sp>
        <p:nvSpPr>
          <p:cNvPr id="41" name="Text 39"/>
          <p:cNvSpPr txBox="1"/>
          <p:nvPr/>
        </p:nvSpPr>
        <p:spPr>
          <a:xfrm>
            <a:off x="4434840" y="46634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Ajusta el zoom para ver todo el proyecto en pantalla.</a:t>
            </a:r>
            <a:endParaRPr lang="en-US" sz="1000" dirty="0"/>
          </a:p>
        </p:txBody>
      </p:sp>
      <p:sp>
        <p:nvSpPr>
          <p:cNvPr id="42" name="Shape 40"/>
          <p:cNvSpPr/>
          <p:nvPr/>
        </p:nvSpPr>
        <p:spPr>
          <a:xfrm>
            <a:off x="6263640" y="4572000"/>
            <a:ext cx="5486400" cy="777240"/>
          </a:xfrm>
          <a:prstGeom prst="roundRect">
            <a:avLst>
              <a:gd name="adj" fmla="val 9412"/>
            </a:avLst>
          </a:prstGeom>
          <a:solidFill>
            <a:srgbClr val="1A1A1A"/>
          </a:solidFill>
          <a:ln w="12700">
            <a:solidFill>
              <a:srgbClr val="333333"/>
            </a:solidFill>
            <a:prstDash val="solid"/>
          </a:ln>
        </p:spPr>
      </p:sp>
      <p:sp>
        <p:nvSpPr>
          <p:cNvPr id="43" name="Text 41"/>
          <p:cNvSpPr txBox="1"/>
          <p:nvPr/>
        </p:nvSpPr>
        <p:spPr>
          <a:xfrm>
            <a:off x="6400800" y="46634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Etiquetas</a:t>
            </a:r>
            <a:endParaRPr lang="en-US" sz="1300" dirty="0"/>
          </a:p>
        </p:txBody>
      </p:sp>
      <p:sp>
        <p:nvSpPr>
          <p:cNvPr id="44" name="Text 42"/>
          <p:cNvSpPr txBox="1"/>
          <p:nvPr/>
        </p:nvSpPr>
        <p:spPr>
          <a:xfrm>
            <a:off x="8732520" y="46634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Menú</a:t>
            </a:r>
            <a:endParaRPr lang="en-US" sz="1100" dirty="0"/>
          </a:p>
        </p:txBody>
      </p:sp>
      <p:sp>
        <p:nvSpPr>
          <p:cNvPr id="45" name="Text 43"/>
          <p:cNvSpPr txBox="1"/>
          <p:nvPr/>
        </p:nvSpPr>
        <p:spPr>
          <a:xfrm>
            <a:off x="10287000" y="46634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Activa texto sobre barras Gantt: Nombre, %, Duración, Fechas, HT.</a:t>
            </a:r>
            <a:endParaRPr lang="en-US" sz="1000" dirty="0"/>
          </a:p>
        </p:txBody>
      </p:sp>
      <p:sp>
        <p:nvSpPr>
          <p:cNvPr id="46" name="Shape 44"/>
          <p:cNvSpPr/>
          <p:nvPr/>
        </p:nvSpPr>
        <p:spPr>
          <a:xfrm>
            <a:off x="411480" y="5486400"/>
            <a:ext cx="5486400" cy="777240"/>
          </a:xfrm>
          <a:prstGeom prst="roundRect">
            <a:avLst>
              <a:gd name="adj" fmla="val 9412"/>
            </a:avLst>
          </a:prstGeom>
          <a:solidFill>
            <a:srgbClr val="1A1A1A"/>
          </a:solidFill>
          <a:ln w="12700">
            <a:solidFill>
              <a:srgbClr val="333333"/>
            </a:solidFill>
            <a:prstDash val="solid"/>
          </a:ln>
        </p:spPr>
      </p:sp>
      <p:sp>
        <p:nvSpPr>
          <p:cNvPr id="47" name="Text 45"/>
          <p:cNvSpPr txBox="1"/>
          <p:nvPr/>
        </p:nvSpPr>
        <p:spPr>
          <a:xfrm>
            <a:off x="548640" y="5577840"/>
            <a:ext cx="2286000" cy="594360"/>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Columnas</a:t>
            </a:r>
            <a:endParaRPr lang="en-US" sz="1300" dirty="0"/>
          </a:p>
        </p:txBody>
      </p:sp>
      <p:sp>
        <p:nvSpPr>
          <p:cNvPr id="48" name="Text 46"/>
          <p:cNvSpPr txBox="1"/>
          <p:nvPr/>
        </p:nvSpPr>
        <p:spPr>
          <a:xfrm>
            <a:off x="2880360" y="5577840"/>
            <a:ext cx="1463040" cy="594360"/>
          </a:xfrm>
          <a:prstGeom prst="rect">
            <a:avLst/>
          </a:prstGeom>
          <a:noFill/>
          <a:ln/>
        </p:spPr>
        <p:txBody>
          <a:bodyPr wrap="square" lIns="0" tIns="0" rIns="0" bIns="0" rtlCol="0" anchor="ctr"/>
          <a:lstStyle/>
          <a:p>
            <a:pPr indent="0" marL="0">
              <a:buNone/>
            </a:pPr>
            <a:r>
              <a:rPr lang="en-US" sz="1100" dirty="0">
                <a:solidFill>
                  <a:srgbClr val="4AF6C3"/>
                </a:solidFill>
                <a:latin typeface="Courier New" pitchFamily="34" charset="0"/>
                <a:ea typeface="Courier New" pitchFamily="34" charset="-122"/>
                <a:cs typeface="Courier New" pitchFamily="34" charset="-120"/>
              </a:rPr>
              <a:t>Menú</a:t>
            </a:r>
            <a:endParaRPr lang="en-US" sz="1100" dirty="0"/>
          </a:p>
        </p:txBody>
      </p:sp>
      <p:sp>
        <p:nvSpPr>
          <p:cNvPr id="49" name="Text 47"/>
          <p:cNvSpPr txBox="1"/>
          <p:nvPr/>
        </p:nvSpPr>
        <p:spPr>
          <a:xfrm>
            <a:off x="4434840" y="5577840"/>
            <a:ext cx="1371600" cy="59436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Muestra/oculta columnas de la tabla EDT.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BARRA DE FILTROS Y ACCIONES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3657600" cy="1417320"/>
          </a:xfrm>
          <a:prstGeom prst="roundRect">
            <a:avLst>
              <a:gd name="adj" fmla="val 5161"/>
            </a:avLst>
          </a:prstGeom>
          <a:solidFill>
            <a:srgbClr val="1A1A1A"/>
          </a:solidFill>
          <a:ln w="12700">
            <a:solidFill>
              <a:srgbClr val="A0A0A0"/>
            </a:solidFill>
            <a:prstDash val="solid"/>
          </a:ln>
        </p:spPr>
      </p:sp>
      <p:sp>
        <p:nvSpPr>
          <p:cNvPr id="7" name="Shape 5"/>
          <p:cNvSpPr/>
          <p:nvPr/>
        </p:nvSpPr>
        <p:spPr>
          <a:xfrm>
            <a:off x="411480" y="914400"/>
            <a:ext cx="3657600" cy="54864"/>
          </a:xfrm>
          <a:prstGeom prst="rect">
            <a:avLst/>
          </a:prstGeom>
          <a:solidFill>
            <a:srgbClr val="A0A0A0"/>
          </a:solidFill>
          <a:ln w="12700">
            <a:solidFill>
              <a:srgbClr val="A0A0A0"/>
            </a:solidFill>
            <a:prstDash val="solid"/>
          </a:ln>
        </p:spPr>
      </p:sp>
      <p:sp>
        <p:nvSpPr>
          <p:cNvPr id="8" name="Text 6"/>
          <p:cNvSpPr txBox="1"/>
          <p:nvPr/>
        </p:nvSpPr>
        <p:spPr>
          <a:xfrm>
            <a:off x="548640" y="1051560"/>
            <a:ext cx="3383280" cy="384048"/>
          </a:xfrm>
          <a:prstGeom prst="rect">
            <a:avLst/>
          </a:prstGeom>
          <a:noFill/>
          <a:ln/>
        </p:spPr>
        <p:txBody>
          <a:bodyPr wrap="square" lIns="0" tIns="0" rIns="0" bIns="0" rtlCol="0" anchor="ctr"/>
          <a:lstStyle/>
          <a:p>
            <a:pPr indent="0" marL="0">
              <a:buNone/>
            </a:pPr>
            <a:r>
              <a:rPr lang="en-US" sz="1400" b="1" dirty="0">
                <a:solidFill>
                  <a:srgbClr val="A0A0A0"/>
                </a:solidFill>
                <a:latin typeface="Epilogue" pitchFamily="34" charset="0"/>
                <a:ea typeface="Epilogue" pitchFamily="34" charset="-122"/>
                <a:cs typeface="Epilogue" pitchFamily="34" charset="-120"/>
              </a:rPr>
              <a:t>👥 Recursos</a:t>
            </a:r>
            <a:endParaRPr lang="en-US" sz="1400" dirty="0"/>
          </a:p>
        </p:txBody>
      </p:sp>
      <p:sp>
        <p:nvSpPr>
          <p:cNvPr id="9" name="Text 7"/>
          <p:cNvSpPr txBox="1"/>
          <p:nvPr/>
        </p:nvSpPr>
        <p:spPr>
          <a:xfrm>
            <a:off x="548640" y="146304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Gestión de recursos asignados a las actividades</a:t>
            </a:r>
            <a:endParaRPr lang="en-US" sz="1100" dirty="0"/>
          </a:p>
        </p:txBody>
      </p:sp>
      <p:sp>
        <p:nvSpPr>
          <p:cNvPr id="10" name="Shape 8"/>
          <p:cNvSpPr/>
          <p:nvPr/>
        </p:nvSpPr>
        <p:spPr>
          <a:xfrm>
            <a:off x="4325112" y="914400"/>
            <a:ext cx="3657600" cy="1417320"/>
          </a:xfrm>
          <a:prstGeom prst="roundRect">
            <a:avLst>
              <a:gd name="adj" fmla="val 5161"/>
            </a:avLst>
          </a:prstGeom>
          <a:solidFill>
            <a:srgbClr val="1A1A1A"/>
          </a:solidFill>
          <a:ln w="12700">
            <a:solidFill>
              <a:srgbClr val="A0A0A0"/>
            </a:solidFill>
            <a:prstDash val="solid"/>
          </a:ln>
        </p:spPr>
      </p:sp>
      <p:sp>
        <p:nvSpPr>
          <p:cNvPr id="11" name="Shape 9"/>
          <p:cNvSpPr/>
          <p:nvPr/>
        </p:nvSpPr>
        <p:spPr>
          <a:xfrm>
            <a:off x="4325112" y="914400"/>
            <a:ext cx="3657600" cy="54864"/>
          </a:xfrm>
          <a:prstGeom prst="rect">
            <a:avLst/>
          </a:prstGeom>
          <a:solidFill>
            <a:srgbClr val="A0A0A0"/>
          </a:solidFill>
          <a:ln w="12700">
            <a:solidFill>
              <a:srgbClr val="A0A0A0"/>
            </a:solidFill>
            <a:prstDash val="solid"/>
          </a:ln>
        </p:spPr>
      </p:sp>
      <p:sp>
        <p:nvSpPr>
          <p:cNvPr id="12" name="Text 10"/>
          <p:cNvSpPr txBox="1"/>
          <p:nvPr/>
        </p:nvSpPr>
        <p:spPr>
          <a:xfrm>
            <a:off x="4462272" y="1051560"/>
            <a:ext cx="3383280" cy="384048"/>
          </a:xfrm>
          <a:prstGeom prst="rect">
            <a:avLst/>
          </a:prstGeom>
          <a:noFill/>
          <a:ln/>
        </p:spPr>
        <p:txBody>
          <a:bodyPr wrap="square" lIns="0" tIns="0" rIns="0" bIns="0" rtlCol="0" anchor="ctr"/>
          <a:lstStyle/>
          <a:p>
            <a:pPr indent="0" marL="0">
              <a:buNone/>
            </a:pPr>
            <a:r>
              <a:rPr lang="en-US" sz="1400" b="1" dirty="0">
                <a:solidFill>
                  <a:srgbClr val="A0A0A0"/>
                </a:solidFill>
                <a:latin typeface="Epilogue" pitchFamily="34" charset="0"/>
                <a:ea typeface="Epilogue" pitchFamily="34" charset="-122"/>
                <a:cs typeface="Epilogue" pitchFamily="34" charset="-120"/>
              </a:rPr>
              <a:t>🗓 Calendario</a:t>
            </a:r>
            <a:endParaRPr lang="en-US" sz="1400" dirty="0"/>
          </a:p>
        </p:txBody>
      </p:sp>
      <p:sp>
        <p:nvSpPr>
          <p:cNvPr id="13" name="Text 11"/>
          <p:cNvSpPr txBox="1"/>
          <p:nvPr/>
        </p:nvSpPr>
        <p:spPr>
          <a:xfrm>
            <a:off x="4462272" y="146304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Editar días laborables, horas/día, feriados y excepciones</a:t>
            </a:r>
            <a:endParaRPr lang="en-US" sz="1100" dirty="0"/>
          </a:p>
        </p:txBody>
      </p:sp>
      <p:sp>
        <p:nvSpPr>
          <p:cNvPr id="14" name="Shape 12"/>
          <p:cNvSpPr/>
          <p:nvPr/>
        </p:nvSpPr>
        <p:spPr>
          <a:xfrm>
            <a:off x="8238744" y="914400"/>
            <a:ext cx="3657600" cy="1417320"/>
          </a:xfrm>
          <a:prstGeom prst="roundRect">
            <a:avLst>
              <a:gd name="adj" fmla="val 5161"/>
            </a:avLst>
          </a:prstGeom>
          <a:solidFill>
            <a:srgbClr val="1A1A1A"/>
          </a:solidFill>
          <a:ln w="12700">
            <a:solidFill>
              <a:srgbClr val="FFA028"/>
            </a:solidFill>
            <a:prstDash val="solid"/>
          </a:ln>
        </p:spPr>
      </p:sp>
      <p:sp>
        <p:nvSpPr>
          <p:cNvPr id="15" name="Shape 13"/>
          <p:cNvSpPr/>
          <p:nvPr/>
        </p:nvSpPr>
        <p:spPr>
          <a:xfrm>
            <a:off x="8238744" y="914400"/>
            <a:ext cx="3657600" cy="54864"/>
          </a:xfrm>
          <a:prstGeom prst="rect">
            <a:avLst/>
          </a:prstGeom>
          <a:solidFill>
            <a:srgbClr val="FFA028"/>
          </a:solidFill>
          <a:ln w="12700">
            <a:solidFill>
              <a:srgbClr val="FFA028"/>
            </a:solidFill>
            <a:prstDash val="solid"/>
          </a:ln>
        </p:spPr>
      </p:sp>
      <p:sp>
        <p:nvSpPr>
          <p:cNvPr id="16" name="Text 14"/>
          <p:cNvSpPr txBox="1"/>
          <p:nvPr/>
        </p:nvSpPr>
        <p:spPr>
          <a:xfrm>
            <a:off x="8375904" y="1051560"/>
            <a:ext cx="338328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Línea Base</a:t>
            </a:r>
            <a:endParaRPr lang="en-US" sz="1400" dirty="0"/>
          </a:p>
        </p:txBody>
      </p:sp>
      <p:sp>
        <p:nvSpPr>
          <p:cNvPr id="17" name="Text 15"/>
          <p:cNvSpPr txBox="1"/>
          <p:nvPr/>
        </p:nvSpPr>
        <p:spPr>
          <a:xfrm>
            <a:off x="8375904" y="146304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Guardar snapshot, activar comparación ΔI/ΔF/ΔD (estilo Primavera P6)</a:t>
            </a:r>
            <a:endParaRPr lang="en-US" sz="1100" dirty="0"/>
          </a:p>
        </p:txBody>
      </p:sp>
      <p:sp>
        <p:nvSpPr>
          <p:cNvPr id="18" name="Shape 16"/>
          <p:cNvSpPr/>
          <p:nvPr/>
        </p:nvSpPr>
        <p:spPr>
          <a:xfrm>
            <a:off x="411480" y="2468880"/>
            <a:ext cx="3657600" cy="1417320"/>
          </a:xfrm>
          <a:prstGeom prst="roundRect">
            <a:avLst>
              <a:gd name="adj" fmla="val 5161"/>
            </a:avLst>
          </a:prstGeom>
          <a:solidFill>
            <a:srgbClr val="1A1A1A"/>
          </a:solidFill>
          <a:ln w="12700">
            <a:solidFill>
              <a:srgbClr val="4AF6C3"/>
            </a:solidFill>
            <a:prstDash val="solid"/>
          </a:ln>
        </p:spPr>
      </p:sp>
      <p:sp>
        <p:nvSpPr>
          <p:cNvPr id="19" name="Shape 17"/>
          <p:cNvSpPr/>
          <p:nvPr/>
        </p:nvSpPr>
        <p:spPr>
          <a:xfrm>
            <a:off x="411480" y="2468880"/>
            <a:ext cx="3657600" cy="54864"/>
          </a:xfrm>
          <a:prstGeom prst="rect">
            <a:avLst/>
          </a:prstGeom>
          <a:solidFill>
            <a:srgbClr val="4AF6C3"/>
          </a:solidFill>
          <a:ln w="12700">
            <a:solidFill>
              <a:srgbClr val="4AF6C3"/>
            </a:solidFill>
            <a:prstDash val="solid"/>
          </a:ln>
        </p:spPr>
      </p:sp>
      <p:sp>
        <p:nvSpPr>
          <p:cNvPr id="20" name="Text 18"/>
          <p:cNvSpPr txBox="1"/>
          <p:nvPr/>
        </p:nvSpPr>
        <p:spPr>
          <a:xfrm>
            <a:off x="548640" y="2606040"/>
            <a:ext cx="3383280" cy="384048"/>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 Auto-calc</a:t>
            </a:r>
            <a:endParaRPr lang="en-US" sz="1400" dirty="0"/>
          </a:p>
        </p:txBody>
      </p:sp>
      <p:sp>
        <p:nvSpPr>
          <p:cNvPr id="21" name="Text 19"/>
          <p:cNvSpPr txBox="1"/>
          <p:nvPr/>
        </p:nvSpPr>
        <p:spPr>
          <a:xfrm>
            <a:off x="548640" y="301752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Checkbox: CPM se recalcula automáticamente al editar</a:t>
            </a:r>
            <a:endParaRPr lang="en-US" sz="1100" dirty="0"/>
          </a:p>
        </p:txBody>
      </p:sp>
      <p:sp>
        <p:nvSpPr>
          <p:cNvPr id="22" name="Shape 20"/>
          <p:cNvSpPr/>
          <p:nvPr/>
        </p:nvSpPr>
        <p:spPr>
          <a:xfrm>
            <a:off x="4325112" y="2468880"/>
            <a:ext cx="3657600" cy="1417320"/>
          </a:xfrm>
          <a:prstGeom prst="roundRect">
            <a:avLst>
              <a:gd name="adj" fmla="val 5161"/>
            </a:avLst>
          </a:prstGeom>
          <a:solidFill>
            <a:srgbClr val="1A1A1A"/>
          </a:solidFill>
          <a:ln w="12700">
            <a:solidFill>
              <a:srgbClr val="198038"/>
            </a:solidFill>
            <a:prstDash val="solid"/>
          </a:ln>
        </p:spPr>
      </p:sp>
      <p:sp>
        <p:nvSpPr>
          <p:cNvPr id="23" name="Shape 21"/>
          <p:cNvSpPr/>
          <p:nvPr/>
        </p:nvSpPr>
        <p:spPr>
          <a:xfrm>
            <a:off x="4325112" y="2468880"/>
            <a:ext cx="3657600" cy="54864"/>
          </a:xfrm>
          <a:prstGeom prst="rect">
            <a:avLst/>
          </a:prstGeom>
          <a:solidFill>
            <a:srgbClr val="198038"/>
          </a:solidFill>
          <a:ln w="12700">
            <a:solidFill>
              <a:srgbClr val="198038"/>
            </a:solidFill>
            <a:prstDash val="solid"/>
          </a:ln>
        </p:spPr>
      </p:sp>
      <p:sp>
        <p:nvSpPr>
          <p:cNvPr id="24" name="Text 22"/>
          <p:cNvSpPr txBox="1"/>
          <p:nvPr/>
        </p:nvSpPr>
        <p:spPr>
          <a:xfrm>
            <a:off x="4462272" y="2606040"/>
            <a:ext cx="3383280" cy="384048"/>
          </a:xfrm>
          <a:prstGeom prst="rect">
            <a:avLst/>
          </a:prstGeom>
          <a:noFill/>
          <a:ln/>
        </p:spPr>
        <p:txBody>
          <a:bodyPr wrap="square" lIns="0" tIns="0" rIns="0" bIns="0" rtlCol="0" anchor="ctr"/>
          <a:lstStyle/>
          <a:p>
            <a:pPr indent="0" marL="0">
              <a:buNone/>
            </a:pPr>
            <a:r>
              <a:rPr lang="en-US" sz="1400" b="1" dirty="0">
                <a:solidFill>
                  <a:srgbClr val="198038"/>
                </a:solidFill>
                <a:latin typeface="Epilogue" pitchFamily="34" charset="0"/>
                <a:ea typeface="Epilogue" pitchFamily="34" charset="-122"/>
                <a:cs typeface="Epilogue" pitchFamily="34" charset="-120"/>
              </a:rPr>
              <a:t>✅ DCMA</a:t>
            </a:r>
            <a:endParaRPr lang="en-US" sz="1400" dirty="0"/>
          </a:p>
        </p:txBody>
      </p:sp>
      <p:sp>
        <p:nvSpPr>
          <p:cNvPr id="25" name="Text 23"/>
          <p:cNvSpPr txBox="1"/>
          <p:nvPr/>
        </p:nvSpPr>
        <p:spPr>
          <a:xfrm>
            <a:off x="4462272" y="301752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Abre panel de evaluación DCMA 14 puntos de calidad</a:t>
            </a:r>
            <a:endParaRPr lang="en-US" sz="1100" dirty="0"/>
          </a:p>
        </p:txBody>
      </p:sp>
      <p:sp>
        <p:nvSpPr>
          <p:cNvPr id="26" name="Shape 24"/>
          <p:cNvSpPr/>
          <p:nvPr/>
        </p:nvSpPr>
        <p:spPr>
          <a:xfrm>
            <a:off x="8238744" y="2468880"/>
            <a:ext cx="3657600" cy="1417320"/>
          </a:xfrm>
          <a:prstGeom prst="roundRect">
            <a:avLst>
              <a:gd name="adj" fmla="val 5161"/>
            </a:avLst>
          </a:prstGeom>
          <a:solidFill>
            <a:srgbClr val="1A1A1A"/>
          </a:solidFill>
          <a:ln w="12700">
            <a:solidFill>
              <a:srgbClr val="FFA028"/>
            </a:solidFill>
            <a:prstDash val="solid"/>
          </a:ln>
        </p:spPr>
      </p:sp>
      <p:sp>
        <p:nvSpPr>
          <p:cNvPr id="27" name="Shape 25"/>
          <p:cNvSpPr/>
          <p:nvPr/>
        </p:nvSpPr>
        <p:spPr>
          <a:xfrm>
            <a:off x="8238744" y="2468880"/>
            <a:ext cx="3657600" cy="54864"/>
          </a:xfrm>
          <a:prstGeom prst="rect">
            <a:avLst/>
          </a:prstGeom>
          <a:solidFill>
            <a:srgbClr val="FFA028"/>
          </a:solidFill>
          <a:ln w="12700">
            <a:solidFill>
              <a:srgbClr val="FFA028"/>
            </a:solidFill>
            <a:prstDash val="solid"/>
          </a:ln>
        </p:spPr>
      </p:sp>
      <p:sp>
        <p:nvSpPr>
          <p:cNvPr id="28" name="Text 26"/>
          <p:cNvSpPr txBox="1"/>
          <p:nvPr/>
        </p:nvSpPr>
        <p:spPr>
          <a:xfrm>
            <a:off x="8375904" y="2606040"/>
            <a:ext cx="338328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EVM</a:t>
            </a:r>
            <a:endParaRPr lang="en-US" sz="1400" dirty="0"/>
          </a:p>
        </p:txBody>
      </p:sp>
      <p:sp>
        <p:nvSpPr>
          <p:cNvPr id="29" name="Text 27"/>
          <p:cNvSpPr txBox="1"/>
          <p:nvPr/>
        </p:nvSpPr>
        <p:spPr>
          <a:xfrm>
            <a:off x="8375904" y="301752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Abre panel de Valor Ganado con KPIs y Curva S</a:t>
            </a:r>
            <a:endParaRPr lang="en-US" sz="1100" dirty="0"/>
          </a:p>
        </p:txBody>
      </p:sp>
      <p:sp>
        <p:nvSpPr>
          <p:cNvPr id="30" name="Shape 28"/>
          <p:cNvSpPr/>
          <p:nvPr/>
        </p:nvSpPr>
        <p:spPr>
          <a:xfrm>
            <a:off x="411480" y="4023360"/>
            <a:ext cx="3657600" cy="1417320"/>
          </a:xfrm>
          <a:prstGeom prst="roundRect">
            <a:avLst>
              <a:gd name="adj" fmla="val 5161"/>
            </a:avLst>
          </a:prstGeom>
          <a:solidFill>
            <a:srgbClr val="1A1A1A"/>
          </a:solidFill>
          <a:ln w="12700">
            <a:solidFill>
              <a:srgbClr val="A0A0A0"/>
            </a:solidFill>
            <a:prstDash val="solid"/>
          </a:ln>
        </p:spPr>
      </p:sp>
      <p:sp>
        <p:nvSpPr>
          <p:cNvPr id="31" name="Shape 29"/>
          <p:cNvSpPr/>
          <p:nvPr/>
        </p:nvSpPr>
        <p:spPr>
          <a:xfrm>
            <a:off x="411480" y="4023360"/>
            <a:ext cx="3657600" cy="54864"/>
          </a:xfrm>
          <a:prstGeom prst="rect">
            <a:avLst/>
          </a:prstGeom>
          <a:solidFill>
            <a:srgbClr val="A0A0A0"/>
          </a:solidFill>
          <a:ln w="12700">
            <a:solidFill>
              <a:srgbClr val="A0A0A0"/>
            </a:solidFill>
            <a:prstDash val="solid"/>
          </a:ln>
        </p:spPr>
      </p:sp>
      <p:sp>
        <p:nvSpPr>
          <p:cNvPr id="32" name="Text 30"/>
          <p:cNvSpPr txBox="1"/>
          <p:nvPr/>
        </p:nvSpPr>
        <p:spPr>
          <a:xfrm>
            <a:off x="548640" y="4160520"/>
            <a:ext cx="3383280" cy="384048"/>
          </a:xfrm>
          <a:prstGeom prst="rect">
            <a:avLst/>
          </a:prstGeom>
          <a:noFill/>
          <a:ln/>
        </p:spPr>
        <p:txBody>
          <a:bodyPr wrap="square" lIns="0" tIns="0" rIns="0" bIns="0" rtlCol="0" anchor="ctr"/>
          <a:lstStyle/>
          <a:p>
            <a:pPr indent="0" marL="0">
              <a:buNone/>
            </a:pPr>
            <a:r>
              <a:rPr lang="en-US" sz="1400" b="1" dirty="0">
                <a:solidFill>
                  <a:srgbClr val="A0A0A0"/>
                </a:solidFill>
                <a:latin typeface="Epilogue" pitchFamily="34" charset="0"/>
                <a:ea typeface="Epilogue" pitchFamily="34" charset="-122"/>
                <a:cs typeface="Epilogue" pitchFamily="34" charset="-120"/>
              </a:rPr>
              <a:t>📋 Historial</a:t>
            </a:r>
            <a:endParaRPr lang="en-US" sz="1400" dirty="0"/>
          </a:p>
        </p:txBody>
      </p:sp>
      <p:sp>
        <p:nvSpPr>
          <p:cNvPr id="33" name="Text 31"/>
          <p:cNvSpPr txBox="1"/>
          <p:nvPr/>
        </p:nvSpPr>
        <p:spPr>
          <a:xfrm>
            <a:off x="548640" y="457200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Historial de cambios de la sesión actual</a:t>
            </a:r>
            <a:endParaRPr lang="en-US" sz="1100" dirty="0"/>
          </a:p>
        </p:txBody>
      </p:sp>
      <p:sp>
        <p:nvSpPr>
          <p:cNvPr id="34" name="Shape 32"/>
          <p:cNvSpPr/>
          <p:nvPr/>
        </p:nvSpPr>
        <p:spPr>
          <a:xfrm>
            <a:off x="4325112" y="4023360"/>
            <a:ext cx="3657600" cy="1417320"/>
          </a:xfrm>
          <a:prstGeom prst="roundRect">
            <a:avLst>
              <a:gd name="adj" fmla="val 5161"/>
            </a:avLst>
          </a:prstGeom>
          <a:solidFill>
            <a:srgbClr val="1A1A1A"/>
          </a:solidFill>
          <a:ln w="12700">
            <a:solidFill>
              <a:srgbClr val="FF433D"/>
            </a:solidFill>
            <a:prstDash val="solid"/>
          </a:ln>
        </p:spPr>
      </p:sp>
      <p:sp>
        <p:nvSpPr>
          <p:cNvPr id="35" name="Shape 33"/>
          <p:cNvSpPr/>
          <p:nvPr/>
        </p:nvSpPr>
        <p:spPr>
          <a:xfrm>
            <a:off x="4325112" y="4023360"/>
            <a:ext cx="3657600" cy="54864"/>
          </a:xfrm>
          <a:prstGeom prst="rect">
            <a:avLst/>
          </a:prstGeom>
          <a:solidFill>
            <a:srgbClr val="FF433D"/>
          </a:solidFill>
          <a:ln w="12700">
            <a:solidFill>
              <a:srgbClr val="FF433D"/>
            </a:solidFill>
            <a:prstDash val="solid"/>
          </a:ln>
        </p:spPr>
      </p:sp>
      <p:sp>
        <p:nvSpPr>
          <p:cNvPr id="36" name="Text 34"/>
          <p:cNvSpPr txBox="1"/>
          <p:nvPr/>
        </p:nvSpPr>
        <p:spPr>
          <a:xfrm>
            <a:off x="4462272" y="4160520"/>
            <a:ext cx="3383280" cy="384048"/>
          </a:xfrm>
          <a:prstGeom prst="rect">
            <a:avLst/>
          </a:prstGeom>
          <a:noFill/>
          <a:ln/>
        </p:spPr>
        <p:txBody>
          <a:bodyPr wrap="square" lIns="0" tIns="0" rIns="0" bIns="0" rtlCol="0" anchor="ctr"/>
          <a:lstStyle/>
          <a:p>
            <a:pPr indent="0" marL="0">
              <a:buNone/>
            </a:pPr>
            <a:r>
              <a:rPr lang="en-US" sz="1400" b="1" dirty="0">
                <a:solidFill>
                  <a:srgbClr val="FF433D"/>
                </a:solidFill>
                <a:latin typeface="Epilogue" pitchFamily="34" charset="0"/>
                <a:ea typeface="Epilogue" pitchFamily="34" charset="-122"/>
                <a:cs typeface="Epilogue" pitchFamily="34" charset="-120"/>
              </a:rPr>
              <a:t>⬇ Exportar</a:t>
            </a:r>
            <a:endParaRPr lang="en-US" sz="1400" dirty="0"/>
          </a:p>
        </p:txBody>
      </p:sp>
      <p:sp>
        <p:nvSpPr>
          <p:cNvPr id="37" name="Text 35"/>
          <p:cNvSpPr txBox="1"/>
          <p:nvPr/>
        </p:nvSpPr>
        <p:spPr>
          <a:xfrm>
            <a:off x="4462272" y="457200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JSON, CSV, MS Project XML, SVG, PDF, Imprimir ET/Gantt</a:t>
            </a:r>
            <a:endParaRPr lang="en-US" sz="1100" dirty="0"/>
          </a:p>
        </p:txBody>
      </p:sp>
      <p:sp>
        <p:nvSpPr>
          <p:cNvPr id="38" name="Shape 36"/>
          <p:cNvSpPr/>
          <p:nvPr/>
        </p:nvSpPr>
        <p:spPr>
          <a:xfrm>
            <a:off x="8238744" y="4023360"/>
            <a:ext cx="3657600" cy="1417320"/>
          </a:xfrm>
          <a:prstGeom prst="roundRect">
            <a:avLst>
              <a:gd name="adj" fmla="val 5161"/>
            </a:avLst>
          </a:prstGeom>
          <a:solidFill>
            <a:srgbClr val="1A1A1A"/>
          </a:solidFill>
          <a:ln w="12700">
            <a:solidFill>
              <a:srgbClr val="A0A0A0"/>
            </a:solidFill>
            <a:prstDash val="solid"/>
          </a:ln>
        </p:spPr>
      </p:sp>
      <p:sp>
        <p:nvSpPr>
          <p:cNvPr id="39" name="Shape 37"/>
          <p:cNvSpPr/>
          <p:nvPr/>
        </p:nvSpPr>
        <p:spPr>
          <a:xfrm>
            <a:off x="8238744" y="4023360"/>
            <a:ext cx="3657600" cy="54864"/>
          </a:xfrm>
          <a:prstGeom prst="rect">
            <a:avLst/>
          </a:prstGeom>
          <a:solidFill>
            <a:srgbClr val="A0A0A0"/>
          </a:solidFill>
          <a:ln w="12700">
            <a:solidFill>
              <a:srgbClr val="A0A0A0"/>
            </a:solidFill>
            <a:prstDash val="solid"/>
          </a:ln>
        </p:spPr>
      </p:sp>
      <p:sp>
        <p:nvSpPr>
          <p:cNvPr id="40" name="Text 38"/>
          <p:cNvSpPr txBox="1"/>
          <p:nvPr/>
        </p:nvSpPr>
        <p:spPr>
          <a:xfrm>
            <a:off x="8375904" y="4160520"/>
            <a:ext cx="3383280" cy="384048"/>
          </a:xfrm>
          <a:prstGeom prst="rect">
            <a:avLst/>
          </a:prstGeom>
          <a:noFill/>
          <a:ln/>
        </p:spPr>
        <p:txBody>
          <a:bodyPr wrap="square" lIns="0" tIns="0" rIns="0" bIns="0" rtlCol="0" anchor="ctr"/>
          <a:lstStyle/>
          <a:p>
            <a:pPr indent="0" marL="0">
              <a:buNone/>
            </a:pPr>
            <a:r>
              <a:rPr lang="en-US" sz="1400" b="1" dirty="0">
                <a:solidFill>
                  <a:srgbClr val="A0A0A0"/>
                </a:solidFill>
                <a:latin typeface="Epilogue" pitchFamily="34" charset="0"/>
                <a:ea typeface="Epilogue" pitchFamily="34" charset="-122"/>
                <a:cs typeface="Epilogue" pitchFamily="34" charset="-120"/>
              </a:rPr>
              <a:t>🔍 Filtros Vista</a:t>
            </a:r>
            <a:endParaRPr lang="en-US" sz="1400" dirty="0"/>
          </a:p>
        </p:txBody>
      </p:sp>
      <p:sp>
        <p:nvSpPr>
          <p:cNvPr id="41" name="Text 39"/>
          <p:cNvSpPr txBox="1"/>
          <p:nvPr/>
        </p:nvSpPr>
        <p:spPr>
          <a:xfrm>
            <a:off x="8375904" y="4572000"/>
            <a:ext cx="338328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Todas las tareas / Ruta crítica / En progreso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03</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Gestión de Proyectos</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Jerarquía • Crear • Exportar • Importar</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JERARQUÍA DE PROYECTOS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1371600" y="1188720"/>
            <a:ext cx="9144000" cy="1097280"/>
          </a:xfrm>
          <a:prstGeom prst="roundRect">
            <a:avLst>
              <a:gd name="adj" fmla="val 6667"/>
            </a:avLst>
          </a:prstGeom>
          <a:solidFill>
            <a:srgbClr val="1A1A1A"/>
          </a:solidFill>
          <a:ln w="12700">
            <a:solidFill>
              <a:srgbClr val="FFA028"/>
            </a:solidFill>
            <a:prstDash val="solid"/>
          </a:ln>
        </p:spPr>
      </p:sp>
      <p:sp>
        <p:nvSpPr>
          <p:cNvPr id="7" name="Shape 5"/>
          <p:cNvSpPr/>
          <p:nvPr/>
        </p:nvSpPr>
        <p:spPr>
          <a:xfrm>
            <a:off x="1371600" y="1188720"/>
            <a:ext cx="9144000" cy="64008"/>
          </a:xfrm>
          <a:prstGeom prst="rect">
            <a:avLst/>
          </a:prstGeom>
          <a:solidFill>
            <a:srgbClr val="FFA028"/>
          </a:solidFill>
          <a:ln w="12700">
            <a:solidFill>
              <a:srgbClr val="FFA028"/>
            </a:solidFill>
            <a:prstDash val="solid"/>
          </a:ln>
        </p:spPr>
      </p:sp>
      <p:sp>
        <p:nvSpPr>
          <p:cNvPr id="8" name="Text 6"/>
          <p:cNvSpPr txBox="1"/>
          <p:nvPr/>
        </p:nvSpPr>
        <p:spPr>
          <a:xfrm>
            <a:off x="1554480" y="1325880"/>
            <a:ext cx="2743200" cy="457200"/>
          </a:xfrm>
          <a:prstGeom prst="rect">
            <a:avLst/>
          </a:prstGeom>
          <a:noFill/>
          <a:ln/>
        </p:spPr>
        <p:txBody>
          <a:bodyPr wrap="square" lIns="0" tIns="0" rIns="0" bIns="0" rtlCol="0" anchor="ctr"/>
          <a:lstStyle/>
          <a:p>
            <a:pPr indent="0" marL="0">
              <a:buNone/>
            </a:pPr>
            <a:r>
              <a:rPr lang="en-US" sz="1800" b="1" dirty="0">
                <a:solidFill>
                  <a:srgbClr val="FFA028"/>
                </a:solidFill>
                <a:latin typeface="Epilogue" pitchFamily="34" charset="0"/>
                <a:ea typeface="Epilogue" pitchFamily="34" charset="-122"/>
                <a:cs typeface="Epilogue" pitchFamily="34" charset="-120"/>
              </a:rPr>
              <a:t>🗂 Portafolio</a:t>
            </a:r>
            <a:endParaRPr lang="en-US" sz="1800" dirty="0"/>
          </a:p>
        </p:txBody>
      </p:sp>
      <p:sp>
        <p:nvSpPr>
          <p:cNvPr id="9" name="Text 7"/>
          <p:cNvSpPr txBox="1"/>
          <p:nvPr/>
        </p:nvSpPr>
        <p:spPr>
          <a:xfrm>
            <a:off x="1554480" y="1810512"/>
            <a:ext cx="8778240" cy="402336"/>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Nivel superior. Agrupa múltiples programas y proyectos. Permite una visión consolidada de toda la organización.</a:t>
            </a:r>
            <a:endParaRPr lang="en-US" sz="1100" dirty="0"/>
          </a:p>
        </p:txBody>
      </p:sp>
      <p:sp>
        <p:nvSpPr>
          <p:cNvPr id="10" name="Shape 8"/>
          <p:cNvSpPr/>
          <p:nvPr/>
        </p:nvSpPr>
        <p:spPr>
          <a:xfrm>
            <a:off x="2286000" y="2560320"/>
            <a:ext cx="7589520" cy="1097280"/>
          </a:xfrm>
          <a:prstGeom prst="roundRect">
            <a:avLst>
              <a:gd name="adj" fmla="val 6667"/>
            </a:avLst>
          </a:prstGeom>
          <a:solidFill>
            <a:srgbClr val="1A1A1A"/>
          </a:solidFill>
          <a:ln w="12700">
            <a:solidFill>
              <a:srgbClr val="4AF6C3"/>
            </a:solidFill>
            <a:prstDash val="solid"/>
          </a:ln>
        </p:spPr>
      </p:sp>
      <p:sp>
        <p:nvSpPr>
          <p:cNvPr id="11" name="Shape 9"/>
          <p:cNvSpPr/>
          <p:nvPr/>
        </p:nvSpPr>
        <p:spPr>
          <a:xfrm>
            <a:off x="2286000" y="2560320"/>
            <a:ext cx="7589520" cy="64008"/>
          </a:xfrm>
          <a:prstGeom prst="rect">
            <a:avLst/>
          </a:prstGeom>
          <a:solidFill>
            <a:srgbClr val="4AF6C3"/>
          </a:solidFill>
          <a:ln w="12700">
            <a:solidFill>
              <a:srgbClr val="4AF6C3"/>
            </a:solidFill>
            <a:prstDash val="solid"/>
          </a:ln>
        </p:spPr>
      </p:sp>
      <p:sp>
        <p:nvSpPr>
          <p:cNvPr id="12" name="Text 10"/>
          <p:cNvSpPr txBox="1"/>
          <p:nvPr/>
        </p:nvSpPr>
        <p:spPr>
          <a:xfrm>
            <a:off x="2468880" y="2697480"/>
            <a:ext cx="2743200" cy="457200"/>
          </a:xfrm>
          <a:prstGeom prst="rect">
            <a:avLst/>
          </a:prstGeom>
          <a:noFill/>
          <a:ln/>
        </p:spPr>
        <p:txBody>
          <a:bodyPr wrap="square" lIns="0" tIns="0" rIns="0" bIns="0" rtlCol="0" anchor="ctr"/>
          <a:lstStyle/>
          <a:p>
            <a:pPr indent="0" marL="0">
              <a:buNone/>
            </a:pPr>
            <a:r>
              <a:rPr lang="en-US" sz="1800" b="1" dirty="0">
                <a:solidFill>
                  <a:srgbClr val="4AF6C3"/>
                </a:solidFill>
                <a:latin typeface="Epilogue" pitchFamily="34" charset="0"/>
                <a:ea typeface="Epilogue" pitchFamily="34" charset="-122"/>
                <a:cs typeface="Epilogue" pitchFamily="34" charset="-120"/>
              </a:rPr>
              <a:t>📦 Programa</a:t>
            </a:r>
            <a:endParaRPr lang="en-US" sz="1800" dirty="0"/>
          </a:p>
        </p:txBody>
      </p:sp>
      <p:sp>
        <p:nvSpPr>
          <p:cNvPr id="13" name="Text 11"/>
          <p:cNvSpPr txBox="1"/>
          <p:nvPr/>
        </p:nvSpPr>
        <p:spPr>
          <a:xfrm>
            <a:off x="2468880" y="3182112"/>
            <a:ext cx="7223760" cy="402336"/>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Nivel intermedio. Agrupa proyectos relacionados. Puede tener cronograma propio o solo agregar sus proyectos hijos.</a:t>
            </a:r>
            <a:endParaRPr lang="en-US" sz="1100" dirty="0"/>
          </a:p>
        </p:txBody>
      </p:sp>
      <p:sp>
        <p:nvSpPr>
          <p:cNvPr id="14" name="Shape 12"/>
          <p:cNvSpPr/>
          <p:nvPr/>
        </p:nvSpPr>
        <p:spPr>
          <a:xfrm>
            <a:off x="3200400" y="3931920"/>
            <a:ext cx="5943600" cy="1097280"/>
          </a:xfrm>
          <a:prstGeom prst="roundRect">
            <a:avLst>
              <a:gd name="adj" fmla="val 6667"/>
            </a:avLst>
          </a:prstGeom>
          <a:solidFill>
            <a:srgbClr val="1A1A1A"/>
          </a:solidFill>
          <a:ln w="12700">
            <a:solidFill>
              <a:srgbClr val="198038"/>
            </a:solidFill>
            <a:prstDash val="solid"/>
          </a:ln>
        </p:spPr>
      </p:sp>
      <p:sp>
        <p:nvSpPr>
          <p:cNvPr id="15" name="Shape 13"/>
          <p:cNvSpPr/>
          <p:nvPr/>
        </p:nvSpPr>
        <p:spPr>
          <a:xfrm>
            <a:off x="3200400" y="3931920"/>
            <a:ext cx="5943600" cy="64008"/>
          </a:xfrm>
          <a:prstGeom prst="rect">
            <a:avLst/>
          </a:prstGeom>
          <a:solidFill>
            <a:srgbClr val="198038"/>
          </a:solidFill>
          <a:ln w="12700">
            <a:solidFill>
              <a:srgbClr val="198038"/>
            </a:solidFill>
            <a:prstDash val="solid"/>
          </a:ln>
        </p:spPr>
      </p:sp>
      <p:sp>
        <p:nvSpPr>
          <p:cNvPr id="16" name="Text 14"/>
          <p:cNvSpPr txBox="1"/>
          <p:nvPr/>
        </p:nvSpPr>
        <p:spPr>
          <a:xfrm>
            <a:off x="3383280" y="4069080"/>
            <a:ext cx="2743200" cy="457200"/>
          </a:xfrm>
          <a:prstGeom prst="rect">
            <a:avLst/>
          </a:prstGeom>
          <a:noFill/>
          <a:ln/>
        </p:spPr>
        <p:txBody>
          <a:bodyPr wrap="square" lIns="0" tIns="0" rIns="0" bIns="0" rtlCol="0" anchor="ctr"/>
          <a:lstStyle/>
          <a:p>
            <a:pPr indent="0" marL="0">
              <a:buNone/>
            </a:pPr>
            <a:r>
              <a:rPr lang="en-US" sz="1800" b="1" dirty="0">
                <a:solidFill>
                  <a:srgbClr val="198038"/>
                </a:solidFill>
                <a:latin typeface="Epilogue" pitchFamily="34" charset="0"/>
                <a:ea typeface="Epilogue" pitchFamily="34" charset="-122"/>
                <a:cs typeface="Epilogue" pitchFamily="34" charset="-120"/>
              </a:rPr>
              <a:t>📋 Proyecto</a:t>
            </a:r>
            <a:endParaRPr lang="en-US" sz="1800" dirty="0"/>
          </a:p>
        </p:txBody>
      </p:sp>
      <p:sp>
        <p:nvSpPr>
          <p:cNvPr id="17" name="Text 15"/>
          <p:cNvSpPr txBox="1"/>
          <p:nvPr/>
        </p:nvSpPr>
        <p:spPr>
          <a:xfrm>
            <a:off x="3383280" y="4553712"/>
            <a:ext cx="5577840" cy="402336"/>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Nivel operativo. Contiene las actividades, hitos y dependencias del cronograma. Requiere fecha de inicio definida.</a:t>
            </a:r>
            <a:endParaRPr lang="en-US" sz="1100" dirty="0"/>
          </a:p>
        </p:txBody>
      </p:sp>
      <p:sp>
        <p:nvSpPr>
          <p:cNvPr id="18" name="Shape 16"/>
          <p:cNvSpPr/>
          <p:nvPr/>
        </p:nvSpPr>
        <p:spPr>
          <a:xfrm>
            <a:off x="6126480" y="2286000"/>
            <a:ext cx="36576" cy="274320"/>
          </a:xfrm>
          <a:prstGeom prst="rect">
            <a:avLst/>
          </a:prstGeom>
          <a:solidFill>
            <a:srgbClr val="555555"/>
          </a:solidFill>
          <a:ln w="12700">
            <a:solidFill>
              <a:srgbClr val="555555"/>
            </a:solidFill>
            <a:prstDash val="solid"/>
          </a:ln>
        </p:spPr>
      </p:sp>
      <p:sp>
        <p:nvSpPr>
          <p:cNvPr id="19" name="Shape 17"/>
          <p:cNvSpPr/>
          <p:nvPr/>
        </p:nvSpPr>
        <p:spPr>
          <a:xfrm>
            <a:off x="6126480" y="3657600"/>
            <a:ext cx="36576" cy="274320"/>
          </a:xfrm>
          <a:prstGeom prst="rect">
            <a:avLst/>
          </a:prstGeom>
          <a:solidFill>
            <a:srgbClr val="555555"/>
          </a:solidFill>
          <a:ln w="12700">
            <a:solidFill>
              <a:srgbClr val="555555"/>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CREAR NUEVO PROYECTO</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41148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Para crear un elemento, haz clic en el botón ＋ Nuevo en el panel explorador. Se abre el diálogo de creación:</a:t>
            </a:r>
            <a:endParaRPr lang="en-US" sz="1300" dirty="0"/>
          </a:p>
        </p:txBody>
      </p:sp>
      <p:sp>
        <p:nvSpPr>
          <p:cNvPr id="7" name="Shape 5"/>
          <p:cNvSpPr/>
          <p:nvPr/>
        </p:nvSpPr>
        <p:spPr>
          <a:xfrm>
            <a:off x="411480" y="1371600"/>
            <a:ext cx="320040" cy="320040"/>
          </a:xfrm>
          <a:prstGeom prst="roundRect">
            <a:avLst>
              <a:gd name="adj" fmla="val 51429"/>
            </a:avLst>
          </a:prstGeom>
          <a:solidFill>
            <a:srgbClr val="FFA028"/>
          </a:solidFill>
          <a:ln w="12700">
            <a:solidFill>
              <a:srgbClr val="FFA028"/>
            </a:solidFill>
            <a:prstDash val="solid"/>
          </a:ln>
        </p:spPr>
      </p:sp>
      <p:sp>
        <p:nvSpPr>
          <p:cNvPr id="8" name="Text 6"/>
          <p:cNvSpPr txBox="1"/>
          <p:nvPr/>
        </p:nvSpPr>
        <p:spPr>
          <a:xfrm>
            <a:off x="411480" y="1371600"/>
            <a:ext cx="320040" cy="320040"/>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1</a:t>
            </a:r>
            <a:endParaRPr lang="en-US" sz="1400" dirty="0"/>
          </a:p>
        </p:txBody>
      </p:sp>
      <p:sp>
        <p:nvSpPr>
          <p:cNvPr id="9" name="Shape 7"/>
          <p:cNvSpPr/>
          <p:nvPr/>
        </p:nvSpPr>
        <p:spPr>
          <a:xfrm>
            <a:off x="822960" y="1371600"/>
            <a:ext cx="10515600" cy="749808"/>
          </a:xfrm>
          <a:prstGeom prst="roundRect">
            <a:avLst>
              <a:gd name="adj" fmla="val 9756"/>
            </a:avLst>
          </a:prstGeom>
          <a:solidFill>
            <a:srgbClr val="1A1A1A"/>
          </a:solidFill>
          <a:ln w="12700">
            <a:solidFill>
              <a:srgbClr val="333333"/>
            </a:solidFill>
            <a:prstDash val="solid"/>
          </a:ln>
        </p:spPr>
      </p:sp>
      <p:sp>
        <p:nvSpPr>
          <p:cNvPr id="10" name="Text 8"/>
          <p:cNvSpPr txBox="1"/>
          <p:nvPr/>
        </p:nvSpPr>
        <p:spPr>
          <a:xfrm>
            <a:off x="960120" y="1463040"/>
            <a:ext cx="2011680" cy="56692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Tipo</a:t>
            </a:r>
            <a:endParaRPr lang="en-US" sz="1400" dirty="0"/>
          </a:p>
        </p:txBody>
      </p:sp>
      <p:sp>
        <p:nvSpPr>
          <p:cNvPr id="11" name="Text 9"/>
          <p:cNvSpPr txBox="1"/>
          <p:nvPr/>
        </p:nvSpPr>
        <p:spPr>
          <a:xfrm>
            <a:off x="3017520" y="1463040"/>
            <a:ext cx="6400800" cy="566928"/>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Selector: 🗂 Portafolio / 📦 Programa / 📋 Proyecto</a:t>
            </a:r>
            <a:endParaRPr lang="en-US" sz="1200" dirty="0"/>
          </a:p>
        </p:txBody>
      </p:sp>
      <p:sp>
        <p:nvSpPr>
          <p:cNvPr id="12" name="Text 10"/>
          <p:cNvSpPr txBox="1"/>
          <p:nvPr/>
        </p:nvSpPr>
        <p:spPr>
          <a:xfrm>
            <a:off x="9509760" y="1463040"/>
            <a:ext cx="1645920" cy="566928"/>
          </a:xfrm>
          <a:prstGeom prst="rect">
            <a:avLst/>
          </a:prstGeom>
          <a:noFill/>
          <a:ln/>
        </p:spPr>
        <p:txBody>
          <a:bodyPr wrap="square" lIns="0" tIns="0" rIns="0" bIns="0" rtlCol="0" anchor="ctr"/>
          <a:lstStyle/>
          <a:p>
            <a:pPr indent="0" marL="0">
              <a:buNone/>
            </a:pPr>
            <a:r>
              <a:rPr lang="en-US" sz="1000" dirty="0">
                <a:solidFill>
                  <a:srgbClr val="4AF6C3"/>
                </a:solidFill>
                <a:latin typeface="Epilogue" pitchFamily="34" charset="0"/>
                <a:ea typeface="Epilogue" pitchFamily="34" charset="-122"/>
                <a:cs typeface="Epilogue" pitchFamily="34" charset="-120"/>
              </a:rPr>
              <a:t>Obligatorio</a:t>
            </a:r>
            <a:endParaRPr lang="en-US" sz="1000" dirty="0"/>
          </a:p>
        </p:txBody>
      </p:sp>
      <p:sp>
        <p:nvSpPr>
          <p:cNvPr id="13" name="Shape 11"/>
          <p:cNvSpPr/>
          <p:nvPr/>
        </p:nvSpPr>
        <p:spPr>
          <a:xfrm>
            <a:off x="411480" y="2286000"/>
            <a:ext cx="320040" cy="320040"/>
          </a:xfrm>
          <a:prstGeom prst="roundRect">
            <a:avLst>
              <a:gd name="adj" fmla="val 51429"/>
            </a:avLst>
          </a:prstGeom>
          <a:solidFill>
            <a:srgbClr val="FFA028"/>
          </a:solidFill>
          <a:ln w="12700">
            <a:solidFill>
              <a:srgbClr val="FFA028"/>
            </a:solidFill>
            <a:prstDash val="solid"/>
          </a:ln>
        </p:spPr>
      </p:sp>
      <p:sp>
        <p:nvSpPr>
          <p:cNvPr id="14" name="Text 12"/>
          <p:cNvSpPr txBox="1"/>
          <p:nvPr/>
        </p:nvSpPr>
        <p:spPr>
          <a:xfrm>
            <a:off x="411480" y="2286000"/>
            <a:ext cx="320040" cy="320040"/>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2</a:t>
            </a:r>
            <a:endParaRPr lang="en-US" sz="1400" dirty="0"/>
          </a:p>
        </p:txBody>
      </p:sp>
      <p:sp>
        <p:nvSpPr>
          <p:cNvPr id="15" name="Shape 13"/>
          <p:cNvSpPr/>
          <p:nvPr/>
        </p:nvSpPr>
        <p:spPr>
          <a:xfrm>
            <a:off x="822960" y="2286000"/>
            <a:ext cx="10515600" cy="749808"/>
          </a:xfrm>
          <a:prstGeom prst="roundRect">
            <a:avLst>
              <a:gd name="adj" fmla="val 9756"/>
            </a:avLst>
          </a:prstGeom>
          <a:solidFill>
            <a:srgbClr val="1A1A1A"/>
          </a:solidFill>
          <a:ln w="12700">
            <a:solidFill>
              <a:srgbClr val="333333"/>
            </a:solidFill>
            <a:prstDash val="solid"/>
          </a:ln>
        </p:spPr>
      </p:sp>
      <p:sp>
        <p:nvSpPr>
          <p:cNvPr id="16" name="Text 14"/>
          <p:cNvSpPr txBox="1"/>
          <p:nvPr/>
        </p:nvSpPr>
        <p:spPr>
          <a:xfrm>
            <a:off x="960120" y="2377440"/>
            <a:ext cx="2011680" cy="56692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Nombre</a:t>
            </a:r>
            <a:endParaRPr lang="en-US" sz="1400" dirty="0"/>
          </a:p>
        </p:txBody>
      </p:sp>
      <p:sp>
        <p:nvSpPr>
          <p:cNvPr id="17" name="Text 15"/>
          <p:cNvSpPr txBox="1"/>
          <p:nvPr/>
        </p:nvSpPr>
        <p:spPr>
          <a:xfrm>
            <a:off x="3017520" y="2377440"/>
            <a:ext cx="6400800" cy="566928"/>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Texto libre (máximo 120 caracteres)</a:t>
            </a:r>
            <a:endParaRPr lang="en-US" sz="1200" dirty="0"/>
          </a:p>
        </p:txBody>
      </p:sp>
      <p:sp>
        <p:nvSpPr>
          <p:cNvPr id="18" name="Text 16"/>
          <p:cNvSpPr txBox="1"/>
          <p:nvPr/>
        </p:nvSpPr>
        <p:spPr>
          <a:xfrm>
            <a:off x="9509760" y="2377440"/>
            <a:ext cx="1645920" cy="566928"/>
          </a:xfrm>
          <a:prstGeom prst="rect">
            <a:avLst/>
          </a:prstGeom>
          <a:noFill/>
          <a:ln/>
        </p:spPr>
        <p:txBody>
          <a:bodyPr wrap="square" lIns="0" tIns="0" rIns="0" bIns="0" rtlCol="0" anchor="ctr"/>
          <a:lstStyle/>
          <a:p>
            <a:pPr indent="0" marL="0">
              <a:buNone/>
            </a:pPr>
            <a:r>
              <a:rPr lang="en-US" sz="1000" dirty="0">
                <a:solidFill>
                  <a:srgbClr val="4AF6C3"/>
                </a:solidFill>
                <a:latin typeface="Epilogue" pitchFamily="34" charset="0"/>
                <a:ea typeface="Epilogue" pitchFamily="34" charset="-122"/>
                <a:cs typeface="Epilogue" pitchFamily="34" charset="-120"/>
              </a:rPr>
              <a:t>Obligatorio</a:t>
            </a:r>
            <a:endParaRPr lang="en-US" sz="1000" dirty="0"/>
          </a:p>
        </p:txBody>
      </p:sp>
      <p:sp>
        <p:nvSpPr>
          <p:cNvPr id="19" name="Shape 17"/>
          <p:cNvSpPr/>
          <p:nvPr/>
        </p:nvSpPr>
        <p:spPr>
          <a:xfrm>
            <a:off x="411480" y="3200400"/>
            <a:ext cx="320040" cy="320040"/>
          </a:xfrm>
          <a:prstGeom prst="roundRect">
            <a:avLst>
              <a:gd name="adj" fmla="val 51429"/>
            </a:avLst>
          </a:prstGeom>
          <a:solidFill>
            <a:srgbClr val="FFA028"/>
          </a:solidFill>
          <a:ln w="12700">
            <a:solidFill>
              <a:srgbClr val="FFA028"/>
            </a:solidFill>
            <a:prstDash val="solid"/>
          </a:ln>
        </p:spPr>
      </p:sp>
      <p:sp>
        <p:nvSpPr>
          <p:cNvPr id="20" name="Text 18"/>
          <p:cNvSpPr txBox="1"/>
          <p:nvPr/>
        </p:nvSpPr>
        <p:spPr>
          <a:xfrm>
            <a:off x="411480" y="3200400"/>
            <a:ext cx="320040" cy="320040"/>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3</a:t>
            </a:r>
            <a:endParaRPr lang="en-US" sz="1400" dirty="0"/>
          </a:p>
        </p:txBody>
      </p:sp>
      <p:sp>
        <p:nvSpPr>
          <p:cNvPr id="21" name="Shape 19"/>
          <p:cNvSpPr/>
          <p:nvPr/>
        </p:nvSpPr>
        <p:spPr>
          <a:xfrm>
            <a:off x="822960" y="3200400"/>
            <a:ext cx="10515600" cy="749808"/>
          </a:xfrm>
          <a:prstGeom prst="roundRect">
            <a:avLst>
              <a:gd name="adj" fmla="val 9756"/>
            </a:avLst>
          </a:prstGeom>
          <a:solidFill>
            <a:srgbClr val="1A1A1A"/>
          </a:solidFill>
          <a:ln w="12700">
            <a:solidFill>
              <a:srgbClr val="333333"/>
            </a:solidFill>
            <a:prstDash val="solid"/>
          </a:ln>
        </p:spPr>
      </p:sp>
      <p:sp>
        <p:nvSpPr>
          <p:cNvPr id="22" name="Text 20"/>
          <p:cNvSpPr txBox="1"/>
          <p:nvPr/>
        </p:nvSpPr>
        <p:spPr>
          <a:xfrm>
            <a:off x="960120" y="3291840"/>
            <a:ext cx="2011680" cy="56692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Código / Sigla</a:t>
            </a:r>
            <a:endParaRPr lang="en-US" sz="1400" dirty="0"/>
          </a:p>
        </p:txBody>
      </p:sp>
      <p:sp>
        <p:nvSpPr>
          <p:cNvPr id="23" name="Text 21"/>
          <p:cNvSpPr txBox="1"/>
          <p:nvPr/>
        </p:nvSpPr>
        <p:spPr>
          <a:xfrm>
            <a:off x="3017520" y="3291840"/>
            <a:ext cx="6400800" cy="566928"/>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Identificador corto (máximo 20 caracteres, ej: PRY-001)</a:t>
            </a:r>
            <a:endParaRPr lang="en-US" sz="1200" dirty="0"/>
          </a:p>
        </p:txBody>
      </p:sp>
      <p:sp>
        <p:nvSpPr>
          <p:cNvPr id="24" name="Text 22"/>
          <p:cNvSpPr txBox="1"/>
          <p:nvPr/>
        </p:nvSpPr>
        <p:spPr>
          <a:xfrm>
            <a:off x="9509760" y="3291840"/>
            <a:ext cx="1645920" cy="566928"/>
          </a:xfrm>
          <a:prstGeom prst="rect">
            <a:avLst/>
          </a:prstGeom>
          <a:noFill/>
          <a:ln/>
        </p:spPr>
        <p:txBody>
          <a:bodyPr wrap="square" lIns="0" tIns="0" rIns="0" bIns="0" rtlCol="0" anchor="ctr"/>
          <a:lstStyle/>
          <a:p>
            <a:pPr indent="0" marL="0">
              <a:buNone/>
            </a:pPr>
            <a:r>
              <a:rPr lang="en-US" sz="1000" dirty="0">
                <a:solidFill>
                  <a:srgbClr val="4AF6C3"/>
                </a:solidFill>
                <a:latin typeface="Epilogue" pitchFamily="34" charset="0"/>
                <a:ea typeface="Epilogue" pitchFamily="34" charset="-122"/>
                <a:cs typeface="Epilogue" pitchFamily="34" charset="-120"/>
              </a:rPr>
              <a:t>Opcional</a:t>
            </a:r>
            <a:endParaRPr lang="en-US" sz="1000" dirty="0"/>
          </a:p>
        </p:txBody>
      </p:sp>
      <p:sp>
        <p:nvSpPr>
          <p:cNvPr id="25" name="Shape 23"/>
          <p:cNvSpPr/>
          <p:nvPr/>
        </p:nvSpPr>
        <p:spPr>
          <a:xfrm>
            <a:off x="411480" y="4114800"/>
            <a:ext cx="320040" cy="320040"/>
          </a:xfrm>
          <a:prstGeom prst="roundRect">
            <a:avLst>
              <a:gd name="adj" fmla="val 51429"/>
            </a:avLst>
          </a:prstGeom>
          <a:solidFill>
            <a:srgbClr val="FFA028"/>
          </a:solidFill>
          <a:ln w="12700">
            <a:solidFill>
              <a:srgbClr val="FFA028"/>
            </a:solidFill>
            <a:prstDash val="solid"/>
          </a:ln>
        </p:spPr>
      </p:sp>
      <p:sp>
        <p:nvSpPr>
          <p:cNvPr id="26" name="Text 24"/>
          <p:cNvSpPr txBox="1"/>
          <p:nvPr/>
        </p:nvSpPr>
        <p:spPr>
          <a:xfrm>
            <a:off x="411480" y="4114800"/>
            <a:ext cx="320040" cy="320040"/>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4</a:t>
            </a:r>
            <a:endParaRPr lang="en-US" sz="1400" dirty="0"/>
          </a:p>
        </p:txBody>
      </p:sp>
      <p:sp>
        <p:nvSpPr>
          <p:cNvPr id="27" name="Shape 25"/>
          <p:cNvSpPr/>
          <p:nvPr/>
        </p:nvSpPr>
        <p:spPr>
          <a:xfrm>
            <a:off x="822960" y="4114800"/>
            <a:ext cx="10515600" cy="749808"/>
          </a:xfrm>
          <a:prstGeom prst="roundRect">
            <a:avLst>
              <a:gd name="adj" fmla="val 9756"/>
            </a:avLst>
          </a:prstGeom>
          <a:solidFill>
            <a:srgbClr val="1A1A1A"/>
          </a:solidFill>
          <a:ln w="12700">
            <a:solidFill>
              <a:srgbClr val="333333"/>
            </a:solidFill>
            <a:prstDash val="solid"/>
          </a:ln>
        </p:spPr>
      </p:sp>
      <p:sp>
        <p:nvSpPr>
          <p:cNvPr id="28" name="Text 26"/>
          <p:cNvSpPr txBox="1"/>
          <p:nvPr/>
        </p:nvSpPr>
        <p:spPr>
          <a:xfrm>
            <a:off x="960120" y="4206240"/>
            <a:ext cx="2011680" cy="56692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Pertenece a</a:t>
            </a:r>
            <a:endParaRPr lang="en-US" sz="1400" dirty="0"/>
          </a:p>
        </p:txBody>
      </p:sp>
      <p:sp>
        <p:nvSpPr>
          <p:cNvPr id="29" name="Text 27"/>
          <p:cNvSpPr txBox="1"/>
          <p:nvPr/>
        </p:nvSpPr>
        <p:spPr>
          <a:xfrm>
            <a:off x="3017520" y="4206240"/>
            <a:ext cx="6400800" cy="566928"/>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Selector del elemento padre (Portafolio o Programa existente)</a:t>
            </a:r>
            <a:endParaRPr lang="en-US" sz="1200" dirty="0"/>
          </a:p>
        </p:txBody>
      </p:sp>
      <p:sp>
        <p:nvSpPr>
          <p:cNvPr id="30" name="Text 28"/>
          <p:cNvSpPr txBox="1"/>
          <p:nvPr/>
        </p:nvSpPr>
        <p:spPr>
          <a:xfrm>
            <a:off x="9509760" y="4206240"/>
            <a:ext cx="1645920" cy="566928"/>
          </a:xfrm>
          <a:prstGeom prst="rect">
            <a:avLst/>
          </a:prstGeom>
          <a:noFill/>
          <a:ln/>
        </p:spPr>
        <p:txBody>
          <a:bodyPr wrap="square" lIns="0" tIns="0" rIns="0" bIns="0" rtlCol="0" anchor="ctr"/>
          <a:lstStyle/>
          <a:p>
            <a:pPr indent="0" marL="0">
              <a:buNone/>
            </a:pPr>
            <a:r>
              <a:rPr lang="en-US" sz="1000" dirty="0">
                <a:solidFill>
                  <a:srgbClr val="4AF6C3"/>
                </a:solidFill>
                <a:latin typeface="Epilogue" pitchFamily="34" charset="0"/>
                <a:ea typeface="Epilogue" pitchFamily="34" charset="-122"/>
                <a:cs typeface="Epilogue" pitchFamily="34" charset="-120"/>
              </a:rPr>
              <a:t>Opcional</a:t>
            </a:r>
            <a:endParaRPr lang="en-US" sz="1000" dirty="0"/>
          </a:p>
        </p:txBody>
      </p:sp>
      <p:sp>
        <p:nvSpPr>
          <p:cNvPr id="31" name="Shape 29"/>
          <p:cNvSpPr/>
          <p:nvPr/>
        </p:nvSpPr>
        <p:spPr>
          <a:xfrm>
            <a:off x="411480" y="5029200"/>
            <a:ext cx="320040" cy="320040"/>
          </a:xfrm>
          <a:prstGeom prst="roundRect">
            <a:avLst>
              <a:gd name="adj" fmla="val 51429"/>
            </a:avLst>
          </a:prstGeom>
          <a:solidFill>
            <a:srgbClr val="FFA028"/>
          </a:solidFill>
          <a:ln w="12700">
            <a:solidFill>
              <a:srgbClr val="FFA028"/>
            </a:solidFill>
            <a:prstDash val="solid"/>
          </a:ln>
        </p:spPr>
      </p:sp>
      <p:sp>
        <p:nvSpPr>
          <p:cNvPr id="32" name="Text 30"/>
          <p:cNvSpPr txBox="1"/>
          <p:nvPr/>
        </p:nvSpPr>
        <p:spPr>
          <a:xfrm>
            <a:off x="411480" y="5029200"/>
            <a:ext cx="320040" cy="320040"/>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5</a:t>
            </a:r>
            <a:endParaRPr lang="en-US" sz="1400" dirty="0"/>
          </a:p>
        </p:txBody>
      </p:sp>
      <p:sp>
        <p:nvSpPr>
          <p:cNvPr id="33" name="Shape 31"/>
          <p:cNvSpPr/>
          <p:nvPr/>
        </p:nvSpPr>
        <p:spPr>
          <a:xfrm>
            <a:off x="822960" y="5029200"/>
            <a:ext cx="10515600" cy="749808"/>
          </a:xfrm>
          <a:prstGeom prst="roundRect">
            <a:avLst>
              <a:gd name="adj" fmla="val 9756"/>
            </a:avLst>
          </a:prstGeom>
          <a:solidFill>
            <a:srgbClr val="1A1A1A"/>
          </a:solidFill>
          <a:ln w="12700">
            <a:solidFill>
              <a:srgbClr val="333333"/>
            </a:solidFill>
            <a:prstDash val="solid"/>
          </a:ln>
        </p:spPr>
      </p:sp>
      <p:sp>
        <p:nvSpPr>
          <p:cNvPr id="34" name="Text 32"/>
          <p:cNvSpPr txBox="1"/>
          <p:nvPr/>
        </p:nvSpPr>
        <p:spPr>
          <a:xfrm>
            <a:off x="960120" y="5120640"/>
            <a:ext cx="2011680" cy="56692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Fecha de inicio</a:t>
            </a:r>
            <a:endParaRPr lang="en-US" sz="1400" dirty="0"/>
          </a:p>
        </p:txBody>
      </p:sp>
      <p:sp>
        <p:nvSpPr>
          <p:cNvPr id="35" name="Text 33"/>
          <p:cNvSpPr txBox="1"/>
          <p:nvPr/>
        </p:nvSpPr>
        <p:spPr>
          <a:xfrm>
            <a:off x="3017520" y="5120640"/>
            <a:ext cx="6400800" cy="566928"/>
          </a:xfrm>
          <a:prstGeom prst="rect">
            <a:avLst/>
          </a:prstGeom>
          <a:noFill/>
          <a:ln/>
        </p:spPr>
        <p:txBody>
          <a:bodyPr wrap="square" lIns="0" tIns="0" rIns="0" bIns="0" rtlCol="0" anchor="ctr"/>
          <a:lstStyle/>
          <a:p>
            <a:pPr indent="0" marL="0">
              <a:buNone/>
            </a:pPr>
            <a:r>
              <a:rPr lang="en-US" sz="1200" dirty="0">
                <a:solidFill>
                  <a:srgbClr val="FFFFFF"/>
                </a:solidFill>
                <a:latin typeface="Epilogue" pitchFamily="34" charset="0"/>
                <a:ea typeface="Epilogue" pitchFamily="34" charset="-122"/>
                <a:cs typeface="Epilogue" pitchFamily="34" charset="-120"/>
              </a:rPr>
              <a:t>Fecha de comienzo del proyecto (calendario date-picker)</a:t>
            </a:r>
            <a:endParaRPr lang="en-US" sz="1200" dirty="0"/>
          </a:p>
        </p:txBody>
      </p:sp>
      <p:sp>
        <p:nvSpPr>
          <p:cNvPr id="36" name="Text 34"/>
          <p:cNvSpPr txBox="1"/>
          <p:nvPr/>
        </p:nvSpPr>
        <p:spPr>
          <a:xfrm>
            <a:off x="9509760" y="5120640"/>
            <a:ext cx="1645920" cy="566928"/>
          </a:xfrm>
          <a:prstGeom prst="rect">
            <a:avLst/>
          </a:prstGeom>
          <a:noFill/>
          <a:ln/>
        </p:spPr>
        <p:txBody>
          <a:bodyPr wrap="square" lIns="0" tIns="0" rIns="0" bIns="0" rtlCol="0" anchor="ctr"/>
          <a:lstStyle/>
          <a:p>
            <a:pPr indent="0" marL="0">
              <a:buNone/>
            </a:pPr>
            <a:r>
              <a:rPr lang="en-US" sz="1000" dirty="0">
                <a:solidFill>
                  <a:srgbClr val="4AF6C3"/>
                </a:solidFill>
                <a:latin typeface="Epilogue" pitchFamily="34" charset="0"/>
                <a:ea typeface="Epilogue" pitchFamily="34" charset="-122"/>
                <a:cs typeface="Epilogue" pitchFamily="34" charset="-120"/>
              </a:rPr>
              <a:t>Obligatorio para Proyectos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OPCIONES DE EXPORTACIÓN</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719072"/>
          </a:xfrm>
          <a:prstGeom prst="roundRect">
            <a:avLst>
              <a:gd name="adj" fmla="val 4255"/>
            </a:avLst>
          </a:prstGeom>
          <a:solidFill>
            <a:srgbClr val="1A1A1A"/>
          </a:solidFill>
          <a:ln w="12700">
            <a:solidFill>
              <a:srgbClr val="FFA028"/>
            </a:solidFill>
            <a:prstDash val="solid"/>
          </a:ln>
        </p:spPr>
      </p:sp>
      <p:sp>
        <p:nvSpPr>
          <p:cNvPr id="7" name="Shape 5"/>
          <p:cNvSpPr/>
          <p:nvPr/>
        </p:nvSpPr>
        <p:spPr>
          <a:xfrm>
            <a:off x="411480" y="914400"/>
            <a:ext cx="5486400" cy="54864"/>
          </a:xfrm>
          <a:prstGeom prst="rect">
            <a:avLst/>
          </a:prstGeom>
          <a:solidFill>
            <a:srgbClr val="FFA028"/>
          </a:solidFill>
          <a:ln w="12700">
            <a:solidFill>
              <a:srgbClr val="FFA028"/>
            </a:solidFill>
            <a:prstDash val="solid"/>
          </a:ln>
        </p:spPr>
      </p:sp>
      <p:sp>
        <p:nvSpPr>
          <p:cNvPr id="8" name="Text 6"/>
          <p:cNvSpPr txBox="1"/>
          <p:nvPr/>
        </p:nvSpPr>
        <p:spPr>
          <a:xfrm>
            <a:off x="548640" y="1051560"/>
            <a:ext cx="5212080" cy="384048"/>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 JSON</a:t>
            </a:r>
            <a:endParaRPr lang="en-US" sz="1500" dirty="0"/>
          </a:p>
        </p:txBody>
      </p:sp>
      <p:sp>
        <p:nvSpPr>
          <p:cNvPr id="9" name="Text 7"/>
          <p:cNvSpPr txBox="1"/>
          <p:nvPr/>
        </p:nvSpPr>
        <p:spPr>
          <a:xfrm>
            <a:off x="548640" y="1481328"/>
            <a:ext cx="5212080" cy="10058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Exportación nativa. Incluye TODOS los datos: tareas, dependencias, calendarios, líneas base, configuración. Úsalo para respaldo y migración entre dispositivos.</a:t>
            </a:r>
            <a:endParaRPr lang="en-US" sz="1100" dirty="0"/>
          </a:p>
        </p:txBody>
      </p:sp>
      <p:sp>
        <p:nvSpPr>
          <p:cNvPr id="10" name="Shape 8"/>
          <p:cNvSpPr/>
          <p:nvPr/>
        </p:nvSpPr>
        <p:spPr>
          <a:xfrm>
            <a:off x="6263640" y="914400"/>
            <a:ext cx="5486400" cy="1719072"/>
          </a:xfrm>
          <a:prstGeom prst="roundRect">
            <a:avLst>
              <a:gd name="adj" fmla="val 4255"/>
            </a:avLst>
          </a:prstGeom>
          <a:solidFill>
            <a:srgbClr val="1A1A1A"/>
          </a:solidFill>
          <a:ln w="12700">
            <a:solidFill>
              <a:srgbClr val="4AF6C3"/>
            </a:solidFill>
            <a:prstDash val="solid"/>
          </a:ln>
        </p:spPr>
      </p:sp>
      <p:sp>
        <p:nvSpPr>
          <p:cNvPr id="11" name="Shape 9"/>
          <p:cNvSpPr/>
          <p:nvPr/>
        </p:nvSpPr>
        <p:spPr>
          <a:xfrm>
            <a:off x="6263640" y="914400"/>
            <a:ext cx="5486400" cy="54864"/>
          </a:xfrm>
          <a:prstGeom prst="rect">
            <a:avLst/>
          </a:prstGeom>
          <a:solidFill>
            <a:srgbClr val="4AF6C3"/>
          </a:solidFill>
          <a:ln w="12700">
            <a:solidFill>
              <a:srgbClr val="4AF6C3"/>
            </a:solidFill>
            <a:prstDash val="solid"/>
          </a:ln>
        </p:spPr>
      </p:sp>
      <p:sp>
        <p:nvSpPr>
          <p:cNvPr id="12" name="Text 10"/>
          <p:cNvSpPr txBox="1"/>
          <p:nvPr/>
        </p:nvSpPr>
        <p:spPr>
          <a:xfrm>
            <a:off x="6400800" y="1051560"/>
            <a:ext cx="5212080" cy="384048"/>
          </a:xfrm>
          <a:prstGeom prst="rect">
            <a:avLst/>
          </a:prstGeom>
          <a:noFill/>
          <a:ln/>
        </p:spPr>
        <p:txBody>
          <a:bodyPr wrap="square" lIns="0" tIns="0" rIns="0" bIns="0" rtlCol="0" anchor="ctr"/>
          <a:lstStyle/>
          <a:p>
            <a:pPr indent="0" marL="0">
              <a:buNone/>
            </a:pPr>
            <a:r>
              <a:rPr lang="en-US" sz="1500" b="1" dirty="0">
                <a:solidFill>
                  <a:srgbClr val="4AF6C3"/>
                </a:solidFill>
                <a:latin typeface="Epilogue" pitchFamily="34" charset="0"/>
                <a:ea typeface="Epilogue" pitchFamily="34" charset="-122"/>
                <a:cs typeface="Epilogue" pitchFamily="34" charset="-120"/>
              </a:rPr>
              <a:t>📊 CSV</a:t>
            </a:r>
            <a:endParaRPr lang="en-US" sz="1500" dirty="0"/>
          </a:p>
        </p:txBody>
      </p:sp>
      <p:sp>
        <p:nvSpPr>
          <p:cNvPr id="13" name="Text 11"/>
          <p:cNvSpPr txBox="1"/>
          <p:nvPr/>
        </p:nvSpPr>
        <p:spPr>
          <a:xfrm>
            <a:off x="6400800" y="1481328"/>
            <a:ext cx="5212080" cy="10058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Tabla de actividades en formato texto separado por comas. Compatible con Excel. Solo datos de la tabla EDT, sin dependencias ni configuración.</a:t>
            </a:r>
            <a:endParaRPr lang="en-US" sz="1100" dirty="0"/>
          </a:p>
        </p:txBody>
      </p:sp>
      <p:sp>
        <p:nvSpPr>
          <p:cNvPr id="14" name="Shape 12"/>
          <p:cNvSpPr/>
          <p:nvPr/>
        </p:nvSpPr>
        <p:spPr>
          <a:xfrm>
            <a:off x="411480" y="2788920"/>
            <a:ext cx="5486400" cy="1719072"/>
          </a:xfrm>
          <a:prstGeom prst="roundRect">
            <a:avLst>
              <a:gd name="adj" fmla="val 4255"/>
            </a:avLst>
          </a:prstGeom>
          <a:solidFill>
            <a:srgbClr val="1A1A1A"/>
          </a:solidFill>
          <a:ln w="12700">
            <a:solidFill>
              <a:srgbClr val="198038"/>
            </a:solidFill>
            <a:prstDash val="solid"/>
          </a:ln>
        </p:spPr>
      </p:sp>
      <p:sp>
        <p:nvSpPr>
          <p:cNvPr id="15" name="Shape 13"/>
          <p:cNvSpPr/>
          <p:nvPr/>
        </p:nvSpPr>
        <p:spPr>
          <a:xfrm>
            <a:off x="411480" y="2788920"/>
            <a:ext cx="5486400" cy="54864"/>
          </a:xfrm>
          <a:prstGeom prst="rect">
            <a:avLst/>
          </a:prstGeom>
          <a:solidFill>
            <a:srgbClr val="198038"/>
          </a:solidFill>
          <a:ln w="12700">
            <a:solidFill>
              <a:srgbClr val="198038"/>
            </a:solidFill>
            <a:prstDash val="solid"/>
          </a:ln>
        </p:spPr>
      </p:sp>
      <p:sp>
        <p:nvSpPr>
          <p:cNvPr id="16" name="Text 14"/>
          <p:cNvSpPr txBox="1"/>
          <p:nvPr/>
        </p:nvSpPr>
        <p:spPr>
          <a:xfrm>
            <a:off x="548640" y="2926080"/>
            <a:ext cx="5212080" cy="384048"/>
          </a:xfrm>
          <a:prstGeom prst="rect">
            <a:avLst/>
          </a:prstGeom>
          <a:noFill/>
          <a:ln/>
        </p:spPr>
        <p:txBody>
          <a:bodyPr wrap="square" lIns="0" tIns="0" rIns="0" bIns="0" rtlCol="0" anchor="ctr"/>
          <a:lstStyle/>
          <a:p>
            <a:pPr indent="0" marL="0">
              <a:buNone/>
            </a:pPr>
            <a:r>
              <a:rPr lang="en-US" sz="1500" b="1" dirty="0">
                <a:solidFill>
                  <a:srgbClr val="198038"/>
                </a:solidFill>
                <a:latin typeface="Epilogue" pitchFamily="34" charset="0"/>
                <a:ea typeface="Epilogue" pitchFamily="34" charset="-122"/>
                <a:cs typeface="Epilogue" pitchFamily="34" charset="-120"/>
              </a:rPr>
              <a:t>📁 MS Project XML</a:t>
            </a:r>
            <a:endParaRPr lang="en-US" sz="1500" dirty="0"/>
          </a:p>
        </p:txBody>
      </p:sp>
      <p:sp>
        <p:nvSpPr>
          <p:cNvPr id="17" name="Text 15"/>
          <p:cNvSpPr txBox="1"/>
          <p:nvPr/>
        </p:nvSpPr>
        <p:spPr>
          <a:xfrm>
            <a:off x="548640" y="3355848"/>
            <a:ext cx="5212080" cy="10058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Formato de intercambio compatible con Microsoft Project y Primavera P6. Incluye tareas, duraciones, dependencias y fechas.</a:t>
            </a:r>
            <a:endParaRPr lang="en-US" sz="1100" dirty="0"/>
          </a:p>
        </p:txBody>
      </p:sp>
      <p:sp>
        <p:nvSpPr>
          <p:cNvPr id="18" name="Shape 16"/>
          <p:cNvSpPr/>
          <p:nvPr/>
        </p:nvSpPr>
        <p:spPr>
          <a:xfrm>
            <a:off x="6263640" y="2788920"/>
            <a:ext cx="5486400" cy="1719072"/>
          </a:xfrm>
          <a:prstGeom prst="roundRect">
            <a:avLst>
              <a:gd name="adj" fmla="val 4255"/>
            </a:avLst>
          </a:prstGeom>
          <a:solidFill>
            <a:srgbClr val="1A1A1A"/>
          </a:solidFill>
          <a:ln w="12700">
            <a:solidFill>
              <a:srgbClr val="A0A0A0"/>
            </a:solidFill>
            <a:prstDash val="solid"/>
          </a:ln>
        </p:spPr>
      </p:sp>
      <p:sp>
        <p:nvSpPr>
          <p:cNvPr id="19" name="Shape 17"/>
          <p:cNvSpPr/>
          <p:nvPr/>
        </p:nvSpPr>
        <p:spPr>
          <a:xfrm>
            <a:off x="6263640" y="2788920"/>
            <a:ext cx="5486400" cy="54864"/>
          </a:xfrm>
          <a:prstGeom prst="rect">
            <a:avLst/>
          </a:prstGeom>
          <a:solidFill>
            <a:srgbClr val="A0A0A0"/>
          </a:solidFill>
          <a:ln w="12700">
            <a:solidFill>
              <a:srgbClr val="A0A0A0"/>
            </a:solidFill>
            <a:prstDash val="solid"/>
          </a:ln>
        </p:spPr>
      </p:sp>
      <p:sp>
        <p:nvSpPr>
          <p:cNvPr id="20" name="Text 18"/>
          <p:cNvSpPr txBox="1"/>
          <p:nvPr/>
        </p:nvSpPr>
        <p:spPr>
          <a:xfrm>
            <a:off x="6400800" y="2926080"/>
            <a:ext cx="5212080" cy="384048"/>
          </a:xfrm>
          <a:prstGeom prst="rect">
            <a:avLst/>
          </a:prstGeom>
          <a:noFill/>
          <a:ln/>
        </p:spPr>
        <p:txBody>
          <a:bodyPr wrap="square" lIns="0" tIns="0" rIns="0" bIns="0" rtlCol="0" anchor="ctr"/>
          <a:lstStyle/>
          <a:p>
            <a:pPr indent="0" marL="0">
              <a:buNone/>
            </a:pPr>
            <a:r>
              <a:rPr lang="en-US" sz="1500" b="1" dirty="0">
                <a:solidFill>
                  <a:srgbClr val="A0A0A0"/>
                </a:solidFill>
                <a:latin typeface="Epilogue" pitchFamily="34" charset="0"/>
                <a:ea typeface="Epilogue" pitchFamily="34" charset="-122"/>
                <a:cs typeface="Epilogue" pitchFamily="34" charset="-120"/>
              </a:rPr>
              <a:t>🖼 SVG</a:t>
            </a:r>
            <a:endParaRPr lang="en-US" sz="1500" dirty="0"/>
          </a:p>
        </p:txBody>
      </p:sp>
      <p:sp>
        <p:nvSpPr>
          <p:cNvPr id="21" name="Text 19"/>
          <p:cNvSpPr txBox="1"/>
          <p:nvPr/>
        </p:nvSpPr>
        <p:spPr>
          <a:xfrm>
            <a:off x="6400800" y="3355848"/>
            <a:ext cx="5212080" cy="10058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Exporta el diagrama Gantt como imagen vectorial escalable. Ideal para insertar en documentos o presentaciones.</a:t>
            </a:r>
            <a:endParaRPr lang="en-US" sz="1100" dirty="0"/>
          </a:p>
        </p:txBody>
      </p:sp>
      <p:sp>
        <p:nvSpPr>
          <p:cNvPr id="22" name="Shape 20"/>
          <p:cNvSpPr/>
          <p:nvPr/>
        </p:nvSpPr>
        <p:spPr>
          <a:xfrm>
            <a:off x="411480" y="4663440"/>
            <a:ext cx="5486400" cy="1719072"/>
          </a:xfrm>
          <a:prstGeom prst="roundRect">
            <a:avLst>
              <a:gd name="adj" fmla="val 4255"/>
            </a:avLst>
          </a:prstGeom>
          <a:solidFill>
            <a:srgbClr val="1A1A1A"/>
          </a:solidFill>
          <a:ln w="12700">
            <a:solidFill>
              <a:srgbClr val="A0A0A0"/>
            </a:solidFill>
            <a:prstDash val="solid"/>
          </a:ln>
        </p:spPr>
      </p:sp>
      <p:sp>
        <p:nvSpPr>
          <p:cNvPr id="23" name="Shape 21"/>
          <p:cNvSpPr/>
          <p:nvPr/>
        </p:nvSpPr>
        <p:spPr>
          <a:xfrm>
            <a:off x="411480" y="4663440"/>
            <a:ext cx="5486400" cy="54864"/>
          </a:xfrm>
          <a:prstGeom prst="rect">
            <a:avLst/>
          </a:prstGeom>
          <a:solidFill>
            <a:srgbClr val="A0A0A0"/>
          </a:solidFill>
          <a:ln w="12700">
            <a:solidFill>
              <a:srgbClr val="A0A0A0"/>
            </a:solidFill>
            <a:prstDash val="solid"/>
          </a:ln>
        </p:spPr>
      </p:sp>
      <p:sp>
        <p:nvSpPr>
          <p:cNvPr id="24" name="Text 22"/>
          <p:cNvSpPr txBox="1"/>
          <p:nvPr/>
        </p:nvSpPr>
        <p:spPr>
          <a:xfrm>
            <a:off x="548640" y="4800600"/>
            <a:ext cx="5212080" cy="384048"/>
          </a:xfrm>
          <a:prstGeom prst="rect">
            <a:avLst/>
          </a:prstGeom>
          <a:noFill/>
          <a:ln/>
        </p:spPr>
        <p:txBody>
          <a:bodyPr wrap="square" lIns="0" tIns="0" rIns="0" bIns="0" rtlCol="0" anchor="ctr"/>
          <a:lstStyle/>
          <a:p>
            <a:pPr indent="0" marL="0">
              <a:buNone/>
            </a:pPr>
            <a:r>
              <a:rPr lang="en-US" sz="1500" b="1" dirty="0">
                <a:solidFill>
                  <a:srgbClr val="A0A0A0"/>
                </a:solidFill>
                <a:latin typeface="Epilogue" pitchFamily="34" charset="0"/>
                <a:ea typeface="Epilogue" pitchFamily="34" charset="-122"/>
                <a:cs typeface="Epilogue" pitchFamily="34" charset="-120"/>
              </a:rPr>
              <a:t>🖨 Imprimir Tabla</a:t>
            </a:r>
            <a:endParaRPr lang="en-US" sz="1500" dirty="0"/>
          </a:p>
        </p:txBody>
      </p:sp>
      <p:sp>
        <p:nvSpPr>
          <p:cNvPr id="25" name="Text 23"/>
          <p:cNvSpPr txBox="1"/>
          <p:nvPr/>
        </p:nvSpPr>
        <p:spPr>
          <a:xfrm>
            <a:off x="548640" y="5230368"/>
            <a:ext cx="5212080" cy="10058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Abre vista de impresión de la tabla EDT con todas las columnas visibles.</a:t>
            </a:r>
            <a:endParaRPr lang="en-US" sz="1100" dirty="0"/>
          </a:p>
        </p:txBody>
      </p:sp>
      <p:sp>
        <p:nvSpPr>
          <p:cNvPr id="26" name="Shape 24"/>
          <p:cNvSpPr/>
          <p:nvPr/>
        </p:nvSpPr>
        <p:spPr>
          <a:xfrm>
            <a:off x="6263640" y="4663440"/>
            <a:ext cx="5486400" cy="1719072"/>
          </a:xfrm>
          <a:prstGeom prst="roundRect">
            <a:avLst>
              <a:gd name="adj" fmla="val 4255"/>
            </a:avLst>
          </a:prstGeom>
          <a:solidFill>
            <a:srgbClr val="1A1A1A"/>
          </a:solidFill>
          <a:ln w="12700">
            <a:solidFill>
              <a:srgbClr val="FF433D"/>
            </a:solidFill>
            <a:prstDash val="solid"/>
          </a:ln>
        </p:spPr>
      </p:sp>
      <p:sp>
        <p:nvSpPr>
          <p:cNvPr id="27" name="Shape 25"/>
          <p:cNvSpPr/>
          <p:nvPr/>
        </p:nvSpPr>
        <p:spPr>
          <a:xfrm>
            <a:off x="6263640" y="4663440"/>
            <a:ext cx="5486400" cy="54864"/>
          </a:xfrm>
          <a:prstGeom prst="rect">
            <a:avLst/>
          </a:prstGeom>
          <a:solidFill>
            <a:srgbClr val="FF433D"/>
          </a:solidFill>
          <a:ln w="12700">
            <a:solidFill>
              <a:srgbClr val="FF433D"/>
            </a:solidFill>
            <a:prstDash val="solid"/>
          </a:ln>
        </p:spPr>
      </p:sp>
      <p:sp>
        <p:nvSpPr>
          <p:cNvPr id="28" name="Text 26"/>
          <p:cNvSpPr txBox="1"/>
          <p:nvPr/>
        </p:nvSpPr>
        <p:spPr>
          <a:xfrm>
            <a:off x="6400800" y="4800600"/>
            <a:ext cx="5212080" cy="384048"/>
          </a:xfrm>
          <a:prstGeom prst="rect">
            <a:avLst/>
          </a:prstGeom>
          <a:noFill/>
          <a:ln/>
        </p:spPr>
        <p:txBody>
          <a:bodyPr wrap="square" lIns="0" tIns="0" rIns="0" bIns="0" rtlCol="0" anchor="ctr"/>
          <a:lstStyle/>
          <a:p>
            <a:pPr indent="0" marL="0">
              <a:buNone/>
            </a:pPr>
            <a:r>
              <a:rPr lang="en-US" sz="1500" b="1" dirty="0">
                <a:solidFill>
                  <a:srgbClr val="FF433D"/>
                </a:solidFill>
                <a:latin typeface="Epilogue" pitchFamily="34" charset="0"/>
                <a:ea typeface="Epilogue" pitchFamily="34" charset="-122"/>
                <a:cs typeface="Epilogue" pitchFamily="34" charset="-120"/>
              </a:rPr>
              <a:t>📄 Informe PDF</a:t>
            </a:r>
            <a:endParaRPr lang="en-US" sz="1500" dirty="0"/>
          </a:p>
        </p:txBody>
      </p:sp>
      <p:sp>
        <p:nvSpPr>
          <p:cNvPr id="29" name="Text 27"/>
          <p:cNvSpPr txBox="1"/>
          <p:nvPr/>
        </p:nvSpPr>
        <p:spPr>
          <a:xfrm>
            <a:off x="6400800" y="5230368"/>
            <a:ext cx="5212080" cy="10058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Genera informe completo: tabla EDT + Gantt + resumen en formato PDF para imprimir o archivar.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04</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Gestión de Actividades</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Tareas • Hitos • WBS • Columnas • Edición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AGREGAR TAREA</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Existen tres formas de agregar una nueva tarea al cronograma:</a:t>
            </a:r>
            <a:endParaRPr lang="en-US" sz="1300" dirty="0"/>
          </a:p>
        </p:txBody>
      </p:sp>
      <p:sp>
        <p:nvSpPr>
          <p:cNvPr id="7" name="Shape 5"/>
          <p:cNvSpPr/>
          <p:nvPr/>
        </p:nvSpPr>
        <p:spPr>
          <a:xfrm>
            <a:off x="411480" y="1325880"/>
            <a:ext cx="365760" cy="365760"/>
          </a:xfrm>
          <a:prstGeom prst="roundRect">
            <a:avLst>
              <a:gd name="adj" fmla="val 50000"/>
            </a:avLst>
          </a:prstGeom>
          <a:solidFill>
            <a:srgbClr val="FFA028"/>
          </a:solidFill>
          <a:ln w="12700">
            <a:solidFill>
              <a:srgbClr val="FFA028"/>
            </a:solidFill>
            <a:prstDash val="solid"/>
          </a:ln>
        </p:spPr>
      </p:sp>
      <p:sp>
        <p:nvSpPr>
          <p:cNvPr id="8" name="Text 6"/>
          <p:cNvSpPr txBox="1"/>
          <p:nvPr/>
        </p:nvSpPr>
        <p:spPr>
          <a:xfrm>
            <a:off x="411480" y="1344168"/>
            <a:ext cx="365760" cy="329184"/>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1</a:t>
            </a:r>
            <a:endParaRPr lang="en-US" sz="1600" dirty="0"/>
          </a:p>
        </p:txBody>
      </p:sp>
      <p:sp>
        <p:nvSpPr>
          <p:cNvPr id="9" name="Text 7"/>
          <p:cNvSpPr txBox="1"/>
          <p:nvPr/>
        </p:nvSpPr>
        <p:spPr>
          <a:xfrm>
            <a:off x="868680" y="1362456"/>
            <a:ext cx="11155680" cy="310896"/>
          </a:xfrm>
          <a:prstGeom prst="rect">
            <a:avLst/>
          </a:prstGeom>
          <a:noFill/>
          <a:ln/>
        </p:spPr>
        <p:txBody>
          <a:bodyPr wrap="square" lIns="0" tIns="0" rIns="0" bIns="0" rtlCol="0" anchor="ctr"/>
          <a:lstStyle/>
          <a:p>
            <a:pPr indent="0" marL="0">
              <a:buNone/>
            </a:pPr>
            <a:r>
              <a:rPr lang="en-US" sz="1400" dirty="0">
                <a:solidFill>
                  <a:srgbClr val="FFFFFF"/>
                </a:solidFill>
                <a:latin typeface="Epilogue" pitchFamily="34" charset="0"/>
                <a:ea typeface="Epilogue" pitchFamily="34" charset="-122"/>
                <a:cs typeface="Epilogue" pitchFamily="34" charset="-120"/>
              </a:rPr>
              <a:t>Clic en el botón ＋ Tarea en la barra de herramientas EDT</a:t>
            </a:r>
            <a:endParaRPr lang="en-US" sz="1400" dirty="0"/>
          </a:p>
        </p:txBody>
      </p:sp>
      <p:sp>
        <p:nvSpPr>
          <p:cNvPr id="10" name="Shape 8"/>
          <p:cNvSpPr/>
          <p:nvPr/>
        </p:nvSpPr>
        <p:spPr>
          <a:xfrm>
            <a:off x="411480" y="1984248"/>
            <a:ext cx="365760" cy="365760"/>
          </a:xfrm>
          <a:prstGeom prst="roundRect">
            <a:avLst>
              <a:gd name="adj" fmla="val 50000"/>
            </a:avLst>
          </a:prstGeom>
          <a:solidFill>
            <a:srgbClr val="FFA028"/>
          </a:solidFill>
          <a:ln w="12700">
            <a:solidFill>
              <a:srgbClr val="FFA028"/>
            </a:solidFill>
            <a:prstDash val="solid"/>
          </a:ln>
        </p:spPr>
      </p:sp>
      <p:sp>
        <p:nvSpPr>
          <p:cNvPr id="11" name="Text 9"/>
          <p:cNvSpPr txBox="1"/>
          <p:nvPr/>
        </p:nvSpPr>
        <p:spPr>
          <a:xfrm>
            <a:off x="411480" y="2002536"/>
            <a:ext cx="365760" cy="329184"/>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2</a:t>
            </a:r>
            <a:endParaRPr lang="en-US" sz="1600" dirty="0"/>
          </a:p>
        </p:txBody>
      </p:sp>
      <p:sp>
        <p:nvSpPr>
          <p:cNvPr id="12" name="Text 10"/>
          <p:cNvSpPr txBox="1"/>
          <p:nvPr/>
        </p:nvSpPr>
        <p:spPr>
          <a:xfrm>
            <a:off x="868680" y="2020824"/>
            <a:ext cx="11155680" cy="310896"/>
          </a:xfrm>
          <a:prstGeom prst="rect">
            <a:avLst/>
          </a:prstGeom>
          <a:noFill/>
          <a:ln/>
        </p:spPr>
        <p:txBody>
          <a:bodyPr wrap="square" lIns="0" tIns="0" rIns="0" bIns="0" rtlCol="0" anchor="ctr"/>
          <a:lstStyle/>
          <a:p>
            <a:pPr indent="0" marL="0">
              <a:buNone/>
            </a:pPr>
            <a:r>
              <a:rPr lang="en-US" sz="1400" dirty="0">
                <a:solidFill>
                  <a:srgbClr val="FFFFFF"/>
                </a:solidFill>
                <a:latin typeface="Epilogue" pitchFamily="34" charset="0"/>
                <a:ea typeface="Epilogue" pitchFamily="34" charset="-122"/>
                <a:cs typeface="Epilogue" pitchFamily="34" charset="-120"/>
              </a:rPr>
              <a:t>Presionar la tecla Insert en el teclado (cuando la tabla EDT está activa)</a:t>
            </a:r>
            <a:endParaRPr lang="en-US" sz="1400" dirty="0"/>
          </a:p>
        </p:txBody>
      </p:sp>
      <p:sp>
        <p:nvSpPr>
          <p:cNvPr id="13" name="Shape 11"/>
          <p:cNvSpPr/>
          <p:nvPr/>
        </p:nvSpPr>
        <p:spPr>
          <a:xfrm>
            <a:off x="411480" y="2642616"/>
            <a:ext cx="365760" cy="365760"/>
          </a:xfrm>
          <a:prstGeom prst="roundRect">
            <a:avLst>
              <a:gd name="adj" fmla="val 50000"/>
            </a:avLst>
          </a:prstGeom>
          <a:solidFill>
            <a:srgbClr val="FFA028"/>
          </a:solidFill>
          <a:ln w="12700">
            <a:solidFill>
              <a:srgbClr val="FFA028"/>
            </a:solidFill>
            <a:prstDash val="solid"/>
          </a:ln>
        </p:spPr>
      </p:sp>
      <p:sp>
        <p:nvSpPr>
          <p:cNvPr id="14" name="Text 12"/>
          <p:cNvSpPr txBox="1"/>
          <p:nvPr/>
        </p:nvSpPr>
        <p:spPr>
          <a:xfrm>
            <a:off x="411480" y="2660904"/>
            <a:ext cx="365760" cy="329184"/>
          </a:xfrm>
          <a:prstGeom prst="rect">
            <a:avLst/>
          </a:prstGeom>
          <a:noFill/>
          <a:ln/>
        </p:spPr>
        <p:txBody>
          <a:bodyPr wrap="square" lIns="0" tIns="0" rIns="0" bIns="0" rtlCol="0" anchor="ctr"/>
          <a:lstStyle/>
          <a:p>
            <a:pPr algn="ctr" indent="0" marL="0">
              <a:buNone/>
            </a:pPr>
            <a:r>
              <a:rPr lang="en-US" sz="1600" b="1" dirty="0">
                <a:solidFill>
                  <a:srgbClr val="000000"/>
                </a:solidFill>
                <a:latin typeface="Epilogue" pitchFamily="34" charset="0"/>
                <a:ea typeface="Epilogue" pitchFamily="34" charset="-122"/>
                <a:cs typeface="Epilogue" pitchFamily="34" charset="-120"/>
              </a:rPr>
              <a:t>3</a:t>
            </a:r>
            <a:endParaRPr lang="en-US" sz="1600" dirty="0"/>
          </a:p>
        </p:txBody>
      </p:sp>
      <p:sp>
        <p:nvSpPr>
          <p:cNvPr id="15" name="Text 13"/>
          <p:cNvSpPr txBox="1"/>
          <p:nvPr/>
        </p:nvSpPr>
        <p:spPr>
          <a:xfrm>
            <a:off x="868680" y="2679192"/>
            <a:ext cx="11155680" cy="310896"/>
          </a:xfrm>
          <a:prstGeom prst="rect">
            <a:avLst/>
          </a:prstGeom>
          <a:noFill/>
          <a:ln/>
        </p:spPr>
        <p:txBody>
          <a:bodyPr wrap="square" lIns="0" tIns="0" rIns="0" bIns="0" rtlCol="0" anchor="ctr"/>
          <a:lstStyle/>
          <a:p>
            <a:pPr indent="0" marL="0">
              <a:buNone/>
            </a:pPr>
            <a:r>
              <a:rPr lang="en-US" sz="1400" dirty="0">
                <a:solidFill>
                  <a:srgbClr val="FFFFFF"/>
                </a:solidFill>
                <a:latin typeface="Epilogue" pitchFamily="34" charset="0"/>
                <a:ea typeface="Epilogue" pitchFamily="34" charset="-122"/>
                <a:cs typeface="Epilogue" pitchFamily="34" charset="-120"/>
              </a:rPr>
              <a:t>Seleccionar una fila y usar el menú contextual (clic derecho)</a:t>
            </a:r>
            <a:endParaRPr lang="en-US" sz="1400" dirty="0"/>
          </a:p>
        </p:txBody>
      </p:sp>
      <p:sp>
        <p:nvSpPr>
          <p:cNvPr id="16" name="Text 14"/>
          <p:cNvSpPr txBox="1"/>
          <p:nvPr/>
        </p:nvSpPr>
        <p:spPr>
          <a:xfrm>
            <a:off x="411480" y="3383280"/>
            <a:ext cx="11338560" cy="502920"/>
          </a:xfrm>
          <a:prstGeom prst="rect">
            <a:avLst/>
          </a:prstGeom>
          <a:noFill/>
          <a:ln/>
        </p:spPr>
        <p:txBody>
          <a:bodyPr wrap="square" lIns="0" tIns="0" rIns="0" bIns="0" rtlCol="0" anchor="ctr"/>
          <a:lstStyle/>
          <a:p>
            <a:pPr indent="0" marL="0">
              <a:buNone/>
            </a:pPr>
            <a:r>
              <a:rPr lang="en-US" sz="1200" dirty="0">
                <a:solidFill>
                  <a:srgbClr val="4AF6C3"/>
                </a:solidFill>
                <a:latin typeface="Epilogue" pitchFamily="34" charset="0"/>
                <a:ea typeface="Epilogue" pitchFamily="34" charset="-122"/>
                <a:cs typeface="Epilogue" pitchFamily="34" charset="-120"/>
              </a:rPr>
              <a:t>La nueva tarea se inserta después de la fila seleccionada en el mismo nivel jerárquico. Si no hay selección, se agrega al final.</a:t>
            </a:r>
            <a:endParaRPr lang="en-US" sz="1200" dirty="0"/>
          </a:p>
        </p:txBody>
      </p:sp>
      <p:sp>
        <p:nvSpPr>
          <p:cNvPr id="17" name="Shape 15"/>
          <p:cNvSpPr/>
          <p:nvPr/>
        </p:nvSpPr>
        <p:spPr>
          <a:xfrm>
            <a:off x="411480" y="3977640"/>
            <a:ext cx="11338560" cy="2423160"/>
          </a:xfrm>
          <a:prstGeom prst="roundRect">
            <a:avLst>
              <a:gd name="adj" fmla="val 3019"/>
            </a:avLst>
          </a:prstGeom>
          <a:solidFill>
            <a:srgbClr val="0D0D0D"/>
          </a:solidFill>
          <a:ln w="12700">
            <a:solidFill>
              <a:srgbClr val="333333"/>
            </a:solidFill>
            <a:prstDash val="solid"/>
          </a:ln>
        </p:spPr>
      </p:sp>
      <p:sp>
        <p:nvSpPr>
          <p:cNvPr id="18" name="Text 16"/>
          <p:cNvSpPr txBox="1"/>
          <p:nvPr/>
        </p:nvSpPr>
        <p:spPr>
          <a:xfrm>
            <a:off x="594360" y="4114800"/>
            <a:ext cx="1078992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CAMPOS DE LA TAREA</a:t>
            </a:r>
            <a:endParaRPr lang="en-US" sz="1400" dirty="0"/>
          </a:p>
        </p:txBody>
      </p:sp>
      <p:sp>
        <p:nvSpPr>
          <p:cNvPr id="19" name="Text 17"/>
          <p:cNvSpPr txBox="1"/>
          <p:nvPr/>
        </p:nvSpPr>
        <p:spPr>
          <a:xfrm>
            <a:off x="594360" y="4572000"/>
            <a:ext cx="2011680" cy="502920"/>
          </a:xfrm>
          <a:prstGeom prst="rect">
            <a:avLst/>
          </a:prstGeom>
          <a:noFill/>
          <a:ln/>
        </p:spPr>
        <p:txBody>
          <a:bodyPr wrap="square" lIns="0" tIns="0" rIns="0" bIns="0" rtlCol="0" anchor="ctr"/>
          <a:lstStyle/>
          <a:p>
            <a:pPr indent="0" marL="0">
              <a:buNone/>
            </a:pPr>
            <a:r>
              <a:rPr lang="en-US" sz="1200" b="1" dirty="0">
                <a:solidFill>
                  <a:srgbClr val="FFA028"/>
                </a:solidFill>
                <a:latin typeface="Epilogue" pitchFamily="34" charset="0"/>
                <a:ea typeface="Epilogue" pitchFamily="34" charset="-122"/>
                <a:cs typeface="Epilogue" pitchFamily="34" charset="-120"/>
              </a:rPr>
              <a:t>▸ Nombre:</a:t>
            </a:r>
            <a:endParaRPr lang="en-US" sz="1200" dirty="0"/>
          </a:p>
        </p:txBody>
      </p:sp>
      <p:sp>
        <p:nvSpPr>
          <p:cNvPr id="20" name="Text 18"/>
          <p:cNvSpPr txBox="1"/>
          <p:nvPr/>
        </p:nvSpPr>
        <p:spPr>
          <a:xfrm>
            <a:off x="2606040" y="4572000"/>
            <a:ext cx="329184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Texto libre descriptivo de la actividad (obligatorio)</a:t>
            </a:r>
            <a:endParaRPr lang="en-US" sz="1100" dirty="0"/>
          </a:p>
        </p:txBody>
      </p:sp>
      <p:sp>
        <p:nvSpPr>
          <p:cNvPr id="21" name="Text 19"/>
          <p:cNvSpPr txBox="1"/>
          <p:nvPr/>
        </p:nvSpPr>
        <p:spPr>
          <a:xfrm>
            <a:off x="6080760" y="4572000"/>
            <a:ext cx="2011680" cy="502920"/>
          </a:xfrm>
          <a:prstGeom prst="rect">
            <a:avLst/>
          </a:prstGeom>
          <a:noFill/>
          <a:ln/>
        </p:spPr>
        <p:txBody>
          <a:bodyPr wrap="square" lIns="0" tIns="0" rIns="0" bIns="0" rtlCol="0" anchor="ctr"/>
          <a:lstStyle/>
          <a:p>
            <a:pPr indent="0" marL="0">
              <a:buNone/>
            </a:pPr>
            <a:r>
              <a:rPr lang="en-US" sz="1200" b="1" dirty="0">
                <a:solidFill>
                  <a:srgbClr val="FFA028"/>
                </a:solidFill>
                <a:latin typeface="Epilogue" pitchFamily="34" charset="0"/>
                <a:ea typeface="Epilogue" pitchFamily="34" charset="-122"/>
                <a:cs typeface="Epilogue" pitchFamily="34" charset="-120"/>
              </a:rPr>
              <a:t>▸ Duración:</a:t>
            </a:r>
            <a:endParaRPr lang="en-US" sz="1200" dirty="0"/>
          </a:p>
        </p:txBody>
      </p:sp>
      <p:sp>
        <p:nvSpPr>
          <p:cNvPr id="22" name="Text 20"/>
          <p:cNvSpPr txBox="1"/>
          <p:nvPr/>
        </p:nvSpPr>
        <p:spPr>
          <a:xfrm>
            <a:off x="8092440" y="4572000"/>
            <a:ext cx="329184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Número de días hábiles (1-999). El CPM calcula inicio y fin.</a:t>
            </a:r>
            <a:endParaRPr lang="en-US" sz="1100" dirty="0"/>
          </a:p>
        </p:txBody>
      </p:sp>
      <p:sp>
        <p:nvSpPr>
          <p:cNvPr id="23" name="Text 21"/>
          <p:cNvSpPr txBox="1"/>
          <p:nvPr/>
        </p:nvSpPr>
        <p:spPr>
          <a:xfrm>
            <a:off x="594360" y="5175504"/>
            <a:ext cx="2011680" cy="502920"/>
          </a:xfrm>
          <a:prstGeom prst="rect">
            <a:avLst/>
          </a:prstGeom>
          <a:noFill/>
          <a:ln/>
        </p:spPr>
        <p:txBody>
          <a:bodyPr wrap="square" lIns="0" tIns="0" rIns="0" bIns="0" rtlCol="0" anchor="ctr"/>
          <a:lstStyle/>
          <a:p>
            <a:pPr indent="0" marL="0">
              <a:buNone/>
            </a:pPr>
            <a:r>
              <a:rPr lang="en-US" sz="1200" b="1" dirty="0">
                <a:solidFill>
                  <a:srgbClr val="FFA028"/>
                </a:solidFill>
                <a:latin typeface="Epilogue" pitchFamily="34" charset="0"/>
                <a:ea typeface="Epilogue" pitchFamily="34" charset="-122"/>
                <a:cs typeface="Epilogue" pitchFamily="34" charset="-120"/>
              </a:rPr>
              <a:t>▸ Inicio:</a:t>
            </a:r>
            <a:endParaRPr lang="en-US" sz="1200" dirty="0"/>
          </a:p>
        </p:txBody>
      </p:sp>
      <p:sp>
        <p:nvSpPr>
          <p:cNvPr id="24" name="Text 22"/>
          <p:cNvSpPr txBox="1"/>
          <p:nvPr/>
        </p:nvSpPr>
        <p:spPr>
          <a:xfrm>
            <a:off x="2606040" y="5175504"/>
            <a:ext cx="329184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Fecha de inicio más temprana (ES). Calculada automáticamente.</a:t>
            </a:r>
            <a:endParaRPr lang="en-US" sz="1100" dirty="0"/>
          </a:p>
        </p:txBody>
      </p:sp>
      <p:sp>
        <p:nvSpPr>
          <p:cNvPr id="25" name="Text 23"/>
          <p:cNvSpPr txBox="1"/>
          <p:nvPr/>
        </p:nvSpPr>
        <p:spPr>
          <a:xfrm>
            <a:off x="6080760" y="5175504"/>
            <a:ext cx="2011680" cy="502920"/>
          </a:xfrm>
          <a:prstGeom prst="rect">
            <a:avLst/>
          </a:prstGeom>
          <a:noFill/>
          <a:ln/>
        </p:spPr>
        <p:txBody>
          <a:bodyPr wrap="square" lIns="0" tIns="0" rIns="0" bIns="0" rtlCol="0" anchor="ctr"/>
          <a:lstStyle/>
          <a:p>
            <a:pPr indent="0" marL="0">
              <a:buNone/>
            </a:pPr>
            <a:r>
              <a:rPr lang="en-US" sz="1200" b="1" dirty="0">
                <a:solidFill>
                  <a:srgbClr val="FFA028"/>
                </a:solidFill>
                <a:latin typeface="Epilogue" pitchFamily="34" charset="0"/>
                <a:ea typeface="Epilogue" pitchFamily="34" charset="-122"/>
                <a:cs typeface="Epilogue" pitchFamily="34" charset="-120"/>
              </a:rPr>
              <a:t>▸ Fin:</a:t>
            </a:r>
            <a:endParaRPr lang="en-US" sz="1200" dirty="0"/>
          </a:p>
        </p:txBody>
      </p:sp>
      <p:sp>
        <p:nvSpPr>
          <p:cNvPr id="26" name="Text 24"/>
          <p:cNvSpPr txBox="1"/>
          <p:nvPr/>
        </p:nvSpPr>
        <p:spPr>
          <a:xfrm>
            <a:off x="8092440" y="5175504"/>
            <a:ext cx="329184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Fecha de fin más temprana (EF). Calculada automáticamente.</a:t>
            </a:r>
            <a:endParaRPr lang="en-US" sz="1100" dirty="0"/>
          </a:p>
        </p:txBody>
      </p:sp>
      <p:sp>
        <p:nvSpPr>
          <p:cNvPr id="27" name="Text 25"/>
          <p:cNvSpPr txBox="1"/>
          <p:nvPr/>
        </p:nvSpPr>
        <p:spPr>
          <a:xfrm>
            <a:off x="594360" y="5779008"/>
            <a:ext cx="2011680" cy="502920"/>
          </a:xfrm>
          <a:prstGeom prst="rect">
            <a:avLst/>
          </a:prstGeom>
          <a:noFill/>
          <a:ln/>
        </p:spPr>
        <p:txBody>
          <a:bodyPr wrap="square" lIns="0" tIns="0" rIns="0" bIns="0" rtlCol="0" anchor="ctr"/>
          <a:lstStyle/>
          <a:p>
            <a:pPr indent="0" marL="0">
              <a:buNone/>
            </a:pPr>
            <a:r>
              <a:rPr lang="en-US" sz="1200" b="1" dirty="0">
                <a:solidFill>
                  <a:srgbClr val="FFA028"/>
                </a:solidFill>
                <a:latin typeface="Epilogue" pitchFamily="34" charset="0"/>
                <a:ea typeface="Epilogue" pitchFamily="34" charset="-122"/>
                <a:cs typeface="Epilogue" pitchFamily="34" charset="-120"/>
              </a:rPr>
              <a:t>▸ % Avance:</a:t>
            </a:r>
            <a:endParaRPr lang="en-US" sz="1200" dirty="0"/>
          </a:p>
        </p:txBody>
      </p:sp>
      <p:sp>
        <p:nvSpPr>
          <p:cNvPr id="28" name="Text 26"/>
          <p:cNvSpPr txBox="1"/>
          <p:nvPr/>
        </p:nvSpPr>
        <p:spPr>
          <a:xfrm>
            <a:off x="2606040" y="5779008"/>
            <a:ext cx="329184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Porcentaje de completitud 0-100%. Afecta cálculos EVM.</a:t>
            </a:r>
            <a:endParaRPr lang="en-US" sz="1100" dirty="0"/>
          </a:p>
        </p:txBody>
      </p:sp>
      <p:sp>
        <p:nvSpPr>
          <p:cNvPr id="29" name="Text 27"/>
          <p:cNvSpPr txBox="1"/>
          <p:nvPr/>
        </p:nvSpPr>
        <p:spPr>
          <a:xfrm>
            <a:off x="6080760" y="5779008"/>
            <a:ext cx="2011680" cy="502920"/>
          </a:xfrm>
          <a:prstGeom prst="rect">
            <a:avLst/>
          </a:prstGeom>
          <a:noFill/>
          <a:ln/>
        </p:spPr>
        <p:txBody>
          <a:bodyPr wrap="square" lIns="0" tIns="0" rIns="0" bIns="0" rtlCol="0" anchor="ctr"/>
          <a:lstStyle/>
          <a:p>
            <a:pPr indent="0" marL="0">
              <a:buNone/>
            </a:pPr>
            <a:r>
              <a:rPr lang="en-US" sz="1200" b="1" dirty="0">
                <a:solidFill>
                  <a:srgbClr val="FFA028"/>
                </a:solidFill>
                <a:latin typeface="Epilogue" pitchFamily="34" charset="0"/>
                <a:ea typeface="Epilogue" pitchFamily="34" charset="-122"/>
                <a:cs typeface="Epilogue" pitchFamily="34" charset="-120"/>
              </a:rPr>
              <a:t>▸ Predecesoras:</a:t>
            </a:r>
            <a:endParaRPr lang="en-US" sz="1200" dirty="0"/>
          </a:p>
        </p:txBody>
      </p:sp>
      <p:sp>
        <p:nvSpPr>
          <p:cNvPr id="30" name="Text 28"/>
          <p:cNvSpPr txBox="1"/>
          <p:nvPr/>
        </p:nvSpPr>
        <p:spPr>
          <a:xfrm>
            <a:off x="8092440" y="5779008"/>
            <a:ext cx="329184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Lista de dependencias en formato: 5FS+2, 3SS, 4FF-1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AGREGAR HITO (MILESTONE)</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828800"/>
          </a:xfrm>
          <a:prstGeom prst="roundRect">
            <a:avLst>
              <a:gd name="adj" fmla="val 4000"/>
            </a:avLst>
          </a:prstGeom>
          <a:solidFill>
            <a:srgbClr val="1A1A1A"/>
          </a:solidFill>
          <a:ln w="12700">
            <a:solidFill>
              <a:srgbClr val="F9A825"/>
            </a:solidFill>
            <a:prstDash val="solid"/>
          </a:ln>
        </p:spPr>
      </p:sp>
      <p:sp>
        <p:nvSpPr>
          <p:cNvPr id="7" name="Shape 5"/>
          <p:cNvSpPr/>
          <p:nvPr/>
        </p:nvSpPr>
        <p:spPr>
          <a:xfrm>
            <a:off x="411480" y="914400"/>
            <a:ext cx="11338560" cy="64008"/>
          </a:xfrm>
          <a:prstGeom prst="rect">
            <a:avLst/>
          </a:prstGeom>
          <a:solidFill>
            <a:srgbClr val="F9A825"/>
          </a:solidFill>
          <a:ln w="12700">
            <a:solidFill>
              <a:srgbClr val="F9A825"/>
            </a:solidFill>
            <a:prstDash val="solid"/>
          </a:ln>
        </p:spPr>
      </p:sp>
      <p:sp>
        <p:nvSpPr>
          <p:cNvPr id="8" name="Text 6"/>
          <p:cNvSpPr txBox="1"/>
          <p:nvPr/>
        </p:nvSpPr>
        <p:spPr>
          <a:xfrm>
            <a:off x="594360" y="1051560"/>
            <a:ext cx="10972800" cy="640080"/>
          </a:xfrm>
          <a:prstGeom prst="rect">
            <a:avLst/>
          </a:prstGeom>
          <a:noFill/>
          <a:ln/>
        </p:spPr>
        <p:txBody>
          <a:bodyPr wrap="square" lIns="0" tIns="0" rIns="0" bIns="0" rtlCol="0" anchor="ctr"/>
          <a:lstStyle/>
          <a:p>
            <a:pPr indent="0" marL="0">
              <a:buNone/>
            </a:pPr>
            <a:r>
              <a:rPr lang="en-US" sz="1500" dirty="0">
                <a:solidFill>
                  <a:srgbClr val="FFFFFF"/>
                </a:solidFill>
                <a:latin typeface="Epilogue" pitchFamily="34" charset="0"/>
                <a:ea typeface="Epilogue" pitchFamily="34" charset="-122"/>
                <a:cs typeface="Epilogue" pitchFamily="34" charset="-120"/>
              </a:rPr>
              <a:t>◆ Un hito representa un evento puntual o logro en el proyecto. Su duración es siempre 0. Se visualiza como un diamante (◆) en el diagrama Gantt.</a:t>
            </a:r>
            <a:endParaRPr lang="en-US" sz="1500" dirty="0"/>
          </a:p>
        </p:txBody>
      </p:sp>
      <p:sp>
        <p:nvSpPr>
          <p:cNvPr id="9" name="Text 7"/>
          <p:cNvSpPr txBox="1"/>
          <p:nvPr/>
        </p:nvSpPr>
        <p:spPr>
          <a:xfrm>
            <a:off x="594360" y="1737360"/>
            <a:ext cx="10972800" cy="64008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Diferencia con una tarea: el hito no tiene duración ni barras de trabajo, solo marca un punto en el tiempo.</a:t>
            </a:r>
            <a:endParaRPr lang="en-US" sz="1300" dirty="0"/>
          </a:p>
        </p:txBody>
      </p:sp>
      <p:sp>
        <p:nvSpPr>
          <p:cNvPr id="10" name="Text 8"/>
          <p:cNvSpPr txBox="1"/>
          <p:nvPr/>
        </p:nvSpPr>
        <p:spPr>
          <a:xfrm>
            <a:off x="411480" y="2926080"/>
            <a:ext cx="11338560" cy="384048"/>
          </a:xfrm>
          <a:prstGeom prst="rect">
            <a:avLst/>
          </a:prstGeom>
          <a:noFill/>
          <a:ln/>
        </p:spPr>
        <p:txBody>
          <a:bodyPr wrap="square" lIns="0" tIns="0" rIns="0" bIns="0" rtlCol="0" anchor="ctr"/>
          <a:lstStyle/>
          <a:p>
            <a:pPr indent="0" marL="0">
              <a:buNone/>
            </a:pPr>
            <a:r>
              <a:rPr lang="en-US" sz="1600" b="1" dirty="0">
                <a:solidFill>
                  <a:srgbClr val="F9A825"/>
                </a:solidFill>
                <a:latin typeface="Epilogue" pitchFamily="34" charset="0"/>
                <a:ea typeface="Epilogue" pitchFamily="34" charset="-122"/>
                <a:cs typeface="Epilogue" pitchFamily="34" charset="-120"/>
              </a:rPr>
              <a:t>CUÁNDO USAR UN HITO</a:t>
            </a:r>
            <a:endParaRPr lang="en-US" sz="1600" dirty="0"/>
          </a:p>
        </p:txBody>
      </p:sp>
      <p:sp>
        <p:nvSpPr>
          <p:cNvPr id="11" name="Shape 9"/>
          <p:cNvSpPr/>
          <p:nvPr/>
        </p:nvSpPr>
        <p:spPr>
          <a:xfrm>
            <a:off x="411480" y="3429000"/>
            <a:ext cx="347472" cy="347472"/>
          </a:xfrm>
          <a:prstGeom prst="roundRect">
            <a:avLst>
              <a:gd name="adj" fmla="val 50000"/>
            </a:avLst>
          </a:prstGeom>
          <a:solidFill>
            <a:srgbClr val="F9A825"/>
          </a:solidFill>
          <a:ln w="12700">
            <a:solidFill>
              <a:srgbClr val="F9A825"/>
            </a:solidFill>
            <a:prstDash val="solid"/>
          </a:ln>
        </p:spPr>
      </p:sp>
      <p:sp>
        <p:nvSpPr>
          <p:cNvPr id="12" name="Text 10"/>
          <p:cNvSpPr txBox="1"/>
          <p:nvPr/>
        </p:nvSpPr>
        <p:spPr>
          <a:xfrm>
            <a:off x="411480" y="3429000"/>
            <a:ext cx="347472" cy="347472"/>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a:t>
            </a:r>
            <a:endParaRPr lang="en-US" sz="1400" dirty="0"/>
          </a:p>
        </p:txBody>
      </p:sp>
      <p:sp>
        <p:nvSpPr>
          <p:cNvPr id="13" name="Text 11"/>
          <p:cNvSpPr txBox="1"/>
          <p:nvPr/>
        </p:nvSpPr>
        <p:spPr>
          <a:xfrm>
            <a:off x="914400" y="3493008"/>
            <a:ext cx="10789920" cy="292608"/>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Inicio oficial del proyecto o de una fase</a:t>
            </a:r>
            <a:endParaRPr lang="en-US" sz="1300" dirty="0"/>
          </a:p>
        </p:txBody>
      </p:sp>
      <p:sp>
        <p:nvSpPr>
          <p:cNvPr id="14" name="Shape 12"/>
          <p:cNvSpPr/>
          <p:nvPr/>
        </p:nvSpPr>
        <p:spPr>
          <a:xfrm>
            <a:off x="411480" y="4023360"/>
            <a:ext cx="347472" cy="347472"/>
          </a:xfrm>
          <a:prstGeom prst="roundRect">
            <a:avLst>
              <a:gd name="adj" fmla="val 50000"/>
            </a:avLst>
          </a:prstGeom>
          <a:solidFill>
            <a:srgbClr val="F9A825"/>
          </a:solidFill>
          <a:ln w="12700">
            <a:solidFill>
              <a:srgbClr val="F9A825"/>
            </a:solidFill>
            <a:prstDash val="solid"/>
          </a:ln>
        </p:spPr>
      </p:sp>
      <p:sp>
        <p:nvSpPr>
          <p:cNvPr id="15" name="Text 13"/>
          <p:cNvSpPr txBox="1"/>
          <p:nvPr/>
        </p:nvSpPr>
        <p:spPr>
          <a:xfrm>
            <a:off x="411480" y="4023360"/>
            <a:ext cx="347472" cy="347472"/>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a:t>
            </a:r>
            <a:endParaRPr lang="en-US" sz="1400" dirty="0"/>
          </a:p>
        </p:txBody>
      </p:sp>
      <p:sp>
        <p:nvSpPr>
          <p:cNvPr id="16" name="Text 14"/>
          <p:cNvSpPr txBox="1"/>
          <p:nvPr/>
        </p:nvSpPr>
        <p:spPr>
          <a:xfrm>
            <a:off x="914400" y="4087368"/>
            <a:ext cx="10789920" cy="292608"/>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Entrega de documentos o entregables clave</a:t>
            </a:r>
            <a:endParaRPr lang="en-US" sz="1300" dirty="0"/>
          </a:p>
        </p:txBody>
      </p:sp>
      <p:sp>
        <p:nvSpPr>
          <p:cNvPr id="17" name="Shape 15"/>
          <p:cNvSpPr/>
          <p:nvPr/>
        </p:nvSpPr>
        <p:spPr>
          <a:xfrm>
            <a:off x="411480" y="4617720"/>
            <a:ext cx="347472" cy="347472"/>
          </a:xfrm>
          <a:prstGeom prst="roundRect">
            <a:avLst>
              <a:gd name="adj" fmla="val 50000"/>
            </a:avLst>
          </a:prstGeom>
          <a:solidFill>
            <a:srgbClr val="F9A825"/>
          </a:solidFill>
          <a:ln w="12700">
            <a:solidFill>
              <a:srgbClr val="F9A825"/>
            </a:solidFill>
            <a:prstDash val="solid"/>
          </a:ln>
        </p:spPr>
      </p:sp>
      <p:sp>
        <p:nvSpPr>
          <p:cNvPr id="18" name="Text 16"/>
          <p:cNvSpPr txBox="1"/>
          <p:nvPr/>
        </p:nvSpPr>
        <p:spPr>
          <a:xfrm>
            <a:off x="411480" y="4617720"/>
            <a:ext cx="347472" cy="347472"/>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a:t>
            </a:r>
            <a:endParaRPr lang="en-US" sz="1400" dirty="0"/>
          </a:p>
        </p:txBody>
      </p:sp>
      <p:sp>
        <p:nvSpPr>
          <p:cNvPr id="19" name="Text 17"/>
          <p:cNvSpPr txBox="1"/>
          <p:nvPr/>
        </p:nvSpPr>
        <p:spPr>
          <a:xfrm>
            <a:off x="914400" y="4681728"/>
            <a:ext cx="10789920" cy="292608"/>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Aprobaciones formales del cliente o director de proyecto</a:t>
            </a:r>
            <a:endParaRPr lang="en-US" sz="1300" dirty="0"/>
          </a:p>
        </p:txBody>
      </p:sp>
      <p:sp>
        <p:nvSpPr>
          <p:cNvPr id="20" name="Shape 18"/>
          <p:cNvSpPr/>
          <p:nvPr/>
        </p:nvSpPr>
        <p:spPr>
          <a:xfrm>
            <a:off x="411480" y="5212080"/>
            <a:ext cx="347472" cy="347472"/>
          </a:xfrm>
          <a:prstGeom prst="roundRect">
            <a:avLst>
              <a:gd name="adj" fmla="val 50000"/>
            </a:avLst>
          </a:prstGeom>
          <a:solidFill>
            <a:srgbClr val="F9A825"/>
          </a:solidFill>
          <a:ln w="12700">
            <a:solidFill>
              <a:srgbClr val="F9A825"/>
            </a:solidFill>
            <a:prstDash val="solid"/>
          </a:ln>
        </p:spPr>
      </p:sp>
      <p:sp>
        <p:nvSpPr>
          <p:cNvPr id="21" name="Text 19"/>
          <p:cNvSpPr txBox="1"/>
          <p:nvPr/>
        </p:nvSpPr>
        <p:spPr>
          <a:xfrm>
            <a:off x="411480" y="5212080"/>
            <a:ext cx="347472" cy="347472"/>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a:t>
            </a:r>
            <a:endParaRPr lang="en-US" sz="1400" dirty="0"/>
          </a:p>
        </p:txBody>
      </p:sp>
      <p:sp>
        <p:nvSpPr>
          <p:cNvPr id="22" name="Text 20"/>
          <p:cNvSpPr txBox="1"/>
          <p:nvPr/>
        </p:nvSpPr>
        <p:spPr>
          <a:xfrm>
            <a:off x="914400" y="5276088"/>
            <a:ext cx="10789920" cy="292608"/>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Fin de fase o cierre de etapa</a:t>
            </a:r>
            <a:endParaRPr lang="en-US" sz="1300" dirty="0"/>
          </a:p>
        </p:txBody>
      </p:sp>
      <p:sp>
        <p:nvSpPr>
          <p:cNvPr id="23" name="Shape 21"/>
          <p:cNvSpPr/>
          <p:nvPr/>
        </p:nvSpPr>
        <p:spPr>
          <a:xfrm>
            <a:off x="411480" y="5806440"/>
            <a:ext cx="347472" cy="347472"/>
          </a:xfrm>
          <a:prstGeom prst="roundRect">
            <a:avLst>
              <a:gd name="adj" fmla="val 50000"/>
            </a:avLst>
          </a:prstGeom>
          <a:solidFill>
            <a:srgbClr val="F9A825"/>
          </a:solidFill>
          <a:ln w="12700">
            <a:solidFill>
              <a:srgbClr val="F9A825"/>
            </a:solidFill>
            <a:prstDash val="solid"/>
          </a:ln>
        </p:spPr>
      </p:sp>
      <p:sp>
        <p:nvSpPr>
          <p:cNvPr id="24" name="Text 22"/>
          <p:cNvSpPr txBox="1"/>
          <p:nvPr/>
        </p:nvSpPr>
        <p:spPr>
          <a:xfrm>
            <a:off x="411480" y="5806440"/>
            <a:ext cx="347472" cy="347472"/>
          </a:xfrm>
          <a:prstGeom prst="rect">
            <a:avLst/>
          </a:prstGeom>
          <a:noFill/>
          <a:ln/>
        </p:spPr>
        <p:txBody>
          <a:bodyPr wrap="square" lIns="0" tIns="0" rIns="0" bIns="0" rtlCol="0" anchor="ctr"/>
          <a:lstStyle/>
          <a:p>
            <a:pPr algn="ctr" indent="0" marL="0">
              <a:buNone/>
            </a:pPr>
            <a:r>
              <a:rPr lang="en-US" sz="1400" b="1" dirty="0">
                <a:solidFill>
                  <a:srgbClr val="000000"/>
                </a:solidFill>
                <a:latin typeface="Epilogue" pitchFamily="34" charset="0"/>
                <a:ea typeface="Epilogue" pitchFamily="34" charset="-122"/>
                <a:cs typeface="Epilogue" pitchFamily="34" charset="-120"/>
              </a:rPr>
              <a:t>◆</a:t>
            </a:r>
            <a:endParaRPr lang="en-US" sz="1400" dirty="0"/>
          </a:p>
        </p:txBody>
      </p:sp>
      <p:sp>
        <p:nvSpPr>
          <p:cNvPr id="25" name="Text 23"/>
          <p:cNvSpPr txBox="1"/>
          <p:nvPr/>
        </p:nvSpPr>
        <p:spPr>
          <a:xfrm>
            <a:off x="914400" y="5870448"/>
            <a:ext cx="10789920" cy="292608"/>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Fechas contractuales comprometidas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COLUMNAS DE LA TABLA EDT</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3657600" cy="987552"/>
          </a:xfrm>
          <a:prstGeom prst="roundRect">
            <a:avLst>
              <a:gd name="adj" fmla="val 7407"/>
            </a:avLst>
          </a:prstGeom>
          <a:solidFill>
            <a:srgbClr val="0D0D0D"/>
          </a:solidFill>
          <a:ln w="12700">
            <a:solidFill>
              <a:srgbClr val="A0A0A0"/>
            </a:solidFill>
            <a:prstDash val="solid"/>
          </a:ln>
        </p:spPr>
      </p:sp>
      <p:sp>
        <p:nvSpPr>
          <p:cNvPr id="7" name="Text 5"/>
          <p:cNvSpPr txBox="1"/>
          <p:nvPr/>
        </p:nvSpPr>
        <p:spPr>
          <a:xfrm>
            <a:off x="521208" y="1005840"/>
            <a:ext cx="914400" cy="365760"/>
          </a:xfrm>
          <a:prstGeom prst="rect">
            <a:avLst/>
          </a:prstGeom>
          <a:noFill/>
          <a:ln/>
        </p:spPr>
        <p:txBody>
          <a:bodyPr wrap="square" lIns="0" tIns="0" rIns="0" bIns="0" rtlCol="0" anchor="ctr"/>
          <a:lstStyle/>
          <a:p>
            <a:pPr indent="0" marL="0">
              <a:buNone/>
            </a:pPr>
            <a:r>
              <a:rPr lang="en-US" sz="1400" b="1" dirty="0">
                <a:solidFill>
                  <a:srgbClr val="A0A0A0"/>
                </a:solidFill>
                <a:latin typeface="Courier New" pitchFamily="34" charset="0"/>
                <a:ea typeface="Courier New" pitchFamily="34" charset="-122"/>
                <a:cs typeface="Courier New" pitchFamily="34" charset="-120"/>
              </a:rPr>
              <a:t>#</a:t>
            </a:r>
            <a:endParaRPr lang="en-US" sz="1400" dirty="0"/>
          </a:p>
        </p:txBody>
      </p:sp>
      <p:sp>
        <p:nvSpPr>
          <p:cNvPr id="8" name="Text 6"/>
          <p:cNvSpPr txBox="1"/>
          <p:nvPr/>
        </p:nvSpPr>
        <p:spPr>
          <a:xfrm>
            <a:off x="521208" y="1417320"/>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Número de fila secuencial en el orden actual</a:t>
            </a:r>
            <a:endParaRPr lang="en-US" sz="1000" dirty="0"/>
          </a:p>
        </p:txBody>
      </p:sp>
      <p:sp>
        <p:nvSpPr>
          <p:cNvPr id="9" name="Shape 7"/>
          <p:cNvSpPr/>
          <p:nvPr/>
        </p:nvSpPr>
        <p:spPr>
          <a:xfrm>
            <a:off x="4325112" y="914400"/>
            <a:ext cx="3657600" cy="987552"/>
          </a:xfrm>
          <a:prstGeom prst="roundRect">
            <a:avLst>
              <a:gd name="adj" fmla="val 7407"/>
            </a:avLst>
          </a:prstGeom>
          <a:solidFill>
            <a:srgbClr val="0D0D0D"/>
          </a:solidFill>
          <a:ln w="12700">
            <a:solidFill>
              <a:srgbClr val="FFA028"/>
            </a:solidFill>
            <a:prstDash val="solid"/>
          </a:ln>
        </p:spPr>
      </p:sp>
      <p:sp>
        <p:nvSpPr>
          <p:cNvPr id="10" name="Text 8"/>
          <p:cNvSpPr txBox="1"/>
          <p:nvPr/>
        </p:nvSpPr>
        <p:spPr>
          <a:xfrm>
            <a:off x="4434840" y="1005840"/>
            <a:ext cx="914400" cy="365760"/>
          </a:xfrm>
          <a:prstGeom prst="rect">
            <a:avLst/>
          </a:prstGeom>
          <a:noFill/>
          <a:ln/>
        </p:spPr>
        <p:txBody>
          <a:bodyPr wrap="square" lIns="0" tIns="0" rIns="0" bIns="0" rtlCol="0" anchor="ctr"/>
          <a:lstStyle/>
          <a:p>
            <a:pPr indent="0" marL="0">
              <a:buNone/>
            </a:pPr>
            <a:r>
              <a:rPr lang="en-US" sz="1400" b="1" dirty="0">
                <a:solidFill>
                  <a:srgbClr val="FFA028"/>
                </a:solidFill>
                <a:latin typeface="Courier New" pitchFamily="34" charset="0"/>
                <a:ea typeface="Courier New" pitchFamily="34" charset="-122"/>
                <a:cs typeface="Courier New" pitchFamily="34" charset="-120"/>
              </a:rPr>
              <a:t>EDT</a:t>
            </a:r>
            <a:endParaRPr lang="en-US" sz="1400" dirty="0"/>
          </a:p>
        </p:txBody>
      </p:sp>
      <p:sp>
        <p:nvSpPr>
          <p:cNvPr id="11" name="Text 9"/>
          <p:cNvSpPr txBox="1"/>
          <p:nvPr/>
        </p:nvSpPr>
        <p:spPr>
          <a:xfrm>
            <a:off x="4434840" y="1417320"/>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Código WBS jerárquico (ej: 1.2.3). Generado automáticamente.</a:t>
            </a:r>
            <a:endParaRPr lang="en-US" sz="1000" dirty="0"/>
          </a:p>
        </p:txBody>
      </p:sp>
      <p:sp>
        <p:nvSpPr>
          <p:cNvPr id="12" name="Shape 10"/>
          <p:cNvSpPr/>
          <p:nvPr/>
        </p:nvSpPr>
        <p:spPr>
          <a:xfrm>
            <a:off x="8238744" y="914400"/>
            <a:ext cx="3657600" cy="987552"/>
          </a:xfrm>
          <a:prstGeom prst="roundRect">
            <a:avLst>
              <a:gd name="adj" fmla="val 7407"/>
            </a:avLst>
          </a:prstGeom>
          <a:solidFill>
            <a:srgbClr val="0D0D0D"/>
          </a:solidFill>
          <a:ln w="12700">
            <a:solidFill>
              <a:srgbClr val="FFFFFF"/>
            </a:solidFill>
            <a:prstDash val="solid"/>
          </a:ln>
        </p:spPr>
      </p:sp>
      <p:sp>
        <p:nvSpPr>
          <p:cNvPr id="13" name="Text 11"/>
          <p:cNvSpPr txBox="1"/>
          <p:nvPr/>
        </p:nvSpPr>
        <p:spPr>
          <a:xfrm>
            <a:off x="8348472" y="1005840"/>
            <a:ext cx="91440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NOMBRE</a:t>
            </a:r>
            <a:endParaRPr lang="en-US" sz="1400" dirty="0"/>
          </a:p>
        </p:txBody>
      </p:sp>
      <p:sp>
        <p:nvSpPr>
          <p:cNvPr id="14" name="Text 12"/>
          <p:cNvSpPr txBox="1"/>
          <p:nvPr/>
        </p:nvSpPr>
        <p:spPr>
          <a:xfrm>
            <a:off x="8348472" y="1417320"/>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Nombre de la actividad, hito o resumen (editable inline)</a:t>
            </a:r>
            <a:endParaRPr lang="en-US" sz="1000" dirty="0"/>
          </a:p>
        </p:txBody>
      </p:sp>
      <p:sp>
        <p:nvSpPr>
          <p:cNvPr id="15" name="Shape 13"/>
          <p:cNvSpPr/>
          <p:nvPr/>
        </p:nvSpPr>
        <p:spPr>
          <a:xfrm>
            <a:off x="411480" y="2029968"/>
            <a:ext cx="3657600" cy="987552"/>
          </a:xfrm>
          <a:prstGeom prst="roundRect">
            <a:avLst>
              <a:gd name="adj" fmla="val 7407"/>
            </a:avLst>
          </a:prstGeom>
          <a:solidFill>
            <a:srgbClr val="0D0D0D"/>
          </a:solidFill>
          <a:ln w="12700">
            <a:solidFill>
              <a:srgbClr val="A0A0A0"/>
            </a:solidFill>
            <a:prstDash val="solid"/>
          </a:ln>
        </p:spPr>
      </p:sp>
      <p:sp>
        <p:nvSpPr>
          <p:cNvPr id="16" name="Text 14"/>
          <p:cNvSpPr txBox="1"/>
          <p:nvPr/>
        </p:nvSpPr>
        <p:spPr>
          <a:xfrm>
            <a:off x="521208" y="2121408"/>
            <a:ext cx="914400" cy="365760"/>
          </a:xfrm>
          <a:prstGeom prst="rect">
            <a:avLst/>
          </a:prstGeom>
          <a:noFill/>
          <a:ln/>
        </p:spPr>
        <p:txBody>
          <a:bodyPr wrap="square" lIns="0" tIns="0" rIns="0" bIns="0" rtlCol="0" anchor="ctr"/>
          <a:lstStyle/>
          <a:p>
            <a:pPr indent="0" marL="0">
              <a:buNone/>
            </a:pPr>
            <a:r>
              <a:rPr lang="en-US" sz="1400" b="1" dirty="0">
                <a:solidFill>
                  <a:srgbClr val="A0A0A0"/>
                </a:solidFill>
                <a:latin typeface="Courier New" pitchFamily="34" charset="0"/>
                <a:ea typeface="Courier New" pitchFamily="34" charset="-122"/>
                <a:cs typeface="Courier New" pitchFamily="34" charset="-120"/>
              </a:rPr>
              <a:t>TIPO</a:t>
            </a:r>
            <a:endParaRPr lang="en-US" sz="1400" dirty="0"/>
          </a:p>
        </p:txBody>
      </p:sp>
      <p:sp>
        <p:nvSpPr>
          <p:cNvPr id="17" name="Text 15"/>
          <p:cNvSpPr txBox="1"/>
          <p:nvPr/>
        </p:nvSpPr>
        <p:spPr>
          <a:xfrm>
            <a:off x="521208" y="2532888"/>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Tarea / Hito / Resumen (calculado por estructura)</a:t>
            </a:r>
            <a:endParaRPr lang="en-US" sz="1000" dirty="0"/>
          </a:p>
        </p:txBody>
      </p:sp>
      <p:sp>
        <p:nvSpPr>
          <p:cNvPr id="18" name="Shape 16"/>
          <p:cNvSpPr/>
          <p:nvPr/>
        </p:nvSpPr>
        <p:spPr>
          <a:xfrm>
            <a:off x="4325112" y="2029968"/>
            <a:ext cx="3657600" cy="987552"/>
          </a:xfrm>
          <a:prstGeom prst="roundRect">
            <a:avLst>
              <a:gd name="adj" fmla="val 7407"/>
            </a:avLst>
          </a:prstGeom>
          <a:solidFill>
            <a:srgbClr val="0D0D0D"/>
          </a:solidFill>
          <a:ln w="12700">
            <a:solidFill>
              <a:srgbClr val="4AF6C3"/>
            </a:solidFill>
            <a:prstDash val="solid"/>
          </a:ln>
        </p:spPr>
      </p:sp>
      <p:sp>
        <p:nvSpPr>
          <p:cNvPr id="19" name="Text 17"/>
          <p:cNvSpPr txBox="1"/>
          <p:nvPr/>
        </p:nvSpPr>
        <p:spPr>
          <a:xfrm>
            <a:off x="4434840" y="2121408"/>
            <a:ext cx="914400" cy="365760"/>
          </a:xfrm>
          <a:prstGeom prst="rect">
            <a:avLst/>
          </a:prstGeom>
          <a:noFill/>
          <a:ln/>
        </p:spPr>
        <p:txBody>
          <a:bodyPr wrap="square" lIns="0" tIns="0" rIns="0" bIns="0" rtlCol="0" anchor="ctr"/>
          <a:lstStyle/>
          <a:p>
            <a:pPr indent="0" marL="0">
              <a:buNone/>
            </a:pPr>
            <a:r>
              <a:rPr lang="en-US" sz="1400" b="1" dirty="0">
                <a:solidFill>
                  <a:srgbClr val="4AF6C3"/>
                </a:solidFill>
                <a:latin typeface="Courier New" pitchFamily="34" charset="0"/>
                <a:ea typeface="Courier New" pitchFamily="34" charset="-122"/>
                <a:cs typeface="Courier New" pitchFamily="34" charset="-120"/>
              </a:rPr>
              <a:t>DUR</a:t>
            </a:r>
            <a:endParaRPr lang="en-US" sz="1400" dirty="0"/>
          </a:p>
        </p:txBody>
      </p:sp>
      <p:sp>
        <p:nvSpPr>
          <p:cNvPr id="20" name="Text 18"/>
          <p:cNvSpPr txBox="1"/>
          <p:nvPr/>
        </p:nvSpPr>
        <p:spPr>
          <a:xfrm>
            <a:off x="4434840" y="2532888"/>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Duración en días hábiles (editable, 0 para hitos)</a:t>
            </a:r>
            <a:endParaRPr lang="en-US" sz="1000" dirty="0"/>
          </a:p>
        </p:txBody>
      </p:sp>
      <p:sp>
        <p:nvSpPr>
          <p:cNvPr id="21" name="Shape 19"/>
          <p:cNvSpPr/>
          <p:nvPr/>
        </p:nvSpPr>
        <p:spPr>
          <a:xfrm>
            <a:off x="8238744" y="2029968"/>
            <a:ext cx="3657600" cy="987552"/>
          </a:xfrm>
          <a:prstGeom prst="roundRect">
            <a:avLst>
              <a:gd name="adj" fmla="val 7407"/>
            </a:avLst>
          </a:prstGeom>
          <a:solidFill>
            <a:srgbClr val="0D0D0D"/>
          </a:solidFill>
          <a:ln w="12700">
            <a:solidFill>
              <a:srgbClr val="4AF6C3"/>
            </a:solidFill>
            <a:prstDash val="solid"/>
          </a:ln>
        </p:spPr>
      </p:sp>
      <p:sp>
        <p:nvSpPr>
          <p:cNvPr id="22" name="Text 20"/>
          <p:cNvSpPr txBox="1"/>
          <p:nvPr/>
        </p:nvSpPr>
        <p:spPr>
          <a:xfrm>
            <a:off x="8348472" y="2121408"/>
            <a:ext cx="914400" cy="365760"/>
          </a:xfrm>
          <a:prstGeom prst="rect">
            <a:avLst/>
          </a:prstGeom>
          <a:noFill/>
          <a:ln/>
        </p:spPr>
        <p:txBody>
          <a:bodyPr wrap="square" lIns="0" tIns="0" rIns="0" bIns="0" rtlCol="0" anchor="ctr"/>
          <a:lstStyle/>
          <a:p>
            <a:pPr indent="0" marL="0">
              <a:buNone/>
            </a:pPr>
            <a:r>
              <a:rPr lang="en-US" sz="1400" b="1" dirty="0">
                <a:solidFill>
                  <a:srgbClr val="4AF6C3"/>
                </a:solidFill>
                <a:latin typeface="Courier New" pitchFamily="34" charset="0"/>
                <a:ea typeface="Courier New" pitchFamily="34" charset="-122"/>
                <a:cs typeface="Courier New" pitchFamily="34" charset="-120"/>
              </a:rPr>
              <a:t>INICIO</a:t>
            </a:r>
            <a:endParaRPr lang="en-US" sz="1400" dirty="0"/>
          </a:p>
        </p:txBody>
      </p:sp>
      <p:sp>
        <p:nvSpPr>
          <p:cNvPr id="23" name="Text 21"/>
          <p:cNvSpPr txBox="1"/>
          <p:nvPr/>
        </p:nvSpPr>
        <p:spPr>
          <a:xfrm>
            <a:off x="8348472" y="2532888"/>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Fecha ES calculada por CPM (editable si no es auto-calc)</a:t>
            </a:r>
            <a:endParaRPr lang="en-US" sz="1000" dirty="0"/>
          </a:p>
        </p:txBody>
      </p:sp>
      <p:sp>
        <p:nvSpPr>
          <p:cNvPr id="24" name="Shape 22"/>
          <p:cNvSpPr/>
          <p:nvPr/>
        </p:nvSpPr>
        <p:spPr>
          <a:xfrm>
            <a:off x="411480" y="3145536"/>
            <a:ext cx="3657600" cy="987552"/>
          </a:xfrm>
          <a:prstGeom prst="roundRect">
            <a:avLst>
              <a:gd name="adj" fmla="val 7407"/>
            </a:avLst>
          </a:prstGeom>
          <a:solidFill>
            <a:srgbClr val="0D0D0D"/>
          </a:solidFill>
          <a:ln w="12700">
            <a:solidFill>
              <a:srgbClr val="4AF6C3"/>
            </a:solidFill>
            <a:prstDash val="solid"/>
          </a:ln>
        </p:spPr>
      </p:sp>
      <p:sp>
        <p:nvSpPr>
          <p:cNvPr id="25" name="Text 23"/>
          <p:cNvSpPr txBox="1"/>
          <p:nvPr/>
        </p:nvSpPr>
        <p:spPr>
          <a:xfrm>
            <a:off x="521208" y="3236976"/>
            <a:ext cx="914400" cy="365760"/>
          </a:xfrm>
          <a:prstGeom prst="rect">
            <a:avLst/>
          </a:prstGeom>
          <a:noFill/>
          <a:ln/>
        </p:spPr>
        <p:txBody>
          <a:bodyPr wrap="square" lIns="0" tIns="0" rIns="0" bIns="0" rtlCol="0" anchor="ctr"/>
          <a:lstStyle/>
          <a:p>
            <a:pPr indent="0" marL="0">
              <a:buNone/>
            </a:pPr>
            <a:r>
              <a:rPr lang="en-US" sz="1400" b="1" dirty="0">
                <a:solidFill>
                  <a:srgbClr val="4AF6C3"/>
                </a:solidFill>
                <a:latin typeface="Courier New" pitchFamily="34" charset="0"/>
                <a:ea typeface="Courier New" pitchFamily="34" charset="-122"/>
                <a:cs typeface="Courier New" pitchFamily="34" charset="-120"/>
              </a:rPr>
              <a:t>FIN</a:t>
            </a:r>
            <a:endParaRPr lang="en-US" sz="1400" dirty="0"/>
          </a:p>
        </p:txBody>
      </p:sp>
      <p:sp>
        <p:nvSpPr>
          <p:cNvPr id="26" name="Text 24"/>
          <p:cNvSpPr txBox="1"/>
          <p:nvPr/>
        </p:nvSpPr>
        <p:spPr>
          <a:xfrm>
            <a:off x="521208" y="3648456"/>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Fecha EF calculada por CPM</a:t>
            </a:r>
            <a:endParaRPr lang="en-US" sz="1000" dirty="0"/>
          </a:p>
        </p:txBody>
      </p:sp>
      <p:sp>
        <p:nvSpPr>
          <p:cNvPr id="27" name="Shape 25"/>
          <p:cNvSpPr/>
          <p:nvPr/>
        </p:nvSpPr>
        <p:spPr>
          <a:xfrm>
            <a:off x="4325112" y="3145536"/>
            <a:ext cx="3657600" cy="987552"/>
          </a:xfrm>
          <a:prstGeom prst="roundRect">
            <a:avLst>
              <a:gd name="adj" fmla="val 7407"/>
            </a:avLst>
          </a:prstGeom>
          <a:solidFill>
            <a:srgbClr val="0D0D0D"/>
          </a:solidFill>
          <a:ln w="12700">
            <a:solidFill>
              <a:srgbClr val="198038"/>
            </a:solidFill>
            <a:prstDash val="solid"/>
          </a:ln>
        </p:spPr>
      </p:sp>
      <p:sp>
        <p:nvSpPr>
          <p:cNvPr id="28" name="Text 26"/>
          <p:cNvSpPr txBox="1"/>
          <p:nvPr/>
        </p:nvSpPr>
        <p:spPr>
          <a:xfrm>
            <a:off x="4434840" y="3236976"/>
            <a:ext cx="914400" cy="365760"/>
          </a:xfrm>
          <a:prstGeom prst="rect">
            <a:avLst/>
          </a:prstGeom>
          <a:noFill/>
          <a:ln/>
        </p:spPr>
        <p:txBody>
          <a:bodyPr wrap="square" lIns="0" tIns="0" rIns="0" bIns="0" rtlCol="0" anchor="ctr"/>
          <a:lstStyle/>
          <a:p>
            <a:pPr indent="0" marL="0">
              <a:buNone/>
            </a:pPr>
            <a:r>
              <a:rPr lang="en-US" sz="1400" b="1" dirty="0">
                <a:solidFill>
                  <a:srgbClr val="198038"/>
                </a:solidFill>
                <a:latin typeface="Courier New" pitchFamily="34" charset="0"/>
                <a:ea typeface="Courier New" pitchFamily="34" charset="-122"/>
                <a:cs typeface="Courier New" pitchFamily="34" charset="-120"/>
              </a:rPr>
              <a:t>%</a:t>
            </a:r>
            <a:endParaRPr lang="en-US" sz="1400" dirty="0"/>
          </a:p>
        </p:txBody>
      </p:sp>
      <p:sp>
        <p:nvSpPr>
          <p:cNvPr id="29" name="Text 27"/>
          <p:cNvSpPr txBox="1"/>
          <p:nvPr/>
        </p:nvSpPr>
        <p:spPr>
          <a:xfrm>
            <a:off x="4434840" y="3648456"/>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Porcentaje de avance 0-100% (editable)</a:t>
            </a:r>
            <a:endParaRPr lang="en-US" sz="1000" dirty="0"/>
          </a:p>
        </p:txBody>
      </p:sp>
      <p:sp>
        <p:nvSpPr>
          <p:cNvPr id="30" name="Shape 28"/>
          <p:cNvSpPr/>
          <p:nvPr/>
        </p:nvSpPr>
        <p:spPr>
          <a:xfrm>
            <a:off x="8238744" y="3145536"/>
            <a:ext cx="3657600" cy="987552"/>
          </a:xfrm>
          <a:prstGeom prst="roundRect">
            <a:avLst>
              <a:gd name="adj" fmla="val 7407"/>
            </a:avLst>
          </a:prstGeom>
          <a:solidFill>
            <a:srgbClr val="0D0D0D"/>
          </a:solidFill>
          <a:ln w="12700">
            <a:solidFill>
              <a:srgbClr val="FF433D"/>
            </a:solidFill>
            <a:prstDash val="solid"/>
          </a:ln>
        </p:spPr>
      </p:sp>
      <p:sp>
        <p:nvSpPr>
          <p:cNvPr id="31" name="Text 29"/>
          <p:cNvSpPr txBox="1"/>
          <p:nvPr/>
        </p:nvSpPr>
        <p:spPr>
          <a:xfrm>
            <a:off x="8348472" y="3236976"/>
            <a:ext cx="914400" cy="365760"/>
          </a:xfrm>
          <a:prstGeom prst="rect">
            <a:avLst/>
          </a:prstGeom>
          <a:noFill/>
          <a:ln/>
        </p:spPr>
        <p:txBody>
          <a:bodyPr wrap="square" lIns="0" tIns="0" rIns="0" bIns="0" rtlCol="0" anchor="ctr"/>
          <a:lstStyle/>
          <a:p>
            <a:pPr indent="0" marL="0">
              <a:buNone/>
            </a:pPr>
            <a:r>
              <a:rPr lang="en-US" sz="1400" b="1" dirty="0">
                <a:solidFill>
                  <a:srgbClr val="FF433D"/>
                </a:solidFill>
                <a:latin typeface="Courier New" pitchFamily="34" charset="0"/>
                <a:ea typeface="Courier New" pitchFamily="34" charset="-122"/>
                <a:cs typeface="Courier New" pitchFamily="34" charset="-120"/>
              </a:rPr>
              <a:t>HT</a:t>
            </a:r>
            <a:endParaRPr lang="en-US" sz="1400" dirty="0"/>
          </a:p>
        </p:txBody>
      </p:sp>
      <p:sp>
        <p:nvSpPr>
          <p:cNvPr id="32" name="Text 30"/>
          <p:cNvSpPr txBox="1"/>
          <p:nvPr/>
        </p:nvSpPr>
        <p:spPr>
          <a:xfrm>
            <a:off x="8348472" y="3648456"/>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Holgura Total en días. 0 = crítica (resaltado rojo)</a:t>
            </a:r>
            <a:endParaRPr lang="en-US" sz="1000" dirty="0"/>
          </a:p>
        </p:txBody>
      </p:sp>
      <p:sp>
        <p:nvSpPr>
          <p:cNvPr id="33" name="Shape 31"/>
          <p:cNvSpPr/>
          <p:nvPr/>
        </p:nvSpPr>
        <p:spPr>
          <a:xfrm>
            <a:off x="411480" y="4261104"/>
            <a:ext cx="3657600" cy="987552"/>
          </a:xfrm>
          <a:prstGeom prst="roundRect">
            <a:avLst>
              <a:gd name="adj" fmla="val 7407"/>
            </a:avLst>
          </a:prstGeom>
          <a:solidFill>
            <a:srgbClr val="0D0D0D"/>
          </a:solidFill>
          <a:ln w="12700">
            <a:solidFill>
              <a:srgbClr val="FF6B35"/>
            </a:solidFill>
            <a:prstDash val="solid"/>
          </a:ln>
        </p:spPr>
      </p:sp>
      <p:sp>
        <p:nvSpPr>
          <p:cNvPr id="34" name="Text 32"/>
          <p:cNvSpPr txBox="1"/>
          <p:nvPr/>
        </p:nvSpPr>
        <p:spPr>
          <a:xfrm>
            <a:off x="521208" y="4352544"/>
            <a:ext cx="914400" cy="365760"/>
          </a:xfrm>
          <a:prstGeom prst="rect">
            <a:avLst/>
          </a:prstGeom>
          <a:noFill/>
          <a:ln/>
        </p:spPr>
        <p:txBody>
          <a:bodyPr wrap="square" lIns="0" tIns="0" rIns="0" bIns="0" rtlCol="0" anchor="ctr"/>
          <a:lstStyle/>
          <a:p>
            <a:pPr indent="0" marL="0">
              <a:buNone/>
            </a:pPr>
            <a:r>
              <a:rPr lang="en-US" sz="1400" b="1" dirty="0">
                <a:solidFill>
                  <a:srgbClr val="FF6B35"/>
                </a:solidFill>
                <a:latin typeface="Courier New" pitchFamily="34" charset="0"/>
                <a:ea typeface="Courier New" pitchFamily="34" charset="-122"/>
                <a:cs typeface="Courier New" pitchFamily="34" charset="-120"/>
              </a:rPr>
              <a:t>HL</a:t>
            </a:r>
            <a:endParaRPr lang="en-US" sz="1400" dirty="0"/>
          </a:p>
        </p:txBody>
      </p:sp>
      <p:sp>
        <p:nvSpPr>
          <p:cNvPr id="35" name="Text 33"/>
          <p:cNvSpPr txBox="1"/>
          <p:nvPr/>
        </p:nvSpPr>
        <p:spPr>
          <a:xfrm>
            <a:off x="521208" y="4764024"/>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Holgura Libre en días</a:t>
            </a:r>
            <a:endParaRPr lang="en-US" sz="1000" dirty="0"/>
          </a:p>
        </p:txBody>
      </p:sp>
      <p:sp>
        <p:nvSpPr>
          <p:cNvPr id="36" name="Shape 34"/>
          <p:cNvSpPr/>
          <p:nvPr/>
        </p:nvSpPr>
        <p:spPr>
          <a:xfrm>
            <a:off x="4325112" y="4261104"/>
            <a:ext cx="3657600" cy="987552"/>
          </a:xfrm>
          <a:prstGeom prst="roundRect">
            <a:avLst>
              <a:gd name="adj" fmla="val 7407"/>
            </a:avLst>
          </a:prstGeom>
          <a:solidFill>
            <a:srgbClr val="0D0D0D"/>
          </a:solidFill>
          <a:ln w="12700">
            <a:solidFill>
              <a:srgbClr val="FFA028"/>
            </a:solidFill>
            <a:prstDash val="solid"/>
          </a:ln>
        </p:spPr>
      </p:sp>
      <p:sp>
        <p:nvSpPr>
          <p:cNvPr id="37" name="Text 35"/>
          <p:cNvSpPr txBox="1"/>
          <p:nvPr/>
        </p:nvSpPr>
        <p:spPr>
          <a:xfrm>
            <a:off x="4434840" y="4352544"/>
            <a:ext cx="914400" cy="365760"/>
          </a:xfrm>
          <a:prstGeom prst="rect">
            <a:avLst/>
          </a:prstGeom>
          <a:noFill/>
          <a:ln/>
        </p:spPr>
        <p:txBody>
          <a:bodyPr wrap="square" lIns="0" tIns="0" rIns="0" bIns="0" rtlCol="0" anchor="ctr"/>
          <a:lstStyle/>
          <a:p>
            <a:pPr indent="0" marL="0">
              <a:buNone/>
            </a:pPr>
            <a:r>
              <a:rPr lang="en-US" sz="1400" b="1" dirty="0">
                <a:solidFill>
                  <a:srgbClr val="FFA028"/>
                </a:solidFill>
                <a:latin typeface="Courier New" pitchFamily="34" charset="0"/>
                <a:ea typeface="Courier New" pitchFamily="34" charset="-122"/>
                <a:cs typeface="Courier New" pitchFamily="34" charset="-120"/>
              </a:rPr>
              <a:t>PRED.</a:t>
            </a:r>
            <a:endParaRPr lang="en-US" sz="1400" dirty="0"/>
          </a:p>
        </p:txBody>
      </p:sp>
      <p:sp>
        <p:nvSpPr>
          <p:cNvPr id="38" name="Text 36"/>
          <p:cNvSpPr txBox="1"/>
          <p:nvPr/>
        </p:nvSpPr>
        <p:spPr>
          <a:xfrm>
            <a:off x="4434840" y="4764024"/>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Predecesoras en formato: IDTipoLag (ej: 5FS+2, 3SS)</a:t>
            </a:r>
            <a:endParaRPr lang="en-US" sz="1000" dirty="0"/>
          </a:p>
        </p:txBody>
      </p:sp>
      <p:sp>
        <p:nvSpPr>
          <p:cNvPr id="39" name="Shape 37"/>
          <p:cNvSpPr/>
          <p:nvPr/>
        </p:nvSpPr>
        <p:spPr>
          <a:xfrm>
            <a:off x="8238744" y="4261104"/>
            <a:ext cx="3657600" cy="987552"/>
          </a:xfrm>
          <a:prstGeom prst="roundRect">
            <a:avLst>
              <a:gd name="adj" fmla="val 7407"/>
            </a:avLst>
          </a:prstGeom>
          <a:solidFill>
            <a:srgbClr val="0D0D0D"/>
          </a:solidFill>
          <a:ln w="12700">
            <a:solidFill>
              <a:srgbClr val="FF433D"/>
            </a:solidFill>
            <a:prstDash val="solid"/>
          </a:ln>
        </p:spPr>
      </p:sp>
      <p:sp>
        <p:nvSpPr>
          <p:cNvPr id="40" name="Text 38"/>
          <p:cNvSpPr txBox="1"/>
          <p:nvPr/>
        </p:nvSpPr>
        <p:spPr>
          <a:xfrm>
            <a:off x="8348472" y="4352544"/>
            <a:ext cx="914400" cy="365760"/>
          </a:xfrm>
          <a:prstGeom prst="rect">
            <a:avLst/>
          </a:prstGeom>
          <a:noFill/>
          <a:ln/>
        </p:spPr>
        <p:txBody>
          <a:bodyPr wrap="square" lIns="0" tIns="0" rIns="0" bIns="0" rtlCol="0" anchor="ctr"/>
          <a:lstStyle/>
          <a:p>
            <a:pPr indent="0" marL="0">
              <a:buNone/>
            </a:pPr>
            <a:r>
              <a:rPr lang="en-US" sz="1400" b="1" dirty="0">
                <a:solidFill>
                  <a:srgbClr val="FF433D"/>
                </a:solidFill>
                <a:latin typeface="Courier New" pitchFamily="34" charset="0"/>
                <a:ea typeface="Courier New" pitchFamily="34" charset="-122"/>
                <a:cs typeface="Courier New" pitchFamily="34" charset="-120"/>
              </a:rPr>
              <a:t>ALERTAS</a:t>
            </a:r>
            <a:endParaRPr lang="en-US" sz="1400" dirty="0"/>
          </a:p>
        </p:txBody>
      </p:sp>
      <p:sp>
        <p:nvSpPr>
          <p:cNvPr id="41" name="Text 39"/>
          <p:cNvSpPr txBox="1"/>
          <p:nvPr/>
        </p:nvSpPr>
        <p:spPr>
          <a:xfrm>
            <a:off x="8348472" y="4764024"/>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Códigos de advertencia CPM: ciclos, restricciones, etc.</a:t>
            </a:r>
            <a:endParaRPr lang="en-US" sz="1000" dirty="0"/>
          </a:p>
        </p:txBody>
      </p:sp>
      <p:sp>
        <p:nvSpPr>
          <p:cNvPr id="42" name="Shape 40"/>
          <p:cNvSpPr/>
          <p:nvPr/>
        </p:nvSpPr>
        <p:spPr>
          <a:xfrm>
            <a:off x="411480" y="5376672"/>
            <a:ext cx="3657600" cy="987552"/>
          </a:xfrm>
          <a:prstGeom prst="roundRect">
            <a:avLst>
              <a:gd name="adj" fmla="val 7407"/>
            </a:avLst>
          </a:prstGeom>
          <a:solidFill>
            <a:srgbClr val="0D0D0D"/>
          </a:solidFill>
          <a:ln w="12700">
            <a:solidFill>
              <a:srgbClr val="A0A0A0"/>
            </a:solidFill>
            <a:prstDash val="solid"/>
          </a:ln>
        </p:spPr>
      </p:sp>
      <p:sp>
        <p:nvSpPr>
          <p:cNvPr id="43" name="Text 41"/>
          <p:cNvSpPr txBox="1"/>
          <p:nvPr/>
        </p:nvSpPr>
        <p:spPr>
          <a:xfrm>
            <a:off x="521208" y="5468112"/>
            <a:ext cx="914400" cy="365760"/>
          </a:xfrm>
          <a:prstGeom prst="rect">
            <a:avLst/>
          </a:prstGeom>
          <a:noFill/>
          <a:ln/>
        </p:spPr>
        <p:txBody>
          <a:bodyPr wrap="square" lIns="0" tIns="0" rIns="0" bIns="0" rtlCol="0" anchor="ctr"/>
          <a:lstStyle/>
          <a:p>
            <a:pPr indent="0" marL="0">
              <a:buNone/>
            </a:pPr>
            <a:r>
              <a:rPr lang="en-US" sz="1400" b="1" dirty="0">
                <a:solidFill>
                  <a:srgbClr val="A0A0A0"/>
                </a:solidFill>
                <a:latin typeface="Courier New" pitchFamily="34" charset="0"/>
                <a:ea typeface="Courier New" pitchFamily="34" charset="-122"/>
                <a:cs typeface="Courier New" pitchFamily="34" charset="-120"/>
              </a:rPr>
              <a:t>ΔI</a:t>
            </a:r>
            <a:endParaRPr lang="en-US" sz="1400" dirty="0"/>
          </a:p>
        </p:txBody>
      </p:sp>
      <p:sp>
        <p:nvSpPr>
          <p:cNvPr id="44" name="Text 42"/>
          <p:cNvSpPr txBox="1"/>
          <p:nvPr/>
        </p:nvSpPr>
        <p:spPr>
          <a:xfrm>
            <a:off x="521208" y="5879592"/>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Variación de inicio vs línea base (solo con LB activa)</a:t>
            </a:r>
            <a:endParaRPr lang="en-US" sz="1000" dirty="0"/>
          </a:p>
        </p:txBody>
      </p:sp>
      <p:sp>
        <p:nvSpPr>
          <p:cNvPr id="45" name="Shape 43"/>
          <p:cNvSpPr/>
          <p:nvPr/>
        </p:nvSpPr>
        <p:spPr>
          <a:xfrm>
            <a:off x="4325112" y="5376672"/>
            <a:ext cx="3657600" cy="987552"/>
          </a:xfrm>
          <a:prstGeom prst="roundRect">
            <a:avLst>
              <a:gd name="adj" fmla="val 7407"/>
            </a:avLst>
          </a:prstGeom>
          <a:solidFill>
            <a:srgbClr val="0D0D0D"/>
          </a:solidFill>
          <a:ln w="12700">
            <a:solidFill>
              <a:srgbClr val="A0A0A0"/>
            </a:solidFill>
            <a:prstDash val="solid"/>
          </a:ln>
        </p:spPr>
      </p:sp>
      <p:sp>
        <p:nvSpPr>
          <p:cNvPr id="46" name="Text 44"/>
          <p:cNvSpPr txBox="1"/>
          <p:nvPr/>
        </p:nvSpPr>
        <p:spPr>
          <a:xfrm>
            <a:off x="4434840" y="5468112"/>
            <a:ext cx="914400" cy="365760"/>
          </a:xfrm>
          <a:prstGeom prst="rect">
            <a:avLst/>
          </a:prstGeom>
          <a:noFill/>
          <a:ln/>
        </p:spPr>
        <p:txBody>
          <a:bodyPr wrap="square" lIns="0" tIns="0" rIns="0" bIns="0" rtlCol="0" anchor="ctr"/>
          <a:lstStyle/>
          <a:p>
            <a:pPr indent="0" marL="0">
              <a:buNone/>
            </a:pPr>
            <a:r>
              <a:rPr lang="en-US" sz="1400" b="1" dirty="0">
                <a:solidFill>
                  <a:srgbClr val="A0A0A0"/>
                </a:solidFill>
                <a:latin typeface="Courier New" pitchFamily="34" charset="0"/>
                <a:ea typeface="Courier New" pitchFamily="34" charset="-122"/>
                <a:cs typeface="Courier New" pitchFamily="34" charset="-120"/>
              </a:rPr>
              <a:t>ΔF</a:t>
            </a:r>
            <a:endParaRPr lang="en-US" sz="1400" dirty="0"/>
          </a:p>
        </p:txBody>
      </p:sp>
      <p:sp>
        <p:nvSpPr>
          <p:cNvPr id="47" name="Text 45"/>
          <p:cNvSpPr txBox="1"/>
          <p:nvPr/>
        </p:nvSpPr>
        <p:spPr>
          <a:xfrm>
            <a:off x="4434840" y="5879592"/>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Variación de fin vs línea base (solo con LB activa)</a:t>
            </a:r>
            <a:endParaRPr lang="en-US" sz="1000" dirty="0"/>
          </a:p>
        </p:txBody>
      </p:sp>
      <p:sp>
        <p:nvSpPr>
          <p:cNvPr id="48" name="Shape 46"/>
          <p:cNvSpPr/>
          <p:nvPr/>
        </p:nvSpPr>
        <p:spPr>
          <a:xfrm>
            <a:off x="8238744" y="5376672"/>
            <a:ext cx="3657600" cy="987552"/>
          </a:xfrm>
          <a:prstGeom prst="roundRect">
            <a:avLst>
              <a:gd name="adj" fmla="val 7407"/>
            </a:avLst>
          </a:prstGeom>
          <a:solidFill>
            <a:srgbClr val="0D0D0D"/>
          </a:solidFill>
          <a:ln w="12700">
            <a:solidFill>
              <a:srgbClr val="A0A0A0"/>
            </a:solidFill>
            <a:prstDash val="solid"/>
          </a:ln>
        </p:spPr>
      </p:sp>
      <p:sp>
        <p:nvSpPr>
          <p:cNvPr id="49" name="Text 47"/>
          <p:cNvSpPr txBox="1"/>
          <p:nvPr/>
        </p:nvSpPr>
        <p:spPr>
          <a:xfrm>
            <a:off x="8348472" y="5468112"/>
            <a:ext cx="914400" cy="365760"/>
          </a:xfrm>
          <a:prstGeom prst="rect">
            <a:avLst/>
          </a:prstGeom>
          <a:noFill/>
          <a:ln/>
        </p:spPr>
        <p:txBody>
          <a:bodyPr wrap="square" lIns="0" tIns="0" rIns="0" bIns="0" rtlCol="0" anchor="ctr"/>
          <a:lstStyle/>
          <a:p>
            <a:pPr indent="0" marL="0">
              <a:buNone/>
            </a:pPr>
            <a:r>
              <a:rPr lang="en-US" sz="1400" b="1" dirty="0">
                <a:solidFill>
                  <a:srgbClr val="A0A0A0"/>
                </a:solidFill>
                <a:latin typeface="Courier New" pitchFamily="34" charset="0"/>
                <a:ea typeface="Courier New" pitchFamily="34" charset="-122"/>
                <a:cs typeface="Courier New" pitchFamily="34" charset="-120"/>
              </a:rPr>
              <a:t>ΔD</a:t>
            </a:r>
            <a:endParaRPr lang="en-US" sz="1400" dirty="0"/>
          </a:p>
        </p:txBody>
      </p:sp>
      <p:sp>
        <p:nvSpPr>
          <p:cNvPr id="50" name="Text 48"/>
          <p:cNvSpPr txBox="1"/>
          <p:nvPr/>
        </p:nvSpPr>
        <p:spPr>
          <a:xfrm>
            <a:off x="8348472" y="5879592"/>
            <a:ext cx="3429000" cy="402336"/>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Variación de duración vs línea base (solo con LB activa)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JERARQUÍA WBS: INDENTAR Y DESINDENTAR</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50292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La estructura jerárquica (WBS) se construye indentando tareas. Una tarea indentada se convierte en hija de la anterior, que automáticamente pasa a ser un Resumen.</a:t>
            </a:r>
            <a:endParaRPr lang="en-US" sz="1300" dirty="0"/>
          </a:p>
        </p:txBody>
      </p:sp>
      <p:sp>
        <p:nvSpPr>
          <p:cNvPr id="7" name="Shape 5"/>
          <p:cNvSpPr/>
          <p:nvPr/>
        </p:nvSpPr>
        <p:spPr>
          <a:xfrm>
            <a:off x="411480" y="1508760"/>
            <a:ext cx="11338560" cy="2011680"/>
          </a:xfrm>
          <a:prstGeom prst="roundRect">
            <a:avLst>
              <a:gd name="adj" fmla="val 3636"/>
            </a:avLst>
          </a:prstGeom>
          <a:solidFill>
            <a:srgbClr val="1A1A1A"/>
          </a:solidFill>
          <a:ln w="12700">
            <a:solidFill>
              <a:srgbClr val="FFA028"/>
            </a:solidFill>
            <a:prstDash val="solid"/>
          </a:ln>
        </p:spPr>
      </p:sp>
      <p:sp>
        <p:nvSpPr>
          <p:cNvPr id="8" name="Shape 6"/>
          <p:cNvSpPr/>
          <p:nvPr/>
        </p:nvSpPr>
        <p:spPr>
          <a:xfrm>
            <a:off x="411480" y="1508760"/>
            <a:ext cx="11338560" cy="64008"/>
          </a:xfrm>
          <a:prstGeom prst="rect">
            <a:avLst/>
          </a:prstGeom>
          <a:solidFill>
            <a:srgbClr val="FFA028"/>
          </a:solidFill>
          <a:ln w="12700">
            <a:solidFill>
              <a:srgbClr val="FFA028"/>
            </a:solidFill>
            <a:prstDash val="solid"/>
          </a:ln>
        </p:spPr>
      </p:sp>
      <p:sp>
        <p:nvSpPr>
          <p:cNvPr id="9" name="Text 7"/>
          <p:cNvSpPr txBox="1"/>
          <p:nvPr/>
        </p:nvSpPr>
        <p:spPr>
          <a:xfrm>
            <a:off x="594360" y="1645920"/>
            <a:ext cx="3200400" cy="475488"/>
          </a:xfrm>
          <a:prstGeom prst="rect">
            <a:avLst/>
          </a:prstGeom>
          <a:noFill/>
          <a:ln/>
        </p:spPr>
        <p:txBody>
          <a:bodyPr wrap="square" lIns="0" tIns="0" rIns="0" bIns="0" rtlCol="0" anchor="ctr"/>
          <a:lstStyle/>
          <a:p>
            <a:pPr indent="0" marL="0">
              <a:buNone/>
            </a:pPr>
            <a:r>
              <a:rPr lang="en-US" sz="2000" b="1" dirty="0">
                <a:solidFill>
                  <a:srgbClr val="FFA028"/>
                </a:solidFill>
                <a:latin typeface="Epilogue" pitchFamily="34" charset="0"/>
                <a:ea typeface="Epilogue" pitchFamily="34" charset="-122"/>
                <a:cs typeface="Epilogue" pitchFamily="34" charset="-120"/>
              </a:rPr>
              <a:t>→ Indentar</a:t>
            </a:r>
            <a:endParaRPr lang="en-US" sz="2000" dirty="0"/>
          </a:p>
        </p:txBody>
      </p:sp>
      <p:sp>
        <p:nvSpPr>
          <p:cNvPr id="10" name="Text 8"/>
          <p:cNvSpPr txBox="1"/>
          <p:nvPr/>
        </p:nvSpPr>
        <p:spPr>
          <a:xfrm>
            <a:off x="3840480" y="1673352"/>
            <a:ext cx="1645920" cy="411480"/>
          </a:xfrm>
          <a:prstGeom prst="rect">
            <a:avLst/>
          </a:prstGeom>
          <a:noFill/>
          <a:ln/>
        </p:spPr>
        <p:txBody>
          <a:bodyPr wrap="square" lIns="0" tIns="0" rIns="0" bIns="0" rtlCol="0" anchor="ctr"/>
          <a:lstStyle/>
          <a:p>
            <a:pPr indent="0" marL="0">
              <a:buNone/>
            </a:pPr>
            <a:r>
              <a:rPr lang="en-US" sz="1400" dirty="0">
                <a:solidFill>
                  <a:srgbClr val="FFA028"/>
                </a:solidFill>
                <a:latin typeface="Courier New" pitchFamily="34" charset="0"/>
                <a:ea typeface="Courier New" pitchFamily="34" charset="-122"/>
                <a:cs typeface="Courier New" pitchFamily="34" charset="-120"/>
              </a:rPr>
              <a:t>Tab</a:t>
            </a:r>
            <a:endParaRPr lang="en-US" sz="1400" dirty="0"/>
          </a:p>
        </p:txBody>
      </p:sp>
      <p:sp>
        <p:nvSpPr>
          <p:cNvPr id="11" name="Text 9"/>
          <p:cNvSpPr txBox="1"/>
          <p:nvPr/>
        </p:nvSpPr>
        <p:spPr>
          <a:xfrm>
            <a:off x="594360" y="2221992"/>
            <a:ext cx="10972800" cy="109728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Mueve la tarea un nivel hacia abajo (hija de la anterior). La tarea anterior se convierte en Resumen. El código WBS se actualiza automáticamente (ej: 3 → 2.1)</a:t>
            </a:r>
            <a:endParaRPr lang="en-US" sz="1300" dirty="0"/>
          </a:p>
        </p:txBody>
      </p:sp>
      <p:sp>
        <p:nvSpPr>
          <p:cNvPr id="12" name="Shape 10"/>
          <p:cNvSpPr/>
          <p:nvPr/>
        </p:nvSpPr>
        <p:spPr>
          <a:xfrm>
            <a:off x="411480" y="3794760"/>
            <a:ext cx="11338560" cy="2011680"/>
          </a:xfrm>
          <a:prstGeom prst="roundRect">
            <a:avLst>
              <a:gd name="adj" fmla="val 3636"/>
            </a:avLst>
          </a:prstGeom>
          <a:solidFill>
            <a:srgbClr val="1A1A1A"/>
          </a:solidFill>
          <a:ln w="12700">
            <a:solidFill>
              <a:srgbClr val="4AF6C3"/>
            </a:solidFill>
            <a:prstDash val="solid"/>
          </a:ln>
        </p:spPr>
      </p:sp>
      <p:sp>
        <p:nvSpPr>
          <p:cNvPr id="13" name="Shape 11"/>
          <p:cNvSpPr/>
          <p:nvPr/>
        </p:nvSpPr>
        <p:spPr>
          <a:xfrm>
            <a:off x="411480" y="3794760"/>
            <a:ext cx="11338560" cy="64008"/>
          </a:xfrm>
          <a:prstGeom prst="rect">
            <a:avLst/>
          </a:prstGeom>
          <a:solidFill>
            <a:srgbClr val="4AF6C3"/>
          </a:solidFill>
          <a:ln w="12700">
            <a:solidFill>
              <a:srgbClr val="4AF6C3"/>
            </a:solidFill>
            <a:prstDash val="solid"/>
          </a:ln>
        </p:spPr>
      </p:sp>
      <p:sp>
        <p:nvSpPr>
          <p:cNvPr id="14" name="Text 12"/>
          <p:cNvSpPr txBox="1"/>
          <p:nvPr/>
        </p:nvSpPr>
        <p:spPr>
          <a:xfrm>
            <a:off x="594360" y="3931920"/>
            <a:ext cx="3200400" cy="475488"/>
          </a:xfrm>
          <a:prstGeom prst="rect">
            <a:avLst/>
          </a:prstGeom>
          <a:noFill/>
          <a:ln/>
        </p:spPr>
        <p:txBody>
          <a:bodyPr wrap="square" lIns="0" tIns="0" rIns="0" bIns="0" rtlCol="0" anchor="ctr"/>
          <a:lstStyle/>
          <a:p>
            <a:pPr indent="0" marL="0">
              <a:buNone/>
            </a:pPr>
            <a:r>
              <a:rPr lang="en-US" sz="2000" b="1" dirty="0">
                <a:solidFill>
                  <a:srgbClr val="4AF6C3"/>
                </a:solidFill>
                <a:latin typeface="Epilogue" pitchFamily="34" charset="0"/>
                <a:ea typeface="Epilogue" pitchFamily="34" charset="-122"/>
                <a:cs typeface="Epilogue" pitchFamily="34" charset="-120"/>
              </a:rPr>
              <a:t>← Desindentar</a:t>
            </a:r>
            <a:endParaRPr lang="en-US" sz="2000" dirty="0"/>
          </a:p>
        </p:txBody>
      </p:sp>
      <p:sp>
        <p:nvSpPr>
          <p:cNvPr id="15" name="Text 13"/>
          <p:cNvSpPr txBox="1"/>
          <p:nvPr/>
        </p:nvSpPr>
        <p:spPr>
          <a:xfrm>
            <a:off x="3840480" y="3959352"/>
            <a:ext cx="1645920" cy="411480"/>
          </a:xfrm>
          <a:prstGeom prst="rect">
            <a:avLst/>
          </a:prstGeom>
          <a:noFill/>
          <a:ln/>
        </p:spPr>
        <p:txBody>
          <a:bodyPr wrap="square" lIns="0" tIns="0" rIns="0" bIns="0" rtlCol="0" anchor="ctr"/>
          <a:lstStyle/>
          <a:p>
            <a:pPr indent="0" marL="0">
              <a:buNone/>
            </a:pPr>
            <a:r>
              <a:rPr lang="en-US" sz="1400" dirty="0">
                <a:solidFill>
                  <a:srgbClr val="4AF6C3"/>
                </a:solidFill>
                <a:latin typeface="Courier New" pitchFamily="34" charset="0"/>
                <a:ea typeface="Courier New" pitchFamily="34" charset="-122"/>
                <a:cs typeface="Courier New" pitchFamily="34" charset="-120"/>
              </a:rPr>
              <a:t>Shift+Tab</a:t>
            </a:r>
            <a:endParaRPr lang="en-US" sz="1400" dirty="0"/>
          </a:p>
        </p:txBody>
      </p:sp>
      <p:sp>
        <p:nvSpPr>
          <p:cNvPr id="16" name="Text 14"/>
          <p:cNvSpPr txBox="1"/>
          <p:nvPr/>
        </p:nvSpPr>
        <p:spPr>
          <a:xfrm>
            <a:off x="594360" y="4507992"/>
            <a:ext cx="10972800" cy="109728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Mueve la tarea un nivel hacia arriba. Si la tarea era el último hijo, el padre puede dejar de ser Resumen. El código WBS se recalcula.</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05</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Diagrama de Gantt</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Lectura • Zoom • Colores • Navegación • Línea Base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CÓMO LEER EL DIAGRAMA GANTT</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Gantt es un canvas 2D que muestra visualmente el cronograma. Cada fila corresponde a una actividad en la tabla EDT:</a:t>
            </a:r>
            <a:endParaRPr lang="en-US" sz="1300" dirty="0"/>
          </a:p>
        </p:txBody>
      </p:sp>
      <p:sp>
        <p:nvSpPr>
          <p:cNvPr id="7" name="Shape 5"/>
          <p:cNvSpPr/>
          <p:nvPr/>
        </p:nvSpPr>
        <p:spPr>
          <a:xfrm>
            <a:off x="411480" y="1417320"/>
            <a:ext cx="384048" cy="384048"/>
          </a:xfrm>
          <a:prstGeom prst="roundRect">
            <a:avLst>
              <a:gd name="adj" fmla="val 50000"/>
            </a:avLst>
          </a:prstGeom>
          <a:solidFill>
            <a:srgbClr val="FFA028"/>
          </a:solidFill>
          <a:ln w="12700">
            <a:solidFill>
              <a:srgbClr val="FFA028"/>
            </a:solidFill>
            <a:prstDash val="solid"/>
          </a:ln>
        </p:spPr>
      </p:sp>
      <p:sp>
        <p:nvSpPr>
          <p:cNvPr id="8" name="Text 6"/>
          <p:cNvSpPr txBox="1"/>
          <p:nvPr/>
        </p:nvSpPr>
        <p:spPr>
          <a:xfrm>
            <a:off x="411480" y="1417320"/>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1</a:t>
            </a:r>
            <a:endParaRPr lang="en-US" sz="1500" dirty="0"/>
          </a:p>
        </p:txBody>
      </p:sp>
      <p:sp>
        <p:nvSpPr>
          <p:cNvPr id="9" name="Text 7"/>
          <p:cNvSpPr txBox="1"/>
          <p:nvPr/>
        </p:nvSpPr>
        <p:spPr>
          <a:xfrm>
            <a:off x="914400" y="1417320"/>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Posición horizontal de la barra</a:t>
            </a:r>
            <a:endParaRPr lang="en-US" sz="1300" dirty="0"/>
          </a:p>
        </p:txBody>
      </p:sp>
      <p:sp>
        <p:nvSpPr>
          <p:cNvPr id="10" name="Text 8"/>
          <p:cNvSpPr txBox="1"/>
          <p:nvPr/>
        </p:nvSpPr>
        <p:spPr>
          <a:xfrm>
            <a:off x="6126480" y="1417320"/>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Indica las fechas de inicio y fin (ES → EF)</a:t>
            </a:r>
            <a:endParaRPr lang="en-US" sz="1200" dirty="0"/>
          </a:p>
        </p:txBody>
      </p:sp>
      <p:sp>
        <p:nvSpPr>
          <p:cNvPr id="11" name="Shape 9"/>
          <p:cNvSpPr/>
          <p:nvPr/>
        </p:nvSpPr>
        <p:spPr>
          <a:xfrm>
            <a:off x="411480" y="2112264"/>
            <a:ext cx="384048" cy="384048"/>
          </a:xfrm>
          <a:prstGeom prst="roundRect">
            <a:avLst>
              <a:gd name="adj" fmla="val 50000"/>
            </a:avLst>
          </a:prstGeom>
          <a:solidFill>
            <a:srgbClr val="FFA028"/>
          </a:solidFill>
          <a:ln w="12700">
            <a:solidFill>
              <a:srgbClr val="FFA028"/>
            </a:solidFill>
            <a:prstDash val="solid"/>
          </a:ln>
        </p:spPr>
      </p:sp>
      <p:sp>
        <p:nvSpPr>
          <p:cNvPr id="12" name="Text 10"/>
          <p:cNvSpPr txBox="1"/>
          <p:nvPr/>
        </p:nvSpPr>
        <p:spPr>
          <a:xfrm>
            <a:off x="411480" y="2112264"/>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2</a:t>
            </a:r>
            <a:endParaRPr lang="en-US" sz="1500" dirty="0"/>
          </a:p>
        </p:txBody>
      </p:sp>
      <p:sp>
        <p:nvSpPr>
          <p:cNvPr id="13" name="Text 11"/>
          <p:cNvSpPr txBox="1"/>
          <p:nvPr/>
        </p:nvSpPr>
        <p:spPr>
          <a:xfrm>
            <a:off x="914400" y="2112264"/>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Longitud de la barra</a:t>
            </a:r>
            <a:endParaRPr lang="en-US" sz="1300" dirty="0"/>
          </a:p>
        </p:txBody>
      </p:sp>
      <p:sp>
        <p:nvSpPr>
          <p:cNvPr id="14" name="Text 12"/>
          <p:cNvSpPr txBox="1"/>
          <p:nvPr/>
        </p:nvSpPr>
        <p:spPr>
          <a:xfrm>
            <a:off x="6126480" y="2112264"/>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Representa la duración en días hábiles</a:t>
            </a:r>
            <a:endParaRPr lang="en-US" sz="1200" dirty="0"/>
          </a:p>
        </p:txBody>
      </p:sp>
      <p:sp>
        <p:nvSpPr>
          <p:cNvPr id="15" name="Shape 13"/>
          <p:cNvSpPr/>
          <p:nvPr/>
        </p:nvSpPr>
        <p:spPr>
          <a:xfrm>
            <a:off x="411480" y="2807208"/>
            <a:ext cx="384048" cy="384048"/>
          </a:xfrm>
          <a:prstGeom prst="roundRect">
            <a:avLst>
              <a:gd name="adj" fmla="val 50000"/>
            </a:avLst>
          </a:prstGeom>
          <a:solidFill>
            <a:srgbClr val="FFA028"/>
          </a:solidFill>
          <a:ln w="12700">
            <a:solidFill>
              <a:srgbClr val="FFA028"/>
            </a:solidFill>
            <a:prstDash val="solid"/>
          </a:ln>
        </p:spPr>
      </p:sp>
      <p:sp>
        <p:nvSpPr>
          <p:cNvPr id="16" name="Text 14"/>
          <p:cNvSpPr txBox="1"/>
          <p:nvPr/>
        </p:nvSpPr>
        <p:spPr>
          <a:xfrm>
            <a:off x="411480" y="2807208"/>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3</a:t>
            </a:r>
            <a:endParaRPr lang="en-US" sz="1500" dirty="0"/>
          </a:p>
        </p:txBody>
      </p:sp>
      <p:sp>
        <p:nvSpPr>
          <p:cNvPr id="17" name="Text 15"/>
          <p:cNvSpPr txBox="1"/>
          <p:nvPr/>
        </p:nvSpPr>
        <p:spPr>
          <a:xfrm>
            <a:off x="914400" y="2807208"/>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Color de la barra</a:t>
            </a:r>
            <a:endParaRPr lang="en-US" sz="1300" dirty="0"/>
          </a:p>
        </p:txBody>
      </p:sp>
      <p:sp>
        <p:nvSpPr>
          <p:cNvPr id="18" name="Text 16"/>
          <p:cNvSpPr txBox="1"/>
          <p:nvPr/>
        </p:nvSpPr>
        <p:spPr>
          <a:xfrm>
            <a:off x="6126480" y="2807208"/>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Indica el estado: crítica, near-critical, completada (ver leyenda)</a:t>
            </a:r>
            <a:endParaRPr lang="en-US" sz="1200" dirty="0"/>
          </a:p>
        </p:txBody>
      </p:sp>
      <p:sp>
        <p:nvSpPr>
          <p:cNvPr id="19" name="Shape 17"/>
          <p:cNvSpPr/>
          <p:nvPr/>
        </p:nvSpPr>
        <p:spPr>
          <a:xfrm>
            <a:off x="411480" y="3502152"/>
            <a:ext cx="384048" cy="384048"/>
          </a:xfrm>
          <a:prstGeom prst="roundRect">
            <a:avLst>
              <a:gd name="adj" fmla="val 50000"/>
            </a:avLst>
          </a:prstGeom>
          <a:solidFill>
            <a:srgbClr val="FFA028"/>
          </a:solidFill>
          <a:ln w="12700">
            <a:solidFill>
              <a:srgbClr val="FFA028"/>
            </a:solidFill>
            <a:prstDash val="solid"/>
          </a:ln>
        </p:spPr>
      </p:sp>
      <p:sp>
        <p:nvSpPr>
          <p:cNvPr id="20" name="Text 18"/>
          <p:cNvSpPr txBox="1"/>
          <p:nvPr/>
        </p:nvSpPr>
        <p:spPr>
          <a:xfrm>
            <a:off x="411480" y="3502152"/>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4</a:t>
            </a:r>
            <a:endParaRPr lang="en-US" sz="1500" dirty="0"/>
          </a:p>
        </p:txBody>
      </p:sp>
      <p:sp>
        <p:nvSpPr>
          <p:cNvPr id="21" name="Text 19"/>
          <p:cNvSpPr txBox="1"/>
          <p:nvPr/>
        </p:nvSpPr>
        <p:spPr>
          <a:xfrm>
            <a:off x="914400" y="3502152"/>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Texto sobre la barra</a:t>
            </a:r>
            <a:endParaRPr lang="en-US" sz="1300" dirty="0"/>
          </a:p>
        </p:txBody>
      </p:sp>
      <p:sp>
        <p:nvSpPr>
          <p:cNvPr id="22" name="Text 20"/>
          <p:cNvSpPr txBox="1"/>
          <p:nvPr/>
        </p:nvSpPr>
        <p:spPr>
          <a:xfrm>
            <a:off x="6126480" y="3502152"/>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Etiquetas opcionales: nombre, %, duración, fechas, HT</a:t>
            </a:r>
            <a:endParaRPr lang="en-US" sz="1200" dirty="0"/>
          </a:p>
        </p:txBody>
      </p:sp>
      <p:sp>
        <p:nvSpPr>
          <p:cNvPr id="23" name="Shape 21"/>
          <p:cNvSpPr/>
          <p:nvPr/>
        </p:nvSpPr>
        <p:spPr>
          <a:xfrm>
            <a:off x="411480" y="4197096"/>
            <a:ext cx="384048" cy="384048"/>
          </a:xfrm>
          <a:prstGeom prst="roundRect">
            <a:avLst>
              <a:gd name="adj" fmla="val 50000"/>
            </a:avLst>
          </a:prstGeom>
          <a:solidFill>
            <a:srgbClr val="FFA028"/>
          </a:solidFill>
          <a:ln w="12700">
            <a:solidFill>
              <a:srgbClr val="FFA028"/>
            </a:solidFill>
            <a:prstDash val="solid"/>
          </a:ln>
        </p:spPr>
      </p:sp>
      <p:sp>
        <p:nvSpPr>
          <p:cNvPr id="24" name="Text 22"/>
          <p:cNvSpPr txBox="1"/>
          <p:nvPr/>
        </p:nvSpPr>
        <p:spPr>
          <a:xfrm>
            <a:off x="411480" y="4197096"/>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5</a:t>
            </a:r>
            <a:endParaRPr lang="en-US" sz="1500" dirty="0"/>
          </a:p>
        </p:txBody>
      </p:sp>
      <p:sp>
        <p:nvSpPr>
          <p:cNvPr id="25" name="Text 23"/>
          <p:cNvSpPr txBox="1"/>
          <p:nvPr/>
        </p:nvSpPr>
        <p:spPr>
          <a:xfrm>
            <a:off x="914400" y="4197096"/>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Flechas entre barras</a:t>
            </a:r>
            <a:endParaRPr lang="en-US" sz="1300" dirty="0"/>
          </a:p>
        </p:txBody>
      </p:sp>
      <p:sp>
        <p:nvSpPr>
          <p:cNvPr id="26" name="Text 24"/>
          <p:cNvSpPr txBox="1"/>
          <p:nvPr/>
        </p:nvSpPr>
        <p:spPr>
          <a:xfrm>
            <a:off x="6126480" y="4197096"/>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Representan las dependencias lógicas entre actividades</a:t>
            </a:r>
            <a:endParaRPr lang="en-US" sz="1200" dirty="0"/>
          </a:p>
        </p:txBody>
      </p:sp>
      <p:sp>
        <p:nvSpPr>
          <p:cNvPr id="27" name="Shape 25"/>
          <p:cNvSpPr/>
          <p:nvPr/>
        </p:nvSpPr>
        <p:spPr>
          <a:xfrm>
            <a:off x="411480" y="4892040"/>
            <a:ext cx="384048" cy="384048"/>
          </a:xfrm>
          <a:prstGeom prst="roundRect">
            <a:avLst>
              <a:gd name="adj" fmla="val 50000"/>
            </a:avLst>
          </a:prstGeom>
          <a:solidFill>
            <a:srgbClr val="FFA028"/>
          </a:solidFill>
          <a:ln w="12700">
            <a:solidFill>
              <a:srgbClr val="FFA028"/>
            </a:solidFill>
            <a:prstDash val="solid"/>
          </a:ln>
        </p:spPr>
      </p:sp>
      <p:sp>
        <p:nvSpPr>
          <p:cNvPr id="28" name="Text 26"/>
          <p:cNvSpPr txBox="1"/>
          <p:nvPr/>
        </p:nvSpPr>
        <p:spPr>
          <a:xfrm>
            <a:off x="411480" y="4892040"/>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6</a:t>
            </a:r>
            <a:endParaRPr lang="en-US" sz="1500" dirty="0"/>
          </a:p>
        </p:txBody>
      </p:sp>
      <p:sp>
        <p:nvSpPr>
          <p:cNvPr id="29" name="Text 27"/>
          <p:cNvSpPr txBox="1"/>
          <p:nvPr/>
        </p:nvSpPr>
        <p:spPr>
          <a:xfrm>
            <a:off x="914400" y="4892040"/>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Barra delgada inferior</a:t>
            </a:r>
            <a:endParaRPr lang="en-US" sz="1300" dirty="0"/>
          </a:p>
        </p:txBody>
      </p:sp>
      <p:sp>
        <p:nvSpPr>
          <p:cNvPr id="30" name="Text 28"/>
          <p:cNvSpPr txBox="1"/>
          <p:nvPr/>
        </p:nvSpPr>
        <p:spPr>
          <a:xfrm>
            <a:off x="6126480" y="4892040"/>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Barra de línea base: fechas del cronograma aprobado</a:t>
            </a:r>
            <a:endParaRPr lang="en-US" sz="1200" dirty="0"/>
          </a:p>
        </p:txBody>
      </p:sp>
      <p:sp>
        <p:nvSpPr>
          <p:cNvPr id="31" name="Shape 29"/>
          <p:cNvSpPr/>
          <p:nvPr/>
        </p:nvSpPr>
        <p:spPr>
          <a:xfrm>
            <a:off x="411480" y="5586984"/>
            <a:ext cx="384048" cy="384048"/>
          </a:xfrm>
          <a:prstGeom prst="roundRect">
            <a:avLst>
              <a:gd name="adj" fmla="val 50000"/>
            </a:avLst>
          </a:prstGeom>
          <a:solidFill>
            <a:srgbClr val="FFA028"/>
          </a:solidFill>
          <a:ln w="12700">
            <a:solidFill>
              <a:srgbClr val="FFA028"/>
            </a:solidFill>
            <a:prstDash val="solid"/>
          </a:ln>
        </p:spPr>
      </p:sp>
      <p:sp>
        <p:nvSpPr>
          <p:cNvPr id="32" name="Text 30"/>
          <p:cNvSpPr txBox="1"/>
          <p:nvPr/>
        </p:nvSpPr>
        <p:spPr>
          <a:xfrm>
            <a:off x="411480" y="5586984"/>
            <a:ext cx="384048" cy="384048"/>
          </a:xfrm>
          <a:prstGeom prst="rect">
            <a:avLst/>
          </a:prstGeom>
          <a:noFill/>
          <a:ln/>
        </p:spPr>
        <p:txBody>
          <a:bodyPr wrap="square" lIns="0" tIns="0" rIns="0" bIns="0" rtlCol="0" anchor="ctr"/>
          <a:lstStyle/>
          <a:p>
            <a:pPr algn="ctr" indent="0" marL="0">
              <a:buNone/>
            </a:pPr>
            <a:r>
              <a:rPr lang="en-US" sz="1500" b="1" dirty="0">
                <a:solidFill>
                  <a:srgbClr val="000000"/>
                </a:solidFill>
                <a:latin typeface="Epilogue" pitchFamily="34" charset="0"/>
                <a:ea typeface="Epilogue" pitchFamily="34" charset="-122"/>
                <a:cs typeface="Epilogue" pitchFamily="34" charset="-120"/>
              </a:rPr>
              <a:t>7</a:t>
            </a:r>
            <a:endParaRPr lang="en-US" sz="1500" dirty="0"/>
          </a:p>
        </p:txBody>
      </p:sp>
      <p:sp>
        <p:nvSpPr>
          <p:cNvPr id="33" name="Text 31"/>
          <p:cNvSpPr txBox="1"/>
          <p:nvPr/>
        </p:nvSpPr>
        <p:spPr>
          <a:xfrm>
            <a:off x="914400" y="5586984"/>
            <a:ext cx="5029200" cy="384048"/>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Línea vertical roja</a:t>
            </a:r>
            <a:endParaRPr lang="en-US" sz="1300" dirty="0"/>
          </a:p>
        </p:txBody>
      </p:sp>
      <p:sp>
        <p:nvSpPr>
          <p:cNvPr id="34" name="Text 32"/>
          <p:cNvSpPr txBox="1"/>
          <p:nvPr/>
        </p:nvSpPr>
        <p:spPr>
          <a:xfrm>
            <a:off x="6126480" y="5586984"/>
            <a:ext cx="5669280" cy="38404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Data Date: fecha de estado actual para cálculos EVM</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ZOOM Y NAVEGACIÓN DEL GANTT</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719072"/>
          </a:xfrm>
          <a:prstGeom prst="roundRect">
            <a:avLst>
              <a:gd name="adj" fmla="val 4255"/>
            </a:avLst>
          </a:prstGeom>
          <a:solidFill>
            <a:srgbClr val="1A1A1A"/>
          </a:solidFill>
          <a:ln w="12700">
            <a:solidFill>
              <a:srgbClr val="FFA028"/>
            </a:solidFill>
            <a:prstDash val="solid"/>
          </a:ln>
        </p:spPr>
      </p:sp>
      <p:sp>
        <p:nvSpPr>
          <p:cNvPr id="7" name="Shape 5"/>
          <p:cNvSpPr/>
          <p:nvPr/>
        </p:nvSpPr>
        <p:spPr>
          <a:xfrm>
            <a:off x="411480" y="914400"/>
            <a:ext cx="5486400" cy="64008"/>
          </a:xfrm>
          <a:prstGeom prst="rect">
            <a:avLst/>
          </a:prstGeom>
          <a:solidFill>
            <a:srgbClr val="FFA028"/>
          </a:solidFill>
          <a:ln w="12700">
            <a:solidFill>
              <a:srgbClr val="FFA028"/>
            </a:solidFill>
            <a:prstDash val="solid"/>
          </a:ln>
        </p:spPr>
      </p:sp>
      <p:sp>
        <p:nvSpPr>
          <p:cNvPr id="8" name="Text 6"/>
          <p:cNvSpPr txBox="1"/>
          <p:nvPr/>
        </p:nvSpPr>
        <p:spPr>
          <a:xfrm>
            <a:off x="548640" y="1078992"/>
            <a:ext cx="5212080" cy="411480"/>
          </a:xfrm>
          <a:prstGeom prst="rect">
            <a:avLst/>
          </a:prstGeom>
          <a:noFill/>
          <a:ln/>
        </p:spPr>
        <p:txBody>
          <a:bodyPr wrap="square" lIns="0" tIns="0" rIns="0" bIns="0" rtlCol="0" anchor="ctr"/>
          <a:lstStyle/>
          <a:p>
            <a:pPr indent="0" marL="0">
              <a:buNone/>
            </a:pPr>
            <a:r>
              <a:rPr lang="en-US" sz="1600" b="1" dirty="0">
                <a:solidFill>
                  <a:srgbClr val="FFA028"/>
                </a:solidFill>
                <a:latin typeface="Epilogue" pitchFamily="34" charset="0"/>
                <a:ea typeface="Epilogue" pitchFamily="34" charset="-122"/>
                <a:cs typeface="Epilogue" pitchFamily="34" charset="-120"/>
              </a:rPr>
              <a:t>Zoom In (+)</a:t>
            </a:r>
            <a:endParaRPr lang="en-US" sz="1600" dirty="0"/>
          </a:p>
        </p:txBody>
      </p:sp>
      <p:sp>
        <p:nvSpPr>
          <p:cNvPr id="9" name="Text 7"/>
          <p:cNvSpPr txBox="1"/>
          <p:nvPr/>
        </p:nvSpPr>
        <p:spPr>
          <a:xfrm>
            <a:off x="548640" y="1572768"/>
            <a:ext cx="5212080" cy="9144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Aumenta la escala: días → semanas → meses. Las barras se hacen más anchas y el detalle aumenta.</a:t>
            </a:r>
            <a:endParaRPr lang="en-US" sz="1200" dirty="0"/>
          </a:p>
        </p:txBody>
      </p:sp>
      <p:sp>
        <p:nvSpPr>
          <p:cNvPr id="10" name="Shape 8"/>
          <p:cNvSpPr/>
          <p:nvPr/>
        </p:nvSpPr>
        <p:spPr>
          <a:xfrm>
            <a:off x="6263640" y="914400"/>
            <a:ext cx="5486400" cy="1719072"/>
          </a:xfrm>
          <a:prstGeom prst="roundRect">
            <a:avLst>
              <a:gd name="adj" fmla="val 4255"/>
            </a:avLst>
          </a:prstGeom>
          <a:solidFill>
            <a:srgbClr val="1A1A1A"/>
          </a:solidFill>
          <a:ln w="12700">
            <a:solidFill>
              <a:srgbClr val="FFA028"/>
            </a:solidFill>
            <a:prstDash val="solid"/>
          </a:ln>
        </p:spPr>
      </p:sp>
      <p:sp>
        <p:nvSpPr>
          <p:cNvPr id="11" name="Shape 9"/>
          <p:cNvSpPr/>
          <p:nvPr/>
        </p:nvSpPr>
        <p:spPr>
          <a:xfrm>
            <a:off x="6263640" y="914400"/>
            <a:ext cx="5486400" cy="64008"/>
          </a:xfrm>
          <a:prstGeom prst="rect">
            <a:avLst/>
          </a:prstGeom>
          <a:solidFill>
            <a:srgbClr val="FFA028"/>
          </a:solidFill>
          <a:ln w="12700">
            <a:solidFill>
              <a:srgbClr val="FFA028"/>
            </a:solidFill>
            <a:prstDash val="solid"/>
          </a:ln>
        </p:spPr>
      </p:sp>
      <p:sp>
        <p:nvSpPr>
          <p:cNvPr id="12" name="Text 10"/>
          <p:cNvSpPr txBox="1"/>
          <p:nvPr/>
        </p:nvSpPr>
        <p:spPr>
          <a:xfrm>
            <a:off x="6400800" y="1078992"/>
            <a:ext cx="5212080" cy="411480"/>
          </a:xfrm>
          <a:prstGeom prst="rect">
            <a:avLst/>
          </a:prstGeom>
          <a:noFill/>
          <a:ln/>
        </p:spPr>
        <p:txBody>
          <a:bodyPr wrap="square" lIns="0" tIns="0" rIns="0" bIns="0" rtlCol="0" anchor="ctr"/>
          <a:lstStyle/>
          <a:p>
            <a:pPr indent="0" marL="0">
              <a:buNone/>
            </a:pPr>
            <a:r>
              <a:rPr lang="en-US" sz="1600" b="1" dirty="0">
                <a:solidFill>
                  <a:srgbClr val="FFA028"/>
                </a:solidFill>
                <a:latin typeface="Epilogue" pitchFamily="34" charset="0"/>
                <a:ea typeface="Epilogue" pitchFamily="34" charset="-122"/>
                <a:cs typeface="Epilogue" pitchFamily="34" charset="-120"/>
              </a:rPr>
              <a:t>Zoom Out (−)</a:t>
            </a:r>
            <a:endParaRPr lang="en-US" sz="1600" dirty="0"/>
          </a:p>
        </p:txBody>
      </p:sp>
      <p:sp>
        <p:nvSpPr>
          <p:cNvPr id="13" name="Text 11"/>
          <p:cNvSpPr txBox="1"/>
          <p:nvPr/>
        </p:nvSpPr>
        <p:spPr>
          <a:xfrm>
            <a:off x="6400800" y="1572768"/>
            <a:ext cx="5212080" cy="9144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Reduce la escala para ver más del proyecto en pantalla. Útil para proyectos largos.</a:t>
            </a:r>
            <a:endParaRPr lang="en-US" sz="1200" dirty="0"/>
          </a:p>
        </p:txBody>
      </p:sp>
      <p:sp>
        <p:nvSpPr>
          <p:cNvPr id="14" name="Shape 12"/>
          <p:cNvSpPr/>
          <p:nvPr/>
        </p:nvSpPr>
        <p:spPr>
          <a:xfrm>
            <a:off x="411480" y="2788920"/>
            <a:ext cx="5486400" cy="1719072"/>
          </a:xfrm>
          <a:prstGeom prst="roundRect">
            <a:avLst>
              <a:gd name="adj" fmla="val 4255"/>
            </a:avLst>
          </a:prstGeom>
          <a:solidFill>
            <a:srgbClr val="1A1A1A"/>
          </a:solidFill>
          <a:ln w="12700">
            <a:solidFill>
              <a:srgbClr val="4AF6C3"/>
            </a:solidFill>
            <a:prstDash val="solid"/>
          </a:ln>
        </p:spPr>
      </p:sp>
      <p:sp>
        <p:nvSpPr>
          <p:cNvPr id="15" name="Shape 13"/>
          <p:cNvSpPr/>
          <p:nvPr/>
        </p:nvSpPr>
        <p:spPr>
          <a:xfrm>
            <a:off x="411480" y="2788920"/>
            <a:ext cx="5486400" cy="64008"/>
          </a:xfrm>
          <a:prstGeom prst="rect">
            <a:avLst/>
          </a:prstGeom>
          <a:solidFill>
            <a:srgbClr val="4AF6C3"/>
          </a:solidFill>
          <a:ln w="12700">
            <a:solidFill>
              <a:srgbClr val="4AF6C3"/>
            </a:solidFill>
            <a:prstDash val="solid"/>
          </a:ln>
        </p:spPr>
      </p:sp>
      <p:sp>
        <p:nvSpPr>
          <p:cNvPr id="16" name="Text 14"/>
          <p:cNvSpPr txBox="1"/>
          <p:nvPr/>
        </p:nvSpPr>
        <p:spPr>
          <a:xfrm>
            <a:off x="548640" y="2953512"/>
            <a:ext cx="5212080" cy="411480"/>
          </a:xfrm>
          <a:prstGeom prst="rect">
            <a:avLst/>
          </a:prstGeom>
          <a:noFill/>
          <a:ln/>
        </p:spPr>
        <p:txBody>
          <a:bodyPr wrap="square" lIns="0" tIns="0" rIns="0" bIns="0" rtlCol="0" anchor="ctr"/>
          <a:lstStyle/>
          <a:p>
            <a:pPr indent="0" marL="0">
              <a:buNone/>
            </a:pPr>
            <a:r>
              <a:rPr lang="en-US" sz="1600" b="1" dirty="0">
                <a:solidFill>
                  <a:srgbClr val="4AF6C3"/>
                </a:solidFill>
                <a:latin typeface="Epilogue" pitchFamily="34" charset="0"/>
                <a:ea typeface="Epilogue" pitchFamily="34" charset="-122"/>
                <a:cs typeface="Epilogue" pitchFamily="34" charset="-120"/>
              </a:rPr>
              <a:t>Ajustar (⤢)</a:t>
            </a:r>
            <a:endParaRPr lang="en-US" sz="1600" dirty="0"/>
          </a:p>
        </p:txBody>
      </p:sp>
      <p:sp>
        <p:nvSpPr>
          <p:cNvPr id="17" name="Text 15"/>
          <p:cNvSpPr txBox="1"/>
          <p:nvPr/>
        </p:nvSpPr>
        <p:spPr>
          <a:xfrm>
            <a:off x="548640" y="3447288"/>
            <a:ext cx="5212080" cy="9144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Calcula automáticamente el zoom ideal para que todo el proyecto quede visible en pantalla.</a:t>
            </a:r>
            <a:endParaRPr lang="en-US" sz="1200" dirty="0"/>
          </a:p>
        </p:txBody>
      </p:sp>
      <p:sp>
        <p:nvSpPr>
          <p:cNvPr id="18" name="Shape 16"/>
          <p:cNvSpPr/>
          <p:nvPr/>
        </p:nvSpPr>
        <p:spPr>
          <a:xfrm>
            <a:off x="6263640" y="2788920"/>
            <a:ext cx="5486400" cy="1719072"/>
          </a:xfrm>
          <a:prstGeom prst="roundRect">
            <a:avLst>
              <a:gd name="adj" fmla="val 4255"/>
            </a:avLst>
          </a:prstGeom>
          <a:solidFill>
            <a:srgbClr val="1A1A1A"/>
          </a:solidFill>
          <a:ln w="12700">
            <a:solidFill>
              <a:srgbClr val="A0A0A0"/>
            </a:solidFill>
            <a:prstDash val="solid"/>
          </a:ln>
        </p:spPr>
      </p:sp>
      <p:sp>
        <p:nvSpPr>
          <p:cNvPr id="19" name="Shape 17"/>
          <p:cNvSpPr/>
          <p:nvPr/>
        </p:nvSpPr>
        <p:spPr>
          <a:xfrm>
            <a:off x="6263640" y="2788920"/>
            <a:ext cx="5486400" cy="64008"/>
          </a:xfrm>
          <a:prstGeom prst="rect">
            <a:avLst/>
          </a:prstGeom>
          <a:solidFill>
            <a:srgbClr val="A0A0A0"/>
          </a:solidFill>
          <a:ln w="12700">
            <a:solidFill>
              <a:srgbClr val="A0A0A0"/>
            </a:solidFill>
            <a:prstDash val="solid"/>
          </a:ln>
        </p:spPr>
      </p:sp>
      <p:sp>
        <p:nvSpPr>
          <p:cNvPr id="20" name="Text 18"/>
          <p:cNvSpPr txBox="1"/>
          <p:nvPr/>
        </p:nvSpPr>
        <p:spPr>
          <a:xfrm>
            <a:off x="6400800" y="2953512"/>
            <a:ext cx="5212080" cy="411480"/>
          </a:xfrm>
          <a:prstGeom prst="rect">
            <a:avLst/>
          </a:prstGeom>
          <a:noFill/>
          <a:ln/>
        </p:spPr>
        <p:txBody>
          <a:bodyPr wrap="square" lIns="0" tIns="0" rIns="0" bIns="0" rtlCol="0" anchor="ctr"/>
          <a:lstStyle/>
          <a:p>
            <a:pPr indent="0" marL="0">
              <a:buNone/>
            </a:pPr>
            <a:r>
              <a:rPr lang="en-US" sz="1600" b="1" dirty="0">
                <a:solidFill>
                  <a:srgbClr val="A0A0A0"/>
                </a:solidFill>
                <a:latin typeface="Epilogue" pitchFamily="34" charset="0"/>
                <a:ea typeface="Epilogue" pitchFamily="34" charset="-122"/>
                <a:cs typeface="Epilogue" pitchFamily="34" charset="-120"/>
              </a:rPr>
              <a:t>Scroll horizontal</a:t>
            </a:r>
            <a:endParaRPr lang="en-US" sz="1600" dirty="0"/>
          </a:p>
        </p:txBody>
      </p:sp>
      <p:sp>
        <p:nvSpPr>
          <p:cNvPr id="21" name="Text 19"/>
          <p:cNvSpPr txBox="1"/>
          <p:nvPr/>
        </p:nvSpPr>
        <p:spPr>
          <a:xfrm>
            <a:off x="6400800" y="3447288"/>
            <a:ext cx="5212080" cy="9144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Desliza el Gantt en el tiempo. También con Ctrl+Rueda del mouse para zoom.</a:t>
            </a:r>
            <a:endParaRPr lang="en-US" sz="1200" dirty="0"/>
          </a:p>
        </p:txBody>
      </p:sp>
      <p:sp>
        <p:nvSpPr>
          <p:cNvPr id="22" name="Shape 20"/>
          <p:cNvSpPr/>
          <p:nvPr/>
        </p:nvSpPr>
        <p:spPr>
          <a:xfrm>
            <a:off x="411480" y="4663440"/>
            <a:ext cx="5486400" cy="1719072"/>
          </a:xfrm>
          <a:prstGeom prst="roundRect">
            <a:avLst>
              <a:gd name="adj" fmla="val 4255"/>
            </a:avLst>
          </a:prstGeom>
          <a:solidFill>
            <a:srgbClr val="1A1A1A"/>
          </a:solidFill>
          <a:ln w="12700">
            <a:solidFill>
              <a:srgbClr val="A0A0A0"/>
            </a:solidFill>
            <a:prstDash val="solid"/>
          </a:ln>
        </p:spPr>
      </p:sp>
      <p:sp>
        <p:nvSpPr>
          <p:cNvPr id="23" name="Shape 21"/>
          <p:cNvSpPr/>
          <p:nvPr/>
        </p:nvSpPr>
        <p:spPr>
          <a:xfrm>
            <a:off x="411480" y="4663440"/>
            <a:ext cx="5486400" cy="64008"/>
          </a:xfrm>
          <a:prstGeom prst="rect">
            <a:avLst/>
          </a:prstGeom>
          <a:solidFill>
            <a:srgbClr val="A0A0A0"/>
          </a:solidFill>
          <a:ln w="12700">
            <a:solidFill>
              <a:srgbClr val="A0A0A0"/>
            </a:solidFill>
            <a:prstDash val="solid"/>
          </a:ln>
        </p:spPr>
      </p:sp>
      <p:sp>
        <p:nvSpPr>
          <p:cNvPr id="24" name="Text 22"/>
          <p:cNvSpPr txBox="1"/>
          <p:nvPr/>
        </p:nvSpPr>
        <p:spPr>
          <a:xfrm>
            <a:off x="548640" y="4828032"/>
            <a:ext cx="5212080" cy="411480"/>
          </a:xfrm>
          <a:prstGeom prst="rect">
            <a:avLst/>
          </a:prstGeom>
          <a:noFill/>
          <a:ln/>
        </p:spPr>
        <p:txBody>
          <a:bodyPr wrap="square" lIns="0" tIns="0" rIns="0" bIns="0" rtlCol="0" anchor="ctr"/>
          <a:lstStyle/>
          <a:p>
            <a:pPr indent="0" marL="0">
              <a:buNone/>
            </a:pPr>
            <a:r>
              <a:rPr lang="en-US" sz="1600" b="1" dirty="0">
                <a:solidFill>
                  <a:srgbClr val="A0A0A0"/>
                </a:solidFill>
                <a:latin typeface="Epilogue" pitchFamily="34" charset="0"/>
                <a:ea typeface="Epilogue" pitchFamily="34" charset="-122"/>
                <a:cs typeface="Epilogue" pitchFamily="34" charset="-120"/>
              </a:rPr>
              <a:t>Scroll vertical</a:t>
            </a:r>
            <a:endParaRPr lang="en-US" sz="1600" dirty="0"/>
          </a:p>
        </p:txBody>
      </p:sp>
      <p:sp>
        <p:nvSpPr>
          <p:cNvPr id="25" name="Text 23"/>
          <p:cNvSpPr txBox="1"/>
          <p:nvPr/>
        </p:nvSpPr>
        <p:spPr>
          <a:xfrm>
            <a:off x="548640" y="5321808"/>
            <a:ext cx="5212080" cy="9144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Desplaza las filas de actividades hacia arriba/abajo.</a:t>
            </a:r>
            <a:endParaRPr lang="en-US" sz="1200" dirty="0"/>
          </a:p>
        </p:txBody>
      </p:sp>
      <p:sp>
        <p:nvSpPr>
          <p:cNvPr id="26" name="Shape 24"/>
          <p:cNvSpPr/>
          <p:nvPr/>
        </p:nvSpPr>
        <p:spPr>
          <a:xfrm>
            <a:off x="6263640" y="4663440"/>
            <a:ext cx="5486400" cy="1719072"/>
          </a:xfrm>
          <a:prstGeom prst="roundRect">
            <a:avLst>
              <a:gd name="adj" fmla="val 4255"/>
            </a:avLst>
          </a:prstGeom>
          <a:solidFill>
            <a:srgbClr val="1A1A1A"/>
          </a:solidFill>
          <a:ln w="12700">
            <a:solidFill>
              <a:srgbClr val="198038"/>
            </a:solidFill>
            <a:prstDash val="solid"/>
          </a:ln>
        </p:spPr>
      </p:sp>
      <p:sp>
        <p:nvSpPr>
          <p:cNvPr id="27" name="Shape 25"/>
          <p:cNvSpPr/>
          <p:nvPr/>
        </p:nvSpPr>
        <p:spPr>
          <a:xfrm>
            <a:off x="6263640" y="4663440"/>
            <a:ext cx="5486400" cy="64008"/>
          </a:xfrm>
          <a:prstGeom prst="rect">
            <a:avLst/>
          </a:prstGeom>
          <a:solidFill>
            <a:srgbClr val="198038"/>
          </a:solidFill>
          <a:ln w="12700">
            <a:solidFill>
              <a:srgbClr val="198038"/>
            </a:solidFill>
            <a:prstDash val="solid"/>
          </a:ln>
        </p:spPr>
      </p:sp>
      <p:sp>
        <p:nvSpPr>
          <p:cNvPr id="28" name="Text 26"/>
          <p:cNvSpPr txBox="1"/>
          <p:nvPr/>
        </p:nvSpPr>
        <p:spPr>
          <a:xfrm>
            <a:off x="6400800" y="4828032"/>
            <a:ext cx="5212080" cy="411480"/>
          </a:xfrm>
          <a:prstGeom prst="rect">
            <a:avLst/>
          </a:prstGeom>
          <a:noFill/>
          <a:ln/>
        </p:spPr>
        <p:txBody>
          <a:bodyPr wrap="square" lIns="0" tIns="0" rIns="0" bIns="0" rtlCol="0" anchor="ctr"/>
          <a:lstStyle/>
          <a:p>
            <a:pPr indent="0" marL="0">
              <a:buNone/>
            </a:pPr>
            <a:r>
              <a:rPr lang="en-US" sz="1600" b="1" dirty="0">
                <a:solidFill>
                  <a:srgbClr val="198038"/>
                </a:solidFill>
                <a:latin typeface="Epilogue" pitchFamily="34" charset="0"/>
                <a:ea typeface="Epilogue" pitchFamily="34" charset="-122"/>
                <a:cs typeface="Epilogue" pitchFamily="34" charset="-120"/>
              </a:rPr>
              <a:t>Clic en barra</a:t>
            </a:r>
            <a:endParaRPr lang="en-US" sz="1600" dirty="0"/>
          </a:p>
        </p:txBody>
      </p:sp>
      <p:sp>
        <p:nvSpPr>
          <p:cNvPr id="29" name="Text 27"/>
          <p:cNvSpPr txBox="1"/>
          <p:nvPr/>
        </p:nvSpPr>
        <p:spPr>
          <a:xfrm>
            <a:off x="6400800" y="5321808"/>
            <a:ext cx="5212080" cy="9144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Selecciona la actividad correspondiente en la tabla EDT y viceversa.</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06</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Dependencias</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Tipos FS/SS/FF/SF • Lag/Lead • Formato • Alertas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TIPOS DE DEPENDENCIAS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ECM Project soporta los 4 tipos de relaciones lógicas del estándar PMI/CPM:</a:t>
            </a:r>
            <a:endParaRPr lang="en-US" sz="1300" dirty="0"/>
          </a:p>
        </p:txBody>
      </p:sp>
      <p:sp>
        <p:nvSpPr>
          <p:cNvPr id="7" name="Shape 5"/>
          <p:cNvSpPr/>
          <p:nvPr/>
        </p:nvSpPr>
        <p:spPr>
          <a:xfrm>
            <a:off x="411480" y="1325880"/>
            <a:ext cx="11338560" cy="1170432"/>
          </a:xfrm>
          <a:prstGeom prst="roundRect">
            <a:avLst>
              <a:gd name="adj" fmla="val 6250"/>
            </a:avLst>
          </a:prstGeom>
          <a:solidFill>
            <a:srgbClr val="1A1A1A"/>
          </a:solidFill>
          <a:ln w="12700">
            <a:solidFill>
              <a:srgbClr val="FFA028"/>
            </a:solidFill>
            <a:prstDash val="solid"/>
          </a:ln>
        </p:spPr>
      </p:sp>
      <p:sp>
        <p:nvSpPr>
          <p:cNvPr id="8" name="Shape 6"/>
          <p:cNvSpPr/>
          <p:nvPr/>
        </p:nvSpPr>
        <p:spPr>
          <a:xfrm>
            <a:off x="548640" y="1508760"/>
            <a:ext cx="658368" cy="658368"/>
          </a:xfrm>
          <a:prstGeom prst="roundRect">
            <a:avLst>
              <a:gd name="adj" fmla="val 8333"/>
            </a:avLst>
          </a:prstGeom>
          <a:solidFill>
            <a:srgbClr val="FFA028"/>
          </a:solidFill>
          <a:ln w="12700">
            <a:solidFill>
              <a:srgbClr val="FFA028"/>
            </a:solidFill>
            <a:prstDash val="solid"/>
          </a:ln>
        </p:spPr>
      </p:sp>
      <p:sp>
        <p:nvSpPr>
          <p:cNvPr id="9" name="Text 7"/>
          <p:cNvSpPr txBox="1"/>
          <p:nvPr/>
        </p:nvSpPr>
        <p:spPr>
          <a:xfrm>
            <a:off x="548640" y="1508760"/>
            <a:ext cx="658368" cy="658368"/>
          </a:xfrm>
          <a:prstGeom prst="rect">
            <a:avLst/>
          </a:prstGeom>
          <a:noFill/>
          <a:ln/>
        </p:spPr>
        <p:txBody>
          <a:bodyPr wrap="square" lIns="0" tIns="0" rIns="0" bIns="0" rtlCol="0" anchor="ctr"/>
          <a:lstStyle/>
          <a:p>
            <a:pPr algn="ctr" indent="0" marL="0">
              <a:buNone/>
            </a:pPr>
            <a:r>
              <a:rPr lang="en-US" sz="2000" b="1" dirty="0">
                <a:solidFill>
                  <a:srgbClr val="000000"/>
                </a:solidFill>
                <a:latin typeface="Epilogue" pitchFamily="34" charset="0"/>
                <a:ea typeface="Epilogue" pitchFamily="34" charset="-122"/>
                <a:cs typeface="Epilogue" pitchFamily="34" charset="-120"/>
              </a:rPr>
              <a:t>FS</a:t>
            </a:r>
            <a:endParaRPr lang="en-US" sz="2000" dirty="0"/>
          </a:p>
        </p:txBody>
      </p:sp>
      <p:sp>
        <p:nvSpPr>
          <p:cNvPr id="10" name="Text 8"/>
          <p:cNvSpPr txBox="1"/>
          <p:nvPr/>
        </p:nvSpPr>
        <p:spPr>
          <a:xfrm>
            <a:off x="1325880" y="1417320"/>
            <a:ext cx="2926080" cy="438912"/>
          </a:xfrm>
          <a:prstGeom prst="rect">
            <a:avLst/>
          </a:prstGeom>
          <a:noFill/>
          <a:ln/>
        </p:spPr>
        <p:txBody>
          <a:bodyPr wrap="square" lIns="0" tIns="0" rIns="0" bIns="0" rtlCol="0" anchor="ctr"/>
          <a:lstStyle/>
          <a:p>
            <a:pPr indent="0" marL="0">
              <a:buNone/>
            </a:pPr>
            <a:r>
              <a:rPr lang="en-US" sz="1600" b="1" dirty="0">
                <a:solidFill>
                  <a:srgbClr val="FFA028"/>
                </a:solidFill>
                <a:latin typeface="Epilogue" pitchFamily="34" charset="0"/>
                <a:ea typeface="Epilogue" pitchFamily="34" charset="-122"/>
                <a:cs typeface="Epilogue" pitchFamily="34" charset="-120"/>
              </a:rPr>
              <a:t>Fin — Inicio</a:t>
            </a:r>
            <a:endParaRPr lang="en-US" sz="1600" dirty="0"/>
          </a:p>
        </p:txBody>
      </p:sp>
      <p:sp>
        <p:nvSpPr>
          <p:cNvPr id="11" name="Text 9"/>
          <p:cNvSpPr txBox="1"/>
          <p:nvPr/>
        </p:nvSpPr>
        <p:spPr>
          <a:xfrm>
            <a:off x="1325880" y="1892808"/>
            <a:ext cx="5943600" cy="512064"/>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La sucesora no puede iniciar hasta que la predecesora termine. El tipo más común (≥ 90% de las relaciones).</a:t>
            </a:r>
            <a:endParaRPr lang="en-US" sz="1100" dirty="0"/>
          </a:p>
        </p:txBody>
      </p:sp>
      <p:sp>
        <p:nvSpPr>
          <p:cNvPr id="12" name="Text 10"/>
          <p:cNvSpPr txBox="1"/>
          <p:nvPr/>
        </p:nvSpPr>
        <p:spPr>
          <a:xfrm>
            <a:off x="7498080" y="1417320"/>
            <a:ext cx="4114800" cy="91440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 Carpintería FS Pintura: No se pinta hasta terminar la carpintería</a:t>
            </a:r>
            <a:endParaRPr lang="en-US" sz="1000" dirty="0"/>
          </a:p>
        </p:txBody>
      </p:sp>
      <p:sp>
        <p:nvSpPr>
          <p:cNvPr id="13" name="Shape 11"/>
          <p:cNvSpPr/>
          <p:nvPr/>
        </p:nvSpPr>
        <p:spPr>
          <a:xfrm>
            <a:off x="411480" y="2651760"/>
            <a:ext cx="11338560" cy="1170432"/>
          </a:xfrm>
          <a:prstGeom prst="roundRect">
            <a:avLst>
              <a:gd name="adj" fmla="val 6250"/>
            </a:avLst>
          </a:prstGeom>
          <a:solidFill>
            <a:srgbClr val="1A1A1A"/>
          </a:solidFill>
          <a:ln w="12700">
            <a:solidFill>
              <a:srgbClr val="4AF6C3"/>
            </a:solidFill>
            <a:prstDash val="solid"/>
          </a:ln>
        </p:spPr>
      </p:sp>
      <p:sp>
        <p:nvSpPr>
          <p:cNvPr id="14" name="Shape 12"/>
          <p:cNvSpPr/>
          <p:nvPr/>
        </p:nvSpPr>
        <p:spPr>
          <a:xfrm>
            <a:off x="548640" y="2834640"/>
            <a:ext cx="658368" cy="658368"/>
          </a:xfrm>
          <a:prstGeom prst="roundRect">
            <a:avLst>
              <a:gd name="adj" fmla="val 8333"/>
            </a:avLst>
          </a:prstGeom>
          <a:solidFill>
            <a:srgbClr val="4AF6C3"/>
          </a:solidFill>
          <a:ln w="12700">
            <a:solidFill>
              <a:srgbClr val="4AF6C3"/>
            </a:solidFill>
            <a:prstDash val="solid"/>
          </a:ln>
        </p:spPr>
      </p:sp>
      <p:sp>
        <p:nvSpPr>
          <p:cNvPr id="15" name="Text 13"/>
          <p:cNvSpPr txBox="1"/>
          <p:nvPr/>
        </p:nvSpPr>
        <p:spPr>
          <a:xfrm>
            <a:off x="548640" y="2834640"/>
            <a:ext cx="658368" cy="658368"/>
          </a:xfrm>
          <a:prstGeom prst="rect">
            <a:avLst/>
          </a:prstGeom>
          <a:noFill/>
          <a:ln/>
        </p:spPr>
        <p:txBody>
          <a:bodyPr wrap="square" lIns="0" tIns="0" rIns="0" bIns="0" rtlCol="0" anchor="ctr"/>
          <a:lstStyle/>
          <a:p>
            <a:pPr algn="ctr" indent="0" marL="0">
              <a:buNone/>
            </a:pPr>
            <a:r>
              <a:rPr lang="en-US" sz="2000" b="1" dirty="0">
                <a:solidFill>
                  <a:srgbClr val="000000"/>
                </a:solidFill>
                <a:latin typeface="Epilogue" pitchFamily="34" charset="0"/>
                <a:ea typeface="Epilogue" pitchFamily="34" charset="-122"/>
                <a:cs typeface="Epilogue" pitchFamily="34" charset="-120"/>
              </a:rPr>
              <a:t>SS</a:t>
            </a:r>
            <a:endParaRPr lang="en-US" sz="2000" dirty="0"/>
          </a:p>
        </p:txBody>
      </p:sp>
      <p:sp>
        <p:nvSpPr>
          <p:cNvPr id="16" name="Text 14"/>
          <p:cNvSpPr txBox="1"/>
          <p:nvPr/>
        </p:nvSpPr>
        <p:spPr>
          <a:xfrm>
            <a:off x="1325880" y="2743200"/>
            <a:ext cx="2926080" cy="438912"/>
          </a:xfrm>
          <a:prstGeom prst="rect">
            <a:avLst/>
          </a:prstGeom>
          <a:noFill/>
          <a:ln/>
        </p:spPr>
        <p:txBody>
          <a:bodyPr wrap="square" lIns="0" tIns="0" rIns="0" bIns="0" rtlCol="0" anchor="ctr"/>
          <a:lstStyle/>
          <a:p>
            <a:pPr indent="0" marL="0">
              <a:buNone/>
            </a:pPr>
            <a:r>
              <a:rPr lang="en-US" sz="1600" b="1" dirty="0">
                <a:solidFill>
                  <a:srgbClr val="4AF6C3"/>
                </a:solidFill>
                <a:latin typeface="Epilogue" pitchFamily="34" charset="0"/>
                <a:ea typeface="Epilogue" pitchFamily="34" charset="-122"/>
                <a:cs typeface="Epilogue" pitchFamily="34" charset="-120"/>
              </a:rPr>
              <a:t>Inicio — Inicio</a:t>
            </a:r>
            <a:endParaRPr lang="en-US" sz="1600" dirty="0"/>
          </a:p>
        </p:txBody>
      </p:sp>
      <p:sp>
        <p:nvSpPr>
          <p:cNvPr id="17" name="Text 15"/>
          <p:cNvSpPr txBox="1"/>
          <p:nvPr/>
        </p:nvSpPr>
        <p:spPr>
          <a:xfrm>
            <a:off x="1325880" y="3218688"/>
            <a:ext cx="5943600" cy="512064"/>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La sucesora no puede iniciar hasta que la predecesora inicie. Permiten trabajo en paralelo.</a:t>
            </a:r>
            <a:endParaRPr lang="en-US" sz="1100" dirty="0"/>
          </a:p>
        </p:txBody>
      </p:sp>
      <p:sp>
        <p:nvSpPr>
          <p:cNvPr id="18" name="Text 16"/>
          <p:cNvSpPr txBox="1"/>
          <p:nvPr/>
        </p:nvSpPr>
        <p:spPr>
          <a:xfrm>
            <a:off x="7498080" y="2743200"/>
            <a:ext cx="4114800" cy="91440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 Excavación SS Entibado: el entibado puede iniciar cuando empieza la excavación</a:t>
            </a:r>
            <a:endParaRPr lang="en-US" sz="1000" dirty="0"/>
          </a:p>
        </p:txBody>
      </p:sp>
      <p:sp>
        <p:nvSpPr>
          <p:cNvPr id="19" name="Shape 17"/>
          <p:cNvSpPr/>
          <p:nvPr/>
        </p:nvSpPr>
        <p:spPr>
          <a:xfrm>
            <a:off x="411480" y="3977640"/>
            <a:ext cx="11338560" cy="1170432"/>
          </a:xfrm>
          <a:prstGeom prst="roundRect">
            <a:avLst>
              <a:gd name="adj" fmla="val 6250"/>
            </a:avLst>
          </a:prstGeom>
          <a:solidFill>
            <a:srgbClr val="1A1A1A"/>
          </a:solidFill>
          <a:ln w="12700">
            <a:solidFill>
              <a:srgbClr val="198038"/>
            </a:solidFill>
            <a:prstDash val="solid"/>
          </a:ln>
        </p:spPr>
      </p:sp>
      <p:sp>
        <p:nvSpPr>
          <p:cNvPr id="20" name="Shape 18"/>
          <p:cNvSpPr/>
          <p:nvPr/>
        </p:nvSpPr>
        <p:spPr>
          <a:xfrm>
            <a:off x="548640" y="4160520"/>
            <a:ext cx="658368" cy="658368"/>
          </a:xfrm>
          <a:prstGeom prst="roundRect">
            <a:avLst>
              <a:gd name="adj" fmla="val 8333"/>
            </a:avLst>
          </a:prstGeom>
          <a:solidFill>
            <a:srgbClr val="198038"/>
          </a:solidFill>
          <a:ln w="12700">
            <a:solidFill>
              <a:srgbClr val="198038"/>
            </a:solidFill>
            <a:prstDash val="solid"/>
          </a:ln>
        </p:spPr>
      </p:sp>
      <p:sp>
        <p:nvSpPr>
          <p:cNvPr id="21" name="Text 19"/>
          <p:cNvSpPr txBox="1"/>
          <p:nvPr/>
        </p:nvSpPr>
        <p:spPr>
          <a:xfrm>
            <a:off x="548640" y="4160520"/>
            <a:ext cx="658368" cy="658368"/>
          </a:xfrm>
          <a:prstGeom prst="rect">
            <a:avLst/>
          </a:prstGeom>
          <a:noFill/>
          <a:ln/>
        </p:spPr>
        <p:txBody>
          <a:bodyPr wrap="square" lIns="0" tIns="0" rIns="0" bIns="0" rtlCol="0" anchor="ctr"/>
          <a:lstStyle/>
          <a:p>
            <a:pPr algn="ctr" indent="0" marL="0">
              <a:buNone/>
            </a:pPr>
            <a:r>
              <a:rPr lang="en-US" sz="2000" b="1" dirty="0">
                <a:solidFill>
                  <a:srgbClr val="000000"/>
                </a:solidFill>
                <a:latin typeface="Epilogue" pitchFamily="34" charset="0"/>
                <a:ea typeface="Epilogue" pitchFamily="34" charset="-122"/>
                <a:cs typeface="Epilogue" pitchFamily="34" charset="-120"/>
              </a:rPr>
              <a:t>FF</a:t>
            </a:r>
            <a:endParaRPr lang="en-US" sz="2000" dirty="0"/>
          </a:p>
        </p:txBody>
      </p:sp>
      <p:sp>
        <p:nvSpPr>
          <p:cNvPr id="22" name="Text 20"/>
          <p:cNvSpPr txBox="1"/>
          <p:nvPr/>
        </p:nvSpPr>
        <p:spPr>
          <a:xfrm>
            <a:off x="1325880" y="4069080"/>
            <a:ext cx="2926080" cy="438912"/>
          </a:xfrm>
          <a:prstGeom prst="rect">
            <a:avLst/>
          </a:prstGeom>
          <a:noFill/>
          <a:ln/>
        </p:spPr>
        <p:txBody>
          <a:bodyPr wrap="square" lIns="0" tIns="0" rIns="0" bIns="0" rtlCol="0" anchor="ctr"/>
          <a:lstStyle/>
          <a:p>
            <a:pPr indent="0" marL="0">
              <a:buNone/>
            </a:pPr>
            <a:r>
              <a:rPr lang="en-US" sz="1600" b="1" dirty="0">
                <a:solidFill>
                  <a:srgbClr val="198038"/>
                </a:solidFill>
                <a:latin typeface="Epilogue" pitchFamily="34" charset="0"/>
                <a:ea typeface="Epilogue" pitchFamily="34" charset="-122"/>
                <a:cs typeface="Epilogue" pitchFamily="34" charset="-120"/>
              </a:rPr>
              <a:t>Fin — Fin</a:t>
            </a:r>
            <a:endParaRPr lang="en-US" sz="1600" dirty="0"/>
          </a:p>
        </p:txBody>
      </p:sp>
      <p:sp>
        <p:nvSpPr>
          <p:cNvPr id="23" name="Text 21"/>
          <p:cNvSpPr txBox="1"/>
          <p:nvPr/>
        </p:nvSpPr>
        <p:spPr>
          <a:xfrm>
            <a:off x="1325880" y="4544568"/>
            <a:ext cx="5943600" cy="512064"/>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La sucesora no puede terminar hasta que la predecesora termine.</a:t>
            </a:r>
            <a:endParaRPr lang="en-US" sz="1100" dirty="0"/>
          </a:p>
        </p:txBody>
      </p:sp>
      <p:sp>
        <p:nvSpPr>
          <p:cNvPr id="24" name="Text 22"/>
          <p:cNvSpPr txBox="1"/>
          <p:nvPr/>
        </p:nvSpPr>
        <p:spPr>
          <a:xfrm>
            <a:off x="7498080" y="4069080"/>
            <a:ext cx="4114800" cy="91440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 Control calidad FF Pintura: el control termina cuando termina la pintura</a:t>
            </a:r>
            <a:endParaRPr lang="en-US" sz="1000" dirty="0"/>
          </a:p>
        </p:txBody>
      </p:sp>
      <p:sp>
        <p:nvSpPr>
          <p:cNvPr id="25" name="Shape 23"/>
          <p:cNvSpPr/>
          <p:nvPr/>
        </p:nvSpPr>
        <p:spPr>
          <a:xfrm>
            <a:off x="411480" y="5303520"/>
            <a:ext cx="11338560" cy="1170432"/>
          </a:xfrm>
          <a:prstGeom prst="roundRect">
            <a:avLst>
              <a:gd name="adj" fmla="val 6250"/>
            </a:avLst>
          </a:prstGeom>
          <a:solidFill>
            <a:srgbClr val="1A1A1A"/>
          </a:solidFill>
          <a:ln w="12700">
            <a:solidFill>
              <a:srgbClr val="A0A0A0"/>
            </a:solidFill>
            <a:prstDash val="solid"/>
          </a:ln>
        </p:spPr>
      </p:sp>
      <p:sp>
        <p:nvSpPr>
          <p:cNvPr id="26" name="Shape 24"/>
          <p:cNvSpPr/>
          <p:nvPr/>
        </p:nvSpPr>
        <p:spPr>
          <a:xfrm>
            <a:off x="548640" y="5486400"/>
            <a:ext cx="658368" cy="658368"/>
          </a:xfrm>
          <a:prstGeom prst="roundRect">
            <a:avLst>
              <a:gd name="adj" fmla="val 8333"/>
            </a:avLst>
          </a:prstGeom>
          <a:solidFill>
            <a:srgbClr val="A0A0A0"/>
          </a:solidFill>
          <a:ln w="12700">
            <a:solidFill>
              <a:srgbClr val="A0A0A0"/>
            </a:solidFill>
            <a:prstDash val="solid"/>
          </a:ln>
        </p:spPr>
      </p:sp>
      <p:sp>
        <p:nvSpPr>
          <p:cNvPr id="27" name="Text 25"/>
          <p:cNvSpPr txBox="1"/>
          <p:nvPr/>
        </p:nvSpPr>
        <p:spPr>
          <a:xfrm>
            <a:off x="548640" y="5486400"/>
            <a:ext cx="658368" cy="658368"/>
          </a:xfrm>
          <a:prstGeom prst="rect">
            <a:avLst/>
          </a:prstGeom>
          <a:noFill/>
          <a:ln/>
        </p:spPr>
        <p:txBody>
          <a:bodyPr wrap="square" lIns="0" tIns="0" rIns="0" bIns="0" rtlCol="0" anchor="ctr"/>
          <a:lstStyle/>
          <a:p>
            <a:pPr algn="ctr" indent="0" marL="0">
              <a:buNone/>
            </a:pPr>
            <a:r>
              <a:rPr lang="en-US" sz="2000" b="1" dirty="0">
                <a:solidFill>
                  <a:srgbClr val="000000"/>
                </a:solidFill>
                <a:latin typeface="Epilogue" pitchFamily="34" charset="0"/>
                <a:ea typeface="Epilogue" pitchFamily="34" charset="-122"/>
                <a:cs typeface="Epilogue" pitchFamily="34" charset="-120"/>
              </a:rPr>
              <a:t>SF</a:t>
            </a:r>
            <a:endParaRPr lang="en-US" sz="2000" dirty="0"/>
          </a:p>
        </p:txBody>
      </p:sp>
      <p:sp>
        <p:nvSpPr>
          <p:cNvPr id="28" name="Text 26"/>
          <p:cNvSpPr txBox="1"/>
          <p:nvPr/>
        </p:nvSpPr>
        <p:spPr>
          <a:xfrm>
            <a:off x="1325880" y="5394960"/>
            <a:ext cx="2926080" cy="438912"/>
          </a:xfrm>
          <a:prstGeom prst="rect">
            <a:avLst/>
          </a:prstGeom>
          <a:noFill/>
          <a:ln/>
        </p:spPr>
        <p:txBody>
          <a:bodyPr wrap="square" lIns="0" tIns="0" rIns="0" bIns="0" rtlCol="0" anchor="ctr"/>
          <a:lstStyle/>
          <a:p>
            <a:pPr indent="0" marL="0">
              <a:buNone/>
            </a:pPr>
            <a:r>
              <a:rPr lang="en-US" sz="1600" b="1" dirty="0">
                <a:solidFill>
                  <a:srgbClr val="A0A0A0"/>
                </a:solidFill>
                <a:latin typeface="Epilogue" pitchFamily="34" charset="0"/>
                <a:ea typeface="Epilogue" pitchFamily="34" charset="-122"/>
                <a:cs typeface="Epilogue" pitchFamily="34" charset="-120"/>
              </a:rPr>
              <a:t>Inicio — Fin</a:t>
            </a:r>
            <a:endParaRPr lang="en-US" sz="1600" dirty="0"/>
          </a:p>
        </p:txBody>
      </p:sp>
      <p:sp>
        <p:nvSpPr>
          <p:cNvPr id="29" name="Text 27"/>
          <p:cNvSpPr txBox="1"/>
          <p:nvPr/>
        </p:nvSpPr>
        <p:spPr>
          <a:xfrm>
            <a:off x="1325880" y="5870448"/>
            <a:ext cx="5943600" cy="512064"/>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La sucesora no puede terminar hasta que la predecesora inicie. Poco común.</a:t>
            </a:r>
            <a:endParaRPr lang="en-US" sz="1100" dirty="0"/>
          </a:p>
        </p:txBody>
      </p:sp>
      <p:sp>
        <p:nvSpPr>
          <p:cNvPr id="30" name="Text 28"/>
          <p:cNvSpPr txBox="1"/>
          <p:nvPr/>
        </p:nvSpPr>
        <p:spPr>
          <a:xfrm>
            <a:off x="7498080" y="5394960"/>
            <a:ext cx="4114800" cy="91440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 Guardia nocturna SF Guardia diurna: la nocturna no termina hasta que inicie la diurna</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LAG Y LEAD EN DEPENDENCIAS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lag (retraso) y lead (adelanto) permiten ajustar la relación temporal entre actividades:</a:t>
            </a:r>
            <a:endParaRPr lang="en-US" sz="1300" dirty="0"/>
          </a:p>
        </p:txBody>
      </p:sp>
      <p:sp>
        <p:nvSpPr>
          <p:cNvPr id="7" name="Shape 5"/>
          <p:cNvSpPr/>
          <p:nvPr/>
        </p:nvSpPr>
        <p:spPr>
          <a:xfrm>
            <a:off x="411480" y="1371600"/>
            <a:ext cx="11338560" cy="2194560"/>
          </a:xfrm>
          <a:prstGeom prst="roundRect">
            <a:avLst>
              <a:gd name="adj" fmla="val 3333"/>
            </a:avLst>
          </a:prstGeom>
          <a:solidFill>
            <a:srgbClr val="1A1A1A"/>
          </a:solidFill>
          <a:ln w="12700">
            <a:solidFill>
              <a:srgbClr val="FFA028"/>
            </a:solidFill>
            <a:prstDash val="solid"/>
          </a:ln>
        </p:spPr>
      </p:sp>
      <p:sp>
        <p:nvSpPr>
          <p:cNvPr id="8" name="Shape 6"/>
          <p:cNvSpPr/>
          <p:nvPr/>
        </p:nvSpPr>
        <p:spPr>
          <a:xfrm>
            <a:off x="411480" y="1371600"/>
            <a:ext cx="11338560" cy="64008"/>
          </a:xfrm>
          <a:prstGeom prst="rect">
            <a:avLst/>
          </a:prstGeom>
          <a:solidFill>
            <a:srgbClr val="FFA028"/>
          </a:solidFill>
          <a:ln w="12700">
            <a:solidFill>
              <a:srgbClr val="FFA028"/>
            </a:solidFill>
            <a:prstDash val="solid"/>
          </a:ln>
        </p:spPr>
      </p:sp>
      <p:sp>
        <p:nvSpPr>
          <p:cNvPr id="9" name="Text 7"/>
          <p:cNvSpPr txBox="1"/>
          <p:nvPr/>
        </p:nvSpPr>
        <p:spPr>
          <a:xfrm>
            <a:off x="594360" y="1554480"/>
            <a:ext cx="6400800" cy="457200"/>
          </a:xfrm>
          <a:prstGeom prst="rect">
            <a:avLst/>
          </a:prstGeom>
          <a:noFill/>
          <a:ln/>
        </p:spPr>
        <p:txBody>
          <a:bodyPr wrap="square" lIns="0" tIns="0" rIns="0" bIns="0" rtlCol="0" anchor="ctr"/>
          <a:lstStyle/>
          <a:p>
            <a:pPr indent="0" marL="0">
              <a:buNone/>
            </a:pPr>
            <a:r>
              <a:rPr lang="en-US" sz="1800" b="1" dirty="0">
                <a:solidFill>
                  <a:srgbClr val="FFA028"/>
                </a:solidFill>
                <a:latin typeface="Epilogue" pitchFamily="34" charset="0"/>
                <a:ea typeface="Epilogue" pitchFamily="34" charset="-122"/>
                <a:cs typeface="Epilogue" pitchFamily="34" charset="-120"/>
              </a:rPr>
              <a:t>Lag (retraso positivo)</a:t>
            </a:r>
            <a:endParaRPr lang="en-US" sz="1800" dirty="0"/>
          </a:p>
        </p:txBody>
      </p:sp>
      <p:sp>
        <p:nvSpPr>
          <p:cNvPr id="10" name="Text 8"/>
          <p:cNvSpPr txBox="1"/>
          <p:nvPr/>
        </p:nvSpPr>
        <p:spPr>
          <a:xfrm>
            <a:off x="7315200" y="1554480"/>
            <a:ext cx="2286000" cy="457200"/>
          </a:xfrm>
          <a:prstGeom prst="rect">
            <a:avLst/>
          </a:prstGeom>
          <a:noFill/>
          <a:ln/>
        </p:spPr>
        <p:txBody>
          <a:bodyPr wrap="square" lIns="0" tIns="0" rIns="0" bIns="0" rtlCol="0" anchor="ctr"/>
          <a:lstStyle/>
          <a:p>
            <a:pPr indent="0" marL="0">
              <a:buNone/>
            </a:pPr>
            <a:r>
              <a:rPr lang="en-US" sz="1800" b="1" dirty="0">
                <a:solidFill>
                  <a:srgbClr val="FFA028"/>
                </a:solidFill>
                <a:latin typeface="Courier New" pitchFamily="34" charset="0"/>
                <a:ea typeface="Courier New" pitchFamily="34" charset="-122"/>
                <a:cs typeface="Courier New" pitchFamily="34" charset="-120"/>
              </a:rPr>
              <a:t>+N días</a:t>
            </a:r>
            <a:endParaRPr lang="en-US" sz="1800" dirty="0"/>
          </a:p>
        </p:txBody>
      </p:sp>
      <p:sp>
        <p:nvSpPr>
          <p:cNvPr id="11" name="Text 9"/>
          <p:cNvSpPr txBox="1"/>
          <p:nvPr/>
        </p:nvSpPr>
        <p:spPr>
          <a:xfrm>
            <a:off x="594360" y="2121408"/>
            <a:ext cx="10972800" cy="41148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Agrega días de espera entre las dos actividades.</a:t>
            </a:r>
            <a:endParaRPr lang="en-US" sz="1300" dirty="0"/>
          </a:p>
        </p:txBody>
      </p:sp>
      <p:sp>
        <p:nvSpPr>
          <p:cNvPr id="12" name="Text 10"/>
          <p:cNvSpPr txBox="1"/>
          <p:nvPr/>
        </p:nvSpPr>
        <p:spPr>
          <a:xfrm>
            <a:off x="594360" y="2651760"/>
            <a:ext cx="10972800" cy="6858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 FS+3 = La sucesora inicia 3 días hábiles DESPUÉS de que la predecesora termine.</a:t>
            </a:r>
            <a:endParaRPr lang="en-US" sz="1200" dirty="0"/>
          </a:p>
        </p:txBody>
      </p:sp>
      <p:sp>
        <p:nvSpPr>
          <p:cNvPr id="13" name="Shape 11"/>
          <p:cNvSpPr/>
          <p:nvPr/>
        </p:nvSpPr>
        <p:spPr>
          <a:xfrm>
            <a:off x="411480" y="3749040"/>
            <a:ext cx="11338560" cy="2194560"/>
          </a:xfrm>
          <a:prstGeom prst="roundRect">
            <a:avLst>
              <a:gd name="adj" fmla="val 3333"/>
            </a:avLst>
          </a:prstGeom>
          <a:solidFill>
            <a:srgbClr val="1A1A1A"/>
          </a:solidFill>
          <a:ln w="12700">
            <a:solidFill>
              <a:srgbClr val="4AF6C3"/>
            </a:solidFill>
            <a:prstDash val="solid"/>
          </a:ln>
        </p:spPr>
      </p:sp>
      <p:sp>
        <p:nvSpPr>
          <p:cNvPr id="14" name="Shape 12"/>
          <p:cNvSpPr/>
          <p:nvPr/>
        </p:nvSpPr>
        <p:spPr>
          <a:xfrm>
            <a:off x="411480" y="3749040"/>
            <a:ext cx="11338560" cy="64008"/>
          </a:xfrm>
          <a:prstGeom prst="rect">
            <a:avLst/>
          </a:prstGeom>
          <a:solidFill>
            <a:srgbClr val="4AF6C3"/>
          </a:solidFill>
          <a:ln w="12700">
            <a:solidFill>
              <a:srgbClr val="4AF6C3"/>
            </a:solidFill>
            <a:prstDash val="solid"/>
          </a:ln>
        </p:spPr>
      </p:sp>
      <p:sp>
        <p:nvSpPr>
          <p:cNvPr id="15" name="Text 13"/>
          <p:cNvSpPr txBox="1"/>
          <p:nvPr/>
        </p:nvSpPr>
        <p:spPr>
          <a:xfrm>
            <a:off x="594360" y="3931920"/>
            <a:ext cx="6400800" cy="457200"/>
          </a:xfrm>
          <a:prstGeom prst="rect">
            <a:avLst/>
          </a:prstGeom>
          <a:noFill/>
          <a:ln/>
        </p:spPr>
        <p:txBody>
          <a:bodyPr wrap="square" lIns="0" tIns="0" rIns="0" bIns="0" rtlCol="0" anchor="ctr"/>
          <a:lstStyle/>
          <a:p>
            <a:pPr indent="0" marL="0">
              <a:buNone/>
            </a:pPr>
            <a:r>
              <a:rPr lang="en-US" sz="1800" b="1" dirty="0">
                <a:solidFill>
                  <a:srgbClr val="4AF6C3"/>
                </a:solidFill>
                <a:latin typeface="Epilogue" pitchFamily="34" charset="0"/>
                <a:ea typeface="Epilogue" pitchFamily="34" charset="-122"/>
                <a:cs typeface="Epilogue" pitchFamily="34" charset="-120"/>
              </a:rPr>
              <a:t>Lead (adelanto negativo)</a:t>
            </a:r>
            <a:endParaRPr lang="en-US" sz="1800" dirty="0"/>
          </a:p>
        </p:txBody>
      </p:sp>
      <p:sp>
        <p:nvSpPr>
          <p:cNvPr id="16" name="Text 14"/>
          <p:cNvSpPr txBox="1"/>
          <p:nvPr/>
        </p:nvSpPr>
        <p:spPr>
          <a:xfrm>
            <a:off x="7315200" y="3931920"/>
            <a:ext cx="2286000" cy="457200"/>
          </a:xfrm>
          <a:prstGeom prst="rect">
            <a:avLst/>
          </a:prstGeom>
          <a:noFill/>
          <a:ln/>
        </p:spPr>
        <p:txBody>
          <a:bodyPr wrap="square" lIns="0" tIns="0" rIns="0" bIns="0" rtlCol="0" anchor="ctr"/>
          <a:lstStyle/>
          <a:p>
            <a:pPr indent="0" marL="0">
              <a:buNone/>
            </a:pPr>
            <a:r>
              <a:rPr lang="en-US" sz="1800" b="1" dirty="0">
                <a:solidFill>
                  <a:srgbClr val="4AF6C3"/>
                </a:solidFill>
                <a:latin typeface="Courier New" pitchFamily="34" charset="0"/>
                <a:ea typeface="Courier New" pitchFamily="34" charset="-122"/>
                <a:cs typeface="Courier New" pitchFamily="34" charset="-120"/>
              </a:rPr>
              <a:t>-N días</a:t>
            </a:r>
            <a:endParaRPr lang="en-US" sz="1800" dirty="0"/>
          </a:p>
        </p:txBody>
      </p:sp>
      <p:sp>
        <p:nvSpPr>
          <p:cNvPr id="17" name="Text 15"/>
          <p:cNvSpPr txBox="1"/>
          <p:nvPr/>
        </p:nvSpPr>
        <p:spPr>
          <a:xfrm>
            <a:off x="594360" y="4498848"/>
            <a:ext cx="10972800" cy="41148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Permite que la sucesora empiece antes de que la predecesora termine.</a:t>
            </a:r>
            <a:endParaRPr lang="en-US" sz="1300" dirty="0"/>
          </a:p>
        </p:txBody>
      </p:sp>
      <p:sp>
        <p:nvSpPr>
          <p:cNvPr id="18" name="Text 16"/>
          <p:cNvSpPr txBox="1"/>
          <p:nvPr/>
        </p:nvSpPr>
        <p:spPr>
          <a:xfrm>
            <a:off x="594360" y="5029200"/>
            <a:ext cx="10972800" cy="68580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 FS-2 = La sucesora puede iniciar 2 días ANTES de que la predecesora termine.</a:t>
            </a:r>
            <a:endParaRPr lang="en-US" sz="1200" dirty="0"/>
          </a:p>
        </p:txBody>
      </p:sp>
      <p:sp>
        <p:nvSpPr>
          <p:cNvPr id="19" name="Shape 17"/>
          <p:cNvSpPr/>
          <p:nvPr/>
        </p:nvSpPr>
        <p:spPr>
          <a:xfrm>
            <a:off x="411480" y="6217920"/>
            <a:ext cx="11338560" cy="502920"/>
          </a:xfrm>
          <a:prstGeom prst="roundRect">
            <a:avLst>
              <a:gd name="adj" fmla="val 14545"/>
            </a:avLst>
          </a:prstGeom>
          <a:solidFill>
            <a:srgbClr val="0D0D0D"/>
          </a:solidFill>
          <a:ln w="12700">
            <a:solidFill>
              <a:srgbClr val="555555"/>
            </a:solidFill>
            <a:prstDash val="solid"/>
          </a:ln>
        </p:spPr>
      </p:sp>
      <p:sp>
        <p:nvSpPr>
          <p:cNvPr id="20" name="Text 18"/>
          <p:cNvSpPr txBox="1"/>
          <p:nvPr/>
        </p:nvSpPr>
        <p:spPr>
          <a:xfrm>
            <a:off x="594360" y="6291072"/>
            <a:ext cx="10972800" cy="365760"/>
          </a:xfrm>
          <a:prstGeom prst="rect">
            <a:avLst/>
          </a:prstGeom>
          <a:noFill/>
          <a:ln/>
        </p:spPr>
        <p:txBody>
          <a:bodyPr wrap="square" lIns="0" tIns="0" rIns="0" bIns="0" rtlCol="0" anchor="ctr"/>
          <a:lstStyle/>
          <a:p>
            <a:pPr indent="0" marL="0">
              <a:buNone/>
            </a:pPr>
            <a:r>
              <a:rPr lang="en-US" sz="1200" dirty="0">
                <a:solidFill>
                  <a:srgbClr val="4AF6C3"/>
                </a:solidFill>
                <a:latin typeface="Epilogue" pitchFamily="34" charset="0"/>
                <a:ea typeface="Epilogue" pitchFamily="34" charset="-122"/>
                <a:cs typeface="Epilogue" pitchFamily="34" charset="-120"/>
              </a:rPr>
              <a:t>💡 Formato en columna Pred.: IDTipoLag — Ejemplos: 5FS+3  |  3SS  |  4FF-1  |  2FS+5,6SS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ALERTAS Y ADVERTENCIAS CPM</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motor CPM genera alertas en la columna ALERTAS cuando detecta problemas en la lógica del cronograma:</a:t>
            </a:r>
            <a:endParaRPr lang="en-US" sz="1300" dirty="0"/>
          </a:p>
        </p:txBody>
      </p:sp>
      <p:sp>
        <p:nvSpPr>
          <p:cNvPr id="7" name="Shape 5"/>
          <p:cNvSpPr/>
          <p:nvPr/>
        </p:nvSpPr>
        <p:spPr>
          <a:xfrm>
            <a:off x="411480" y="1325880"/>
            <a:ext cx="5486400" cy="1078992"/>
          </a:xfrm>
          <a:prstGeom prst="roundRect">
            <a:avLst>
              <a:gd name="adj" fmla="val 6780"/>
            </a:avLst>
          </a:prstGeom>
          <a:solidFill>
            <a:srgbClr val="0D0D0D"/>
          </a:solidFill>
          <a:ln w="12700">
            <a:solidFill>
              <a:srgbClr val="FF433D"/>
            </a:solidFill>
            <a:prstDash val="solid"/>
          </a:ln>
        </p:spPr>
      </p:sp>
      <p:sp>
        <p:nvSpPr>
          <p:cNvPr id="8" name="Shape 6"/>
          <p:cNvSpPr/>
          <p:nvPr/>
        </p:nvSpPr>
        <p:spPr>
          <a:xfrm>
            <a:off x="411480" y="1325880"/>
            <a:ext cx="54864" cy="1078992"/>
          </a:xfrm>
          <a:prstGeom prst="rect">
            <a:avLst/>
          </a:prstGeom>
          <a:solidFill>
            <a:srgbClr val="FF433D"/>
          </a:solidFill>
          <a:ln w="12700">
            <a:solidFill>
              <a:srgbClr val="FF433D"/>
            </a:solidFill>
            <a:prstDash val="solid"/>
          </a:ln>
        </p:spPr>
      </p:sp>
      <p:sp>
        <p:nvSpPr>
          <p:cNvPr id="9" name="Text 7"/>
          <p:cNvSpPr txBox="1"/>
          <p:nvPr/>
        </p:nvSpPr>
        <p:spPr>
          <a:xfrm>
            <a:off x="594360" y="1417320"/>
            <a:ext cx="5120640" cy="384048"/>
          </a:xfrm>
          <a:prstGeom prst="rect">
            <a:avLst/>
          </a:prstGeom>
          <a:noFill/>
          <a:ln/>
        </p:spPr>
        <p:txBody>
          <a:bodyPr wrap="square" lIns="0" tIns="0" rIns="0" bIns="0" rtlCol="0" anchor="ctr"/>
          <a:lstStyle/>
          <a:p>
            <a:pPr indent="0" marL="0">
              <a:buNone/>
            </a:pPr>
            <a:r>
              <a:rPr lang="en-US" sz="1300" b="1" dirty="0">
                <a:solidFill>
                  <a:srgbClr val="FF433D"/>
                </a:solidFill>
                <a:latin typeface="Courier New" pitchFamily="34" charset="0"/>
                <a:ea typeface="Courier New" pitchFamily="34" charset="-122"/>
                <a:cs typeface="Courier New" pitchFamily="34" charset="-120"/>
              </a:rPr>
              <a:t>CICLO</a:t>
            </a:r>
            <a:endParaRPr lang="en-US" sz="1300" dirty="0"/>
          </a:p>
        </p:txBody>
      </p:sp>
      <p:sp>
        <p:nvSpPr>
          <p:cNvPr id="10" name="Text 8"/>
          <p:cNvSpPr txBox="1"/>
          <p:nvPr/>
        </p:nvSpPr>
        <p:spPr>
          <a:xfrm>
            <a:off x="594360" y="183794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Dependencia circular detectada (A→B→C→A). El CPM no puede calcular. Debe eliminarse.</a:t>
            </a:r>
            <a:endParaRPr lang="en-US" sz="1000" dirty="0"/>
          </a:p>
        </p:txBody>
      </p:sp>
      <p:sp>
        <p:nvSpPr>
          <p:cNvPr id="11" name="Shape 9"/>
          <p:cNvSpPr/>
          <p:nvPr/>
        </p:nvSpPr>
        <p:spPr>
          <a:xfrm>
            <a:off x="6263640" y="1325880"/>
            <a:ext cx="5486400" cy="1078992"/>
          </a:xfrm>
          <a:prstGeom prst="roundRect">
            <a:avLst>
              <a:gd name="adj" fmla="val 6780"/>
            </a:avLst>
          </a:prstGeom>
          <a:solidFill>
            <a:srgbClr val="0D0D0D"/>
          </a:solidFill>
          <a:ln w="12700">
            <a:solidFill>
              <a:srgbClr val="FF433D"/>
            </a:solidFill>
            <a:prstDash val="solid"/>
          </a:ln>
        </p:spPr>
      </p:sp>
      <p:sp>
        <p:nvSpPr>
          <p:cNvPr id="12" name="Shape 10"/>
          <p:cNvSpPr/>
          <p:nvPr/>
        </p:nvSpPr>
        <p:spPr>
          <a:xfrm>
            <a:off x="6263640" y="1325880"/>
            <a:ext cx="54864" cy="1078992"/>
          </a:xfrm>
          <a:prstGeom prst="rect">
            <a:avLst/>
          </a:prstGeom>
          <a:solidFill>
            <a:srgbClr val="FF433D"/>
          </a:solidFill>
          <a:ln w="12700">
            <a:solidFill>
              <a:srgbClr val="FF433D"/>
            </a:solidFill>
            <a:prstDash val="solid"/>
          </a:ln>
        </p:spPr>
      </p:sp>
      <p:sp>
        <p:nvSpPr>
          <p:cNvPr id="13" name="Text 11"/>
          <p:cNvSpPr txBox="1"/>
          <p:nvPr/>
        </p:nvSpPr>
        <p:spPr>
          <a:xfrm>
            <a:off x="6446520" y="1417320"/>
            <a:ext cx="5120640" cy="384048"/>
          </a:xfrm>
          <a:prstGeom prst="rect">
            <a:avLst/>
          </a:prstGeom>
          <a:noFill/>
          <a:ln/>
        </p:spPr>
        <p:txBody>
          <a:bodyPr wrap="square" lIns="0" tIns="0" rIns="0" bIns="0" rtlCol="0" anchor="ctr"/>
          <a:lstStyle/>
          <a:p>
            <a:pPr indent="0" marL="0">
              <a:buNone/>
            </a:pPr>
            <a:r>
              <a:rPr lang="en-US" sz="1300" b="1" dirty="0">
                <a:solidFill>
                  <a:srgbClr val="FF433D"/>
                </a:solidFill>
                <a:latin typeface="Courier New" pitchFamily="34" charset="0"/>
                <a:ea typeface="Courier New" pitchFamily="34" charset="-122"/>
                <a:cs typeface="Courier New" pitchFamily="34" charset="-120"/>
              </a:rPr>
              <a:t>RESTRICCION_CONFLICTO</a:t>
            </a:r>
            <a:endParaRPr lang="en-US" sz="1300" dirty="0"/>
          </a:p>
        </p:txBody>
      </p:sp>
      <p:sp>
        <p:nvSpPr>
          <p:cNvPr id="14" name="Text 12"/>
          <p:cNvSpPr txBox="1"/>
          <p:nvPr/>
        </p:nvSpPr>
        <p:spPr>
          <a:xfrm>
            <a:off x="6446520" y="183794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Una restricción de fecha conflicta con la lógica CPM calculada.</a:t>
            </a:r>
            <a:endParaRPr lang="en-US" sz="1000" dirty="0"/>
          </a:p>
        </p:txBody>
      </p:sp>
      <p:sp>
        <p:nvSpPr>
          <p:cNvPr id="15" name="Shape 13"/>
          <p:cNvSpPr/>
          <p:nvPr/>
        </p:nvSpPr>
        <p:spPr>
          <a:xfrm>
            <a:off x="411480" y="2560320"/>
            <a:ext cx="5486400" cy="1078992"/>
          </a:xfrm>
          <a:prstGeom prst="roundRect">
            <a:avLst>
              <a:gd name="adj" fmla="val 6780"/>
            </a:avLst>
          </a:prstGeom>
          <a:solidFill>
            <a:srgbClr val="0D0D0D"/>
          </a:solidFill>
          <a:ln w="12700">
            <a:solidFill>
              <a:srgbClr val="FFA028"/>
            </a:solidFill>
            <a:prstDash val="solid"/>
          </a:ln>
        </p:spPr>
      </p:sp>
      <p:sp>
        <p:nvSpPr>
          <p:cNvPr id="16" name="Shape 14"/>
          <p:cNvSpPr/>
          <p:nvPr/>
        </p:nvSpPr>
        <p:spPr>
          <a:xfrm>
            <a:off x="411480" y="2560320"/>
            <a:ext cx="54864" cy="1078992"/>
          </a:xfrm>
          <a:prstGeom prst="rect">
            <a:avLst/>
          </a:prstGeom>
          <a:solidFill>
            <a:srgbClr val="FFA028"/>
          </a:solidFill>
          <a:ln w="12700">
            <a:solidFill>
              <a:srgbClr val="FFA028"/>
            </a:solidFill>
            <a:prstDash val="solid"/>
          </a:ln>
        </p:spPr>
      </p:sp>
      <p:sp>
        <p:nvSpPr>
          <p:cNvPr id="17" name="Text 15"/>
          <p:cNvSpPr txBox="1"/>
          <p:nvPr/>
        </p:nvSpPr>
        <p:spPr>
          <a:xfrm>
            <a:off x="594360" y="2651760"/>
            <a:ext cx="5120640" cy="384048"/>
          </a:xfrm>
          <a:prstGeom prst="rect">
            <a:avLst/>
          </a:prstGeom>
          <a:noFill/>
          <a:ln/>
        </p:spPr>
        <p:txBody>
          <a:bodyPr wrap="square" lIns="0" tIns="0" rIns="0" bIns="0" rtlCol="0" anchor="ctr"/>
          <a:lstStyle/>
          <a:p>
            <a:pPr indent="0" marL="0">
              <a:buNone/>
            </a:pPr>
            <a:r>
              <a:rPr lang="en-US" sz="1300" b="1" dirty="0">
                <a:solidFill>
                  <a:srgbClr val="FFA028"/>
                </a:solidFill>
                <a:latin typeface="Courier New" pitchFamily="34" charset="0"/>
                <a:ea typeface="Courier New" pitchFamily="34" charset="-122"/>
                <a:cs typeface="Courier New" pitchFamily="34" charset="-120"/>
              </a:rPr>
              <a:t>INICIO_RECORTADO</a:t>
            </a:r>
            <a:endParaRPr lang="en-US" sz="1300" dirty="0"/>
          </a:p>
        </p:txBody>
      </p:sp>
      <p:sp>
        <p:nvSpPr>
          <p:cNvPr id="18" name="Text 16"/>
          <p:cNvSpPr txBox="1"/>
          <p:nvPr/>
        </p:nvSpPr>
        <p:spPr>
          <a:xfrm>
            <a:off x="594360" y="307238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La fecha de inicio fue forzada más tarde que lo que dicta la lógica. Posible error.</a:t>
            </a:r>
            <a:endParaRPr lang="en-US" sz="1000" dirty="0"/>
          </a:p>
        </p:txBody>
      </p:sp>
      <p:sp>
        <p:nvSpPr>
          <p:cNvPr id="19" name="Shape 17"/>
          <p:cNvSpPr/>
          <p:nvPr/>
        </p:nvSpPr>
        <p:spPr>
          <a:xfrm>
            <a:off x="6263640" y="2560320"/>
            <a:ext cx="5486400" cy="1078992"/>
          </a:xfrm>
          <a:prstGeom prst="roundRect">
            <a:avLst>
              <a:gd name="adj" fmla="val 6780"/>
            </a:avLst>
          </a:prstGeom>
          <a:solidFill>
            <a:srgbClr val="0D0D0D"/>
          </a:solidFill>
          <a:ln w="12700">
            <a:solidFill>
              <a:srgbClr val="FFA028"/>
            </a:solidFill>
            <a:prstDash val="solid"/>
          </a:ln>
        </p:spPr>
      </p:sp>
      <p:sp>
        <p:nvSpPr>
          <p:cNvPr id="20" name="Shape 18"/>
          <p:cNvSpPr/>
          <p:nvPr/>
        </p:nvSpPr>
        <p:spPr>
          <a:xfrm>
            <a:off x="6263640" y="2560320"/>
            <a:ext cx="54864" cy="1078992"/>
          </a:xfrm>
          <a:prstGeom prst="rect">
            <a:avLst/>
          </a:prstGeom>
          <a:solidFill>
            <a:srgbClr val="FFA028"/>
          </a:solidFill>
          <a:ln w="12700">
            <a:solidFill>
              <a:srgbClr val="FFA028"/>
            </a:solidFill>
            <a:prstDash val="solid"/>
          </a:ln>
        </p:spPr>
      </p:sp>
      <p:sp>
        <p:nvSpPr>
          <p:cNvPr id="21" name="Text 19"/>
          <p:cNvSpPr txBox="1"/>
          <p:nvPr/>
        </p:nvSpPr>
        <p:spPr>
          <a:xfrm>
            <a:off x="6446520" y="2651760"/>
            <a:ext cx="5120640" cy="384048"/>
          </a:xfrm>
          <a:prstGeom prst="rect">
            <a:avLst/>
          </a:prstGeom>
          <a:noFill/>
          <a:ln/>
        </p:spPr>
        <p:txBody>
          <a:bodyPr wrap="square" lIns="0" tIns="0" rIns="0" bIns="0" rtlCol="0" anchor="ctr"/>
          <a:lstStyle/>
          <a:p>
            <a:pPr indent="0" marL="0">
              <a:buNone/>
            </a:pPr>
            <a:r>
              <a:rPr lang="en-US" sz="1300" b="1" dirty="0">
                <a:solidFill>
                  <a:srgbClr val="FFA028"/>
                </a:solidFill>
                <a:latin typeface="Courier New" pitchFamily="34" charset="0"/>
                <a:ea typeface="Courier New" pitchFamily="34" charset="-122"/>
                <a:cs typeface="Courier New" pitchFamily="34" charset="-120"/>
              </a:rPr>
              <a:t>FUERA_DE_SECUENCIA</a:t>
            </a:r>
            <a:endParaRPr lang="en-US" sz="1300" dirty="0"/>
          </a:p>
        </p:txBody>
      </p:sp>
      <p:sp>
        <p:nvSpPr>
          <p:cNvPr id="22" name="Text 20"/>
          <p:cNvSpPr txBox="1"/>
          <p:nvPr/>
        </p:nvSpPr>
        <p:spPr>
          <a:xfrm>
            <a:off x="6446520" y="307238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Una actividad reporta avance antes de que su predecesora haya terminado.</a:t>
            </a:r>
            <a:endParaRPr lang="en-US" sz="1000" dirty="0"/>
          </a:p>
        </p:txBody>
      </p:sp>
      <p:sp>
        <p:nvSpPr>
          <p:cNvPr id="23" name="Shape 21"/>
          <p:cNvSpPr/>
          <p:nvPr/>
        </p:nvSpPr>
        <p:spPr>
          <a:xfrm>
            <a:off x="411480" y="3794760"/>
            <a:ext cx="5486400" cy="1078992"/>
          </a:xfrm>
          <a:prstGeom prst="roundRect">
            <a:avLst>
              <a:gd name="adj" fmla="val 6780"/>
            </a:avLst>
          </a:prstGeom>
          <a:solidFill>
            <a:srgbClr val="0D0D0D"/>
          </a:solidFill>
          <a:ln w="12700">
            <a:solidFill>
              <a:srgbClr val="FFA028"/>
            </a:solidFill>
            <a:prstDash val="solid"/>
          </a:ln>
        </p:spPr>
      </p:sp>
      <p:sp>
        <p:nvSpPr>
          <p:cNvPr id="24" name="Shape 22"/>
          <p:cNvSpPr/>
          <p:nvPr/>
        </p:nvSpPr>
        <p:spPr>
          <a:xfrm>
            <a:off x="411480" y="3794760"/>
            <a:ext cx="54864" cy="1078992"/>
          </a:xfrm>
          <a:prstGeom prst="rect">
            <a:avLst/>
          </a:prstGeom>
          <a:solidFill>
            <a:srgbClr val="FFA028"/>
          </a:solidFill>
          <a:ln w="12700">
            <a:solidFill>
              <a:srgbClr val="FFA028"/>
            </a:solidFill>
            <a:prstDash val="solid"/>
          </a:ln>
        </p:spPr>
      </p:sp>
      <p:sp>
        <p:nvSpPr>
          <p:cNvPr id="25" name="Text 23"/>
          <p:cNvSpPr txBox="1"/>
          <p:nvPr/>
        </p:nvSpPr>
        <p:spPr>
          <a:xfrm>
            <a:off x="594360" y="3886200"/>
            <a:ext cx="5120640" cy="384048"/>
          </a:xfrm>
          <a:prstGeom prst="rect">
            <a:avLst/>
          </a:prstGeom>
          <a:noFill/>
          <a:ln/>
        </p:spPr>
        <p:txBody>
          <a:bodyPr wrap="square" lIns="0" tIns="0" rIns="0" bIns="0" rtlCol="0" anchor="ctr"/>
          <a:lstStyle/>
          <a:p>
            <a:pPr indent="0" marL="0">
              <a:buNone/>
            </a:pPr>
            <a:r>
              <a:rPr lang="en-US" sz="1300" b="1" dirty="0">
                <a:solidFill>
                  <a:srgbClr val="FFA028"/>
                </a:solidFill>
                <a:latin typeface="Courier New" pitchFamily="34" charset="0"/>
                <a:ea typeface="Courier New" pitchFamily="34" charset="-122"/>
                <a:cs typeface="Courier New" pitchFamily="34" charset="-120"/>
              </a:rPr>
              <a:t>LAG_HIGH</a:t>
            </a:r>
            <a:endParaRPr lang="en-US" sz="1300" dirty="0"/>
          </a:p>
        </p:txBody>
      </p:sp>
      <p:sp>
        <p:nvSpPr>
          <p:cNvPr id="26" name="Text 24"/>
          <p:cNvSpPr txBox="1"/>
          <p:nvPr/>
        </p:nvSpPr>
        <p:spPr>
          <a:xfrm>
            <a:off x="594360" y="430682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El lag es mayor a 5 días (umbral DCMA). Revisar si está justificado.</a:t>
            </a:r>
            <a:endParaRPr lang="en-US" sz="1000" dirty="0"/>
          </a:p>
        </p:txBody>
      </p:sp>
      <p:sp>
        <p:nvSpPr>
          <p:cNvPr id="27" name="Shape 25"/>
          <p:cNvSpPr/>
          <p:nvPr/>
        </p:nvSpPr>
        <p:spPr>
          <a:xfrm>
            <a:off x="6263640" y="3794760"/>
            <a:ext cx="5486400" cy="1078992"/>
          </a:xfrm>
          <a:prstGeom prst="roundRect">
            <a:avLst>
              <a:gd name="adj" fmla="val 6780"/>
            </a:avLst>
          </a:prstGeom>
          <a:solidFill>
            <a:srgbClr val="0D0D0D"/>
          </a:solidFill>
          <a:ln w="12700">
            <a:solidFill>
              <a:srgbClr val="FFA028"/>
            </a:solidFill>
            <a:prstDash val="solid"/>
          </a:ln>
        </p:spPr>
      </p:sp>
      <p:sp>
        <p:nvSpPr>
          <p:cNvPr id="28" name="Shape 26"/>
          <p:cNvSpPr/>
          <p:nvPr/>
        </p:nvSpPr>
        <p:spPr>
          <a:xfrm>
            <a:off x="6263640" y="3794760"/>
            <a:ext cx="54864" cy="1078992"/>
          </a:xfrm>
          <a:prstGeom prst="rect">
            <a:avLst/>
          </a:prstGeom>
          <a:solidFill>
            <a:srgbClr val="FFA028"/>
          </a:solidFill>
          <a:ln w="12700">
            <a:solidFill>
              <a:srgbClr val="FFA028"/>
            </a:solidFill>
            <a:prstDash val="solid"/>
          </a:ln>
        </p:spPr>
      </p:sp>
      <p:sp>
        <p:nvSpPr>
          <p:cNvPr id="29" name="Text 27"/>
          <p:cNvSpPr txBox="1"/>
          <p:nvPr/>
        </p:nvSpPr>
        <p:spPr>
          <a:xfrm>
            <a:off x="6446520" y="3886200"/>
            <a:ext cx="5120640" cy="384048"/>
          </a:xfrm>
          <a:prstGeom prst="rect">
            <a:avLst/>
          </a:prstGeom>
          <a:noFill/>
          <a:ln/>
        </p:spPr>
        <p:txBody>
          <a:bodyPr wrap="square" lIns="0" tIns="0" rIns="0" bIns="0" rtlCol="0" anchor="ctr"/>
          <a:lstStyle/>
          <a:p>
            <a:pPr indent="0" marL="0">
              <a:buNone/>
            </a:pPr>
            <a:r>
              <a:rPr lang="en-US" sz="1300" b="1" dirty="0">
                <a:solidFill>
                  <a:srgbClr val="FFA028"/>
                </a:solidFill>
                <a:latin typeface="Courier New" pitchFamily="34" charset="0"/>
                <a:ea typeface="Courier New" pitchFamily="34" charset="-122"/>
                <a:cs typeface="Courier New" pitchFamily="34" charset="-120"/>
              </a:rPr>
              <a:t>LEAD</a:t>
            </a:r>
            <a:endParaRPr lang="en-US" sz="1300" dirty="0"/>
          </a:p>
        </p:txBody>
      </p:sp>
      <p:sp>
        <p:nvSpPr>
          <p:cNvPr id="30" name="Text 28"/>
          <p:cNvSpPr txBox="1"/>
          <p:nvPr/>
        </p:nvSpPr>
        <p:spPr>
          <a:xfrm>
            <a:off x="6446520" y="430682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Existe un lead (adelanto negativo). DCMA considera 0% de leads como meta.</a:t>
            </a:r>
            <a:endParaRPr lang="en-US" sz="1000" dirty="0"/>
          </a:p>
        </p:txBody>
      </p:sp>
      <p:sp>
        <p:nvSpPr>
          <p:cNvPr id="31" name="Shape 29"/>
          <p:cNvSpPr/>
          <p:nvPr/>
        </p:nvSpPr>
        <p:spPr>
          <a:xfrm>
            <a:off x="411480" y="5029200"/>
            <a:ext cx="5486400" cy="1078992"/>
          </a:xfrm>
          <a:prstGeom prst="roundRect">
            <a:avLst>
              <a:gd name="adj" fmla="val 6780"/>
            </a:avLst>
          </a:prstGeom>
          <a:solidFill>
            <a:srgbClr val="0D0D0D"/>
          </a:solidFill>
          <a:ln w="12700">
            <a:solidFill>
              <a:srgbClr val="FFA028"/>
            </a:solidFill>
            <a:prstDash val="solid"/>
          </a:ln>
        </p:spPr>
      </p:sp>
      <p:sp>
        <p:nvSpPr>
          <p:cNvPr id="32" name="Shape 30"/>
          <p:cNvSpPr/>
          <p:nvPr/>
        </p:nvSpPr>
        <p:spPr>
          <a:xfrm>
            <a:off x="411480" y="5029200"/>
            <a:ext cx="54864" cy="1078992"/>
          </a:xfrm>
          <a:prstGeom prst="rect">
            <a:avLst/>
          </a:prstGeom>
          <a:solidFill>
            <a:srgbClr val="FFA028"/>
          </a:solidFill>
          <a:ln w="12700">
            <a:solidFill>
              <a:srgbClr val="FFA028"/>
            </a:solidFill>
            <a:prstDash val="solid"/>
          </a:ln>
        </p:spPr>
      </p:sp>
      <p:sp>
        <p:nvSpPr>
          <p:cNvPr id="33" name="Text 31"/>
          <p:cNvSpPr txBox="1"/>
          <p:nvPr/>
        </p:nvSpPr>
        <p:spPr>
          <a:xfrm>
            <a:off x="594360" y="5120640"/>
            <a:ext cx="5120640" cy="384048"/>
          </a:xfrm>
          <a:prstGeom prst="rect">
            <a:avLst/>
          </a:prstGeom>
          <a:noFill/>
          <a:ln/>
        </p:spPr>
        <p:txBody>
          <a:bodyPr wrap="square" lIns="0" tIns="0" rIns="0" bIns="0" rtlCol="0" anchor="ctr"/>
          <a:lstStyle/>
          <a:p>
            <a:pPr indent="0" marL="0">
              <a:buNone/>
            </a:pPr>
            <a:r>
              <a:rPr lang="en-US" sz="1300" b="1" dirty="0">
                <a:solidFill>
                  <a:srgbClr val="FFA028"/>
                </a:solidFill>
                <a:latin typeface="Courier New" pitchFamily="34" charset="0"/>
                <a:ea typeface="Courier New" pitchFamily="34" charset="-122"/>
                <a:cs typeface="Courier New" pitchFamily="34" charset="-120"/>
              </a:rPr>
              <a:t>HARD_CONSTRAINT</a:t>
            </a:r>
            <a:endParaRPr lang="en-US" sz="1300" dirty="0"/>
          </a:p>
        </p:txBody>
      </p:sp>
      <p:sp>
        <p:nvSpPr>
          <p:cNvPr id="34" name="Text 32"/>
          <p:cNvSpPr txBox="1"/>
          <p:nvPr/>
        </p:nvSpPr>
        <p:spPr>
          <a:xfrm>
            <a:off x="594360" y="554126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Restricción dura (MSO/MFO) que puede generar float negativo.</a:t>
            </a:r>
            <a:endParaRPr lang="en-US" sz="1000" dirty="0"/>
          </a:p>
        </p:txBody>
      </p:sp>
      <p:sp>
        <p:nvSpPr>
          <p:cNvPr id="35" name="Shape 33"/>
          <p:cNvSpPr/>
          <p:nvPr/>
        </p:nvSpPr>
        <p:spPr>
          <a:xfrm>
            <a:off x="6263640" y="5029200"/>
            <a:ext cx="5486400" cy="1078992"/>
          </a:xfrm>
          <a:prstGeom prst="roundRect">
            <a:avLst>
              <a:gd name="adj" fmla="val 6780"/>
            </a:avLst>
          </a:prstGeom>
          <a:solidFill>
            <a:srgbClr val="0D0D0D"/>
          </a:solidFill>
          <a:ln w="12700">
            <a:solidFill>
              <a:srgbClr val="A0A0A0"/>
            </a:solidFill>
            <a:prstDash val="solid"/>
          </a:ln>
        </p:spPr>
      </p:sp>
      <p:sp>
        <p:nvSpPr>
          <p:cNvPr id="36" name="Shape 34"/>
          <p:cNvSpPr/>
          <p:nvPr/>
        </p:nvSpPr>
        <p:spPr>
          <a:xfrm>
            <a:off x="6263640" y="5029200"/>
            <a:ext cx="54864" cy="1078992"/>
          </a:xfrm>
          <a:prstGeom prst="rect">
            <a:avLst/>
          </a:prstGeom>
          <a:solidFill>
            <a:srgbClr val="A0A0A0"/>
          </a:solidFill>
          <a:ln w="12700">
            <a:solidFill>
              <a:srgbClr val="A0A0A0"/>
            </a:solidFill>
            <a:prstDash val="solid"/>
          </a:ln>
        </p:spPr>
      </p:sp>
      <p:sp>
        <p:nvSpPr>
          <p:cNvPr id="37" name="Text 35"/>
          <p:cNvSpPr txBox="1"/>
          <p:nvPr/>
        </p:nvSpPr>
        <p:spPr>
          <a:xfrm>
            <a:off x="6446520" y="5120640"/>
            <a:ext cx="5120640" cy="384048"/>
          </a:xfrm>
          <a:prstGeom prst="rect">
            <a:avLst/>
          </a:prstGeom>
          <a:noFill/>
          <a:ln/>
        </p:spPr>
        <p:txBody>
          <a:bodyPr wrap="square" lIns="0" tIns="0" rIns="0" bIns="0" rtlCol="0" anchor="ctr"/>
          <a:lstStyle/>
          <a:p>
            <a:pPr indent="0" marL="0">
              <a:buNone/>
            </a:pPr>
            <a:r>
              <a:rPr lang="en-US" sz="1300" b="1" dirty="0">
                <a:solidFill>
                  <a:srgbClr val="A0A0A0"/>
                </a:solidFill>
                <a:latin typeface="Courier New" pitchFamily="34" charset="0"/>
                <a:ea typeface="Courier New" pitchFamily="34" charset="-122"/>
                <a:cs typeface="Courier New" pitchFamily="34" charset="-120"/>
              </a:rPr>
              <a:t>NO_PRED</a:t>
            </a:r>
            <a:endParaRPr lang="en-US" sz="1300" dirty="0"/>
          </a:p>
        </p:txBody>
      </p:sp>
      <p:sp>
        <p:nvSpPr>
          <p:cNvPr id="38" name="Text 36"/>
          <p:cNvSpPr txBox="1"/>
          <p:nvPr/>
        </p:nvSpPr>
        <p:spPr>
          <a:xfrm>
            <a:off x="6446520" y="5541264"/>
            <a:ext cx="5120640" cy="475488"/>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La actividad no tiene predecesoras (excepto la primera). Puede afectar lógica.</a:t>
            </a:r>
            <a:endParaRPr lang="en-US" sz="1000" dirty="0"/>
          </a:p>
        </p:txBody>
      </p:sp>
      <p:sp>
        <p:nvSpPr>
          <p:cNvPr id="39" name="Shape 37"/>
          <p:cNvSpPr/>
          <p:nvPr/>
        </p:nvSpPr>
        <p:spPr>
          <a:xfrm>
            <a:off x="411480" y="6263640"/>
            <a:ext cx="11338560" cy="1005840"/>
          </a:xfrm>
          <a:prstGeom prst="roundRect">
            <a:avLst>
              <a:gd name="adj" fmla="val 7273"/>
            </a:avLst>
          </a:prstGeom>
          <a:solidFill>
            <a:srgbClr val="0D0D0D"/>
          </a:solidFill>
          <a:ln w="12700">
            <a:solidFill>
              <a:srgbClr val="A0A0A0"/>
            </a:solidFill>
            <a:prstDash val="solid"/>
          </a:ln>
        </p:spPr>
      </p:sp>
      <p:sp>
        <p:nvSpPr>
          <p:cNvPr id="40" name="Shape 38"/>
          <p:cNvSpPr/>
          <p:nvPr/>
        </p:nvSpPr>
        <p:spPr>
          <a:xfrm>
            <a:off x="411480" y="6263640"/>
            <a:ext cx="54864" cy="1005840"/>
          </a:xfrm>
          <a:prstGeom prst="rect">
            <a:avLst/>
          </a:prstGeom>
          <a:solidFill>
            <a:srgbClr val="A0A0A0"/>
          </a:solidFill>
          <a:ln w="12700">
            <a:solidFill>
              <a:srgbClr val="A0A0A0"/>
            </a:solidFill>
            <a:prstDash val="solid"/>
          </a:ln>
        </p:spPr>
      </p:sp>
      <p:sp>
        <p:nvSpPr>
          <p:cNvPr id="41" name="Text 39"/>
          <p:cNvSpPr txBox="1"/>
          <p:nvPr/>
        </p:nvSpPr>
        <p:spPr>
          <a:xfrm>
            <a:off x="594360" y="6355080"/>
            <a:ext cx="3657600" cy="384048"/>
          </a:xfrm>
          <a:prstGeom prst="rect">
            <a:avLst/>
          </a:prstGeom>
          <a:noFill/>
          <a:ln/>
        </p:spPr>
        <p:txBody>
          <a:bodyPr wrap="square" lIns="0" tIns="0" rIns="0" bIns="0" rtlCol="0" anchor="ctr"/>
          <a:lstStyle/>
          <a:p>
            <a:pPr indent="0" marL="0">
              <a:buNone/>
            </a:pPr>
            <a:r>
              <a:rPr lang="en-US" sz="1300" b="1" dirty="0">
                <a:solidFill>
                  <a:srgbClr val="A0A0A0"/>
                </a:solidFill>
                <a:latin typeface="Courier New" pitchFamily="34" charset="0"/>
                <a:ea typeface="Courier New" pitchFamily="34" charset="-122"/>
                <a:cs typeface="Courier New" pitchFamily="34" charset="-120"/>
              </a:rPr>
              <a:t>NO_SUCC</a:t>
            </a:r>
            <a:endParaRPr lang="en-US" sz="1300" dirty="0"/>
          </a:p>
        </p:txBody>
      </p:sp>
      <p:sp>
        <p:nvSpPr>
          <p:cNvPr id="42" name="Text 40"/>
          <p:cNvSpPr txBox="1"/>
          <p:nvPr/>
        </p:nvSpPr>
        <p:spPr>
          <a:xfrm>
            <a:off x="4389120" y="6355080"/>
            <a:ext cx="7315200" cy="7315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La actividad no tiene sucesoras (excepto la última). Puede ser un colgante.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07</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Ruta Crítica CPM</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HT • HL • Restricciones • Near-Critical</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LA RUTA CRÍTICA</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463040"/>
          </a:xfrm>
          <a:prstGeom prst="roundRect">
            <a:avLst>
              <a:gd name="adj" fmla="val 5000"/>
            </a:avLst>
          </a:prstGeom>
          <a:solidFill>
            <a:srgbClr val="1A1A1A"/>
          </a:solidFill>
          <a:ln w="12700">
            <a:solidFill>
              <a:srgbClr val="FF433D"/>
            </a:solidFill>
            <a:prstDash val="solid"/>
          </a:ln>
        </p:spPr>
      </p:sp>
      <p:sp>
        <p:nvSpPr>
          <p:cNvPr id="7" name="Shape 5"/>
          <p:cNvSpPr/>
          <p:nvPr/>
        </p:nvSpPr>
        <p:spPr>
          <a:xfrm>
            <a:off x="411480" y="914400"/>
            <a:ext cx="11338560" cy="64008"/>
          </a:xfrm>
          <a:prstGeom prst="rect">
            <a:avLst/>
          </a:prstGeom>
          <a:solidFill>
            <a:srgbClr val="FF433D"/>
          </a:solidFill>
          <a:ln w="12700">
            <a:solidFill>
              <a:srgbClr val="FF433D"/>
            </a:solidFill>
            <a:prstDash val="solid"/>
          </a:ln>
        </p:spPr>
      </p:sp>
      <p:sp>
        <p:nvSpPr>
          <p:cNvPr id="8" name="Text 6"/>
          <p:cNvSpPr txBox="1"/>
          <p:nvPr/>
        </p:nvSpPr>
        <p:spPr>
          <a:xfrm>
            <a:off x="594360" y="1051560"/>
            <a:ext cx="10972800" cy="1188720"/>
          </a:xfrm>
          <a:prstGeom prst="rect">
            <a:avLst/>
          </a:prstGeom>
          <a:noFill/>
          <a:ln/>
        </p:spPr>
        <p:txBody>
          <a:bodyPr wrap="square" lIns="0" tIns="0" rIns="0" bIns="0" rtlCol="0" anchor="ctr"/>
          <a:lstStyle/>
          <a:p>
            <a:pPr indent="0" marL="0">
              <a:buNone/>
            </a:pPr>
            <a:r>
              <a:rPr lang="en-US" sz="1400" dirty="0">
                <a:solidFill>
                  <a:srgbClr val="FFFFFF"/>
                </a:solidFill>
                <a:latin typeface="Epilogue" pitchFamily="34" charset="0"/>
                <a:ea typeface="Epilogue" pitchFamily="34" charset="-122"/>
                <a:cs typeface="Epilogue" pitchFamily="34" charset="-120"/>
              </a:rPr>
              <a:t>🔴 La ruta crítica es la secuencia de actividades cuya Holgura Total (HT) es igual a cero. Cualquier retraso en una actividad crítica retrasa la fecha de fin del proyecto.</a:t>
            </a:r>
            <a:endParaRPr lang="en-US" sz="1400" dirty="0"/>
          </a:p>
        </p:txBody>
      </p:sp>
      <p:sp>
        <p:nvSpPr>
          <p:cNvPr id="9" name="Shape 7"/>
          <p:cNvSpPr/>
          <p:nvPr/>
        </p:nvSpPr>
        <p:spPr>
          <a:xfrm>
            <a:off x="411480" y="2606040"/>
            <a:ext cx="3611880" cy="1828800"/>
          </a:xfrm>
          <a:prstGeom prst="roundRect">
            <a:avLst>
              <a:gd name="adj" fmla="val 4000"/>
            </a:avLst>
          </a:prstGeom>
          <a:solidFill>
            <a:srgbClr val="1A1A1A"/>
          </a:solidFill>
          <a:ln w="12700">
            <a:solidFill>
              <a:srgbClr val="333333"/>
            </a:solidFill>
            <a:prstDash val="solid"/>
          </a:ln>
        </p:spPr>
      </p:sp>
      <p:sp>
        <p:nvSpPr>
          <p:cNvPr id="10" name="Shape 8"/>
          <p:cNvSpPr/>
          <p:nvPr/>
        </p:nvSpPr>
        <p:spPr>
          <a:xfrm>
            <a:off x="411480" y="2606040"/>
            <a:ext cx="3611880" cy="45720"/>
          </a:xfrm>
          <a:prstGeom prst="rect">
            <a:avLst/>
          </a:prstGeom>
          <a:solidFill>
            <a:srgbClr val="FF433D"/>
          </a:solidFill>
          <a:ln w="12700">
            <a:solidFill>
              <a:srgbClr val="FF433D"/>
            </a:solidFill>
            <a:prstDash val="solid"/>
          </a:ln>
        </p:spPr>
      </p:sp>
      <p:sp>
        <p:nvSpPr>
          <p:cNvPr id="11" name="Text 9"/>
          <p:cNvSpPr txBox="1"/>
          <p:nvPr/>
        </p:nvSpPr>
        <p:spPr>
          <a:xfrm>
            <a:off x="548640" y="2770632"/>
            <a:ext cx="3337560" cy="877824"/>
          </a:xfrm>
          <a:prstGeom prst="rect">
            <a:avLst/>
          </a:prstGeom>
          <a:noFill/>
          <a:ln/>
        </p:spPr>
        <p:txBody>
          <a:bodyPr wrap="square" lIns="0" tIns="0" rIns="0" bIns="0" rtlCol="0" anchor="ctr"/>
          <a:lstStyle/>
          <a:p>
            <a:pPr algn="l" indent="0" marL="0">
              <a:buNone/>
            </a:pPr>
            <a:r>
              <a:rPr lang="en-US" sz="3600" b="1" dirty="0">
                <a:solidFill>
                  <a:srgbClr val="FF433D"/>
                </a:solidFill>
                <a:latin typeface="Epilogue" pitchFamily="34" charset="0"/>
                <a:ea typeface="Epilogue" pitchFamily="34" charset="-122"/>
                <a:cs typeface="Epilogue" pitchFamily="34" charset="-120"/>
              </a:rPr>
              <a:t>HT = 0</a:t>
            </a:r>
            <a:endParaRPr lang="en-US" sz="3600" dirty="0"/>
          </a:p>
        </p:txBody>
      </p:sp>
      <p:sp>
        <p:nvSpPr>
          <p:cNvPr id="12" name="Text 10"/>
          <p:cNvSpPr txBox="1"/>
          <p:nvPr/>
        </p:nvSpPr>
        <p:spPr>
          <a:xfrm>
            <a:off x="548640" y="3739896"/>
            <a:ext cx="333756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Actividades Críticas</a:t>
            </a:r>
            <a:endParaRPr lang="en-US" sz="1000" dirty="0"/>
          </a:p>
        </p:txBody>
      </p:sp>
      <p:sp>
        <p:nvSpPr>
          <p:cNvPr id="13" name="Shape 11"/>
          <p:cNvSpPr/>
          <p:nvPr/>
        </p:nvSpPr>
        <p:spPr>
          <a:xfrm>
            <a:off x="4343400" y="2606040"/>
            <a:ext cx="3611880" cy="1828800"/>
          </a:xfrm>
          <a:prstGeom prst="roundRect">
            <a:avLst>
              <a:gd name="adj" fmla="val 4000"/>
            </a:avLst>
          </a:prstGeom>
          <a:solidFill>
            <a:srgbClr val="1A1A1A"/>
          </a:solidFill>
          <a:ln w="12700">
            <a:solidFill>
              <a:srgbClr val="333333"/>
            </a:solidFill>
            <a:prstDash val="solid"/>
          </a:ln>
        </p:spPr>
      </p:sp>
      <p:sp>
        <p:nvSpPr>
          <p:cNvPr id="14" name="Shape 12"/>
          <p:cNvSpPr/>
          <p:nvPr/>
        </p:nvSpPr>
        <p:spPr>
          <a:xfrm>
            <a:off x="4343400" y="2606040"/>
            <a:ext cx="3611880" cy="45720"/>
          </a:xfrm>
          <a:prstGeom prst="rect">
            <a:avLst/>
          </a:prstGeom>
          <a:solidFill>
            <a:srgbClr val="FB8C00"/>
          </a:solidFill>
          <a:ln w="12700">
            <a:solidFill>
              <a:srgbClr val="FB8C00"/>
            </a:solidFill>
            <a:prstDash val="solid"/>
          </a:ln>
        </p:spPr>
      </p:sp>
      <p:sp>
        <p:nvSpPr>
          <p:cNvPr id="15" name="Text 13"/>
          <p:cNvSpPr txBox="1"/>
          <p:nvPr/>
        </p:nvSpPr>
        <p:spPr>
          <a:xfrm>
            <a:off x="4480560" y="2770632"/>
            <a:ext cx="3337560" cy="877824"/>
          </a:xfrm>
          <a:prstGeom prst="rect">
            <a:avLst/>
          </a:prstGeom>
          <a:noFill/>
          <a:ln/>
        </p:spPr>
        <p:txBody>
          <a:bodyPr wrap="square" lIns="0" tIns="0" rIns="0" bIns="0" rtlCol="0" anchor="ctr"/>
          <a:lstStyle/>
          <a:p>
            <a:pPr algn="l" indent="0" marL="0">
              <a:buNone/>
            </a:pPr>
            <a:r>
              <a:rPr lang="en-US" sz="3600" b="1" dirty="0">
                <a:solidFill>
                  <a:srgbClr val="FB8C00"/>
                </a:solidFill>
                <a:latin typeface="Epilogue" pitchFamily="34" charset="0"/>
                <a:ea typeface="Epilogue" pitchFamily="34" charset="-122"/>
                <a:cs typeface="Epilogue" pitchFamily="34" charset="-120"/>
              </a:rPr>
              <a:t>0 &lt; HT ≤ 5d</a:t>
            </a:r>
            <a:endParaRPr lang="en-US" sz="3600" dirty="0"/>
          </a:p>
        </p:txBody>
      </p:sp>
      <p:sp>
        <p:nvSpPr>
          <p:cNvPr id="16" name="Text 14"/>
          <p:cNvSpPr txBox="1"/>
          <p:nvPr/>
        </p:nvSpPr>
        <p:spPr>
          <a:xfrm>
            <a:off x="4480560" y="3739896"/>
            <a:ext cx="333756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Near-Critical (naranja)</a:t>
            </a:r>
            <a:endParaRPr lang="en-US" sz="1000" dirty="0"/>
          </a:p>
        </p:txBody>
      </p:sp>
      <p:sp>
        <p:nvSpPr>
          <p:cNvPr id="17" name="Shape 15"/>
          <p:cNvSpPr/>
          <p:nvPr/>
        </p:nvSpPr>
        <p:spPr>
          <a:xfrm>
            <a:off x="8275320" y="2606040"/>
            <a:ext cx="3611880" cy="1828800"/>
          </a:xfrm>
          <a:prstGeom prst="roundRect">
            <a:avLst>
              <a:gd name="adj" fmla="val 4000"/>
            </a:avLst>
          </a:prstGeom>
          <a:solidFill>
            <a:srgbClr val="1A1A1A"/>
          </a:solidFill>
          <a:ln w="12700">
            <a:solidFill>
              <a:srgbClr val="333333"/>
            </a:solidFill>
            <a:prstDash val="solid"/>
          </a:ln>
        </p:spPr>
      </p:sp>
      <p:sp>
        <p:nvSpPr>
          <p:cNvPr id="18" name="Shape 16"/>
          <p:cNvSpPr/>
          <p:nvPr/>
        </p:nvSpPr>
        <p:spPr>
          <a:xfrm>
            <a:off x="8275320" y="2606040"/>
            <a:ext cx="3611880" cy="45720"/>
          </a:xfrm>
          <a:prstGeom prst="rect">
            <a:avLst/>
          </a:prstGeom>
          <a:solidFill>
            <a:srgbClr val="1976D2"/>
          </a:solidFill>
          <a:ln w="12700">
            <a:solidFill>
              <a:srgbClr val="1976D2"/>
            </a:solidFill>
            <a:prstDash val="solid"/>
          </a:ln>
        </p:spPr>
      </p:sp>
      <p:sp>
        <p:nvSpPr>
          <p:cNvPr id="19" name="Text 17"/>
          <p:cNvSpPr txBox="1"/>
          <p:nvPr/>
        </p:nvSpPr>
        <p:spPr>
          <a:xfrm>
            <a:off x="8412480" y="2770632"/>
            <a:ext cx="3337560" cy="877824"/>
          </a:xfrm>
          <a:prstGeom prst="rect">
            <a:avLst/>
          </a:prstGeom>
          <a:noFill/>
          <a:ln/>
        </p:spPr>
        <p:txBody>
          <a:bodyPr wrap="square" lIns="0" tIns="0" rIns="0" bIns="0" rtlCol="0" anchor="ctr"/>
          <a:lstStyle/>
          <a:p>
            <a:pPr algn="l" indent="0" marL="0">
              <a:buNone/>
            </a:pPr>
            <a:r>
              <a:rPr lang="en-US" sz="3600" b="1" dirty="0">
                <a:solidFill>
                  <a:srgbClr val="1976D2"/>
                </a:solidFill>
                <a:latin typeface="Epilogue" pitchFamily="34" charset="0"/>
                <a:ea typeface="Epilogue" pitchFamily="34" charset="-122"/>
                <a:cs typeface="Epilogue" pitchFamily="34" charset="-120"/>
              </a:rPr>
              <a:t>HT &gt; 5d</a:t>
            </a:r>
            <a:endParaRPr lang="en-US" sz="3600" dirty="0"/>
          </a:p>
        </p:txBody>
      </p:sp>
      <p:sp>
        <p:nvSpPr>
          <p:cNvPr id="20" name="Text 18"/>
          <p:cNvSpPr txBox="1"/>
          <p:nvPr/>
        </p:nvSpPr>
        <p:spPr>
          <a:xfrm>
            <a:off x="8412480" y="3739896"/>
            <a:ext cx="333756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Actividad Normal (azul)</a:t>
            </a:r>
            <a:endParaRPr lang="en-US" sz="1000" dirty="0"/>
          </a:p>
        </p:txBody>
      </p:sp>
      <p:sp>
        <p:nvSpPr>
          <p:cNvPr id="21" name="Text 19"/>
          <p:cNvSpPr txBox="1"/>
          <p:nvPr/>
        </p:nvSpPr>
        <p:spPr>
          <a:xfrm>
            <a:off x="411480" y="4617720"/>
            <a:ext cx="11338560" cy="64008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Para ver solo la ruta crítica en el Gantt, usa el filtro "⚠ Ruta crítica" en la barra de filtros. Las barras rojas son las actividades críticas. La suma de sus duraciones = duración total del proyecto.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RESTRICCIONES DE FECHA</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Las restricciones permiten fijar o limitar las fechas de una actividad, ignorando parcialmente la lógica CPM:</a:t>
            </a:r>
            <a:endParaRPr lang="en-US" sz="1300" dirty="0"/>
          </a:p>
        </p:txBody>
      </p:sp>
      <p:sp>
        <p:nvSpPr>
          <p:cNvPr id="7" name="Shape 5"/>
          <p:cNvSpPr/>
          <p:nvPr/>
        </p:nvSpPr>
        <p:spPr>
          <a:xfrm>
            <a:off x="411480" y="1298448"/>
            <a:ext cx="5486400" cy="1170432"/>
          </a:xfrm>
          <a:prstGeom prst="roundRect">
            <a:avLst>
              <a:gd name="adj" fmla="val 6250"/>
            </a:avLst>
          </a:prstGeom>
          <a:solidFill>
            <a:srgbClr val="0D0D0D"/>
          </a:solidFill>
          <a:ln w="12700">
            <a:solidFill>
              <a:srgbClr val="198038"/>
            </a:solidFill>
            <a:prstDash val="solid"/>
          </a:ln>
        </p:spPr>
      </p:sp>
      <p:sp>
        <p:nvSpPr>
          <p:cNvPr id="8" name="Text 6"/>
          <p:cNvSpPr txBox="1"/>
          <p:nvPr/>
        </p:nvSpPr>
        <p:spPr>
          <a:xfrm>
            <a:off x="521208" y="1389888"/>
            <a:ext cx="1005840" cy="475488"/>
          </a:xfrm>
          <a:prstGeom prst="rect">
            <a:avLst/>
          </a:prstGeom>
          <a:noFill/>
          <a:ln/>
        </p:spPr>
        <p:txBody>
          <a:bodyPr wrap="square" lIns="0" tIns="0" rIns="0" bIns="0" rtlCol="0" anchor="ctr"/>
          <a:lstStyle/>
          <a:p>
            <a:pPr indent="0" marL="0">
              <a:buNone/>
            </a:pPr>
            <a:r>
              <a:rPr lang="en-US" sz="1700" b="1" dirty="0">
                <a:solidFill>
                  <a:srgbClr val="198038"/>
                </a:solidFill>
                <a:latin typeface="Courier New" pitchFamily="34" charset="0"/>
                <a:ea typeface="Courier New" pitchFamily="34" charset="-122"/>
                <a:cs typeface="Courier New" pitchFamily="34" charset="-120"/>
              </a:rPr>
              <a:t>ASAP</a:t>
            </a:r>
            <a:endParaRPr lang="en-US" sz="1700" dirty="0"/>
          </a:p>
        </p:txBody>
      </p:sp>
      <p:sp>
        <p:nvSpPr>
          <p:cNvPr id="9" name="Text 7"/>
          <p:cNvSpPr txBox="1"/>
          <p:nvPr/>
        </p:nvSpPr>
        <p:spPr>
          <a:xfrm>
            <a:off x="1600200" y="138988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As Soon As Possible</a:t>
            </a:r>
            <a:endParaRPr lang="en-US" sz="1300" dirty="0"/>
          </a:p>
        </p:txBody>
      </p:sp>
      <p:sp>
        <p:nvSpPr>
          <p:cNvPr id="10" name="Text 8"/>
          <p:cNvSpPr txBox="1"/>
          <p:nvPr/>
        </p:nvSpPr>
        <p:spPr>
          <a:xfrm>
            <a:off x="521208" y="195681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Lo antes posible. Comportamiento por defecto. El CPM calcula la fecha más temprana.</a:t>
            </a:r>
            <a:endParaRPr lang="en-US" sz="1000" dirty="0"/>
          </a:p>
        </p:txBody>
      </p:sp>
      <p:sp>
        <p:nvSpPr>
          <p:cNvPr id="11" name="Shape 9"/>
          <p:cNvSpPr/>
          <p:nvPr/>
        </p:nvSpPr>
        <p:spPr>
          <a:xfrm>
            <a:off x="6263640" y="1298448"/>
            <a:ext cx="5486400" cy="1170432"/>
          </a:xfrm>
          <a:prstGeom prst="roundRect">
            <a:avLst>
              <a:gd name="adj" fmla="val 6250"/>
            </a:avLst>
          </a:prstGeom>
          <a:solidFill>
            <a:srgbClr val="0D0D0D"/>
          </a:solidFill>
          <a:ln w="12700">
            <a:solidFill>
              <a:srgbClr val="4AF6C3"/>
            </a:solidFill>
            <a:prstDash val="solid"/>
          </a:ln>
        </p:spPr>
      </p:sp>
      <p:sp>
        <p:nvSpPr>
          <p:cNvPr id="12" name="Text 10"/>
          <p:cNvSpPr txBox="1"/>
          <p:nvPr/>
        </p:nvSpPr>
        <p:spPr>
          <a:xfrm>
            <a:off x="6373368" y="1389888"/>
            <a:ext cx="1005840" cy="475488"/>
          </a:xfrm>
          <a:prstGeom prst="rect">
            <a:avLst/>
          </a:prstGeom>
          <a:noFill/>
          <a:ln/>
        </p:spPr>
        <p:txBody>
          <a:bodyPr wrap="square" lIns="0" tIns="0" rIns="0" bIns="0" rtlCol="0" anchor="ctr"/>
          <a:lstStyle/>
          <a:p>
            <a:pPr indent="0" marL="0">
              <a:buNone/>
            </a:pPr>
            <a:r>
              <a:rPr lang="en-US" sz="1700" b="1" dirty="0">
                <a:solidFill>
                  <a:srgbClr val="4AF6C3"/>
                </a:solidFill>
                <a:latin typeface="Courier New" pitchFamily="34" charset="0"/>
                <a:ea typeface="Courier New" pitchFamily="34" charset="-122"/>
                <a:cs typeface="Courier New" pitchFamily="34" charset="-120"/>
              </a:rPr>
              <a:t>ALAP</a:t>
            </a:r>
            <a:endParaRPr lang="en-US" sz="1700" dirty="0"/>
          </a:p>
        </p:txBody>
      </p:sp>
      <p:sp>
        <p:nvSpPr>
          <p:cNvPr id="13" name="Text 11"/>
          <p:cNvSpPr txBox="1"/>
          <p:nvPr/>
        </p:nvSpPr>
        <p:spPr>
          <a:xfrm>
            <a:off x="7452360" y="138988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As Late As Possible</a:t>
            </a:r>
            <a:endParaRPr lang="en-US" sz="1300" dirty="0"/>
          </a:p>
        </p:txBody>
      </p:sp>
      <p:sp>
        <p:nvSpPr>
          <p:cNvPr id="14" name="Text 12"/>
          <p:cNvSpPr txBox="1"/>
          <p:nvPr/>
        </p:nvSpPr>
        <p:spPr>
          <a:xfrm>
            <a:off x="6373368" y="195681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Lo más tarde posible. El CPM calcula la fecha más tardía sin retrasar el proyecto.</a:t>
            </a:r>
            <a:endParaRPr lang="en-US" sz="1000" dirty="0"/>
          </a:p>
        </p:txBody>
      </p:sp>
      <p:sp>
        <p:nvSpPr>
          <p:cNvPr id="15" name="Shape 13"/>
          <p:cNvSpPr/>
          <p:nvPr/>
        </p:nvSpPr>
        <p:spPr>
          <a:xfrm>
            <a:off x="411480" y="2624328"/>
            <a:ext cx="5486400" cy="1170432"/>
          </a:xfrm>
          <a:prstGeom prst="roundRect">
            <a:avLst>
              <a:gd name="adj" fmla="val 6250"/>
            </a:avLst>
          </a:prstGeom>
          <a:solidFill>
            <a:srgbClr val="0D0D0D"/>
          </a:solidFill>
          <a:ln w="12700">
            <a:solidFill>
              <a:srgbClr val="FFA028"/>
            </a:solidFill>
            <a:prstDash val="solid"/>
          </a:ln>
        </p:spPr>
      </p:sp>
      <p:sp>
        <p:nvSpPr>
          <p:cNvPr id="16" name="Text 14"/>
          <p:cNvSpPr txBox="1"/>
          <p:nvPr/>
        </p:nvSpPr>
        <p:spPr>
          <a:xfrm>
            <a:off x="521208" y="2715768"/>
            <a:ext cx="1005840" cy="475488"/>
          </a:xfrm>
          <a:prstGeom prst="rect">
            <a:avLst/>
          </a:prstGeom>
          <a:noFill/>
          <a:ln/>
        </p:spPr>
        <p:txBody>
          <a:bodyPr wrap="square" lIns="0" tIns="0" rIns="0" bIns="0" rtlCol="0" anchor="ctr"/>
          <a:lstStyle/>
          <a:p>
            <a:pPr indent="0" marL="0">
              <a:buNone/>
            </a:pPr>
            <a:r>
              <a:rPr lang="en-US" sz="1700" b="1" dirty="0">
                <a:solidFill>
                  <a:srgbClr val="FFA028"/>
                </a:solidFill>
                <a:latin typeface="Courier New" pitchFamily="34" charset="0"/>
                <a:ea typeface="Courier New" pitchFamily="34" charset="-122"/>
                <a:cs typeface="Courier New" pitchFamily="34" charset="-120"/>
              </a:rPr>
              <a:t>SNET</a:t>
            </a:r>
            <a:endParaRPr lang="en-US" sz="1700" dirty="0"/>
          </a:p>
        </p:txBody>
      </p:sp>
      <p:sp>
        <p:nvSpPr>
          <p:cNvPr id="17" name="Text 15"/>
          <p:cNvSpPr txBox="1"/>
          <p:nvPr/>
        </p:nvSpPr>
        <p:spPr>
          <a:xfrm>
            <a:off x="1600200" y="271576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Start No Earlier Than</a:t>
            </a:r>
            <a:endParaRPr lang="en-US" sz="1300" dirty="0"/>
          </a:p>
        </p:txBody>
      </p:sp>
      <p:sp>
        <p:nvSpPr>
          <p:cNvPr id="18" name="Text 16"/>
          <p:cNvSpPr txBox="1"/>
          <p:nvPr/>
        </p:nvSpPr>
        <p:spPr>
          <a:xfrm>
            <a:off x="521208" y="328269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 iniciar antes de la fecha especificada (restricción suave de inicio).</a:t>
            </a:r>
            <a:endParaRPr lang="en-US" sz="1000" dirty="0"/>
          </a:p>
        </p:txBody>
      </p:sp>
      <p:sp>
        <p:nvSpPr>
          <p:cNvPr id="19" name="Shape 17"/>
          <p:cNvSpPr/>
          <p:nvPr/>
        </p:nvSpPr>
        <p:spPr>
          <a:xfrm>
            <a:off x="6263640" y="2624328"/>
            <a:ext cx="5486400" cy="1170432"/>
          </a:xfrm>
          <a:prstGeom prst="roundRect">
            <a:avLst>
              <a:gd name="adj" fmla="val 6250"/>
            </a:avLst>
          </a:prstGeom>
          <a:solidFill>
            <a:srgbClr val="0D0D0D"/>
          </a:solidFill>
          <a:ln w="12700">
            <a:solidFill>
              <a:srgbClr val="FFA028"/>
            </a:solidFill>
            <a:prstDash val="solid"/>
          </a:ln>
        </p:spPr>
      </p:sp>
      <p:sp>
        <p:nvSpPr>
          <p:cNvPr id="20" name="Text 18"/>
          <p:cNvSpPr txBox="1"/>
          <p:nvPr/>
        </p:nvSpPr>
        <p:spPr>
          <a:xfrm>
            <a:off x="6373368" y="2715768"/>
            <a:ext cx="1005840" cy="475488"/>
          </a:xfrm>
          <a:prstGeom prst="rect">
            <a:avLst/>
          </a:prstGeom>
          <a:noFill/>
          <a:ln/>
        </p:spPr>
        <p:txBody>
          <a:bodyPr wrap="square" lIns="0" tIns="0" rIns="0" bIns="0" rtlCol="0" anchor="ctr"/>
          <a:lstStyle/>
          <a:p>
            <a:pPr indent="0" marL="0">
              <a:buNone/>
            </a:pPr>
            <a:r>
              <a:rPr lang="en-US" sz="1700" b="1" dirty="0">
                <a:solidFill>
                  <a:srgbClr val="FFA028"/>
                </a:solidFill>
                <a:latin typeface="Courier New" pitchFamily="34" charset="0"/>
                <a:ea typeface="Courier New" pitchFamily="34" charset="-122"/>
                <a:cs typeface="Courier New" pitchFamily="34" charset="-120"/>
              </a:rPr>
              <a:t>SNLT</a:t>
            </a:r>
            <a:endParaRPr lang="en-US" sz="1700" dirty="0"/>
          </a:p>
        </p:txBody>
      </p:sp>
      <p:sp>
        <p:nvSpPr>
          <p:cNvPr id="21" name="Text 19"/>
          <p:cNvSpPr txBox="1"/>
          <p:nvPr/>
        </p:nvSpPr>
        <p:spPr>
          <a:xfrm>
            <a:off x="7452360" y="271576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Start No Later Than</a:t>
            </a:r>
            <a:endParaRPr lang="en-US" sz="1300" dirty="0"/>
          </a:p>
        </p:txBody>
      </p:sp>
      <p:sp>
        <p:nvSpPr>
          <p:cNvPr id="22" name="Text 20"/>
          <p:cNvSpPr txBox="1"/>
          <p:nvPr/>
        </p:nvSpPr>
        <p:spPr>
          <a:xfrm>
            <a:off x="6373368" y="328269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 iniciar después de la fecha especificada.</a:t>
            </a:r>
            <a:endParaRPr lang="en-US" sz="1000" dirty="0"/>
          </a:p>
        </p:txBody>
      </p:sp>
      <p:sp>
        <p:nvSpPr>
          <p:cNvPr id="23" name="Shape 21"/>
          <p:cNvSpPr/>
          <p:nvPr/>
        </p:nvSpPr>
        <p:spPr>
          <a:xfrm>
            <a:off x="411480" y="3950208"/>
            <a:ext cx="5486400" cy="1170432"/>
          </a:xfrm>
          <a:prstGeom prst="roundRect">
            <a:avLst>
              <a:gd name="adj" fmla="val 6250"/>
            </a:avLst>
          </a:prstGeom>
          <a:solidFill>
            <a:srgbClr val="0D0D0D"/>
          </a:solidFill>
          <a:ln w="12700">
            <a:solidFill>
              <a:srgbClr val="FFA028"/>
            </a:solidFill>
            <a:prstDash val="solid"/>
          </a:ln>
        </p:spPr>
      </p:sp>
      <p:sp>
        <p:nvSpPr>
          <p:cNvPr id="24" name="Text 22"/>
          <p:cNvSpPr txBox="1"/>
          <p:nvPr/>
        </p:nvSpPr>
        <p:spPr>
          <a:xfrm>
            <a:off x="521208" y="4041648"/>
            <a:ext cx="1005840" cy="475488"/>
          </a:xfrm>
          <a:prstGeom prst="rect">
            <a:avLst/>
          </a:prstGeom>
          <a:noFill/>
          <a:ln/>
        </p:spPr>
        <p:txBody>
          <a:bodyPr wrap="square" lIns="0" tIns="0" rIns="0" bIns="0" rtlCol="0" anchor="ctr"/>
          <a:lstStyle/>
          <a:p>
            <a:pPr indent="0" marL="0">
              <a:buNone/>
            </a:pPr>
            <a:r>
              <a:rPr lang="en-US" sz="1700" b="1" dirty="0">
                <a:solidFill>
                  <a:srgbClr val="FFA028"/>
                </a:solidFill>
                <a:latin typeface="Courier New" pitchFamily="34" charset="0"/>
                <a:ea typeface="Courier New" pitchFamily="34" charset="-122"/>
                <a:cs typeface="Courier New" pitchFamily="34" charset="-120"/>
              </a:rPr>
              <a:t>FNET</a:t>
            </a:r>
            <a:endParaRPr lang="en-US" sz="1700" dirty="0"/>
          </a:p>
        </p:txBody>
      </p:sp>
      <p:sp>
        <p:nvSpPr>
          <p:cNvPr id="25" name="Text 23"/>
          <p:cNvSpPr txBox="1"/>
          <p:nvPr/>
        </p:nvSpPr>
        <p:spPr>
          <a:xfrm>
            <a:off x="1600200" y="404164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Finish No Earlier Than</a:t>
            </a:r>
            <a:endParaRPr lang="en-US" sz="1300" dirty="0"/>
          </a:p>
        </p:txBody>
      </p:sp>
      <p:sp>
        <p:nvSpPr>
          <p:cNvPr id="26" name="Text 24"/>
          <p:cNvSpPr txBox="1"/>
          <p:nvPr/>
        </p:nvSpPr>
        <p:spPr>
          <a:xfrm>
            <a:off x="521208" y="460857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 terminar antes de la fecha especificada.</a:t>
            </a:r>
            <a:endParaRPr lang="en-US" sz="1000" dirty="0"/>
          </a:p>
        </p:txBody>
      </p:sp>
      <p:sp>
        <p:nvSpPr>
          <p:cNvPr id="27" name="Shape 25"/>
          <p:cNvSpPr/>
          <p:nvPr/>
        </p:nvSpPr>
        <p:spPr>
          <a:xfrm>
            <a:off x="6263640" y="3950208"/>
            <a:ext cx="5486400" cy="1170432"/>
          </a:xfrm>
          <a:prstGeom prst="roundRect">
            <a:avLst>
              <a:gd name="adj" fmla="val 6250"/>
            </a:avLst>
          </a:prstGeom>
          <a:solidFill>
            <a:srgbClr val="0D0D0D"/>
          </a:solidFill>
          <a:ln w="12700">
            <a:solidFill>
              <a:srgbClr val="FFA028"/>
            </a:solidFill>
            <a:prstDash val="solid"/>
          </a:ln>
        </p:spPr>
      </p:sp>
      <p:sp>
        <p:nvSpPr>
          <p:cNvPr id="28" name="Text 26"/>
          <p:cNvSpPr txBox="1"/>
          <p:nvPr/>
        </p:nvSpPr>
        <p:spPr>
          <a:xfrm>
            <a:off x="6373368" y="4041648"/>
            <a:ext cx="1005840" cy="475488"/>
          </a:xfrm>
          <a:prstGeom prst="rect">
            <a:avLst/>
          </a:prstGeom>
          <a:noFill/>
          <a:ln/>
        </p:spPr>
        <p:txBody>
          <a:bodyPr wrap="square" lIns="0" tIns="0" rIns="0" bIns="0" rtlCol="0" anchor="ctr"/>
          <a:lstStyle/>
          <a:p>
            <a:pPr indent="0" marL="0">
              <a:buNone/>
            </a:pPr>
            <a:r>
              <a:rPr lang="en-US" sz="1700" b="1" dirty="0">
                <a:solidFill>
                  <a:srgbClr val="FFA028"/>
                </a:solidFill>
                <a:latin typeface="Courier New" pitchFamily="34" charset="0"/>
                <a:ea typeface="Courier New" pitchFamily="34" charset="-122"/>
                <a:cs typeface="Courier New" pitchFamily="34" charset="-120"/>
              </a:rPr>
              <a:t>FNLT</a:t>
            </a:r>
            <a:endParaRPr lang="en-US" sz="1700" dirty="0"/>
          </a:p>
        </p:txBody>
      </p:sp>
      <p:sp>
        <p:nvSpPr>
          <p:cNvPr id="29" name="Text 27"/>
          <p:cNvSpPr txBox="1"/>
          <p:nvPr/>
        </p:nvSpPr>
        <p:spPr>
          <a:xfrm>
            <a:off x="7452360" y="404164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Finish No Later Than</a:t>
            </a:r>
            <a:endParaRPr lang="en-US" sz="1300" dirty="0"/>
          </a:p>
        </p:txBody>
      </p:sp>
      <p:sp>
        <p:nvSpPr>
          <p:cNvPr id="30" name="Text 28"/>
          <p:cNvSpPr txBox="1"/>
          <p:nvPr/>
        </p:nvSpPr>
        <p:spPr>
          <a:xfrm>
            <a:off x="6373368" y="460857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 terminar después de la fecha especificada.</a:t>
            </a:r>
            <a:endParaRPr lang="en-US" sz="1000" dirty="0"/>
          </a:p>
        </p:txBody>
      </p:sp>
      <p:sp>
        <p:nvSpPr>
          <p:cNvPr id="31" name="Shape 29"/>
          <p:cNvSpPr/>
          <p:nvPr/>
        </p:nvSpPr>
        <p:spPr>
          <a:xfrm>
            <a:off x="411480" y="5276088"/>
            <a:ext cx="5486400" cy="1170432"/>
          </a:xfrm>
          <a:prstGeom prst="roundRect">
            <a:avLst>
              <a:gd name="adj" fmla="val 6250"/>
            </a:avLst>
          </a:prstGeom>
          <a:solidFill>
            <a:srgbClr val="0D0D0D"/>
          </a:solidFill>
          <a:ln w="12700">
            <a:solidFill>
              <a:srgbClr val="FF433D"/>
            </a:solidFill>
            <a:prstDash val="solid"/>
          </a:ln>
        </p:spPr>
      </p:sp>
      <p:sp>
        <p:nvSpPr>
          <p:cNvPr id="32" name="Text 30"/>
          <p:cNvSpPr txBox="1"/>
          <p:nvPr/>
        </p:nvSpPr>
        <p:spPr>
          <a:xfrm>
            <a:off x="521208" y="5367528"/>
            <a:ext cx="1005840" cy="475488"/>
          </a:xfrm>
          <a:prstGeom prst="rect">
            <a:avLst/>
          </a:prstGeom>
          <a:noFill/>
          <a:ln/>
        </p:spPr>
        <p:txBody>
          <a:bodyPr wrap="square" lIns="0" tIns="0" rIns="0" bIns="0" rtlCol="0" anchor="ctr"/>
          <a:lstStyle/>
          <a:p>
            <a:pPr indent="0" marL="0">
              <a:buNone/>
            </a:pPr>
            <a:r>
              <a:rPr lang="en-US" sz="1700" b="1" dirty="0">
                <a:solidFill>
                  <a:srgbClr val="FF433D"/>
                </a:solidFill>
                <a:latin typeface="Courier New" pitchFamily="34" charset="0"/>
                <a:ea typeface="Courier New" pitchFamily="34" charset="-122"/>
                <a:cs typeface="Courier New" pitchFamily="34" charset="-120"/>
              </a:rPr>
              <a:t>MSO</a:t>
            </a:r>
            <a:endParaRPr lang="en-US" sz="1700" dirty="0"/>
          </a:p>
        </p:txBody>
      </p:sp>
      <p:sp>
        <p:nvSpPr>
          <p:cNvPr id="33" name="Text 31"/>
          <p:cNvSpPr txBox="1"/>
          <p:nvPr/>
        </p:nvSpPr>
        <p:spPr>
          <a:xfrm>
            <a:off x="1600200" y="536752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Must Start On</a:t>
            </a:r>
            <a:endParaRPr lang="en-US" sz="1300" dirty="0"/>
          </a:p>
        </p:txBody>
      </p:sp>
      <p:sp>
        <p:nvSpPr>
          <p:cNvPr id="34" name="Text 32"/>
          <p:cNvSpPr txBox="1"/>
          <p:nvPr/>
        </p:nvSpPr>
        <p:spPr>
          <a:xfrm>
            <a:off x="521208" y="593445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Debe iniciar exactamente en la fecha especificada (restricción dura).</a:t>
            </a:r>
            <a:endParaRPr lang="en-US" sz="1000" dirty="0"/>
          </a:p>
        </p:txBody>
      </p:sp>
      <p:sp>
        <p:nvSpPr>
          <p:cNvPr id="35" name="Shape 33"/>
          <p:cNvSpPr/>
          <p:nvPr/>
        </p:nvSpPr>
        <p:spPr>
          <a:xfrm>
            <a:off x="6263640" y="5276088"/>
            <a:ext cx="5486400" cy="1170432"/>
          </a:xfrm>
          <a:prstGeom prst="roundRect">
            <a:avLst>
              <a:gd name="adj" fmla="val 6250"/>
            </a:avLst>
          </a:prstGeom>
          <a:solidFill>
            <a:srgbClr val="0D0D0D"/>
          </a:solidFill>
          <a:ln w="12700">
            <a:solidFill>
              <a:srgbClr val="FF433D"/>
            </a:solidFill>
            <a:prstDash val="solid"/>
          </a:ln>
        </p:spPr>
      </p:sp>
      <p:sp>
        <p:nvSpPr>
          <p:cNvPr id="36" name="Text 34"/>
          <p:cNvSpPr txBox="1"/>
          <p:nvPr/>
        </p:nvSpPr>
        <p:spPr>
          <a:xfrm>
            <a:off x="6373368" y="5367528"/>
            <a:ext cx="1005840" cy="475488"/>
          </a:xfrm>
          <a:prstGeom prst="rect">
            <a:avLst/>
          </a:prstGeom>
          <a:noFill/>
          <a:ln/>
        </p:spPr>
        <p:txBody>
          <a:bodyPr wrap="square" lIns="0" tIns="0" rIns="0" bIns="0" rtlCol="0" anchor="ctr"/>
          <a:lstStyle/>
          <a:p>
            <a:pPr indent="0" marL="0">
              <a:buNone/>
            </a:pPr>
            <a:r>
              <a:rPr lang="en-US" sz="1700" b="1" dirty="0">
                <a:solidFill>
                  <a:srgbClr val="FF433D"/>
                </a:solidFill>
                <a:latin typeface="Courier New" pitchFamily="34" charset="0"/>
                <a:ea typeface="Courier New" pitchFamily="34" charset="-122"/>
                <a:cs typeface="Courier New" pitchFamily="34" charset="-120"/>
              </a:rPr>
              <a:t>MFO</a:t>
            </a:r>
            <a:endParaRPr lang="en-US" sz="1700" dirty="0"/>
          </a:p>
        </p:txBody>
      </p:sp>
      <p:sp>
        <p:nvSpPr>
          <p:cNvPr id="37" name="Text 35"/>
          <p:cNvSpPr txBox="1"/>
          <p:nvPr/>
        </p:nvSpPr>
        <p:spPr>
          <a:xfrm>
            <a:off x="7452360" y="5367528"/>
            <a:ext cx="4114800" cy="365760"/>
          </a:xfrm>
          <a:prstGeom prst="rect">
            <a:avLst/>
          </a:prstGeom>
          <a:noFill/>
          <a:ln/>
        </p:spPr>
        <p:txBody>
          <a:bodyPr wrap="square" lIns="0" tIns="0" rIns="0" bIns="0" rtlCol="0" anchor="ctr"/>
          <a:lstStyle/>
          <a:p>
            <a:pPr indent="0" marL="0">
              <a:buNone/>
            </a:pPr>
            <a:r>
              <a:rPr lang="en-US" sz="1300" b="1" dirty="0">
                <a:solidFill>
                  <a:srgbClr val="FFFFFF"/>
                </a:solidFill>
                <a:latin typeface="Epilogue" pitchFamily="34" charset="0"/>
                <a:ea typeface="Epilogue" pitchFamily="34" charset="-122"/>
                <a:cs typeface="Epilogue" pitchFamily="34" charset="-120"/>
              </a:rPr>
              <a:t>Must Finish On</a:t>
            </a:r>
            <a:endParaRPr lang="en-US" sz="1300" dirty="0"/>
          </a:p>
        </p:txBody>
      </p:sp>
      <p:sp>
        <p:nvSpPr>
          <p:cNvPr id="38" name="Text 36"/>
          <p:cNvSpPr txBox="1"/>
          <p:nvPr/>
        </p:nvSpPr>
        <p:spPr>
          <a:xfrm>
            <a:off x="6373368" y="5934456"/>
            <a:ext cx="5212080" cy="420624"/>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Debe terminar exactamente en la fecha especificada (restricción dura).</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08</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Línea Base</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Guardar • Aplicar • Varianzas ΔI / ΔF / ΔD</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GESTIÓN DE LÍNEA BASE (ESTILO PRIMAVERA P6)</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188720"/>
          </a:xfrm>
          <a:prstGeom prst="roundRect">
            <a:avLst>
              <a:gd name="adj" fmla="val 6154"/>
            </a:avLst>
          </a:prstGeom>
          <a:solidFill>
            <a:srgbClr val="1A1A1A"/>
          </a:solidFill>
          <a:ln w="12700">
            <a:solidFill>
              <a:srgbClr val="FFA028"/>
            </a:solidFill>
            <a:prstDash val="solid"/>
          </a:ln>
        </p:spPr>
      </p:sp>
      <p:sp>
        <p:nvSpPr>
          <p:cNvPr id="7" name="Shape 5"/>
          <p:cNvSpPr/>
          <p:nvPr/>
        </p:nvSpPr>
        <p:spPr>
          <a:xfrm>
            <a:off x="411480" y="914400"/>
            <a:ext cx="11338560" cy="64008"/>
          </a:xfrm>
          <a:prstGeom prst="rect">
            <a:avLst/>
          </a:prstGeom>
          <a:solidFill>
            <a:srgbClr val="FFA028"/>
          </a:solidFill>
          <a:ln w="12700">
            <a:solidFill>
              <a:srgbClr val="FFA028"/>
            </a:solidFill>
            <a:prstDash val="solid"/>
          </a:ln>
        </p:spPr>
      </p:sp>
      <p:sp>
        <p:nvSpPr>
          <p:cNvPr id="8" name="Text 6"/>
          <p:cNvSpPr txBox="1"/>
          <p:nvPr/>
        </p:nvSpPr>
        <p:spPr>
          <a:xfrm>
            <a:off x="594360" y="1051560"/>
            <a:ext cx="10972800" cy="91440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La línea base es un snapshot (instantánea) del cronograma en un momento aprobado. Permite comparar el plan original vs el progreso real en cualquier momento del proyecto. Estilo inspirado en Primavera P6.</a:t>
            </a:r>
            <a:endParaRPr lang="en-US" sz="1300" dirty="0"/>
          </a:p>
        </p:txBody>
      </p:sp>
      <p:sp>
        <p:nvSpPr>
          <p:cNvPr id="9" name="Shape 7"/>
          <p:cNvSpPr/>
          <p:nvPr/>
        </p:nvSpPr>
        <p:spPr>
          <a:xfrm>
            <a:off x="411480" y="2286000"/>
            <a:ext cx="822960" cy="502920"/>
          </a:xfrm>
          <a:prstGeom prst="roundRect">
            <a:avLst>
              <a:gd name="adj" fmla="val 14545"/>
            </a:avLst>
          </a:prstGeom>
          <a:solidFill>
            <a:srgbClr val="FFA028"/>
          </a:solidFill>
          <a:ln w="12700">
            <a:solidFill>
              <a:srgbClr val="FFA028"/>
            </a:solidFill>
            <a:prstDash val="solid"/>
          </a:ln>
        </p:spPr>
      </p:sp>
      <p:sp>
        <p:nvSpPr>
          <p:cNvPr id="10" name="Text 8"/>
          <p:cNvSpPr txBox="1"/>
          <p:nvPr/>
        </p:nvSpPr>
        <p:spPr>
          <a:xfrm>
            <a:off x="411480" y="2286000"/>
            <a:ext cx="822960" cy="50292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1. GUARDAR</a:t>
            </a:r>
            <a:endParaRPr lang="en-US" sz="1100" dirty="0"/>
          </a:p>
        </p:txBody>
      </p:sp>
      <p:sp>
        <p:nvSpPr>
          <p:cNvPr id="11" name="Text 9"/>
          <p:cNvSpPr txBox="1"/>
          <p:nvPr/>
        </p:nvSpPr>
        <p:spPr>
          <a:xfrm>
            <a:off x="1371600" y="2286000"/>
            <a:ext cx="10241280" cy="1234440"/>
          </a:xfrm>
          <a:prstGeom prst="rect">
            <a:avLst/>
          </a:prstGeom>
          <a:noFill/>
          <a:ln/>
        </p:spPr>
        <p:txBody>
          <a:bodyPr wrap="square" lIns="0" tIns="0" rIns="0" bIns="0" rtlCol="0" anchor="t"/>
          <a:lstStyle/>
          <a:p>
            <a:pPr indent="0" marL="0">
              <a:buNone/>
            </a:pPr>
            <a:r>
              <a:rPr lang="en-US" sz="1200" dirty="0">
                <a:solidFill>
                  <a:srgbClr val="FFFFFF"/>
                </a:solidFill>
                <a:latin typeface="Epilogue" pitchFamily="34" charset="0"/>
                <a:ea typeface="Epilogue" pitchFamily="34" charset="-122"/>
                <a:cs typeface="Epilogue" pitchFamily="34" charset="-120"/>
              </a:rPr>
              <a:t>Clic en 📐 Línea Base → "Guardar línea base" → Ingresa un nombre (ej: "LB-Inicial-Nov2026") → Confirmar. Se guarda ES/EF/Duración de cada tarea.</a:t>
            </a:r>
            <a:endParaRPr lang="en-US" sz="1200" dirty="0"/>
          </a:p>
        </p:txBody>
      </p:sp>
      <p:sp>
        <p:nvSpPr>
          <p:cNvPr id="12" name="Shape 10"/>
          <p:cNvSpPr/>
          <p:nvPr/>
        </p:nvSpPr>
        <p:spPr>
          <a:xfrm>
            <a:off x="411480" y="3703320"/>
            <a:ext cx="822960" cy="502920"/>
          </a:xfrm>
          <a:prstGeom prst="roundRect">
            <a:avLst>
              <a:gd name="adj" fmla="val 14545"/>
            </a:avLst>
          </a:prstGeom>
          <a:solidFill>
            <a:srgbClr val="FFA028"/>
          </a:solidFill>
          <a:ln w="12700">
            <a:solidFill>
              <a:srgbClr val="FFA028"/>
            </a:solidFill>
            <a:prstDash val="solid"/>
          </a:ln>
        </p:spPr>
      </p:sp>
      <p:sp>
        <p:nvSpPr>
          <p:cNvPr id="13" name="Text 11"/>
          <p:cNvSpPr txBox="1"/>
          <p:nvPr/>
        </p:nvSpPr>
        <p:spPr>
          <a:xfrm>
            <a:off x="411480" y="3703320"/>
            <a:ext cx="822960" cy="50292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2. ACTIVAR</a:t>
            </a:r>
            <a:endParaRPr lang="en-US" sz="1100" dirty="0"/>
          </a:p>
        </p:txBody>
      </p:sp>
      <p:sp>
        <p:nvSpPr>
          <p:cNvPr id="14" name="Text 12"/>
          <p:cNvSpPr txBox="1"/>
          <p:nvPr/>
        </p:nvSpPr>
        <p:spPr>
          <a:xfrm>
            <a:off x="1371600" y="3703320"/>
            <a:ext cx="10241280" cy="1234440"/>
          </a:xfrm>
          <a:prstGeom prst="rect">
            <a:avLst/>
          </a:prstGeom>
          <a:noFill/>
          <a:ln/>
        </p:spPr>
        <p:txBody>
          <a:bodyPr wrap="square" lIns="0" tIns="0" rIns="0" bIns="0" rtlCol="0" anchor="t"/>
          <a:lstStyle/>
          <a:p>
            <a:pPr indent="0" marL="0">
              <a:buNone/>
            </a:pPr>
            <a:r>
              <a:rPr lang="en-US" sz="1200" dirty="0">
                <a:solidFill>
                  <a:srgbClr val="FFFFFF"/>
                </a:solidFill>
                <a:latin typeface="Epilogue" pitchFamily="34" charset="0"/>
                <a:ea typeface="Epilogue" pitchFamily="34" charset="-122"/>
                <a:cs typeface="Epilogue" pitchFamily="34" charset="-120"/>
              </a:rPr>
              <a:t>Clic en 📐 Línea Base → selecciona la LB guardada → "Aplicar comparación". Las columnas ΔI, ΔF, ΔD aparecen en la tabla EDT.</a:t>
            </a:r>
            <a:endParaRPr lang="en-US" sz="1200" dirty="0"/>
          </a:p>
        </p:txBody>
      </p:sp>
      <p:sp>
        <p:nvSpPr>
          <p:cNvPr id="15" name="Shape 13"/>
          <p:cNvSpPr/>
          <p:nvPr/>
        </p:nvSpPr>
        <p:spPr>
          <a:xfrm>
            <a:off x="411480" y="5120640"/>
            <a:ext cx="822960" cy="502920"/>
          </a:xfrm>
          <a:prstGeom prst="roundRect">
            <a:avLst>
              <a:gd name="adj" fmla="val 14545"/>
            </a:avLst>
          </a:prstGeom>
          <a:solidFill>
            <a:srgbClr val="FFA028"/>
          </a:solidFill>
          <a:ln w="12700">
            <a:solidFill>
              <a:srgbClr val="FFA028"/>
            </a:solidFill>
            <a:prstDash val="solid"/>
          </a:ln>
        </p:spPr>
      </p:sp>
      <p:sp>
        <p:nvSpPr>
          <p:cNvPr id="16" name="Text 14"/>
          <p:cNvSpPr txBox="1"/>
          <p:nvPr/>
        </p:nvSpPr>
        <p:spPr>
          <a:xfrm>
            <a:off x="411480" y="5120640"/>
            <a:ext cx="822960" cy="502920"/>
          </a:xfrm>
          <a:prstGeom prst="rect">
            <a:avLst/>
          </a:prstGeom>
          <a:noFill/>
          <a:ln/>
        </p:spPr>
        <p:txBody>
          <a:bodyPr wrap="square" lIns="0" tIns="0" rIns="0" bIns="0" rtlCol="0" anchor="ctr"/>
          <a:lstStyle/>
          <a:p>
            <a:pPr algn="ctr" indent="0" marL="0">
              <a:buNone/>
            </a:pPr>
            <a:r>
              <a:rPr lang="en-US" sz="1100" b="1" dirty="0">
                <a:solidFill>
                  <a:srgbClr val="000000"/>
                </a:solidFill>
                <a:latin typeface="Epilogue" pitchFamily="34" charset="0"/>
                <a:ea typeface="Epilogue" pitchFamily="34" charset="-122"/>
                <a:cs typeface="Epilogue" pitchFamily="34" charset="-120"/>
              </a:rPr>
              <a:t>3. VISUALIZAR</a:t>
            </a:r>
            <a:endParaRPr lang="en-US" sz="1100" dirty="0"/>
          </a:p>
        </p:txBody>
      </p:sp>
      <p:sp>
        <p:nvSpPr>
          <p:cNvPr id="17" name="Text 15"/>
          <p:cNvSpPr txBox="1"/>
          <p:nvPr/>
        </p:nvSpPr>
        <p:spPr>
          <a:xfrm>
            <a:off x="1371600" y="5120640"/>
            <a:ext cx="10241280" cy="1234440"/>
          </a:xfrm>
          <a:prstGeom prst="rect">
            <a:avLst/>
          </a:prstGeom>
          <a:noFill/>
          <a:ln/>
        </p:spPr>
        <p:txBody>
          <a:bodyPr wrap="square" lIns="0" tIns="0" rIns="0" bIns="0" rtlCol="0" anchor="t"/>
          <a:lstStyle/>
          <a:p>
            <a:pPr indent="0" marL="0">
              <a:buNone/>
            </a:pPr>
            <a:r>
              <a:rPr lang="en-US" sz="1200" dirty="0">
                <a:solidFill>
                  <a:srgbClr val="FFFFFF"/>
                </a:solidFill>
                <a:latin typeface="Epilogue" pitchFamily="34" charset="0"/>
                <a:ea typeface="Epilogue" pitchFamily="34" charset="-122"/>
                <a:cs typeface="Epilogue" pitchFamily="34" charset="-120"/>
              </a:rPr>
              <a:t>Las barras delgadas grises debajo de cada barra Gantt muestran la fecha base. Las barras de color muestran la fecha actual.</a:t>
            </a:r>
            <a:endParaRPr lang="en-US" sz="1200" dirty="0"/>
          </a:p>
        </p:txBody>
      </p:sp>
      <p:sp>
        <p:nvSpPr>
          <p:cNvPr id="18" name="Shape 16"/>
          <p:cNvSpPr/>
          <p:nvPr/>
        </p:nvSpPr>
        <p:spPr>
          <a:xfrm>
            <a:off x="411480" y="6217920"/>
            <a:ext cx="3657600" cy="502920"/>
          </a:xfrm>
          <a:prstGeom prst="roundRect">
            <a:avLst>
              <a:gd name="adj" fmla="val 14545"/>
            </a:avLst>
          </a:prstGeom>
          <a:solidFill>
            <a:srgbClr val="0D0D0D"/>
          </a:solidFill>
          <a:ln w="12700">
            <a:solidFill>
              <a:srgbClr val="FFA028"/>
            </a:solidFill>
            <a:prstDash val="solid"/>
          </a:ln>
        </p:spPr>
      </p:sp>
      <p:sp>
        <p:nvSpPr>
          <p:cNvPr id="19" name="Text 17"/>
          <p:cNvSpPr txBox="1"/>
          <p:nvPr/>
        </p:nvSpPr>
        <p:spPr>
          <a:xfrm>
            <a:off x="548640" y="6291072"/>
            <a:ext cx="3383280" cy="365760"/>
          </a:xfrm>
          <a:prstGeom prst="rect">
            <a:avLst/>
          </a:prstGeom>
          <a:noFill/>
          <a:ln/>
        </p:spPr>
        <p:txBody>
          <a:bodyPr wrap="square" lIns="0" tIns="0" rIns="0" bIns="0" rtlCol="0" anchor="ctr"/>
          <a:lstStyle/>
          <a:p>
            <a:pPr indent="0" marL="0">
              <a:buNone/>
            </a:pPr>
            <a:r>
              <a:rPr lang="en-US" sz="1100" b="1" dirty="0">
                <a:solidFill>
                  <a:srgbClr val="FFA028"/>
                </a:solidFill>
                <a:latin typeface="Epilogue" pitchFamily="34" charset="0"/>
                <a:ea typeface="Epilogue" pitchFamily="34" charset="-122"/>
                <a:cs typeface="Epilogue" pitchFamily="34" charset="-120"/>
              </a:rPr>
              <a:t>ΔI — Variación de Inicio</a:t>
            </a:r>
            <a:endParaRPr lang="en-US" sz="1100" dirty="0"/>
          </a:p>
        </p:txBody>
      </p:sp>
      <p:sp>
        <p:nvSpPr>
          <p:cNvPr id="20" name="Shape 18"/>
          <p:cNvSpPr/>
          <p:nvPr/>
        </p:nvSpPr>
        <p:spPr>
          <a:xfrm>
            <a:off x="4325112" y="6217920"/>
            <a:ext cx="3657600" cy="502920"/>
          </a:xfrm>
          <a:prstGeom prst="roundRect">
            <a:avLst>
              <a:gd name="adj" fmla="val 14545"/>
            </a:avLst>
          </a:prstGeom>
          <a:solidFill>
            <a:srgbClr val="0D0D0D"/>
          </a:solidFill>
          <a:ln w="12700">
            <a:solidFill>
              <a:srgbClr val="FF433D"/>
            </a:solidFill>
            <a:prstDash val="solid"/>
          </a:ln>
        </p:spPr>
      </p:sp>
      <p:sp>
        <p:nvSpPr>
          <p:cNvPr id="21" name="Text 19"/>
          <p:cNvSpPr txBox="1"/>
          <p:nvPr/>
        </p:nvSpPr>
        <p:spPr>
          <a:xfrm>
            <a:off x="4462272" y="6291072"/>
            <a:ext cx="3383280" cy="365760"/>
          </a:xfrm>
          <a:prstGeom prst="rect">
            <a:avLst/>
          </a:prstGeom>
          <a:noFill/>
          <a:ln/>
        </p:spPr>
        <p:txBody>
          <a:bodyPr wrap="square" lIns="0" tIns="0" rIns="0" bIns="0" rtlCol="0" anchor="ctr"/>
          <a:lstStyle/>
          <a:p>
            <a:pPr indent="0" marL="0">
              <a:buNone/>
            </a:pPr>
            <a:r>
              <a:rPr lang="en-US" sz="1100" b="1" dirty="0">
                <a:solidFill>
                  <a:srgbClr val="FF433D"/>
                </a:solidFill>
                <a:latin typeface="Epilogue" pitchFamily="34" charset="0"/>
                <a:ea typeface="Epilogue" pitchFamily="34" charset="-122"/>
                <a:cs typeface="Epilogue" pitchFamily="34" charset="-120"/>
              </a:rPr>
              <a:t>ΔF — Variación de Fin</a:t>
            </a:r>
            <a:endParaRPr lang="en-US" sz="1100" dirty="0"/>
          </a:p>
        </p:txBody>
      </p:sp>
      <p:sp>
        <p:nvSpPr>
          <p:cNvPr id="22" name="Shape 20"/>
          <p:cNvSpPr/>
          <p:nvPr/>
        </p:nvSpPr>
        <p:spPr>
          <a:xfrm>
            <a:off x="8238744" y="6217920"/>
            <a:ext cx="3657600" cy="502920"/>
          </a:xfrm>
          <a:prstGeom prst="roundRect">
            <a:avLst>
              <a:gd name="adj" fmla="val 14545"/>
            </a:avLst>
          </a:prstGeom>
          <a:solidFill>
            <a:srgbClr val="0D0D0D"/>
          </a:solidFill>
          <a:ln w="12700">
            <a:solidFill>
              <a:srgbClr val="4AF6C3"/>
            </a:solidFill>
            <a:prstDash val="solid"/>
          </a:ln>
        </p:spPr>
      </p:sp>
      <p:sp>
        <p:nvSpPr>
          <p:cNvPr id="23" name="Text 21"/>
          <p:cNvSpPr txBox="1"/>
          <p:nvPr/>
        </p:nvSpPr>
        <p:spPr>
          <a:xfrm>
            <a:off x="8375904" y="6291072"/>
            <a:ext cx="3383280" cy="365760"/>
          </a:xfrm>
          <a:prstGeom prst="rect">
            <a:avLst/>
          </a:prstGeom>
          <a:noFill/>
          <a:ln/>
        </p:spPr>
        <p:txBody>
          <a:bodyPr wrap="square" lIns="0" tIns="0" rIns="0" bIns="0" rtlCol="0" anchor="ctr"/>
          <a:lstStyle/>
          <a:p>
            <a:pPr indent="0" marL="0">
              <a:buNone/>
            </a:pPr>
            <a:r>
              <a:rPr lang="en-US" sz="1100" b="1" dirty="0">
                <a:solidFill>
                  <a:srgbClr val="4AF6C3"/>
                </a:solidFill>
                <a:latin typeface="Epilogue" pitchFamily="34" charset="0"/>
                <a:ea typeface="Epilogue" pitchFamily="34" charset="-122"/>
                <a:cs typeface="Epilogue" pitchFamily="34" charset="-120"/>
              </a:rPr>
              <a:t>ΔD — Variación de Duración</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09</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Calendario del Proyecto</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Días laborables • Horas/día • Excepciones</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CONFIGURACIÓN DEL CALENDARIO</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384048"/>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El calendario define los días hábiles y las excepciones del proyecto. Afecta directamente el cálculo CPM de fechas ES/EF/LS/LF:</a:t>
            </a:r>
            <a:endParaRPr lang="en-US" sz="1300" dirty="0"/>
          </a:p>
        </p:txBody>
      </p:sp>
      <p:sp>
        <p:nvSpPr>
          <p:cNvPr id="7" name="Shape 5"/>
          <p:cNvSpPr/>
          <p:nvPr/>
        </p:nvSpPr>
        <p:spPr>
          <a:xfrm>
            <a:off x="411480" y="1371600"/>
            <a:ext cx="11338560" cy="1143000"/>
          </a:xfrm>
          <a:prstGeom prst="roundRect">
            <a:avLst>
              <a:gd name="adj" fmla="val 6400"/>
            </a:avLst>
          </a:prstGeom>
          <a:solidFill>
            <a:srgbClr val="1A1A1A"/>
          </a:solidFill>
          <a:ln w="12700">
            <a:solidFill>
              <a:srgbClr val="FFA028"/>
            </a:solidFill>
            <a:prstDash val="solid"/>
          </a:ln>
        </p:spPr>
      </p:sp>
      <p:sp>
        <p:nvSpPr>
          <p:cNvPr id="8" name="Shape 6"/>
          <p:cNvSpPr/>
          <p:nvPr/>
        </p:nvSpPr>
        <p:spPr>
          <a:xfrm>
            <a:off x="411480" y="1371600"/>
            <a:ext cx="64008" cy="1143000"/>
          </a:xfrm>
          <a:prstGeom prst="rect">
            <a:avLst/>
          </a:prstGeom>
          <a:solidFill>
            <a:srgbClr val="FFA028"/>
          </a:solidFill>
          <a:ln w="12700">
            <a:solidFill>
              <a:srgbClr val="FFA028"/>
            </a:solidFill>
            <a:prstDash val="solid"/>
          </a:ln>
        </p:spPr>
      </p:sp>
      <p:sp>
        <p:nvSpPr>
          <p:cNvPr id="9" name="Text 7"/>
          <p:cNvSpPr txBox="1"/>
          <p:nvPr/>
        </p:nvSpPr>
        <p:spPr>
          <a:xfrm>
            <a:off x="594360" y="1481328"/>
            <a:ext cx="3200400" cy="384048"/>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Semana laboral</a:t>
            </a:r>
            <a:endParaRPr lang="en-US" sz="1500" dirty="0"/>
          </a:p>
        </p:txBody>
      </p:sp>
      <p:sp>
        <p:nvSpPr>
          <p:cNvPr id="10" name="Text 8"/>
          <p:cNvSpPr txBox="1"/>
          <p:nvPr/>
        </p:nvSpPr>
        <p:spPr>
          <a:xfrm>
            <a:off x="594360" y="1938528"/>
            <a:ext cx="10972800" cy="47548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Por defecto: Lunes a Viernes. Sábado y Domingo son no laborables. El CPM salta automáticamente los fines de semana al calcular fechas.</a:t>
            </a:r>
            <a:endParaRPr lang="en-US" sz="1200" dirty="0"/>
          </a:p>
        </p:txBody>
      </p:sp>
      <p:sp>
        <p:nvSpPr>
          <p:cNvPr id="11" name="Shape 9"/>
          <p:cNvSpPr/>
          <p:nvPr/>
        </p:nvSpPr>
        <p:spPr>
          <a:xfrm>
            <a:off x="411480" y="2651760"/>
            <a:ext cx="11338560" cy="1143000"/>
          </a:xfrm>
          <a:prstGeom prst="roundRect">
            <a:avLst>
              <a:gd name="adj" fmla="val 6400"/>
            </a:avLst>
          </a:prstGeom>
          <a:solidFill>
            <a:srgbClr val="1A1A1A"/>
          </a:solidFill>
          <a:ln w="12700">
            <a:solidFill>
              <a:srgbClr val="4AF6C3"/>
            </a:solidFill>
            <a:prstDash val="solid"/>
          </a:ln>
        </p:spPr>
      </p:sp>
      <p:sp>
        <p:nvSpPr>
          <p:cNvPr id="12" name="Shape 10"/>
          <p:cNvSpPr/>
          <p:nvPr/>
        </p:nvSpPr>
        <p:spPr>
          <a:xfrm>
            <a:off x="411480" y="2651760"/>
            <a:ext cx="64008" cy="1143000"/>
          </a:xfrm>
          <a:prstGeom prst="rect">
            <a:avLst/>
          </a:prstGeom>
          <a:solidFill>
            <a:srgbClr val="4AF6C3"/>
          </a:solidFill>
          <a:ln w="12700">
            <a:solidFill>
              <a:srgbClr val="4AF6C3"/>
            </a:solidFill>
            <a:prstDash val="solid"/>
          </a:ln>
        </p:spPr>
      </p:sp>
      <p:sp>
        <p:nvSpPr>
          <p:cNvPr id="13" name="Text 11"/>
          <p:cNvSpPr txBox="1"/>
          <p:nvPr/>
        </p:nvSpPr>
        <p:spPr>
          <a:xfrm>
            <a:off x="594360" y="2761488"/>
            <a:ext cx="3200400" cy="384048"/>
          </a:xfrm>
          <a:prstGeom prst="rect">
            <a:avLst/>
          </a:prstGeom>
          <a:noFill/>
          <a:ln/>
        </p:spPr>
        <p:txBody>
          <a:bodyPr wrap="square" lIns="0" tIns="0" rIns="0" bIns="0" rtlCol="0" anchor="ctr"/>
          <a:lstStyle/>
          <a:p>
            <a:pPr indent="0" marL="0">
              <a:buNone/>
            </a:pPr>
            <a:r>
              <a:rPr lang="en-US" sz="1500" b="1" dirty="0">
                <a:solidFill>
                  <a:srgbClr val="4AF6C3"/>
                </a:solidFill>
                <a:latin typeface="Epilogue" pitchFamily="34" charset="0"/>
                <a:ea typeface="Epilogue" pitchFamily="34" charset="-122"/>
                <a:cs typeface="Epilogue" pitchFamily="34" charset="-120"/>
              </a:rPr>
              <a:t>Horas por día</a:t>
            </a:r>
            <a:endParaRPr lang="en-US" sz="1500" dirty="0"/>
          </a:p>
        </p:txBody>
      </p:sp>
      <p:sp>
        <p:nvSpPr>
          <p:cNvPr id="14" name="Text 12"/>
          <p:cNvSpPr txBox="1"/>
          <p:nvPr/>
        </p:nvSpPr>
        <p:spPr>
          <a:xfrm>
            <a:off x="594360" y="3218688"/>
            <a:ext cx="10972800" cy="47548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Número de horas laborables diarias (default: 8 horas). Usado en cálculos de recursos y EVM.</a:t>
            </a:r>
            <a:endParaRPr lang="en-US" sz="1200" dirty="0"/>
          </a:p>
        </p:txBody>
      </p:sp>
      <p:sp>
        <p:nvSpPr>
          <p:cNvPr id="15" name="Shape 13"/>
          <p:cNvSpPr/>
          <p:nvPr/>
        </p:nvSpPr>
        <p:spPr>
          <a:xfrm>
            <a:off x="411480" y="3931920"/>
            <a:ext cx="11338560" cy="1143000"/>
          </a:xfrm>
          <a:prstGeom prst="roundRect">
            <a:avLst>
              <a:gd name="adj" fmla="val 6400"/>
            </a:avLst>
          </a:prstGeom>
          <a:solidFill>
            <a:srgbClr val="1A1A1A"/>
          </a:solidFill>
          <a:ln w="12700">
            <a:solidFill>
              <a:srgbClr val="198038"/>
            </a:solidFill>
            <a:prstDash val="solid"/>
          </a:ln>
        </p:spPr>
      </p:sp>
      <p:sp>
        <p:nvSpPr>
          <p:cNvPr id="16" name="Shape 14"/>
          <p:cNvSpPr/>
          <p:nvPr/>
        </p:nvSpPr>
        <p:spPr>
          <a:xfrm>
            <a:off x="411480" y="3931920"/>
            <a:ext cx="64008" cy="1143000"/>
          </a:xfrm>
          <a:prstGeom prst="rect">
            <a:avLst/>
          </a:prstGeom>
          <a:solidFill>
            <a:srgbClr val="198038"/>
          </a:solidFill>
          <a:ln w="12700">
            <a:solidFill>
              <a:srgbClr val="198038"/>
            </a:solidFill>
            <a:prstDash val="solid"/>
          </a:ln>
        </p:spPr>
      </p:sp>
      <p:sp>
        <p:nvSpPr>
          <p:cNvPr id="17" name="Text 15"/>
          <p:cNvSpPr txBox="1"/>
          <p:nvPr/>
        </p:nvSpPr>
        <p:spPr>
          <a:xfrm>
            <a:off x="594360" y="4041648"/>
            <a:ext cx="3200400" cy="384048"/>
          </a:xfrm>
          <a:prstGeom prst="rect">
            <a:avLst/>
          </a:prstGeom>
          <a:noFill/>
          <a:ln/>
        </p:spPr>
        <p:txBody>
          <a:bodyPr wrap="square" lIns="0" tIns="0" rIns="0" bIns="0" rtlCol="0" anchor="ctr"/>
          <a:lstStyle/>
          <a:p>
            <a:pPr indent="0" marL="0">
              <a:buNone/>
            </a:pPr>
            <a:r>
              <a:rPr lang="en-US" sz="1500" b="1" dirty="0">
                <a:solidFill>
                  <a:srgbClr val="198038"/>
                </a:solidFill>
                <a:latin typeface="Epilogue" pitchFamily="34" charset="0"/>
                <a:ea typeface="Epilogue" pitchFamily="34" charset="-122"/>
                <a:cs typeface="Epilogue" pitchFamily="34" charset="-120"/>
              </a:rPr>
              <a:t>Feriados / Excepciones</a:t>
            </a:r>
            <a:endParaRPr lang="en-US" sz="1500" dirty="0"/>
          </a:p>
        </p:txBody>
      </p:sp>
      <p:sp>
        <p:nvSpPr>
          <p:cNvPr id="18" name="Text 16"/>
          <p:cNvSpPr txBox="1"/>
          <p:nvPr/>
        </p:nvSpPr>
        <p:spPr>
          <a:xfrm>
            <a:off x="594360" y="4498848"/>
            <a:ext cx="10972800" cy="47548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Fechas específicas marcadas como no laborables (feriados nacionales) o laborables (trabajo en sábado). El CPM los considera al calcular el cronograma.</a:t>
            </a:r>
            <a:endParaRPr lang="en-US" sz="1200" dirty="0"/>
          </a:p>
        </p:txBody>
      </p:sp>
      <p:sp>
        <p:nvSpPr>
          <p:cNvPr id="19" name="Shape 17"/>
          <p:cNvSpPr/>
          <p:nvPr/>
        </p:nvSpPr>
        <p:spPr>
          <a:xfrm>
            <a:off x="411480" y="5212080"/>
            <a:ext cx="11338560" cy="1143000"/>
          </a:xfrm>
          <a:prstGeom prst="roundRect">
            <a:avLst>
              <a:gd name="adj" fmla="val 6400"/>
            </a:avLst>
          </a:prstGeom>
          <a:solidFill>
            <a:srgbClr val="1A1A1A"/>
          </a:solidFill>
          <a:ln w="12700">
            <a:solidFill>
              <a:srgbClr val="A0A0A0"/>
            </a:solidFill>
            <a:prstDash val="solid"/>
          </a:ln>
        </p:spPr>
      </p:sp>
      <p:sp>
        <p:nvSpPr>
          <p:cNvPr id="20" name="Shape 18"/>
          <p:cNvSpPr/>
          <p:nvPr/>
        </p:nvSpPr>
        <p:spPr>
          <a:xfrm>
            <a:off x="411480" y="5212080"/>
            <a:ext cx="64008" cy="1143000"/>
          </a:xfrm>
          <a:prstGeom prst="rect">
            <a:avLst/>
          </a:prstGeom>
          <a:solidFill>
            <a:srgbClr val="A0A0A0"/>
          </a:solidFill>
          <a:ln w="12700">
            <a:solidFill>
              <a:srgbClr val="A0A0A0"/>
            </a:solidFill>
            <a:prstDash val="solid"/>
          </a:ln>
        </p:spPr>
      </p:sp>
      <p:sp>
        <p:nvSpPr>
          <p:cNvPr id="21" name="Text 19"/>
          <p:cNvSpPr txBox="1"/>
          <p:nvPr/>
        </p:nvSpPr>
        <p:spPr>
          <a:xfrm>
            <a:off x="594360" y="5321808"/>
            <a:ext cx="3200400" cy="384048"/>
          </a:xfrm>
          <a:prstGeom prst="rect">
            <a:avLst/>
          </a:prstGeom>
          <a:noFill/>
          <a:ln/>
        </p:spPr>
        <p:txBody>
          <a:bodyPr wrap="square" lIns="0" tIns="0" rIns="0" bIns="0" rtlCol="0" anchor="ctr"/>
          <a:lstStyle/>
          <a:p>
            <a:pPr indent="0" marL="0">
              <a:buNone/>
            </a:pPr>
            <a:r>
              <a:rPr lang="en-US" sz="1500" b="1" dirty="0">
                <a:solidFill>
                  <a:srgbClr val="A0A0A0"/>
                </a:solidFill>
                <a:latin typeface="Epilogue" pitchFamily="34" charset="0"/>
                <a:ea typeface="Epilogue" pitchFamily="34" charset="-122"/>
                <a:cs typeface="Epilogue" pitchFamily="34" charset="-120"/>
              </a:rPr>
              <a:t>Cómo acceder</a:t>
            </a:r>
            <a:endParaRPr lang="en-US" sz="1500" dirty="0"/>
          </a:p>
        </p:txBody>
      </p:sp>
      <p:sp>
        <p:nvSpPr>
          <p:cNvPr id="22" name="Text 20"/>
          <p:cNvSpPr txBox="1"/>
          <p:nvPr/>
        </p:nvSpPr>
        <p:spPr>
          <a:xfrm>
            <a:off x="594360" y="5779008"/>
            <a:ext cx="10972800" cy="475488"/>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Botón 🗓 Calendario en la barra de filtros del Gantt. Permite agregar y editar excepciones por fecha.</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10</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Valor Ganado (EVM)</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BAC • PV • EV • AC • SPI • CPI • EAC • Curva 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¿QUÉ ES EL VALOR GANADO (EVM)?</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371600"/>
          </a:xfrm>
          <a:prstGeom prst="roundRect">
            <a:avLst>
              <a:gd name="adj" fmla="val 5333"/>
            </a:avLst>
          </a:prstGeom>
          <a:solidFill>
            <a:srgbClr val="1A1A1A"/>
          </a:solidFill>
          <a:ln w="12700">
            <a:solidFill>
              <a:srgbClr val="FFA028"/>
            </a:solidFill>
            <a:prstDash val="solid"/>
          </a:ln>
        </p:spPr>
      </p:sp>
      <p:sp>
        <p:nvSpPr>
          <p:cNvPr id="7" name="Shape 5"/>
          <p:cNvSpPr/>
          <p:nvPr/>
        </p:nvSpPr>
        <p:spPr>
          <a:xfrm>
            <a:off x="411480" y="914400"/>
            <a:ext cx="11338560" cy="64008"/>
          </a:xfrm>
          <a:prstGeom prst="rect">
            <a:avLst/>
          </a:prstGeom>
          <a:solidFill>
            <a:srgbClr val="FFA028"/>
          </a:solidFill>
          <a:ln w="12700">
            <a:solidFill>
              <a:srgbClr val="FFA028"/>
            </a:solidFill>
            <a:prstDash val="solid"/>
          </a:ln>
        </p:spPr>
      </p:sp>
      <p:sp>
        <p:nvSpPr>
          <p:cNvPr id="8" name="Text 6"/>
          <p:cNvSpPr txBox="1"/>
          <p:nvPr/>
        </p:nvSpPr>
        <p:spPr>
          <a:xfrm>
            <a:off x="594360" y="1051560"/>
            <a:ext cx="10972800" cy="109728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El Earned Value Management (EVM) es una técnica integrada que mide el rendimiento del proyecto tanto en costo como en cronograma simultáneamente. Permite detectar desviaciones temprano y proyectar el resultado final.</a:t>
            </a:r>
            <a:endParaRPr lang="en-US" sz="1300" dirty="0"/>
          </a:p>
        </p:txBody>
      </p:sp>
      <p:sp>
        <p:nvSpPr>
          <p:cNvPr id="9" name="Shape 7"/>
          <p:cNvSpPr/>
          <p:nvPr/>
        </p:nvSpPr>
        <p:spPr>
          <a:xfrm>
            <a:off x="411480" y="2468880"/>
            <a:ext cx="5486400" cy="1783080"/>
          </a:xfrm>
          <a:prstGeom prst="roundRect">
            <a:avLst>
              <a:gd name="adj" fmla="val 4103"/>
            </a:avLst>
          </a:prstGeom>
          <a:solidFill>
            <a:srgbClr val="1A1A1A"/>
          </a:solidFill>
          <a:ln w="12700">
            <a:solidFill>
              <a:srgbClr val="333333"/>
            </a:solidFill>
            <a:prstDash val="solid"/>
          </a:ln>
        </p:spPr>
      </p:sp>
      <p:sp>
        <p:nvSpPr>
          <p:cNvPr id="10" name="Shape 8"/>
          <p:cNvSpPr/>
          <p:nvPr/>
        </p:nvSpPr>
        <p:spPr>
          <a:xfrm>
            <a:off x="411480" y="2468880"/>
            <a:ext cx="5486400" cy="45720"/>
          </a:xfrm>
          <a:prstGeom prst="rect">
            <a:avLst/>
          </a:prstGeom>
          <a:solidFill>
            <a:srgbClr val="FFA028"/>
          </a:solidFill>
          <a:ln w="12700">
            <a:solidFill>
              <a:srgbClr val="FFA028"/>
            </a:solidFill>
            <a:prstDash val="solid"/>
          </a:ln>
        </p:spPr>
      </p:sp>
      <p:sp>
        <p:nvSpPr>
          <p:cNvPr id="11" name="Text 9"/>
          <p:cNvSpPr txBox="1"/>
          <p:nvPr/>
        </p:nvSpPr>
        <p:spPr>
          <a:xfrm>
            <a:off x="548640" y="2633472"/>
            <a:ext cx="5212080" cy="855878"/>
          </a:xfrm>
          <a:prstGeom prst="rect">
            <a:avLst/>
          </a:prstGeom>
          <a:noFill/>
          <a:ln/>
        </p:spPr>
        <p:txBody>
          <a:bodyPr wrap="square" lIns="0" tIns="0" rIns="0" bIns="0" rtlCol="0" anchor="ctr"/>
          <a:lstStyle/>
          <a:p>
            <a:pPr algn="l" indent="0" marL="0">
              <a:buNone/>
            </a:pPr>
            <a:r>
              <a:rPr lang="en-US" sz="3600" b="1" dirty="0">
                <a:solidFill>
                  <a:srgbClr val="FFA028"/>
                </a:solidFill>
                <a:latin typeface="Epilogue" pitchFamily="34" charset="0"/>
                <a:ea typeface="Epilogue" pitchFamily="34" charset="-122"/>
                <a:cs typeface="Epilogue" pitchFamily="34" charset="-120"/>
              </a:rPr>
              <a:t>BAC</a:t>
            </a:r>
            <a:endParaRPr lang="en-US" sz="3600" dirty="0"/>
          </a:p>
        </p:txBody>
      </p:sp>
      <p:sp>
        <p:nvSpPr>
          <p:cNvPr id="12" name="Text 10"/>
          <p:cNvSpPr txBox="1"/>
          <p:nvPr/>
        </p:nvSpPr>
        <p:spPr>
          <a:xfrm>
            <a:off x="548640" y="3574390"/>
            <a:ext cx="521208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Presupuesto total aprobado del proyecto (100% planeado)</a:t>
            </a:r>
            <a:endParaRPr lang="en-US" sz="1000" dirty="0"/>
          </a:p>
        </p:txBody>
      </p:sp>
      <p:sp>
        <p:nvSpPr>
          <p:cNvPr id="13" name="Text 11"/>
          <p:cNvSpPr txBox="1"/>
          <p:nvPr/>
        </p:nvSpPr>
        <p:spPr>
          <a:xfrm>
            <a:off x="548640" y="3730752"/>
            <a:ext cx="521208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Budget At Completion</a:t>
            </a:r>
            <a:endParaRPr lang="en-US" sz="1100" dirty="0"/>
          </a:p>
        </p:txBody>
      </p:sp>
      <p:sp>
        <p:nvSpPr>
          <p:cNvPr id="14" name="Shape 12"/>
          <p:cNvSpPr/>
          <p:nvPr/>
        </p:nvSpPr>
        <p:spPr>
          <a:xfrm>
            <a:off x="6263640" y="2468880"/>
            <a:ext cx="5486400" cy="1783080"/>
          </a:xfrm>
          <a:prstGeom prst="roundRect">
            <a:avLst>
              <a:gd name="adj" fmla="val 4103"/>
            </a:avLst>
          </a:prstGeom>
          <a:solidFill>
            <a:srgbClr val="1A1A1A"/>
          </a:solidFill>
          <a:ln w="12700">
            <a:solidFill>
              <a:srgbClr val="333333"/>
            </a:solidFill>
            <a:prstDash val="solid"/>
          </a:ln>
        </p:spPr>
      </p:sp>
      <p:sp>
        <p:nvSpPr>
          <p:cNvPr id="15" name="Shape 13"/>
          <p:cNvSpPr/>
          <p:nvPr/>
        </p:nvSpPr>
        <p:spPr>
          <a:xfrm>
            <a:off x="6263640" y="2468880"/>
            <a:ext cx="5486400" cy="45720"/>
          </a:xfrm>
          <a:prstGeom prst="rect">
            <a:avLst/>
          </a:prstGeom>
          <a:solidFill>
            <a:srgbClr val="4AF6C3"/>
          </a:solidFill>
          <a:ln w="12700">
            <a:solidFill>
              <a:srgbClr val="4AF6C3"/>
            </a:solidFill>
            <a:prstDash val="solid"/>
          </a:ln>
        </p:spPr>
      </p:sp>
      <p:sp>
        <p:nvSpPr>
          <p:cNvPr id="16" name="Text 14"/>
          <p:cNvSpPr txBox="1"/>
          <p:nvPr/>
        </p:nvSpPr>
        <p:spPr>
          <a:xfrm>
            <a:off x="6400800" y="2633472"/>
            <a:ext cx="5212080" cy="855878"/>
          </a:xfrm>
          <a:prstGeom prst="rect">
            <a:avLst/>
          </a:prstGeom>
          <a:noFill/>
          <a:ln/>
        </p:spPr>
        <p:txBody>
          <a:bodyPr wrap="square" lIns="0" tIns="0" rIns="0" bIns="0" rtlCol="0" anchor="ctr"/>
          <a:lstStyle/>
          <a:p>
            <a:pPr algn="l" indent="0" marL="0">
              <a:buNone/>
            </a:pPr>
            <a:r>
              <a:rPr lang="en-US" sz="3600" b="1" dirty="0">
                <a:solidFill>
                  <a:srgbClr val="4AF6C3"/>
                </a:solidFill>
                <a:latin typeface="Epilogue" pitchFamily="34" charset="0"/>
                <a:ea typeface="Epilogue" pitchFamily="34" charset="-122"/>
                <a:cs typeface="Epilogue" pitchFamily="34" charset="-120"/>
              </a:rPr>
              <a:t>PV</a:t>
            </a:r>
            <a:endParaRPr lang="en-US" sz="3600" dirty="0"/>
          </a:p>
        </p:txBody>
      </p:sp>
      <p:sp>
        <p:nvSpPr>
          <p:cNvPr id="17" name="Text 15"/>
          <p:cNvSpPr txBox="1"/>
          <p:nvPr/>
        </p:nvSpPr>
        <p:spPr>
          <a:xfrm>
            <a:off x="6400800" y="3574390"/>
            <a:ext cx="521208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Valor del trabajo que DEBERÍA estar hecho a la fecha de hoy</a:t>
            </a:r>
            <a:endParaRPr lang="en-US" sz="1000" dirty="0"/>
          </a:p>
        </p:txBody>
      </p:sp>
      <p:sp>
        <p:nvSpPr>
          <p:cNvPr id="18" name="Text 16"/>
          <p:cNvSpPr txBox="1"/>
          <p:nvPr/>
        </p:nvSpPr>
        <p:spPr>
          <a:xfrm>
            <a:off x="6400800" y="3730752"/>
            <a:ext cx="521208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Planned Value</a:t>
            </a:r>
            <a:endParaRPr lang="en-US" sz="1100" dirty="0"/>
          </a:p>
        </p:txBody>
      </p:sp>
      <p:sp>
        <p:nvSpPr>
          <p:cNvPr id="19" name="Shape 17"/>
          <p:cNvSpPr/>
          <p:nvPr/>
        </p:nvSpPr>
        <p:spPr>
          <a:xfrm>
            <a:off x="411480" y="4389120"/>
            <a:ext cx="5486400" cy="1783080"/>
          </a:xfrm>
          <a:prstGeom prst="roundRect">
            <a:avLst>
              <a:gd name="adj" fmla="val 4103"/>
            </a:avLst>
          </a:prstGeom>
          <a:solidFill>
            <a:srgbClr val="1A1A1A"/>
          </a:solidFill>
          <a:ln w="12700">
            <a:solidFill>
              <a:srgbClr val="333333"/>
            </a:solidFill>
            <a:prstDash val="solid"/>
          </a:ln>
        </p:spPr>
      </p:sp>
      <p:sp>
        <p:nvSpPr>
          <p:cNvPr id="20" name="Shape 18"/>
          <p:cNvSpPr/>
          <p:nvPr/>
        </p:nvSpPr>
        <p:spPr>
          <a:xfrm>
            <a:off x="411480" y="4389120"/>
            <a:ext cx="5486400" cy="45720"/>
          </a:xfrm>
          <a:prstGeom prst="rect">
            <a:avLst/>
          </a:prstGeom>
          <a:solidFill>
            <a:srgbClr val="198038"/>
          </a:solidFill>
          <a:ln w="12700">
            <a:solidFill>
              <a:srgbClr val="198038"/>
            </a:solidFill>
            <a:prstDash val="solid"/>
          </a:ln>
        </p:spPr>
      </p:sp>
      <p:sp>
        <p:nvSpPr>
          <p:cNvPr id="21" name="Text 19"/>
          <p:cNvSpPr txBox="1"/>
          <p:nvPr/>
        </p:nvSpPr>
        <p:spPr>
          <a:xfrm>
            <a:off x="548640" y="4553712"/>
            <a:ext cx="5212080" cy="855878"/>
          </a:xfrm>
          <a:prstGeom prst="rect">
            <a:avLst/>
          </a:prstGeom>
          <a:noFill/>
          <a:ln/>
        </p:spPr>
        <p:txBody>
          <a:bodyPr wrap="square" lIns="0" tIns="0" rIns="0" bIns="0" rtlCol="0" anchor="ctr"/>
          <a:lstStyle/>
          <a:p>
            <a:pPr algn="l" indent="0" marL="0">
              <a:buNone/>
            </a:pPr>
            <a:r>
              <a:rPr lang="en-US" sz="3600" b="1" dirty="0">
                <a:solidFill>
                  <a:srgbClr val="198038"/>
                </a:solidFill>
                <a:latin typeface="Epilogue" pitchFamily="34" charset="0"/>
                <a:ea typeface="Epilogue" pitchFamily="34" charset="-122"/>
                <a:cs typeface="Epilogue" pitchFamily="34" charset="-120"/>
              </a:rPr>
              <a:t>EV</a:t>
            </a:r>
            <a:endParaRPr lang="en-US" sz="3600" dirty="0"/>
          </a:p>
        </p:txBody>
      </p:sp>
      <p:sp>
        <p:nvSpPr>
          <p:cNvPr id="22" name="Text 20"/>
          <p:cNvSpPr txBox="1"/>
          <p:nvPr/>
        </p:nvSpPr>
        <p:spPr>
          <a:xfrm>
            <a:off x="548640" y="5494630"/>
            <a:ext cx="521208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Valor del trabajo que REALMENTE se completó hasta hoy</a:t>
            </a:r>
            <a:endParaRPr lang="en-US" sz="1000" dirty="0"/>
          </a:p>
        </p:txBody>
      </p:sp>
      <p:sp>
        <p:nvSpPr>
          <p:cNvPr id="23" name="Text 21"/>
          <p:cNvSpPr txBox="1"/>
          <p:nvPr/>
        </p:nvSpPr>
        <p:spPr>
          <a:xfrm>
            <a:off x="548640" y="5650992"/>
            <a:ext cx="521208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Earned Value</a:t>
            </a:r>
            <a:endParaRPr lang="en-US" sz="1100" dirty="0"/>
          </a:p>
        </p:txBody>
      </p:sp>
      <p:sp>
        <p:nvSpPr>
          <p:cNvPr id="24" name="Shape 22"/>
          <p:cNvSpPr/>
          <p:nvPr/>
        </p:nvSpPr>
        <p:spPr>
          <a:xfrm>
            <a:off x="6263640" y="4389120"/>
            <a:ext cx="5486400" cy="1783080"/>
          </a:xfrm>
          <a:prstGeom prst="roundRect">
            <a:avLst>
              <a:gd name="adj" fmla="val 4103"/>
            </a:avLst>
          </a:prstGeom>
          <a:solidFill>
            <a:srgbClr val="1A1A1A"/>
          </a:solidFill>
          <a:ln w="12700">
            <a:solidFill>
              <a:srgbClr val="333333"/>
            </a:solidFill>
            <a:prstDash val="solid"/>
          </a:ln>
        </p:spPr>
      </p:sp>
      <p:sp>
        <p:nvSpPr>
          <p:cNvPr id="25" name="Shape 23"/>
          <p:cNvSpPr/>
          <p:nvPr/>
        </p:nvSpPr>
        <p:spPr>
          <a:xfrm>
            <a:off x="6263640" y="4389120"/>
            <a:ext cx="5486400" cy="45720"/>
          </a:xfrm>
          <a:prstGeom prst="rect">
            <a:avLst/>
          </a:prstGeom>
          <a:solidFill>
            <a:srgbClr val="FF433D"/>
          </a:solidFill>
          <a:ln w="12700">
            <a:solidFill>
              <a:srgbClr val="FF433D"/>
            </a:solidFill>
            <a:prstDash val="solid"/>
          </a:ln>
        </p:spPr>
      </p:sp>
      <p:sp>
        <p:nvSpPr>
          <p:cNvPr id="26" name="Text 24"/>
          <p:cNvSpPr txBox="1"/>
          <p:nvPr/>
        </p:nvSpPr>
        <p:spPr>
          <a:xfrm>
            <a:off x="6400800" y="4553712"/>
            <a:ext cx="5212080" cy="855878"/>
          </a:xfrm>
          <a:prstGeom prst="rect">
            <a:avLst/>
          </a:prstGeom>
          <a:noFill/>
          <a:ln/>
        </p:spPr>
        <p:txBody>
          <a:bodyPr wrap="square" lIns="0" tIns="0" rIns="0" bIns="0" rtlCol="0" anchor="ctr"/>
          <a:lstStyle/>
          <a:p>
            <a:pPr algn="l" indent="0" marL="0">
              <a:buNone/>
            </a:pPr>
            <a:r>
              <a:rPr lang="en-US" sz="3600" b="1" dirty="0">
                <a:solidFill>
                  <a:srgbClr val="FF433D"/>
                </a:solidFill>
                <a:latin typeface="Epilogue" pitchFamily="34" charset="0"/>
                <a:ea typeface="Epilogue" pitchFamily="34" charset="-122"/>
                <a:cs typeface="Epilogue" pitchFamily="34" charset="-120"/>
              </a:rPr>
              <a:t>AC</a:t>
            </a:r>
            <a:endParaRPr lang="en-US" sz="3600" dirty="0"/>
          </a:p>
        </p:txBody>
      </p:sp>
      <p:sp>
        <p:nvSpPr>
          <p:cNvPr id="27" name="Text 25"/>
          <p:cNvSpPr txBox="1"/>
          <p:nvPr/>
        </p:nvSpPr>
        <p:spPr>
          <a:xfrm>
            <a:off x="6400800" y="5494630"/>
            <a:ext cx="521208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Costo real gastado hasta la fecha de hoy</a:t>
            </a:r>
            <a:endParaRPr lang="en-US" sz="1000" dirty="0"/>
          </a:p>
        </p:txBody>
      </p:sp>
      <p:sp>
        <p:nvSpPr>
          <p:cNvPr id="28" name="Text 26"/>
          <p:cNvSpPr txBox="1"/>
          <p:nvPr/>
        </p:nvSpPr>
        <p:spPr>
          <a:xfrm>
            <a:off x="6400800" y="5650992"/>
            <a:ext cx="521208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Actual Cost</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VARIACIONES E ÍNDICES EVM</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325880"/>
          </a:xfrm>
          <a:prstGeom prst="roundRect">
            <a:avLst>
              <a:gd name="adj" fmla="val 5517"/>
            </a:avLst>
          </a:prstGeom>
          <a:solidFill>
            <a:srgbClr val="1A1A1A"/>
          </a:solidFill>
          <a:ln w="12700">
            <a:solidFill>
              <a:srgbClr val="4AF6C3"/>
            </a:solidFill>
            <a:prstDash val="solid"/>
          </a:ln>
        </p:spPr>
      </p:sp>
      <p:sp>
        <p:nvSpPr>
          <p:cNvPr id="7" name="Text 5"/>
          <p:cNvSpPr txBox="1"/>
          <p:nvPr/>
        </p:nvSpPr>
        <p:spPr>
          <a:xfrm>
            <a:off x="548640" y="1005840"/>
            <a:ext cx="914400" cy="475488"/>
          </a:xfrm>
          <a:prstGeom prst="rect">
            <a:avLst/>
          </a:prstGeom>
          <a:noFill/>
          <a:ln/>
        </p:spPr>
        <p:txBody>
          <a:bodyPr wrap="square" lIns="0" tIns="0" rIns="0" bIns="0" rtlCol="0" anchor="ctr"/>
          <a:lstStyle/>
          <a:p>
            <a:pPr indent="0" marL="0">
              <a:buNone/>
            </a:pPr>
            <a:r>
              <a:rPr lang="en-US" sz="2400" b="1" dirty="0">
                <a:solidFill>
                  <a:srgbClr val="4AF6C3"/>
                </a:solidFill>
                <a:latin typeface="Epilogue" pitchFamily="34" charset="0"/>
                <a:ea typeface="Epilogue" pitchFamily="34" charset="-122"/>
                <a:cs typeface="Epilogue" pitchFamily="34" charset="-120"/>
              </a:rPr>
              <a:t>SV</a:t>
            </a:r>
            <a:endParaRPr lang="en-US" sz="2400" dirty="0"/>
          </a:p>
        </p:txBody>
      </p:sp>
      <p:sp>
        <p:nvSpPr>
          <p:cNvPr id="8" name="Text 6"/>
          <p:cNvSpPr txBox="1"/>
          <p:nvPr/>
        </p:nvSpPr>
        <p:spPr>
          <a:xfrm>
            <a:off x="1508760" y="100584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SV = EV − PV</a:t>
            </a:r>
            <a:endParaRPr lang="en-US" sz="1400" dirty="0"/>
          </a:p>
        </p:txBody>
      </p:sp>
      <p:sp>
        <p:nvSpPr>
          <p:cNvPr id="9" name="Text 7"/>
          <p:cNvSpPr txBox="1"/>
          <p:nvPr/>
        </p:nvSpPr>
        <p:spPr>
          <a:xfrm>
            <a:off x="548640" y="157276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Variación de Cronograma. SV &gt; 0 = adelantado. SV &lt; 0 = atrasado.</a:t>
            </a:r>
            <a:endParaRPr lang="en-US" sz="1100" dirty="0"/>
          </a:p>
        </p:txBody>
      </p:sp>
      <p:sp>
        <p:nvSpPr>
          <p:cNvPr id="10" name="Shape 8"/>
          <p:cNvSpPr/>
          <p:nvPr/>
        </p:nvSpPr>
        <p:spPr>
          <a:xfrm>
            <a:off x="6263640" y="914400"/>
            <a:ext cx="5486400" cy="1325880"/>
          </a:xfrm>
          <a:prstGeom prst="roundRect">
            <a:avLst>
              <a:gd name="adj" fmla="val 5517"/>
            </a:avLst>
          </a:prstGeom>
          <a:solidFill>
            <a:srgbClr val="1A1A1A"/>
          </a:solidFill>
          <a:ln w="12700">
            <a:solidFill>
              <a:srgbClr val="198038"/>
            </a:solidFill>
            <a:prstDash val="solid"/>
          </a:ln>
        </p:spPr>
      </p:sp>
      <p:sp>
        <p:nvSpPr>
          <p:cNvPr id="11" name="Text 9"/>
          <p:cNvSpPr txBox="1"/>
          <p:nvPr/>
        </p:nvSpPr>
        <p:spPr>
          <a:xfrm>
            <a:off x="6400800" y="1005840"/>
            <a:ext cx="914400" cy="475488"/>
          </a:xfrm>
          <a:prstGeom prst="rect">
            <a:avLst/>
          </a:prstGeom>
          <a:noFill/>
          <a:ln/>
        </p:spPr>
        <p:txBody>
          <a:bodyPr wrap="square" lIns="0" tIns="0" rIns="0" bIns="0" rtlCol="0" anchor="ctr"/>
          <a:lstStyle/>
          <a:p>
            <a:pPr indent="0" marL="0">
              <a:buNone/>
            </a:pPr>
            <a:r>
              <a:rPr lang="en-US" sz="2400" b="1" dirty="0">
                <a:solidFill>
                  <a:srgbClr val="198038"/>
                </a:solidFill>
                <a:latin typeface="Epilogue" pitchFamily="34" charset="0"/>
                <a:ea typeface="Epilogue" pitchFamily="34" charset="-122"/>
                <a:cs typeface="Epilogue" pitchFamily="34" charset="-120"/>
              </a:rPr>
              <a:t>CV</a:t>
            </a:r>
            <a:endParaRPr lang="en-US" sz="2400" dirty="0"/>
          </a:p>
        </p:txBody>
      </p:sp>
      <p:sp>
        <p:nvSpPr>
          <p:cNvPr id="12" name="Text 10"/>
          <p:cNvSpPr txBox="1"/>
          <p:nvPr/>
        </p:nvSpPr>
        <p:spPr>
          <a:xfrm>
            <a:off x="7360920" y="100584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CV = EV − AC</a:t>
            </a:r>
            <a:endParaRPr lang="en-US" sz="1400" dirty="0"/>
          </a:p>
        </p:txBody>
      </p:sp>
      <p:sp>
        <p:nvSpPr>
          <p:cNvPr id="13" name="Text 11"/>
          <p:cNvSpPr txBox="1"/>
          <p:nvPr/>
        </p:nvSpPr>
        <p:spPr>
          <a:xfrm>
            <a:off x="6400800" y="157276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Variación de Costo. CV &gt; 0 = bajo presupuesto. CV &lt; 0 = sobre presupuesto.</a:t>
            </a:r>
            <a:endParaRPr lang="en-US" sz="1100" dirty="0"/>
          </a:p>
        </p:txBody>
      </p:sp>
      <p:sp>
        <p:nvSpPr>
          <p:cNvPr id="14" name="Shape 12"/>
          <p:cNvSpPr/>
          <p:nvPr/>
        </p:nvSpPr>
        <p:spPr>
          <a:xfrm>
            <a:off x="411480" y="2377440"/>
            <a:ext cx="5486400" cy="1325880"/>
          </a:xfrm>
          <a:prstGeom prst="roundRect">
            <a:avLst>
              <a:gd name="adj" fmla="val 5517"/>
            </a:avLst>
          </a:prstGeom>
          <a:solidFill>
            <a:srgbClr val="1A1A1A"/>
          </a:solidFill>
          <a:ln w="12700">
            <a:solidFill>
              <a:srgbClr val="FFA028"/>
            </a:solidFill>
            <a:prstDash val="solid"/>
          </a:ln>
        </p:spPr>
      </p:sp>
      <p:sp>
        <p:nvSpPr>
          <p:cNvPr id="15" name="Text 13"/>
          <p:cNvSpPr txBox="1"/>
          <p:nvPr/>
        </p:nvSpPr>
        <p:spPr>
          <a:xfrm>
            <a:off x="548640" y="2468880"/>
            <a:ext cx="914400" cy="475488"/>
          </a:xfrm>
          <a:prstGeom prst="rect">
            <a:avLst/>
          </a:prstGeom>
          <a:noFill/>
          <a:ln/>
        </p:spPr>
        <p:txBody>
          <a:bodyPr wrap="square" lIns="0" tIns="0" rIns="0" bIns="0" rtlCol="0" anchor="ctr"/>
          <a:lstStyle/>
          <a:p>
            <a:pPr indent="0" marL="0">
              <a:buNone/>
            </a:pPr>
            <a:r>
              <a:rPr lang="en-US" sz="2400" b="1" dirty="0">
                <a:solidFill>
                  <a:srgbClr val="FFA028"/>
                </a:solidFill>
                <a:latin typeface="Epilogue" pitchFamily="34" charset="0"/>
                <a:ea typeface="Epilogue" pitchFamily="34" charset="-122"/>
                <a:cs typeface="Epilogue" pitchFamily="34" charset="-120"/>
              </a:rPr>
              <a:t>SPI</a:t>
            </a:r>
            <a:endParaRPr lang="en-US" sz="2400" dirty="0"/>
          </a:p>
        </p:txBody>
      </p:sp>
      <p:sp>
        <p:nvSpPr>
          <p:cNvPr id="16" name="Text 14"/>
          <p:cNvSpPr txBox="1"/>
          <p:nvPr/>
        </p:nvSpPr>
        <p:spPr>
          <a:xfrm>
            <a:off x="1508760" y="246888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SPI = EV / PV</a:t>
            </a:r>
            <a:endParaRPr lang="en-US" sz="1400" dirty="0"/>
          </a:p>
        </p:txBody>
      </p:sp>
      <p:sp>
        <p:nvSpPr>
          <p:cNvPr id="17" name="Text 15"/>
          <p:cNvSpPr txBox="1"/>
          <p:nvPr/>
        </p:nvSpPr>
        <p:spPr>
          <a:xfrm>
            <a:off x="548640" y="303580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Índice de Desempeño del Cronograma. SPI &lt; 1 = atrasado. SPI &gt; 1 = adelantado.</a:t>
            </a:r>
            <a:endParaRPr lang="en-US" sz="1100" dirty="0"/>
          </a:p>
        </p:txBody>
      </p:sp>
      <p:sp>
        <p:nvSpPr>
          <p:cNvPr id="18" name="Shape 16"/>
          <p:cNvSpPr/>
          <p:nvPr/>
        </p:nvSpPr>
        <p:spPr>
          <a:xfrm>
            <a:off x="6263640" y="2377440"/>
            <a:ext cx="5486400" cy="1325880"/>
          </a:xfrm>
          <a:prstGeom prst="roundRect">
            <a:avLst>
              <a:gd name="adj" fmla="val 5517"/>
            </a:avLst>
          </a:prstGeom>
          <a:solidFill>
            <a:srgbClr val="1A1A1A"/>
          </a:solidFill>
          <a:ln w="12700">
            <a:solidFill>
              <a:srgbClr val="FF433D"/>
            </a:solidFill>
            <a:prstDash val="solid"/>
          </a:ln>
        </p:spPr>
      </p:sp>
      <p:sp>
        <p:nvSpPr>
          <p:cNvPr id="19" name="Text 17"/>
          <p:cNvSpPr txBox="1"/>
          <p:nvPr/>
        </p:nvSpPr>
        <p:spPr>
          <a:xfrm>
            <a:off x="6400800" y="2468880"/>
            <a:ext cx="914400" cy="475488"/>
          </a:xfrm>
          <a:prstGeom prst="rect">
            <a:avLst/>
          </a:prstGeom>
          <a:noFill/>
          <a:ln/>
        </p:spPr>
        <p:txBody>
          <a:bodyPr wrap="square" lIns="0" tIns="0" rIns="0" bIns="0" rtlCol="0" anchor="ctr"/>
          <a:lstStyle/>
          <a:p>
            <a:pPr indent="0" marL="0">
              <a:buNone/>
            </a:pPr>
            <a:r>
              <a:rPr lang="en-US" sz="2400" b="1" dirty="0">
                <a:solidFill>
                  <a:srgbClr val="FF433D"/>
                </a:solidFill>
                <a:latin typeface="Epilogue" pitchFamily="34" charset="0"/>
                <a:ea typeface="Epilogue" pitchFamily="34" charset="-122"/>
                <a:cs typeface="Epilogue" pitchFamily="34" charset="-120"/>
              </a:rPr>
              <a:t>CPI</a:t>
            </a:r>
            <a:endParaRPr lang="en-US" sz="2400" dirty="0"/>
          </a:p>
        </p:txBody>
      </p:sp>
      <p:sp>
        <p:nvSpPr>
          <p:cNvPr id="20" name="Text 18"/>
          <p:cNvSpPr txBox="1"/>
          <p:nvPr/>
        </p:nvSpPr>
        <p:spPr>
          <a:xfrm>
            <a:off x="7360920" y="246888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CPI = EV / AC</a:t>
            </a:r>
            <a:endParaRPr lang="en-US" sz="1400" dirty="0"/>
          </a:p>
        </p:txBody>
      </p:sp>
      <p:sp>
        <p:nvSpPr>
          <p:cNvPr id="21" name="Text 19"/>
          <p:cNvSpPr txBox="1"/>
          <p:nvPr/>
        </p:nvSpPr>
        <p:spPr>
          <a:xfrm>
            <a:off x="6400800" y="303580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Índice de Desempeño del Costo. CPI &lt; 1 = sobre costo. CPI &gt; 1 = bajo costo.</a:t>
            </a:r>
            <a:endParaRPr lang="en-US" sz="1100" dirty="0"/>
          </a:p>
        </p:txBody>
      </p:sp>
      <p:sp>
        <p:nvSpPr>
          <p:cNvPr id="22" name="Shape 20"/>
          <p:cNvSpPr/>
          <p:nvPr/>
        </p:nvSpPr>
        <p:spPr>
          <a:xfrm>
            <a:off x="411480" y="3840480"/>
            <a:ext cx="5486400" cy="1325880"/>
          </a:xfrm>
          <a:prstGeom prst="roundRect">
            <a:avLst>
              <a:gd name="adj" fmla="val 5517"/>
            </a:avLst>
          </a:prstGeom>
          <a:solidFill>
            <a:srgbClr val="1A1A1A"/>
          </a:solidFill>
          <a:ln w="12700">
            <a:solidFill>
              <a:srgbClr val="FFA028"/>
            </a:solidFill>
            <a:prstDash val="solid"/>
          </a:ln>
        </p:spPr>
      </p:sp>
      <p:sp>
        <p:nvSpPr>
          <p:cNvPr id="23" name="Text 21"/>
          <p:cNvSpPr txBox="1"/>
          <p:nvPr/>
        </p:nvSpPr>
        <p:spPr>
          <a:xfrm>
            <a:off x="548640" y="3931920"/>
            <a:ext cx="914400" cy="475488"/>
          </a:xfrm>
          <a:prstGeom prst="rect">
            <a:avLst/>
          </a:prstGeom>
          <a:noFill/>
          <a:ln/>
        </p:spPr>
        <p:txBody>
          <a:bodyPr wrap="square" lIns="0" tIns="0" rIns="0" bIns="0" rtlCol="0" anchor="ctr"/>
          <a:lstStyle/>
          <a:p>
            <a:pPr indent="0" marL="0">
              <a:buNone/>
            </a:pPr>
            <a:r>
              <a:rPr lang="en-US" sz="2400" b="1" dirty="0">
                <a:solidFill>
                  <a:srgbClr val="FFA028"/>
                </a:solidFill>
                <a:latin typeface="Epilogue" pitchFamily="34" charset="0"/>
                <a:ea typeface="Epilogue" pitchFamily="34" charset="-122"/>
                <a:cs typeface="Epilogue" pitchFamily="34" charset="-120"/>
              </a:rPr>
              <a:t>EAC</a:t>
            </a:r>
            <a:endParaRPr lang="en-US" sz="2400" dirty="0"/>
          </a:p>
        </p:txBody>
      </p:sp>
      <p:sp>
        <p:nvSpPr>
          <p:cNvPr id="24" name="Text 22"/>
          <p:cNvSpPr txBox="1"/>
          <p:nvPr/>
        </p:nvSpPr>
        <p:spPr>
          <a:xfrm>
            <a:off x="1508760" y="393192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BAC / CPI</a:t>
            </a:r>
            <a:endParaRPr lang="en-US" sz="1400" dirty="0"/>
          </a:p>
        </p:txBody>
      </p:sp>
      <p:sp>
        <p:nvSpPr>
          <p:cNvPr id="25" name="Text 23"/>
          <p:cNvSpPr txBox="1"/>
          <p:nvPr/>
        </p:nvSpPr>
        <p:spPr>
          <a:xfrm>
            <a:off x="548640" y="449884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Estimado al Completar. Proyección del costo total final basada en el rendimiento actual.</a:t>
            </a:r>
            <a:endParaRPr lang="en-US" sz="1100" dirty="0"/>
          </a:p>
        </p:txBody>
      </p:sp>
      <p:sp>
        <p:nvSpPr>
          <p:cNvPr id="26" name="Shape 24"/>
          <p:cNvSpPr/>
          <p:nvPr/>
        </p:nvSpPr>
        <p:spPr>
          <a:xfrm>
            <a:off x="6263640" y="3840480"/>
            <a:ext cx="5486400" cy="1325880"/>
          </a:xfrm>
          <a:prstGeom prst="roundRect">
            <a:avLst>
              <a:gd name="adj" fmla="val 5517"/>
            </a:avLst>
          </a:prstGeom>
          <a:solidFill>
            <a:srgbClr val="1A1A1A"/>
          </a:solidFill>
          <a:ln w="12700">
            <a:solidFill>
              <a:srgbClr val="4AF6C3"/>
            </a:solidFill>
            <a:prstDash val="solid"/>
          </a:ln>
        </p:spPr>
      </p:sp>
      <p:sp>
        <p:nvSpPr>
          <p:cNvPr id="27" name="Text 25"/>
          <p:cNvSpPr txBox="1"/>
          <p:nvPr/>
        </p:nvSpPr>
        <p:spPr>
          <a:xfrm>
            <a:off x="6400800" y="3931920"/>
            <a:ext cx="914400" cy="475488"/>
          </a:xfrm>
          <a:prstGeom prst="rect">
            <a:avLst/>
          </a:prstGeom>
          <a:noFill/>
          <a:ln/>
        </p:spPr>
        <p:txBody>
          <a:bodyPr wrap="square" lIns="0" tIns="0" rIns="0" bIns="0" rtlCol="0" anchor="ctr"/>
          <a:lstStyle/>
          <a:p>
            <a:pPr indent="0" marL="0">
              <a:buNone/>
            </a:pPr>
            <a:r>
              <a:rPr lang="en-US" sz="2400" b="1" dirty="0">
                <a:solidFill>
                  <a:srgbClr val="4AF6C3"/>
                </a:solidFill>
                <a:latin typeface="Epilogue" pitchFamily="34" charset="0"/>
                <a:ea typeface="Epilogue" pitchFamily="34" charset="-122"/>
                <a:cs typeface="Epilogue" pitchFamily="34" charset="-120"/>
              </a:rPr>
              <a:t>ETC</a:t>
            </a:r>
            <a:endParaRPr lang="en-US" sz="2400" dirty="0"/>
          </a:p>
        </p:txBody>
      </p:sp>
      <p:sp>
        <p:nvSpPr>
          <p:cNvPr id="28" name="Text 26"/>
          <p:cNvSpPr txBox="1"/>
          <p:nvPr/>
        </p:nvSpPr>
        <p:spPr>
          <a:xfrm>
            <a:off x="7360920" y="393192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EAC − AC</a:t>
            </a:r>
            <a:endParaRPr lang="en-US" sz="1400" dirty="0"/>
          </a:p>
        </p:txBody>
      </p:sp>
      <p:sp>
        <p:nvSpPr>
          <p:cNvPr id="29" name="Text 27"/>
          <p:cNvSpPr txBox="1"/>
          <p:nvPr/>
        </p:nvSpPr>
        <p:spPr>
          <a:xfrm>
            <a:off x="6400800" y="449884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Estimado para Completar. Cuánto más se necesita gastar para terminar el proyecto.</a:t>
            </a:r>
            <a:endParaRPr lang="en-US" sz="1100" dirty="0"/>
          </a:p>
        </p:txBody>
      </p:sp>
      <p:sp>
        <p:nvSpPr>
          <p:cNvPr id="30" name="Shape 28"/>
          <p:cNvSpPr/>
          <p:nvPr/>
        </p:nvSpPr>
        <p:spPr>
          <a:xfrm>
            <a:off x="411480" y="5303520"/>
            <a:ext cx="5486400" cy="1325880"/>
          </a:xfrm>
          <a:prstGeom prst="roundRect">
            <a:avLst>
              <a:gd name="adj" fmla="val 5517"/>
            </a:avLst>
          </a:prstGeom>
          <a:solidFill>
            <a:srgbClr val="1A1A1A"/>
          </a:solidFill>
          <a:ln w="12700">
            <a:solidFill>
              <a:srgbClr val="A0A0A0"/>
            </a:solidFill>
            <a:prstDash val="solid"/>
          </a:ln>
        </p:spPr>
      </p:sp>
      <p:sp>
        <p:nvSpPr>
          <p:cNvPr id="31" name="Text 29"/>
          <p:cNvSpPr txBox="1"/>
          <p:nvPr/>
        </p:nvSpPr>
        <p:spPr>
          <a:xfrm>
            <a:off x="548640" y="5394960"/>
            <a:ext cx="914400" cy="475488"/>
          </a:xfrm>
          <a:prstGeom prst="rect">
            <a:avLst/>
          </a:prstGeom>
          <a:noFill/>
          <a:ln/>
        </p:spPr>
        <p:txBody>
          <a:bodyPr wrap="square" lIns="0" tIns="0" rIns="0" bIns="0" rtlCol="0" anchor="ctr"/>
          <a:lstStyle/>
          <a:p>
            <a:pPr indent="0" marL="0">
              <a:buNone/>
            </a:pPr>
            <a:r>
              <a:rPr lang="en-US" sz="2400" b="1" dirty="0">
                <a:solidFill>
                  <a:srgbClr val="A0A0A0"/>
                </a:solidFill>
                <a:latin typeface="Epilogue" pitchFamily="34" charset="0"/>
                <a:ea typeface="Epilogue" pitchFamily="34" charset="-122"/>
                <a:cs typeface="Epilogue" pitchFamily="34" charset="-120"/>
              </a:rPr>
              <a:t>TCPI</a:t>
            </a:r>
            <a:endParaRPr lang="en-US" sz="2400" dirty="0"/>
          </a:p>
        </p:txBody>
      </p:sp>
      <p:sp>
        <p:nvSpPr>
          <p:cNvPr id="32" name="Text 30"/>
          <p:cNvSpPr txBox="1"/>
          <p:nvPr/>
        </p:nvSpPr>
        <p:spPr>
          <a:xfrm>
            <a:off x="1508760" y="539496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(BAC−EV)/(BAC−AC)</a:t>
            </a:r>
            <a:endParaRPr lang="en-US" sz="1400" dirty="0"/>
          </a:p>
        </p:txBody>
      </p:sp>
      <p:sp>
        <p:nvSpPr>
          <p:cNvPr id="33" name="Text 31"/>
          <p:cNvSpPr txBox="1"/>
          <p:nvPr/>
        </p:nvSpPr>
        <p:spPr>
          <a:xfrm>
            <a:off x="548640" y="596188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Índice de eficiencia necesario para completar con el presupuesto original.</a:t>
            </a:r>
            <a:endParaRPr lang="en-US" sz="1100" dirty="0"/>
          </a:p>
        </p:txBody>
      </p:sp>
      <p:sp>
        <p:nvSpPr>
          <p:cNvPr id="34" name="Shape 32"/>
          <p:cNvSpPr/>
          <p:nvPr/>
        </p:nvSpPr>
        <p:spPr>
          <a:xfrm>
            <a:off x="6263640" y="5303520"/>
            <a:ext cx="5486400" cy="1325880"/>
          </a:xfrm>
          <a:prstGeom prst="roundRect">
            <a:avLst>
              <a:gd name="adj" fmla="val 5517"/>
            </a:avLst>
          </a:prstGeom>
          <a:solidFill>
            <a:srgbClr val="1A1A1A"/>
          </a:solidFill>
          <a:ln w="12700">
            <a:solidFill>
              <a:srgbClr val="FF433D"/>
            </a:solidFill>
            <a:prstDash val="solid"/>
          </a:ln>
        </p:spPr>
      </p:sp>
      <p:sp>
        <p:nvSpPr>
          <p:cNvPr id="35" name="Text 33"/>
          <p:cNvSpPr txBox="1"/>
          <p:nvPr/>
        </p:nvSpPr>
        <p:spPr>
          <a:xfrm>
            <a:off x="6400800" y="5394960"/>
            <a:ext cx="914400" cy="475488"/>
          </a:xfrm>
          <a:prstGeom prst="rect">
            <a:avLst/>
          </a:prstGeom>
          <a:noFill/>
          <a:ln/>
        </p:spPr>
        <p:txBody>
          <a:bodyPr wrap="square" lIns="0" tIns="0" rIns="0" bIns="0" rtlCol="0" anchor="ctr"/>
          <a:lstStyle/>
          <a:p>
            <a:pPr indent="0" marL="0">
              <a:buNone/>
            </a:pPr>
            <a:r>
              <a:rPr lang="en-US" sz="2400" b="1" dirty="0">
                <a:solidFill>
                  <a:srgbClr val="FF433D"/>
                </a:solidFill>
                <a:latin typeface="Epilogue" pitchFamily="34" charset="0"/>
                <a:ea typeface="Epilogue" pitchFamily="34" charset="-122"/>
                <a:cs typeface="Epilogue" pitchFamily="34" charset="-120"/>
              </a:rPr>
              <a:t>VAC</a:t>
            </a:r>
            <a:endParaRPr lang="en-US" sz="2400" dirty="0"/>
          </a:p>
        </p:txBody>
      </p:sp>
      <p:sp>
        <p:nvSpPr>
          <p:cNvPr id="36" name="Text 34"/>
          <p:cNvSpPr txBox="1"/>
          <p:nvPr/>
        </p:nvSpPr>
        <p:spPr>
          <a:xfrm>
            <a:off x="7360920" y="5394960"/>
            <a:ext cx="4114800" cy="45720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BAC − EAC</a:t>
            </a:r>
            <a:endParaRPr lang="en-US" sz="1400" dirty="0"/>
          </a:p>
        </p:txBody>
      </p:sp>
      <p:sp>
        <p:nvSpPr>
          <p:cNvPr id="37" name="Text 35"/>
          <p:cNvSpPr txBox="1"/>
          <p:nvPr/>
        </p:nvSpPr>
        <p:spPr>
          <a:xfrm>
            <a:off x="6400800" y="5961888"/>
            <a:ext cx="5212080" cy="54864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Variación al Completar. Cuánto sobre/bajo del presupuesto se terminará.</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CURVA S Y DATA DATE</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Text 4"/>
          <p:cNvSpPr txBox="1"/>
          <p:nvPr/>
        </p:nvSpPr>
        <p:spPr>
          <a:xfrm>
            <a:off x="411480" y="822960"/>
            <a:ext cx="11338560" cy="50292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La Curva S muestra la acumulación del trabajo y costo a lo largo del tiempo. Permite ver de un vistazo si el proyecto está adelantado o retrasado respecto al plan:</a:t>
            </a:r>
            <a:endParaRPr lang="en-US" sz="1300" dirty="0"/>
          </a:p>
        </p:txBody>
      </p:sp>
      <p:sp>
        <p:nvSpPr>
          <p:cNvPr id="7" name="Shape 5"/>
          <p:cNvSpPr/>
          <p:nvPr/>
        </p:nvSpPr>
        <p:spPr>
          <a:xfrm>
            <a:off x="411480" y="1508760"/>
            <a:ext cx="11338560" cy="1078992"/>
          </a:xfrm>
          <a:prstGeom prst="roundRect">
            <a:avLst>
              <a:gd name="adj" fmla="val 6780"/>
            </a:avLst>
          </a:prstGeom>
          <a:solidFill>
            <a:srgbClr val="1A1A1A"/>
          </a:solidFill>
          <a:ln w="12700">
            <a:solidFill>
              <a:srgbClr val="A0A0A0"/>
            </a:solidFill>
            <a:prstDash val="solid"/>
          </a:ln>
        </p:spPr>
      </p:sp>
      <p:sp>
        <p:nvSpPr>
          <p:cNvPr id="8" name="Shape 6"/>
          <p:cNvSpPr/>
          <p:nvPr/>
        </p:nvSpPr>
        <p:spPr>
          <a:xfrm>
            <a:off x="411480" y="1508760"/>
            <a:ext cx="64008" cy="1078992"/>
          </a:xfrm>
          <a:prstGeom prst="rect">
            <a:avLst/>
          </a:prstGeom>
          <a:solidFill>
            <a:srgbClr val="A0A0A0"/>
          </a:solidFill>
          <a:ln w="12700">
            <a:solidFill>
              <a:srgbClr val="A0A0A0"/>
            </a:solidFill>
            <a:prstDash val="solid"/>
          </a:ln>
        </p:spPr>
      </p:sp>
      <p:sp>
        <p:nvSpPr>
          <p:cNvPr id="9" name="Text 7"/>
          <p:cNvSpPr txBox="1"/>
          <p:nvPr/>
        </p:nvSpPr>
        <p:spPr>
          <a:xfrm>
            <a:off x="594360" y="1618488"/>
            <a:ext cx="4114800" cy="384048"/>
          </a:xfrm>
          <a:prstGeom prst="rect">
            <a:avLst/>
          </a:prstGeom>
          <a:noFill/>
          <a:ln/>
        </p:spPr>
        <p:txBody>
          <a:bodyPr wrap="square" lIns="0" tIns="0" rIns="0" bIns="0" rtlCol="0" anchor="ctr"/>
          <a:lstStyle/>
          <a:p>
            <a:pPr indent="0" marL="0">
              <a:buNone/>
            </a:pPr>
            <a:r>
              <a:rPr lang="en-US" sz="1500" b="1" dirty="0">
                <a:solidFill>
                  <a:srgbClr val="A0A0A0"/>
                </a:solidFill>
                <a:latin typeface="Epilogue" pitchFamily="34" charset="0"/>
                <a:ea typeface="Epilogue" pitchFamily="34" charset="-122"/>
                <a:cs typeface="Epilogue" pitchFamily="34" charset="-120"/>
              </a:rPr>
              <a:t>PV (línea gris)</a:t>
            </a:r>
            <a:endParaRPr lang="en-US" sz="1500" dirty="0"/>
          </a:p>
        </p:txBody>
      </p:sp>
      <p:sp>
        <p:nvSpPr>
          <p:cNvPr id="10" name="Text 8"/>
          <p:cNvSpPr txBox="1"/>
          <p:nvPr/>
        </p:nvSpPr>
        <p:spPr>
          <a:xfrm>
            <a:off x="594360" y="2103120"/>
            <a:ext cx="10972800" cy="402336"/>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Curva de Valor Planeado acumulado. La "línea de referencia" del cronograma original.</a:t>
            </a:r>
            <a:endParaRPr lang="en-US" sz="1200" dirty="0"/>
          </a:p>
        </p:txBody>
      </p:sp>
      <p:sp>
        <p:nvSpPr>
          <p:cNvPr id="11" name="Shape 9"/>
          <p:cNvSpPr/>
          <p:nvPr/>
        </p:nvSpPr>
        <p:spPr>
          <a:xfrm>
            <a:off x="411480" y="2743200"/>
            <a:ext cx="11338560" cy="1078992"/>
          </a:xfrm>
          <a:prstGeom prst="roundRect">
            <a:avLst>
              <a:gd name="adj" fmla="val 6780"/>
            </a:avLst>
          </a:prstGeom>
          <a:solidFill>
            <a:srgbClr val="1A1A1A"/>
          </a:solidFill>
          <a:ln w="12700">
            <a:solidFill>
              <a:srgbClr val="198038"/>
            </a:solidFill>
            <a:prstDash val="solid"/>
          </a:ln>
        </p:spPr>
      </p:sp>
      <p:sp>
        <p:nvSpPr>
          <p:cNvPr id="12" name="Shape 10"/>
          <p:cNvSpPr/>
          <p:nvPr/>
        </p:nvSpPr>
        <p:spPr>
          <a:xfrm>
            <a:off x="411480" y="2743200"/>
            <a:ext cx="64008" cy="1078992"/>
          </a:xfrm>
          <a:prstGeom prst="rect">
            <a:avLst/>
          </a:prstGeom>
          <a:solidFill>
            <a:srgbClr val="198038"/>
          </a:solidFill>
          <a:ln w="12700">
            <a:solidFill>
              <a:srgbClr val="198038"/>
            </a:solidFill>
            <a:prstDash val="solid"/>
          </a:ln>
        </p:spPr>
      </p:sp>
      <p:sp>
        <p:nvSpPr>
          <p:cNvPr id="13" name="Text 11"/>
          <p:cNvSpPr txBox="1"/>
          <p:nvPr/>
        </p:nvSpPr>
        <p:spPr>
          <a:xfrm>
            <a:off x="594360" y="2852928"/>
            <a:ext cx="4114800" cy="384048"/>
          </a:xfrm>
          <a:prstGeom prst="rect">
            <a:avLst/>
          </a:prstGeom>
          <a:noFill/>
          <a:ln/>
        </p:spPr>
        <p:txBody>
          <a:bodyPr wrap="square" lIns="0" tIns="0" rIns="0" bIns="0" rtlCol="0" anchor="ctr"/>
          <a:lstStyle/>
          <a:p>
            <a:pPr indent="0" marL="0">
              <a:buNone/>
            </a:pPr>
            <a:r>
              <a:rPr lang="en-US" sz="1500" b="1" dirty="0">
                <a:solidFill>
                  <a:srgbClr val="198038"/>
                </a:solidFill>
                <a:latin typeface="Epilogue" pitchFamily="34" charset="0"/>
                <a:ea typeface="Epilogue" pitchFamily="34" charset="-122"/>
                <a:cs typeface="Epilogue" pitchFamily="34" charset="-120"/>
              </a:rPr>
              <a:t>EV (línea verde)</a:t>
            </a:r>
            <a:endParaRPr lang="en-US" sz="1500" dirty="0"/>
          </a:p>
        </p:txBody>
      </p:sp>
      <p:sp>
        <p:nvSpPr>
          <p:cNvPr id="14" name="Text 12"/>
          <p:cNvSpPr txBox="1"/>
          <p:nvPr/>
        </p:nvSpPr>
        <p:spPr>
          <a:xfrm>
            <a:off x="594360" y="3337560"/>
            <a:ext cx="10972800" cy="402336"/>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Curva de Valor Ganado acumulado. Muestra cuánto trabajo real se completó.</a:t>
            </a:r>
            <a:endParaRPr lang="en-US" sz="1200" dirty="0"/>
          </a:p>
        </p:txBody>
      </p:sp>
      <p:sp>
        <p:nvSpPr>
          <p:cNvPr id="15" name="Shape 13"/>
          <p:cNvSpPr/>
          <p:nvPr/>
        </p:nvSpPr>
        <p:spPr>
          <a:xfrm>
            <a:off x="411480" y="3977640"/>
            <a:ext cx="11338560" cy="1078992"/>
          </a:xfrm>
          <a:prstGeom prst="roundRect">
            <a:avLst>
              <a:gd name="adj" fmla="val 6780"/>
            </a:avLst>
          </a:prstGeom>
          <a:solidFill>
            <a:srgbClr val="1A1A1A"/>
          </a:solidFill>
          <a:ln w="12700">
            <a:solidFill>
              <a:srgbClr val="FF433D"/>
            </a:solidFill>
            <a:prstDash val="solid"/>
          </a:ln>
        </p:spPr>
      </p:sp>
      <p:sp>
        <p:nvSpPr>
          <p:cNvPr id="16" name="Shape 14"/>
          <p:cNvSpPr/>
          <p:nvPr/>
        </p:nvSpPr>
        <p:spPr>
          <a:xfrm>
            <a:off x="411480" y="3977640"/>
            <a:ext cx="64008" cy="1078992"/>
          </a:xfrm>
          <a:prstGeom prst="rect">
            <a:avLst/>
          </a:prstGeom>
          <a:solidFill>
            <a:srgbClr val="FF433D"/>
          </a:solidFill>
          <a:ln w="12700">
            <a:solidFill>
              <a:srgbClr val="FF433D"/>
            </a:solidFill>
            <a:prstDash val="solid"/>
          </a:ln>
        </p:spPr>
      </p:sp>
      <p:sp>
        <p:nvSpPr>
          <p:cNvPr id="17" name="Text 15"/>
          <p:cNvSpPr txBox="1"/>
          <p:nvPr/>
        </p:nvSpPr>
        <p:spPr>
          <a:xfrm>
            <a:off x="594360" y="4087368"/>
            <a:ext cx="4114800" cy="384048"/>
          </a:xfrm>
          <a:prstGeom prst="rect">
            <a:avLst/>
          </a:prstGeom>
          <a:noFill/>
          <a:ln/>
        </p:spPr>
        <p:txBody>
          <a:bodyPr wrap="square" lIns="0" tIns="0" rIns="0" bIns="0" rtlCol="0" anchor="ctr"/>
          <a:lstStyle/>
          <a:p>
            <a:pPr indent="0" marL="0">
              <a:buNone/>
            </a:pPr>
            <a:r>
              <a:rPr lang="en-US" sz="1500" b="1" dirty="0">
                <a:solidFill>
                  <a:srgbClr val="FF433D"/>
                </a:solidFill>
                <a:latin typeface="Epilogue" pitchFamily="34" charset="0"/>
                <a:ea typeface="Epilogue" pitchFamily="34" charset="-122"/>
                <a:cs typeface="Epilogue" pitchFamily="34" charset="-120"/>
              </a:rPr>
              <a:t>AC (línea roja)</a:t>
            </a:r>
            <a:endParaRPr lang="en-US" sz="1500" dirty="0"/>
          </a:p>
        </p:txBody>
      </p:sp>
      <p:sp>
        <p:nvSpPr>
          <p:cNvPr id="18" name="Text 16"/>
          <p:cNvSpPr txBox="1"/>
          <p:nvPr/>
        </p:nvSpPr>
        <p:spPr>
          <a:xfrm>
            <a:off x="594360" y="4572000"/>
            <a:ext cx="10972800" cy="402336"/>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Curva de Costo Real acumulado. Muestra cuánto dinero real se gastó.</a:t>
            </a:r>
            <a:endParaRPr lang="en-US" sz="1200" dirty="0"/>
          </a:p>
        </p:txBody>
      </p:sp>
      <p:sp>
        <p:nvSpPr>
          <p:cNvPr id="19" name="Shape 17"/>
          <p:cNvSpPr/>
          <p:nvPr/>
        </p:nvSpPr>
        <p:spPr>
          <a:xfrm>
            <a:off x="411480" y="5212080"/>
            <a:ext cx="11338560" cy="1078992"/>
          </a:xfrm>
          <a:prstGeom prst="roundRect">
            <a:avLst>
              <a:gd name="adj" fmla="val 6780"/>
            </a:avLst>
          </a:prstGeom>
          <a:solidFill>
            <a:srgbClr val="1A1A1A"/>
          </a:solidFill>
          <a:ln w="12700">
            <a:solidFill>
              <a:srgbClr val="FFA028"/>
            </a:solidFill>
            <a:prstDash val="solid"/>
          </a:ln>
        </p:spPr>
      </p:sp>
      <p:sp>
        <p:nvSpPr>
          <p:cNvPr id="20" name="Shape 18"/>
          <p:cNvSpPr/>
          <p:nvPr/>
        </p:nvSpPr>
        <p:spPr>
          <a:xfrm>
            <a:off x="411480" y="5212080"/>
            <a:ext cx="64008" cy="1078992"/>
          </a:xfrm>
          <a:prstGeom prst="rect">
            <a:avLst/>
          </a:prstGeom>
          <a:solidFill>
            <a:srgbClr val="FFA028"/>
          </a:solidFill>
          <a:ln w="12700">
            <a:solidFill>
              <a:srgbClr val="FFA028"/>
            </a:solidFill>
            <a:prstDash val="solid"/>
          </a:ln>
        </p:spPr>
      </p:sp>
      <p:sp>
        <p:nvSpPr>
          <p:cNvPr id="21" name="Text 19"/>
          <p:cNvSpPr txBox="1"/>
          <p:nvPr/>
        </p:nvSpPr>
        <p:spPr>
          <a:xfrm>
            <a:off x="594360" y="5321808"/>
            <a:ext cx="4114800" cy="384048"/>
          </a:xfrm>
          <a:prstGeom prst="rect">
            <a:avLst/>
          </a:prstGeom>
          <a:noFill/>
          <a:ln/>
        </p:spPr>
        <p:txBody>
          <a:bodyPr wrap="square" lIns="0" tIns="0" rIns="0" bIns="0" rtlCol="0" anchor="ctr"/>
          <a:lstStyle/>
          <a:p>
            <a:pPr indent="0" marL="0">
              <a:buNone/>
            </a:pPr>
            <a:r>
              <a:rPr lang="en-US" sz="1500" b="1" dirty="0">
                <a:solidFill>
                  <a:srgbClr val="FFA028"/>
                </a:solidFill>
                <a:latin typeface="Epilogue" pitchFamily="34" charset="0"/>
                <a:ea typeface="Epilogue" pitchFamily="34" charset="-122"/>
                <a:cs typeface="Epilogue" pitchFamily="34" charset="-120"/>
              </a:rPr>
              <a:t>Data Date (línea vertical)</a:t>
            </a:r>
            <a:endParaRPr lang="en-US" sz="1500" dirty="0"/>
          </a:p>
        </p:txBody>
      </p:sp>
      <p:sp>
        <p:nvSpPr>
          <p:cNvPr id="22" name="Text 20"/>
          <p:cNvSpPr txBox="1"/>
          <p:nvPr/>
        </p:nvSpPr>
        <p:spPr>
          <a:xfrm>
            <a:off x="594360" y="5806440"/>
            <a:ext cx="10972800" cy="402336"/>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Fecha de corte para el cálculo EVM. Se puede mover para analizar diferentes puntos en el tiempo.</a:t>
            </a:r>
            <a:endParaRPr lang="en-US" sz="1200" dirty="0"/>
          </a:p>
        </p:txBody>
      </p:sp>
      <p:sp>
        <p:nvSpPr>
          <p:cNvPr id="23" name="Shape 21"/>
          <p:cNvSpPr/>
          <p:nvPr/>
        </p:nvSpPr>
        <p:spPr>
          <a:xfrm>
            <a:off x="411480" y="6446520"/>
            <a:ext cx="11338560" cy="274320"/>
          </a:xfrm>
          <a:prstGeom prst="roundRect">
            <a:avLst>
              <a:gd name="adj" fmla="val 26667"/>
            </a:avLst>
          </a:prstGeom>
          <a:solidFill>
            <a:srgbClr val="0D0D0D"/>
          </a:solidFill>
          <a:ln w="12700">
            <a:solidFill>
              <a:srgbClr val="555555"/>
            </a:solidFill>
            <a:prstDash val="solid"/>
          </a:ln>
        </p:spPr>
      </p:sp>
      <p:sp>
        <p:nvSpPr>
          <p:cNvPr id="24" name="Text 22"/>
          <p:cNvSpPr txBox="1"/>
          <p:nvPr/>
        </p:nvSpPr>
        <p:spPr>
          <a:xfrm>
            <a:off x="594360" y="6492240"/>
            <a:ext cx="10972800" cy="201168"/>
          </a:xfrm>
          <a:prstGeom prst="rect">
            <a:avLst/>
          </a:prstGeom>
          <a:noFill/>
          <a:ln/>
        </p:spPr>
        <p:txBody>
          <a:bodyPr wrap="square" lIns="0" tIns="0" rIns="0" bIns="0" rtlCol="0" anchor="ctr"/>
          <a:lstStyle/>
          <a:p>
            <a:pPr indent="0" marL="0">
              <a:buNone/>
            </a:pPr>
            <a:r>
              <a:rPr lang="en-US" sz="1100" dirty="0">
                <a:solidFill>
                  <a:srgbClr val="4AF6C3"/>
                </a:solidFill>
                <a:latin typeface="Epilogue" pitchFamily="34" charset="0"/>
                <a:ea typeface="Epilogue" pitchFamily="34" charset="-122"/>
                <a:cs typeface="Epilogue" pitchFamily="34" charset="-120"/>
              </a:rPr>
              <a:t>💡 Si EV está por debajo de PV → atrasado. Si AC está por encima de EV → sobre costo.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11</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DCMA 14 Puntos</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Calidad de cronograma • Semáforo • Thresholds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¿QUÉ ES DCMA 14 PUNTOS?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463040"/>
          </a:xfrm>
          <a:prstGeom prst="roundRect">
            <a:avLst>
              <a:gd name="adj" fmla="val 5000"/>
            </a:avLst>
          </a:prstGeom>
          <a:solidFill>
            <a:srgbClr val="1A1A1A"/>
          </a:solidFill>
          <a:ln w="12700">
            <a:solidFill>
              <a:srgbClr val="198038"/>
            </a:solidFill>
            <a:prstDash val="solid"/>
          </a:ln>
        </p:spPr>
      </p:sp>
      <p:sp>
        <p:nvSpPr>
          <p:cNvPr id="7" name="Shape 5"/>
          <p:cNvSpPr/>
          <p:nvPr/>
        </p:nvSpPr>
        <p:spPr>
          <a:xfrm>
            <a:off x="411480" y="914400"/>
            <a:ext cx="11338560" cy="64008"/>
          </a:xfrm>
          <a:prstGeom prst="rect">
            <a:avLst/>
          </a:prstGeom>
          <a:solidFill>
            <a:srgbClr val="198038"/>
          </a:solidFill>
          <a:ln w="12700">
            <a:solidFill>
              <a:srgbClr val="198038"/>
            </a:solidFill>
            <a:prstDash val="solid"/>
          </a:ln>
        </p:spPr>
      </p:sp>
      <p:sp>
        <p:nvSpPr>
          <p:cNvPr id="8" name="Text 6"/>
          <p:cNvSpPr txBox="1"/>
          <p:nvPr/>
        </p:nvSpPr>
        <p:spPr>
          <a:xfrm>
            <a:off x="594360" y="1051560"/>
            <a:ext cx="10972800" cy="118872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El análisis DCMA 14 Puntos es una metodología de evaluación de calidad de cronogramas desarrollada por la Defense Contract Management Agency (DCMA). ECM Project implementa el estándar DCMA-EA PAM 200.1 y GAO-16-89G para proyectos de ingeniería y construcción.</a:t>
            </a:r>
            <a:endParaRPr lang="en-US" sz="1300" dirty="0"/>
          </a:p>
        </p:txBody>
      </p:sp>
      <p:sp>
        <p:nvSpPr>
          <p:cNvPr id="9" name="Text 7"/>
          <p:cNvSpPr txBox="1"/>
          <p:nvPr/>
        </p:nvSpPr>
        <p:spPr>
          <a:xfrm>
            <a:off x="411480" y="2560320"/>
            <a:ext cx="11338560" cy="384048"/>
          </a:xfrm>
          <a:prstGeom prst="rect">
            <a:avLst/>
          </a:prstGeom>
          <a:noFill/>
          <a:ln/>
        </p:spPr>
        <p:txBody>
          <a:bodyPr wrap="square" lIns="0" tIns="0" rIns="0" bIns="0" rtlCol="0" anchor="ctr"/>
          <a:lstStyle/>
          <a:p>
            <a:pPr indent="0" marL="0">
              <a:buNone/>
            </a:pPr>
            <a:r>
              <a:rPr lang="en-US" sz="1600" b="1" dirty="0">
                <a:solidFill>
                  <a:srgbClr val="198038"/>
                </a:solidFill>
                <a:latin typeface="Epilogue" pitchFamily="34" charset="0"/>
                <a:ea typeface="Epilogue" pitchFamily="34" charset="-122"/>
                <a:cs typeface="Epilogue" pitchFamily="34" charset="-120"/>
              </a:rPr>
              <a:t>CÓMO ACCEDER</a:t>
            </a:r>
            <a:endParaRPr lang="en-US" sz="1600" dirty="0"/>
          </a:p>
        </p:txBody>
      </p:sp>
      <p:sp>
        <p:nvSpPr>
          <p:cNvPr id="10" name="Text 8"/>
          <p:cNvSpPr txBox="1"/>
          <p:nvPr/>
        </p:nvSpPr>
        <p:spPr>
          <a:xfrm>
            <a:off x="411480" y="3017520"/>
            <a:ext cx="11338560" cy="64008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Botón ✅ DCMA en la barra de filtros → Se abre el panel DCMA con los 14 checks evaluados en tiempo real. Para cada check muestra: nombre del punto, valor actual, umbral, resultado y las tareas que causan el fallo.</a:t>
            </a:r>
            <a:endParaRPr lang="en-US" sz="1200" dirty="0"/>
          </a:p>
        </p:txBody>
      </p:sp>
      <p:sp>
        <p:nvSpPr>
          <p:cNvPr id="11" name="Shape 9"/>
          <p:cNvSpPr/>
          <p:nvPr/>
        </p:nvSpPr>
        <p:spPr>
          <a:xfrm>
            <a:off x="411480" y="3840480"/>
            <a:ext cx="3520440" cy="1828800"/>
          </a:xfrm>
          <a:prstGeom prst="roundRect">
            <a:avLst>
              <a:gd name="adj" fmla="val 4000"/>
            </a:avLst>
          </a:prstGeom>
          <a:solidFill>
            <a:srgbClr val="1A1A1A"/>
          </a:solidFill>
          <a:ln w="12700">
            <a:solidFill>
              <a:srgbClr val="333333"/>
            </a:solidFill>
            <a:prstDash val="solid"/>
          </a:ln>
        </p:spPr>
      </p:sp>
      <p:sp>
        <p:nvSpPr>
          <p:cNvPr id="12" name="Shape 10"/>
          <p:cNvSpPr/>
          <p:nvPr/>
        </p:nvSpPr>
        <p:spPr>
          <a:xfrm>
            <a:off x="411480" y="3840480"/>
            <a:ext cx="3520440" cy="45720"/>
          </a:xfrm>
          <a:prstGeom prst="rect">
            <a:avLst/>
          </a:prstGeom>
          <a:solidFill>
            <a:srgbClr val="198038"/>
          </a:solidFill>
          <a:ln w="12700">
            <a:solidFill>
              <a:srgbClr val="198038"/>
            </a:solidFill>
            <a:prstDash val="solid"/>
          </a:ln>
        </p:spPr>
      </p:sp>
      <p:sp>
        <p:nvSpPr>
          <p:cNvPr id="13" name="Text 11"/>
          <p:cNvSpPr txBox="1"/>
          <p:nvPr/>
        </p:nvSpPr>
        <p:spPr>
          <a:xfrm>
            <a:off x="548640" y="4005072"/>
            <a:ext cx="3246120" cy="877824"/>
          </a:xfrm>
          <a:prstGeom prst="rect">
            <a:avLst/>
          </a:prstGeom>
          <a:noFill/>
          <a:ln/>
        </p:spPr>
        <p:txBody>
          <a:bodyPr wrap="square" lIns="0" tIns="0" rIns="0" bIns="0" rtlCol="0" anchor="ctr"/>
          <a:lstStyle/>
          <a:p>
            <a:pPr algn="l" indent="0" marL="0">
              <a:buNone/>
            </a:pPr>
            <a:r>
              <a:rPr lang="en-US" sz="3600" b="1" dirty="0">
                <a:solidFill>
                  <a:srgbClr val="198038"/>
                </a:solidFill>
                <a:latin typeface="Epilogue" pitchFamily="34" charset="0"/>
                <a:ea typeface="Epilogue" pitchFamily="34" charset="-122"/>
                <a:cs typeface="Epilogue" pitchFamily="34" charset="-120"/>
              </a:rPr>
              <a:t>14</a:t>
            </a:r>
            <a:endParaRPr lang="en-US" sz="3600" dirty="0"/>
          </a:p>
        </p:txBody>
      </p:sp>
      <p:sp>
        <p:nvSpPr>
          <p:cNvPr id="14" name="Text 12"/>
          <p:cNvSpPr txBox="1"/>
          <p:nvPr/>
        </p:nvSpPr>
        <p:spPr>
          <a:xfrm>
            <a:off x="548640" y="4974336"/>
            <a:ext cx="324612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Puntos de verificación</a:t>
            </a:r>
            <a:endParaRPr lang="en-US" sz="1000" dirty="0"/>
          </a:p>
        </p:txBody>
      </p:sp>
      <p:sp>
        <p:nvSpPr>
          <p:cNvPr id="15" name="Shape 13"/>
          <p:cNvSpPr/>
          <p:nvPr/>
        </p:nvSpPr>
        <p:spPr>
          <a:xfrm>
            <a:off x="4114800" y="3840480"/>
            <a:ext cx="3520440" cy="1828800"/>
          </a:xfrm>
          <a:prstGeom prst="roundRect">
            <a:avLst>
              <a:gd name="adj" fmla="val 4000"/>
            </a:avLst>
          </a:prstGeom>
          <a:solidFill>
            <a:srgbClr val="1A1A1A"/>
          </a:solidFill>
          <a:ln w="12700">
            <a:solidFill>
              <a:srgbClr val="333333"/>
            </a:solidFill>
            <a:prstDash val="solid"/>
          </a:ln>
        </p:spPr>
      </p:sp>
      <p:sp>
        <p:nvSpPr>
          <p:cNvPr id="16" name="Shape 14"/>
          <p:cNvSpPr/>
          <p:nvPr/>
        </p:nvSpPr>
        <p:spPr>
          <a:xfrm>
            <a:off x="4114800" y="3840480"/>
            <a:ext cx="3520440" cy="45720"/>
          </a:xfrm>
          <a:prstGeom prst="rect">
            <a:avLst/>
          </a:prstGeom>
          <a:solidFill>
            <a:srgbClr val="FFA028"/>
          </a:solidFill>
          <a:ln w="12700">
            <a:solidFill>
              <a:srgbClr val="FFA028"/>
            </a:solidFill>
            <a:prstDash val="solid"/>
          </a:ln>
        </p:spPr>
      </p:sp>
      <p:sp>
        <p:nvSpPr>
          <p:cNvPr id="17" name="Text 15"/>
          <p:cNvSpPr txBox="1"/>
          <p:nvPr/>
        </p:nvSpPr>
        <p:spPr>
          <a:xfrm>
            <a:off x="4251960" y="4005072"/>
            <a:ext cx="3246120" cy="877824"/>
          </a:xfrm>
          <a:prstGeom prst="rect">
            <a:avLst/>
          </a:prstGeom>
          <a:noFill/>
          <a:ln/>
        </p:spPr>
        <p:txBody>
          <a:bodyPr wrap="square" lIns="0" tIns="0" rIns="0" bIns="0" rtlCol="0" anchor="ctr"/>
          <a:lstStyle/>
          <a:p>
            <a:pPr algn="l" indent="0" marL="0">
              <a:buNone/>
            </a:pPr>
            <a:r>
              <a:rPr lang="en-US" sz="3600" b="1" dirty="0">
                <a:solidFill>
                  <a:srgbClr val="FFA028"/>
                </a:solidFill>
                <a:latin typeface="Epilogue" pitchFamily="34" charset="0"/>
                <a:ea typeface="Epilogue" pitchFamily="34" charset="-122"/>
                <a:cs typeface="Epilogue" pitchFamily="34" charset="-120"/>
              </a:rPr>
              <a:t>0%</a:t>
            </a:r>
            <a:endParaRPr lang="en-US" sz="3600" dirty="0"/>
          </a:p>
        </p:txBody>
      </p:sp>
      <p:sp>
        <p:nvSpPr>
          <p:cNvPr id="18" name="Text 16"/>
          <p:cNvSpPr txBox="1"/>
          <p:nvPr/>
        </p:nvSpPr>
        <p:spPr>
          <a:xfrm>
            <a:off x="4251960" y="4974336"/>
            <a:ext cx="324612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Leads permitidos (meta)</a:t>
            </a:r>
            <a:endParaRPr lang="en-US" sz="1000" dirty="0"/>
          </a:p>
        </p:txBody>
      </p:sp>
      <p:sp>
        <p:nvSpPr>
          <p:cNvPr id="19" name="Shape 17"/>
          <p:cNvSpPr/>
          <p:nvPr/>
        </p:nvSpPr>
        <p:spPr>
          <a:xfrm>
            <a:off x="7818120" y="3840480"/>
            <a:ext cx="3520440" cy="1828800"/>
          </a:xfrm>
          <a:prstGeom prst="roundRect">
            <a:avLst>
              <a:gd name="adj" fmla="val 4000"/>
            </a:avLst>
          </a:prstGeom>
          <a:solidFill>
            <a:srgbClr val="1A1A1A"/>
          </a:solidFill>
          <a:ln w="12700">
            <a:solidFill>
              <a:srgbClr val="333333"/>
            </a:solidFill>
            <a:prstDash val="solid"/>
          </a:ln>
        </p:spPr>
      </p:sp>
      <p:sp>
        <p:nvSpPr>
          <p:cNvPr id="20" name="Shape 18"/>
          <p:cNvSpPr/>
          <p:nvPr/>
        </p:nvSpPr>
        <p:spPr>
          <a:xfrm>
            <a:off x="7818120" y="3840480"/>
            <a:ext cx="3520440" cy="45720"/>
          </a:xfrm>
          <a:prstGeom prst="rect">
            <a:avLst/>
          </a:prstGeom>
          <a:solidFill>
            <a:srgbClr val="4AF6C3"/>
          </a:solidFill>
          <a:ln w="12700">
            <a:solidFill>
              <a:srgbClr val="4AF6C3"/>
            </a:solidFill>
            <a:prstDash val="solid"/>
          </a:ln>
        </p:spPr>
      </p:sp>
      <p:sp>
        <p:nvSpPr>
          <p:cNvPr id="21" name="Text 19"/>
          <p:cNvSpPr txBox="1"/>
          <p:nvPr/>
        </p:nvSpPr>
        <p:spPr>
          <a:xfrm>
            <a:off x="7955280" y="4005072"/>
            <a:ext cx="3246120" cy="877824"/>
          </a:xfrm>
          <a:prstGeom prst="rect">
            <a:avLst/>
          </a:prstGeom>
          <a:noFill/>
          <a:ln/>
        </p:spPr>
        <p:txBody>
          <a:bodyPr wrap="square" lIns="0" tIns="0" rIns="0" bIns="0" rtlCol="0" anchor="ctr"/>
          <a:lstStyle/>
          <a:p>
            <a:pPr algn="l" indent="0" marL="0">
              <a:buNone/>
            </a:pPr>
            <a:r>
              <a:rPr lang="en-US" sz="3600" b="1" dirty="0">
                <a:solidFill>
                  <a:srgbClr val="4AF6C3"/>
                </a:solidFill>
                <a:latin typeface="Epilogue" pitchFamily="34" charset="0"/>
                <a:ea typeface="Epilogue" pitchFamily="34" charset="-122"/>
                <a:cs typeface="Epilogue" pitchFamily="34" charset="-120"/>
              </a:rPr>
              <a:t>0.95</a:t>
            </a:r>
            <a:endParaRPr lang="en-US" sz="3600" dirty="0"/>
          </a:p>
        </p:txBody>
      </p:sp>
      <p:sp>
        <p:nvSpPr>
          <p:cNvPr id="22" name="Text 20"/>
          <p:cNvSpPr txBox="1"/>
          <p:nvPr/>
        </p:nvSpPr>
        <p:spPr>
          <a:xfrm>
            <a:off x="7955280" y="4974336"/>
            <a:ext cx="3246120" cy="201168"/>
          </a:xfrm>
          <a:prstGeom prst="rect">
            <a:avLst/>
          </a:prstGeom>
          <a:noFill/>
          <a:ln/>
        </p:spPr>
        <p:txBody>
          <a:bodyPr wrap="square" lIns="0" tIns="0" rIns="0" bIns="0" rtlCol="0" anchor="ctr"/>
          <a:lstStyle/>
          <a:p>
            <a:pPr algn="l" indent="0" marL="0">
              <a:buNone/>
            </a:pPr>
            <a:r>
              <a:rPr lang="en-US" sz="1000" dirty="0">
                <a:solidFill>
                  <a:srgbClr val="A0A0A0"/>
                </a:solidFill>
                <a:latin typeface="Epilogue" pitchFamily="34" charset="0"/>
                <a:ea typeface="Epilogue" pitchFamily="34" charset="-122"/>
                <a:cs typeface="Epilogue" pitchFamily="34" charset="-120"/>
              </a:rPr>
              <a:t>CPLI mínimo requerido</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LOS 14 PUNTOS DCMA</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685800"/>
          </a:xfrm>
          <a:prstGeom prst="roundRect">
            <a:avLst>
              <a:gd name="adj" fmla="val 10667"/>
            </a:avLst>
          </a:prstGeom>
          <a:solidFill>
            <a:srgbClr val="0D0D0D"/>
          </a:solidFill>
          <a:ln w="12700">
            <a:solidFill>
              <a:srgbClr val="333333"/>
            </a:solidFill>
            <a:prstDash val="solid"/>
          </a:ln>
        </p:spPr>
      </p:sp>
      <p:sp>
        <p:nvSpPr>
          <p:cNvPr id="7" name="Shape 5"/>
          <p:cNvSpPr/>
          <p:nvPr/>
        </p:nvSpPr>
        <p:spPr>
          <a:xfrm>
            <a:off x="502920" y="1051560"/>
            <a:ext cx="384048" cy="384048"/>
          </a:xfrm>
          <a:prstGeom prst="roundRect">
            <a:avLst>
              <a:gd name="adj" fmla="val 50000"/>
            </a:avLst>
          </a:prstGeom>
          <a:solidFill>
            <a:srgbClr val="FFA028"/>
          </a:solidFill>
          <a:ln w="12700">
            <a:solidFill>
              <a:srgbClr val="FFA028"/>
            </a:solidFill>
            <a:prstDash val="solid"/>
          </a:ln>
        </p:spPr>
      </p:sp>
      <p:sp>
        <p:nvSpPr>
          <p:cNvPr id="8" name="Text 6"/>
          <p:cNvSpPr txBox="1"/>
          <p:nvPr/>
        </p:nvSpPr>
        <p:spPr>
          <a:xfrm>
            <a:off x="502920" y="105156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1</a:t>
            </a:r>
            <a:endParaRPr lang="en-US" sz="1300" dirty="0"/>
          </a:p>
        </p:txBody>
      </p:sp>
      <p:sp>
        <p:nvSpPr>
          <p:cNvPr id="9" name="Text 7"/>
          <p:cNvSpPr txBox="1"/>
          <p:nvPr/>
        </p:nvSpPr>
        <p:spPr>
          <a:xfrm>
            <a:off x="1005840" y="100584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Lógica</a:t>
            </a:r>
            <a:endParaRPr lang="en-US" sz="1200" dirty="0"/>
          </a:p>
        </p:txBody>
      </p:sp>
      <p:sp>
        <p:nvSpPr>
          <p:cNvPr id="10" name="Text 8"/>
          <p:cNvSpPr txBox="1"/>
          <p:nvPr/>
        </p:nvSpPr>
        <p:spPr>
          <a:xfrm>
            <a:off x="3794760" y="100584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NONFS_PCT ≤ 10%</a:t>
            </a:r>
            <a:endParaRPr lang="en-US" sz="1100" dirty="0"/>
          </a:p>
        </p:txBody>
      </p:sp>
      <p:sp>
        <p:nvSpPr>
          <p:cNvPr id="11" name="Shape 9"/>
          <p:cNvSpPr/>
          <p:nvPr/>
        </p:nvSpPr>
        <p:spPr>
          <a:xfrm>
            <a:off x="6263640" y="914400"/>
            <a:ext cx="5486400" cy="685800"/>
          </a:xfrm>
          <a:prstGeom prst="roundRect">
            <a:avLst>
              <a:gd name="adj" fmla="val 10667"/>
            </a:avLst>
          </a:prstGeom>
          <a:solidFill>
            <a:srgbClr val="0D0D0D"/>
          </a:solidFill>
          <a:ln w="12700">
            <a:solidFill>
              <a:srgbClr val="333333"/>
            </a:solidFill>
            <a:prstDash val="solid"/>
          </a:ln>
        </p:spPr>
      </p:sp>
      <p:sp>
        <p:nvSpPr>
          <p:cNvPr id="12" name="Shape 10"/>
          <p:cNvSpPr/>
          <p:nvPr/>
        </p:nvSpPr>
        <p:spPr>
          <a:xfrm>
            <a:off x="6355080" y="1051560"/>
            <a:ext cx="384048" cy="384048"/>
          </a:xfrm>
          <a:prstGeom prst="roundRect">
            <a:avLst>
              <a:gd name="adj" fmla="val 50000"/>
            </a:avLst>
          </a:prstGeom>
          <a:solidFill>
            <a:srgbClr val="FFA028"/>
          </a:solidFill>
          <a:ln w="12700">
            <a:solidFill>
              <a:srgbClr val="FFA028"/>
            </a:solidFill>
            <a:prstDash val="solid"/>
          </a:ln>
        </p:spPr>
      </p:sp>
      <p:sp>
        <p:nvSpPr>
          <p:cNvPr id="13" name="Text 11"/>
          <p:cNvSpPr txBox="1"/>
          <p:nvPr/>
        </p:nvSpPr>
        <p:spPr>
          <a:xfrm>
            <a:off x="6355080" y="105156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2</a:t>
            </a:r>
            <a:endParaRPr lang="en-US" sz="1300" dirty="0"/>
          </a:p>
        </p:txBody>
      </p:sp>
      <p:sp>
        <p:nvSpPr>
          <p:cNvPr id="14" name="Text 12"/>
          <p:cNvSpPr txBox="1"/>
          <p:nvPr/>
        </p:nvSpPr>
        <p:spPr>
          <a:xfrm>
            <a:off x="6858000" y="100584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Adelantos</a:t>
            </a:r>
            <a:endParaRPr lang="en-US" sz="1200" dirty="0"/>
          </a:p>
        </p:txBody>
      </p:sp>
      <p:sp>
        <p:nvSpPr>
          <p:cNvPr id="15" name="Text 13"/>
          <p:cNvSpPr txBox="1"/>
          <p:nvPr/>
        </p:nvSpPr>
        <p:spPr>
          <a:xfrm>
            <a:off x="9646920" y="100584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
        <p:nvSpPr>
          <p:cNvPr id="16" name="Shape 14"/>
          <p:cNvSpPr/>
          <p:nvPr/>
        </p:nvSpPr>
        <p:spPr>
          <a:xfrm>
            <a:off x="411480" y="1691640"/>
            <a:ext cx="5486400" cy="685800"/>
          </a:xfrm>
          <a:prstGeom prst="roundRect">
            <a:avLst>
              <a:gd name="adj" fmla="val 10667"/>
            </a:avLst>
          </a:prstGeom>
          <a:solidFill>
            <a:srgbClr val="0D0D0D"/>
          </a:solidFill>
          <a:ln w="12700">
            <a:solidFill>
              <a:srgbClr val="333333"/>
            </a:solidFill>
            <a:prstDash val="solid"/>
          </a:ln>
        </p:spPr>
      </p:sp>
      <p:sp>
        <p:nvSpPr>
          <p:cNvPr id="17" name="Shape 15"/>
          <p:cNvSpPr/>
          <p:nvPr/>
        </p:nvSpPr>
        <p:spPr>
          <a:xfrm>
            <a:off x="502920" y="1828800"/>
            <a:ext cx="384048" cy="384048"/>
          </a:xfrm>
          <a:prstGeom prst="roundRect">
            <a:avLst>
              <a:gd name="adj" fmla="val 50000"/>
            </a:avLst>
          </a:prstGeom>
          <a:solidFill>
            <a:srgbClr val="FFA028"/>
          </a:solidFill>
          <a:ln w="12700">
            <a:solidFill>
              <a:srgbClr val="FFA028"/>
            </a:solidFill>
            <a:prstDash val="solid"/>
          </a:ln>
        </p:spPr>
      </p:sp>
      <p:sp>
        <p:nvSpPr>
          <p:cNvPr id="18" name="Text 16"/>
          <p:cNvSpPr txBox="1"/>
          <p:nvPr/>
        </p:nvSpPr>
        <p:spPr>
          <a:xfrm>
            <a:off x="502920" y="182880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3</a:t>
            </a:r>
            <a:endParaRPr lang="en-US" sz="1300" dirty="0"/>
          </a:p>
        </p:txBody>
      </p:sp>
      <p:sp>
        <p:nvSpPr>
          <p:cNvPr id="19" name="Text 17"/>
          <p:cNvSpPr txBox="1"/>
          <p:nvPr/>
        </p:nvSpPr>
        <p:spPr>
          <a:xfrm>
            <a:off x="1005840" y="178308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Retrasos</a:t>
            </a:r>
            <a:endParaRPr lang="en-US" sz="1200" dirty="0"/>
          </a:p>
        </p:txBody>
      </p:sp>
      <p:sp>
        <p:nvSpPr>
          <p:cNvPr id="20" name="Text 18"/>
          <p:cNvSpPr txBox="1"/>
          <p:nvPr/>
        </p:nvSpPr>
        <p:spPr>
          <a:xfrm>
            <a:off x="3794760" y="178308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
        <p:nvSpPr>
          <p:cNvPr id="21" name="Shape 19"/>
          <p:cNvSpPr/>
          <p:nvPr/>
        </p:nvSpPr>
        <p:spPr>
          <a:xfrm>
            <a:off x="6263640" y="1691640"/>
            <a:ext cx="5486400" cy="685800"/>
          </a:xfrm>
          <a:prstGeom prst="roundRect">
            <a:avLst>
              <a:gd name="adj" fmla="val 10667"/>
            </a:avLst>
          </a:prstGeom>
          <a:solidFill>
            <a:srgbClr val="0D0D0D"/>
          </a:solidFill>
          <a:ln w="12700">
            <a:solidFill>
              <a:srgbClr val="333333"/>
            </a:solidFill>
            <a:prstDash val="solid"/>
          </a:ln>
        </p:spPr>
      </p:sp>
      <p:sp>
        <p:nvSpPr>
          <p:cNvPr id="22" name="Shape 20"/>
          <p:cNvSpPr/>
          <p:nvPr/>
        </p:nvSpPr>
        <p:spPr>
          <a:xfrm>
            <a:off x="6355080" y="1828800"/>
            <a:ext cx="384048" cy="384048"/>
          </a:xfrm>
          <a:prstGeom prst="roundRect">
            <a:avLst>
              <a:gd name="adj" fmla="val 50000"/>
            </a:avLst>
          </a:prstGeom>
          <a:solidFill>
            <a:srgbClr val="FFA028"/>
          </a:solidFill>
          <a:ln w="12700">
            <a:solidFill>
              <a:srgbClr val="FFA028"/>
            </a:solidFill>
            <a:prstDash val="solid"/>
          </a:ln>
        </p:spPr>
      </p:sp>
      <p:sp>
        <p:nvSpPr>
          <p:cNvPr id="23" name="Text 21"/>
          <p:cNvSpPr txBox="1"/>
          <p:nvPr/>
        </p:nvSpPr>
        <p:spPr>
          <a:xfrm>
            <a:off x="6355080" y="182880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4</a:t>
            </a:r>
            <a:endParaRPr lang="en-US" sz="1300" dirty="0"/>
          </a:p>
        </p:txBody>
      </p:sp>
      <p:sp>
        <p:nvSpPr>
          <p:cNvPr id="24" name="Text 22"/>
          <p:cNvSpPr txBox="1"/>
          <p:nvPr/>
        </p:nvSpPr>
        <p:spPr>
          <a:xfrm>
            <a:off x="6858000" y="178308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Tipos relación</a:t>
            </a:r>
            <a:endParaRPr lang="en-US" sz="1200" dirty="0"/>
          </a:p>
        </p:txBody>
      </p:sp>
      <p:sp>
        <p:nvSpPr>
          <p:cNvPr id="25" name="Text 23"/>
          <p:cNvSpPr txBox="1"/>
          <p:nvPr/>
        </p:nvSpPr>
        <p:spPr>
          <a:xfrm>
            <a:off x="9646920" y="178308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 10%</a:t>
            </a:r>
            <a:endParaRPr lang="en-US" sz="1100" dirty="0"/>
          </a:p>
        </p:txBody>
      </p:sp>
      <p:sp>
        <p:nvSpPr>
          <p:cNvPr id="26" name="Shape 24"/>
          <p:cNvSpPr/>
          <p:nvPr/>
        </p:nvSpPr>
        <p:spPr>
          <a:xfrm>
            <a:off x="411480" y="2468880"/>
            <a:ext cx="5486400" cy="685800"/>
          </a:xfrm>
          <a:prstGeom prst="roundRect">
            <a:avLst>
              <a:gd name="adj" fmla="val 10667"/>
            </a:avLst>
          </a:prstGeom>
          <a:solidFill>
            <a:srgbClr val="0D0D0D"/>
          </a:solidFill>
          <a:ln w="12700">
            <a:solidFill>
              <a:srgbClr val="333333"/>
            </a:solidFill>
            <a:prstDash val="solid"/>
          </a:ln>
        </p:spPr>
      </p:sp>
      <p:sp>
        <p:nvSpPr>
          <p:cNvPr id="27" name="Shape 25"/>
          <p:cNvSpPr/>
          <p:nvPr/>
        </p:nvSpPr>
        <p:spPr>
          <a:xfrm>
            <a:off x="502920" y="2606040"/>
            <a:ext cx="384048" cy="384048"/>
          </a:xfrm>
          <a:prstGeom prst="roundRect">
            <a:avLst>
              <a:gd name="adj" fmla="val 50000"/>
            </a:avLst>
          </a:prstGeom>
          <a:solidFill>
            <a:srgbClr val="FFA028"/>
          </a:solidFill>
          <a:ln w="12700">
            <a:solidFill>
              <a:srgbClr val="FFA028"/>
            </a:solidFill>
            <a:prstDash val="solid"/>
          </a:ln>
        </p:spPr>
      </p:sp>
      <p:sp>
        <p:nvSpPr>
          <p:cNvPr id="28" name="Text 26"/>
          <p:cNvSpPr txBox="1"/>
          <p:nvPr/>
        </p:nvSpPr>
        <p:spPr>
          <a:xfrm>
            <a:off x="502920" y="260604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5</a:t>
            </a:r>
            <a:endParaRPr lang="en-US" sz="1300" dirty="0"/>
          </a:p>
        </p:txBody>
      </p:sp>
      <p:sp>
        <p:nvSpPr>
          <p:cNvPr id="29" name="Text 27"/>
          <p:cNvSpPr txBox="1"/>
          <p:nvPr/>
        </p:nvSpPr>
        <p:spPr>
          <a:xfrm>
            <a:off x="1005840" y="256032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Restricciones duras</a:t>
            </a:r>
            <a:endParaRPr lang="en-US" sz="1200" dirty="0"/>
          </a:p>
        </p:txBody>
      </p:sp>
      <p:sp>
        <p:nvSpPr>
          <p:cNvPr id="30" name="Text 28"/>
          <p:cNvSpPr txBox="1"/>
          <p:nvPr/>
        </p:nvSpPr>
        <p:spPr>
          <a:xfrm>
            <a:off x="3794760" y="256032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 5%</a:t>
            </a:r>
            <a:endParaRPr lang="en-US" sz="1100" dirty="0"/>
          </a:p>
        </p:txBody>
      </p:sp>
      <p:sp>
        <p:nvSpPr>
          <p:cNvPr id="31" name="Shape 29"/>
          <p:cNvSpPr/>
          <p:nvPr/>
        </p:nvSpPr>
        <p:spPr>
          <a:xfrm>
            <a:off x="6263640" y="2468880"/>
            <a:ext cx="5486400" cy="685800"/>
          </a:xfrm>
          <a:prstGeom prst="roundRect">
            <a:avLst>
              <a:gd name="adj" fmla="val 10667"/>
            </a:avLst>
          </a:prstGeom>
          <a:solidFill>
            <a:srgbClr val="0D0D0D"/>
          </a:solidFill>
          <a:ln w="12700">
            <a:solidFill>
              <a:srgbClr val="333333"/>
            </a:solidFill>
            <a:prstDash val="solid"/>
          </a:ln>
        </p:spPr>
      </p:sp>
      <p:sp>
        <p:nvSpPr>
          <p:cNvPr id="32" name="Shape 30"/>
          <p:cNvSpPr/>
          <p:nvPr/>
        </p:nvSpPr>
        <p:spPr>
          <a:xfrm>
            <a:off x="6355080" y="2606040"/>
            <a:ext cx="384048" cy="384048"/>
          </a:xfrm>
          <a:prstGeom prst="roundRect">
            <a:avLst>
              <a:gd name="adj" fmla="val 50000"/>
            </a:avLst>
          </a:prstGeom>
          <a:solidFill>
            <a:srgbClr val="FFA028"/>
          </a:solidFill>
          <a:ln w="12700">
            <a:solidFill>
              <a:srgbClr val="FFA028"/>
            </a:solidFill>
            <a:prstDash val="solid"/>
          </a:ln>
        </p:spPr>
      </p:sp>
      <p:sp>
        <p:nvSpPr>
          <p:cNvPr id="33" name="Text 31"/>
          <p:cNvSpPr txBox="1"/>
          <p:nvPr/>
        </p:nvSpPr>
        <p:spPr>
          <a:xfrm>
            <a:off x="6355080" y="260604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6</a:t>
            </a:r>
            <a:endParaRPr lang="en-US" sz="1300" dirty="0"/>
          </a:p>
        </p:txBody>
      </p:sp>
      <p:sp>
        <p:nvSpPr>
          <p:cNvPr id="34" name="Text 32"/>
          <p:cNvSpPr txBox="1"/>
          <p:nvPr/>
        </p:nvSpPr>
        <p:spPr>
          <a:xfrm>
            <a:off x="6858000" y="256032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Duración alta</a:t>
            </a:r>
            <a:endParaRPr lang="en-US" sz="1200" dirty="0"/>
          </a:p>
        </p:txBody>
      </p:sp>
      <p:sp>
        <p:nvSpPr>
          <p:cNvPr id="35" name="Text 33"/>
          <p:cNvSpPr txBox="1"/>
          <p:nvPr/>
        </p:nvSpPr>
        <p:spPr>
          <a:xfrm>
            <a:off x="9646920" y="256032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 5%</a:t>
            </a:r>
            <a:endParaRPr lang="en-US" sz="1100" dirty="0"/>
          </a:p>
        </p:txBody>
      </p:sp>
      <p:sp>
        <p:nvSpPr>
          <p:cNvPr id="36" name="Shape 34"/>
          <p:cNvSpPr/>
          <p:nvPr/>
        </p:nvSpPr>
        <p:spPr>
          <a:xfrm>
            <a:off x="411480" y="3246120"/>
            <a:ext cx="5486400" cy="685800"/>
          </a:xfrm>
          <a:prstGeom prst="roundRect">
            <a:avLst>
              <a:gd name="adj" fmla="val 10667"/>
            </a:avLst>
          </a:prstGeom>
          <a:solidFill>
            <a:srgbClr val="0D0D0D"/>
          </a:solidFill>
          <a:ln w="12700">
            <a:solidFill>
              <a:srgbClr val="333333"/>
            </a:solidFill>
            <a:prstDash val="solid"/>
          </a:ln>
        </p:spPr>
      </p:sp>
      <p:sp>
        <p:nvSpPr>
          <p:cNvPr id="37" name="Shape 35"/>
          <p:cNvSpPr/>
          <p:nvPr/>
        </p:nvSpPr>
        <p:spPr>
          <a:xfrm>
            <a:off x="502920" y="3383280"/>
            <a:ext cx="384048" cy="384048"/>
          </a:xfrm>
          <a:prstGeom prst="roundRect">
            <a:avLst>
              <a:gd name="adj" fmla="val 50000"/>
            </a:avLst>
          </a:prstGeom>
          <a:solidFill>
            <a:srgbClr val="FFA028"/>
          </a:solidFill>
          <a:ln w="12700">
            <a:solidFill>
              <a:srgbClr val="FFA028"/>
            </a:solidFill>
            <a:prstDash val="solid"/>
          </a:ln>
        </p:spPr>
      </p:sp>
      <p:sp>
        <p:nvSpPr>
          <p:cNvPr id="38" name="Text 36"/>
          <p:cNvSpPr txBox="1"/>
          <p:nvPr/>
        </p:nvSpPr>
        <p:spPr>
          <a:xfrm>
            <a:off x="502920" y="338328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7</a:t>
            </a:r>
            <a:endParaRPr lang="en-US" sz="1300" dirty="0"/>
          </a:p>
        </p:txBody>
      </p:sp>
      <p:sp>
        <p:nvSpPr>
          <p:cNvPr id="39" name="Text 37"/>
          <p:cNvSpPr txBox="1"/>
          <p:nvPr/>
        </p:nvSpPr>
        <p:spPr>
          <a:xfrm>
            <a:off x="1005840" y="333756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Fechas inválidas</a:t>
            </a:r>
            <a:endParaRPr lang="en-US" sz="1200" dirty="0"/>
          </a:p>
        </p:txBody>
      </p:sp>
      <p:sp>
        <p:nvSpPr>
          <p:cNvPr id="40" name="Text 38"/>
          <p:cNvSpPr txBox="1"/>
          <p:nvPr/>
        </p:nvSpPr>
        <p:spPr>
          <a:xfrm>
            <a:off x="3794760" y="333756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
        <p:nvSpPr>
          <p:cNvPr id="41" name="Shape 39"/>
          <p:cNvSpPr/>
          <p:nvPr/>
        </p:nvSpPr>
        <p:spPr>
          <a:xfrm>
            <a:off x="6263640" y="3246120"/>
            <a:ext cx="5486400" cy="685800"/>
          </a:xfrm>
          <a:prstGeom prst="roundRect">
            <a:avLst>
              <a:gd name="adj" fmla="val 10667"/>
            </a:avLst>
          </a:prstGeom>
          <a:solidFill>
            <a:srgbClr val="0D0D0D"/>
          </a:solidFill>
          <a:ln w="12700">
            <a:solidFill>
              <a:srgbClr val="333333"/>
            </a:solidFill>
            <a:prstDash val="solid"/>
          </a:ln>
        </p:spPr>
      </p:sp>
      <p:sp>
        <p:nvSpPr>
          <p:cNvPr id="42" name="Shape 40"/>
          <p:cNvSpPr/>
          <p:nvPr/>
        </p:nvSpPr>
        <p:spPr>
          <a:xfrm>
            <a:off x="6355080" y="3383280"/>
            <a:ext cx="384048" cy="384048"/>
          </a:xfrm>
          <a:prstGeom prst="roundRect">
            <a:avLst>
              <a:gd name="adj" fmla="val 50000"/>
            </a:avLst>
          </a:prstGeom>
          <a:solidFill>
            <a:srgbClr val="FFA028"/>
          </a:solidFill>
          <a:ln w="12700">
            <a:solidFill>
              <a:srgbClr val="FFA028"/>
            </a:solidFill>
            <a:prstDash val="solid"/>
          </a:ln>
        </p:spPr>
      </p:sp>
      <p:sp>
        <p:nvSpPr>
          <p:cNvPr id="43" name="Text 41"/>
          <p:cNvSpPr txBox="1"/>
          <p:nvPr/>
        </p:nvSpPr>
        <p:spPr>
          <a:xfrm>
            <a:off x="6355080" y="338328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8</a:t>
            </a:r>
            <a:endParaRPr lang="en-US" sz="1300" dirty="0"/>
          </a:p>
        </p:txBody>
      </p:sp>
      <p:sp>
        <p:nvSpPr>
          <p:cNvPr id="44" name="Text 42"/>
          <p:cNvSpPr txBox="1"/>
          <p:nvPr/>
        </p:nvSpPr>
        <p:spPr>
          <a:xfrm>
            <a:off x="6858000" y="333756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Recursos</a:t>
            </a:r>
            <a:endParaRPr lang="en-US" sz="1200" dirty="0"/>
          </a:p>
        </p:txBody>
      </p:sp>
      <p:sp>
        <p:nvSpPr>
          <p:cNvPr id="45" name="Text 43"/>
          <p:cNvSpPr txBox="1"/>
          <p:nvPr/>
        </p:nvSpPr>
        <p:spPr>
          <a:xfrm>
            <a:off x="9646920" y="333756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
        <p:nvSpPr>
          <p:cNvPr id="46" name="Shape 44"/>
          <p:cNvSpPr/>
          <p:nvPr/>
        </p:nvSpPr>
        <p:spPr>
          <a:xfrm>
            <a:off x="411480" y="4023360"/>
            <a:ext cx="5486400" cy="685800"/>
          </a:xfrm>
          <a:prstGeom prst="roundRect">
            <a:avLst>
              <a:gd name="adj" fmla="val 10667"/>
            </a:avLst>
          </a:prstGeom>
          <a:solidFill>
            <a:srgbClr val="0D0D0D"/>
          </a:solidFill>
          <a:ln w="12700">
            <a:solidFill>
              <a:srgbClr val="333333"/>
            </a:solidFill>
            <a:prstDash val="solid"/>
          </a:ln>
        </p:spPr>
      </p:sp>
      <p:sp>
        <p:nvSpPr>
          <p:cNvPr id="47" name="Shape 45"/>
          <p:cNvSpPr/>
          <p:nvPr/>
        </p:nvSpPr>
        <p:spPr>
          <a:xfrm>
            <a:off x="502920" y="4160520"/>
            <a:ext cx="384048" cy="384048"/>
          </a:xfrm>
          <a:prstGeom prst="roundRect">
            <a:avLst>
              <a:gd name="adj" fmla="val 50000"/>
            </a:avLst>
          </a:prstGeom>
          <a:solidFill>
            <a:srgbClr val="FFA028"/>
          </a:solidFill>
          <a:ln w="12700">
            <a:solidFill>
              <a:srgbClr val="FFA028"/>
            </a:solidFill>
            <a:prstDash val="solid"/>
          </a:ln>
        </p:spPr>
      </p:sp>
      <p:sp>
        <p:nvSpPr>
          <p:cNvPr id="48" name="Text 46"/>
          <p:cNvSpPr txBox="1"/>
          <p:nvPr/>
        </p:nvSpPr>
        <p:spPr>
          <a:xfrm>
            <a:off x="502920" y="416052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9</a:t>
            </a:r>
            <a:endParaRPr lang="en-US" sz="1300" dirty="0"/>
          </a:p>
        </p:txBody>
      </p:sp>
      <p:sp>
        <p:nvSpPr>
          <p:cNvPr id="49" name="Text 47"/>
          <p:cNvSpPr txBox="1"/>
          <p:nvPr/>
        </p:nvSpPr>
        <p:spPr>
          <a:xfrm>
            <a:off x="1005840" y="411480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Tareas atrasadas</a:t>
            </a:r>
            <a:endParaRPr lang="en-US" sz="1200" dirty="0"/>
          </a:p>
        </p:txBody>
      </p:sp>
      <p:sp>
        <p:nvSpPr>
          <p:cNvPr id="50" name="Text 48"/>
          <p:cNvSpPr txBox="1"/>
          <p:nvPr/>
        </p:nvSpPr>
        <p:spPr>
          <a:xfrm>
            <a:off x="3794760" y="411480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
        <p:nvSpPr>
          <p:cNvPr id="51" name="Shape 49"/>
          <p:cNvSpPr/>
          <p:nvPr/>
        </p:nvSpPr>
        <p:spPr>
          <a:xfrm>
            <a:off x="6263640" y="4023360"/>
            <a:ext cx="5486400" cy="685800"/>
          </a:xfrm>
          <a:prstGeom prst="roundRect">
            <a:avLst>
              <a:gd name="adj" fmla="val 10667"/>
            </a:avLst>
          </a:prstGeom>
          <a:solidFill>
            <a:srgbClr val="0D0D0D"/>
          </a:solidFill>
          <a:ln w="12700">
            <a:solidFill>
              <a:srgbClr val="333333"/>
            </a:solidFill>
            <a:prstDash val="solid"/>
          </a:ln>
        </p:spPr>
      </p:sp>
      <p:sp>
        <p:nvSpPr>
          <p:cNvPr id="52" name="Shape 50"/>
          <p:cNvSpPr/>
          <p:nvPr/>
        </p:nvSpPr>
        <p:spPr>
          <a:xfrm>
            <a:off x="6355080" y="4160520"/>
            <a:ext cx="384048" cy="384048"/>
          </a:xfrm>
          <a:prstGeom prst="roundRect">
            <a:avLst>
              <a:gd name="adj" fmla="val 50000"/>
            </a:avLst>
          </a:prstGeom>
          <a:solidFill>
            <a:srgbClr val="198038"/>
          </a:solidFill>
          <a:ln w="12700">
            <a:solidFill>
              <a:srgbClr val="198038"/>
            </a:solidFill>
            <a:prstDash val="solid"/>
          </a:ln>
        </p:spPr>
      </p:sp>
      <p:sp>
        <p:nvSpPr>
          <p:cNvPr id="53" name="Text 51"/>
          <p:cNvSpPr txBox="1"/>
          <p:nvPr/>
        </p:nvSpPr>
        <p:spPr>
          <a:xfrm>
            <a:off x="6355080" y="416052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10</a:t>
            </a:r>
            <a:endParaRPr lang="en-US" sz="1300" dirty="0"/>
          </a:p>
        </p:txBody>
      </p:sp>
      <p:sp>
        <p:nvSpPr>
          <p:cNvPr id="54" name="Text 52"/>
          <p:cNvSpPr txBox="1"/>
          <p:nvPr/>
        </p:nvSpPr>
        <p:spPr>
          <a:xfrm>
            <a:off x="6858000" y="411480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Critical Path Length Index</a:t>
            </a:r>
            <a:endParaRPr lang="en-US" sz="1200" dirty="0"/>
          </a:p>
        </p:txBody>
      </p:sp>
      <p:sp>
        <p:nvSpPr>
          <p:cNvPr id="55" name="Text 53"/>
          <p:cNvSpPr txBox="1"/>
          <p:nvPr/>
        </p:nvSpPr>
        <p:spPr>
          <a:xfrm>
            <a:off x="9646920" y="4114800"/>
            <a:ext cx="1920240" cy="384048"/>
          </a:xfrm>
          <a:prstGeom prst="rect">
            <a:avLst/>
          </a:prstGeom>
          <a:noFill/>
          <a:ln/>
        </p:spPr>
        <p:txBody>
          <a:bodyPr wrap="square" lIns="0" tIns="0" rIns="0" bIns="0" rtlCol="0" anchor="ctr"/>
          <a:lstStyle/>
          <a:p>
            <a:pPr algn="r" indent="0" marL="0">
              <a:buNone/>
            </a:pPr>
            <a:r>
              <a:rPr lang="en-US" sz="1100" dirty="0">
                <a:solidFill>
                  <a:srgbClr val="198038"/>
                </a:solidFill>
                <a:latin typeface="Epilogue" pitchFamily="34" charset="0"/>
                <a:ea typeface="Epilogue" pitchFamily="34" charset="-122"/>
                <a:cs typeface="Epilogue" pitchFamily="34" charset="-120"/>
              </a:rPr>
              <a:t>≥ 0.95</a:t>
            </a:r>
            <a:endParaRPr lang="en-US" sz="1100" dirty="0"/>
          </a:p>
        </p:txBody>
      </p:sp>
      <p:sp>
        <p:nvSpPr>
          <p:cNvPr id="56" name="Shape 54"/>
          <p:cNvSpPr/>
          <p:nvPr/>
        </p:nvSpPr>
        <p:spPr>
          <a:xfrm>
            <a:off x="411480" y="4800600"/>
            <a:ext cx="5486400" cy="685800"/>
          </a:xfrm>
          <a:prstGeom prst="roundRect">
            <a:avLst>
              <a:gd name="adj" fmla="val 10667"/>
            </a:avLst>
          </a:prstGeom>
          <a:solidFill>
            <a:srgbClr val="0D0D0D"/>
          </a:solidFill>
          <a:ln w="12700">
            <a:solidFill>
              <a:srgbClr val="333333"/>
            </a:solidFill>
            <a:prstDash val="solid"/>
          </a:ln>
        </p:spPr>
      </p:sp>
      <p:sp>
        <p:nvSpPr>
          <p:cNvPr id="57" name="Shape 55"/>
          <p:cNvSpPr/>
          <p:nvPr/>
        </p:nvSpPr>
        <p:spPr>
          <a:xfrm>
            <a:off x="502920" y="4937760"/>
            <a:ext cx="384048" cy="384048"/>
          </a:xfrm>
          <a:prstGeom prst="roundRect">
            <a:avLst>
              <a:gd name="adj" fmla="val 50000"/>
            </a:avLst>
          </a:prstGeom>
          <a:solidFill>
            <a:srgbClr val="198038"/>
          </a:solidFill>
          <a:ln w="12700">
            <a:solidFill>
              <a:srgbClr val="198038"/>
            </a:solidFill>
            <a:prstDash val="solid"/>
          </a:ln>
        </p:spPr>
      </p:sp>
      <p:sp>
        <p:nvSpPr>
          <p:cNvPr id="58" name="Text 56"/>
          <p:cNvSpPr txBox="1"/>
          <p:nvPr/>
        </p:nvSpPr>
        <p:spPr>
          <a:xfrm>
            <a:off x="502920" y="493776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11</a:t>
            </a:r>
            <a:endParaRPr lang="en-US" sz="1300" dirty="0"/>
          </a:p>
        </p:txBody>
      </p:sp>
      <p:sp>
        <p:nvSpPr>
          <p:cNvPr id="59" name="Text 57"/>
          <p:cNvSpPr txBox="1"/>
          <p:nvPr/>
        </p:nvSpPr>
        <p:spPr>
          <a:xfrm>
            <a:off x="1005840" y="489204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Línea base</a:t>
            </a:r>
            <a:endParaRPr lang="en-US" sz="1200" dirty="0"/>
          </a:p>
        </p:txBody>
      </p:sp>
      <p:sp>
        <p:nvSpPr>
          <p:cNvPr id="60" name="Text 58"/>
          <p:cNvSpPr txBox="1"/>
          <p:nvPr/>
        </p:nvSpPr>
        <p:spPr>
          <a:xfrm>
            <a:off x="3794760" y="4892040"/>
            <a:ext cx="1920240" cy="384048"/>
          </a:xfrm>
          <a:prstGeom prst="rect">
            <a:avLst/>
          </a:prstGeom>
          <a:noFill/>
          <a:ln/>
        </p:spPr>
        <p:txBody>
          <a:bodyPr wrap="square" lIns="0" tIns="0" rIns="0" bIns="0" rtlCol="0" anchor="ctr"/>
          <a:lstStyle/>
          <a:p>
            <a:pPr algn="r" indent="0" marL="0">
              <a:buNone/>
            </a:pPr>
            <a:r>
              <a:rPr lang="en-US" sz="1100" dirty="0">
                <a:solidFill>
                  <a:srgbClr val="198038"/>
                </a:solidFill>
                <a:latin typeface="Epilogue" pitchFamily="34" charset="0"/>
                <a:ea typeface="Epilogue" pitchFamily="34" charset="-122"/>
                <a:cs typeface="Epilogue" pitchFamily="34" charset="-120"/>
              </a:rPr>
              <a:t>Requerido</a:t>
            </a:r>
            <a:endParaRPr lang="en-US" sz="1100" dirty="0"/>
          </a:p>
        </p:txBody>
      </p:sp>
      <p:sp>
        <p:nvSpPr>
          <p:cNvPr id="61" name="Shape 59"/>
          <p:cNvSpPr/>
          <p:nvPr/>
        </p:nvSpPr>
        <p:spPr>
          <a:xfrm>
            <a:off x="6263640" y="4800600"/>
            <a:ext cx="5486400" cy="685800"/>
          </a:xfrm>
          <a:prstGeom prst="roundRect">
            <a:avLst>
              <a:gd name="adj" fmla="val 10667"/>
            </a:avLst>
          </a:prstGeom>
          <a:solidFill>
            <a:srgbClr val="0D0D0D"/>
          </a:solidFill>
          <a:ln w="12700">
            <a:solidFill>
              <a:srgbClr val="333333"/>
            </a:solidFill>
            <a:prstDash val="solid"/>
          </a:ln>
        </p:spPr>
      </p:sp>
      <p:sp>
        <p:nvSpPr>
          <p:cNvPr id="62" name="Shape 60"/>
          <p:cNvSpPr/>
          <p:nvPr/>
        </p:nvSpPr>
        <p:spPr>
          <a:xfrm>
            <a:off x="6355080" y="4937760"/>
            <a:ext cx="384048" cy="384048"/>
          </a:xfrm>
          <a:prstGeom prst="roundRect">
            <a:avLst>
              <a:gd name="adj" fmla="val 50000"/>
            </a:avLst>
          </a:prstGeom>
          <a:solidFill>
            <a:srgbClr val="FFA028"/>
          </a:solidFill>
          <a:ln w="12700">
            <a:solidFill>
              <a:srgbClr val="FFA028"/>
            </a:solidFill>
            <a:prstDash val="solid"/>
          </a:ln>
        </p:spPr>
      </p:sp>
      <p:sp>
        <p:nvSpPr>
          <p:cNvPr id="63" name="Text 61"/>
          <p:cNvSpPr txBox="1"/>
          <p:nvPr/>
        </p:nvSpPr>
        <p:spPr>
          <a:xfrm>
            <a:off x="6355080" y="493776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12</a:t>
            </a:r>
            <a:endParaRPr lang="en-US" sz="1300" dirty="0"/>
          </a:p>
        </p:txBody>
      </p:sp>
      <p:sp>
        <p:nvSpPr>
          <p:cNvPr id="64" name="Text 62"/>
          <p:cNvSpPr txBox="1"/>
          <p:nvPr/>
        </p:nvSpPr>
        <p:spPr>
          <a:xfrm>
            <a:off x="6858000" y="489204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Float negativo</a:t>
            </a:r>
            <a:endParaRPr lang="en-US" sz="1200" dirty="0"/>
          </a:p>
        </p:txBody>
      </p:sp>
      <p:sp>
        <p:nvSpPr>
          <p:cNvPr id="65" name="Text 63"/>
          <p:cNvSpPr txBox="1"/>
          <p:nvPr/>
        </p:nvSpPr>
        <p:spPr>
          <a:xfrm>
            <a:off x="9646920" y="489204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
        <p:nvSpPr>
          <p:cNvPr id="66" name="Shape 64"/>
          <p:cNvSpPr/>
          <p:nvPr/>
        </p:nvSpPr>
        <p:spPr>
          <a:xfrm>
            <a:off x="411480" y="5577840"/>
            <a:ext cx="5486400" cy="685800"/>
          </a:xfrm>
          <a:prstGeom prst="roundRect">
            <a:avLst>
              <a:gd name="adj" fmla="val 10667"/>
            </a:avLst>
          </a:prstGeom>
          <a:solidFill>
            <a:srgbClr val="0D0D0D"/>
          </a:solidFill>
          <a:ln w="12700">
            <a:solidFill>
              <a:srgbClr val="333333"/>
            </a:solidFill>
            <a:prstDash val="solid"/>
          </a:ln>
        </p:spPr>
      </p:sp>
      <p:sp>
        <p:nvSpPr>
          <p:cNvPr id="67" name="Shape 65"/>
          <p:cNvSpPr/>
          <p:nvPr/>
        </p:nvSpPr>
        <p:spPr>
          <a:xfrm>
            <a:off x="502920" y="5715000"/>
            <a:ext cx="384048" cy="384048"/>
          </a:xfrm>
          <a:prstGeom prst="roundRect">
            <a:avLst>
              <a:gd name="adj" fmla="val 50000"/>
            </a:avLst>
          </a:prstGeom>
          <a:solidFill>
            <a:srgbClr val="FFA028"/>
          </a:solidFill>
          <a:ln w="12700">
            <a:solidFill>
              <a:srgbClr val="FFA028"/>
            </a:solidFill>
            <a:prstDash val="solid"/>
          </a:ln>
        </p:spPr>
      </p:sp>
      <p:sp>
        <p:nvSpPr>
          <p:cNvPr id="68" name="Text 66"/>
          <p:cNvSpPr txBox="1"/>
          <p:nvPr/>
        </p:nvSpPr>
        <p:spPr>
          <a:xfrm>
            <a:off x="502920" y="571500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13</a:t>
            </a:r>
            <a:endParaRPr lang="en-US" sz="1300" dirty="0"/>
          </a:p>
        </p:txBody>
      </p:sp>
      <p:sp>
        <p:nvSpPr>
          <p:cNvPr id="69" name="Text 67"/>
          <p:cNvSpPr txBox="1"/>
          <p:nvPr/>
        </p:nvSpPr>
        <p:spPr>
          <a:xfrm>
            <a:off x="1005840" y="566928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Float alto</a:t>
            </a:r>
            <a:endParaRPr lang="en-US" sz="1200" dirty="0"/>
          </a:p>
        </p:txBody>
      </p:sp>
      <p:sp>
        <p:nvSpPr>
          <p:cNvPr id="70" name="Text 68"/>
          <p:cNvSpPr txBox="1"/>
          <p:nvPr/>
        </p:nvSpPr>
        <p:spPr>
          <a:xfrm>
            <a:off x="3794760" y="566928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 5%</a:t>
            </a:r>
            <a:endParaRPr lang="en-US" sz="1100" dirty="0"/>
          </a:p>
        </p:txBody>
      </p:sp>
      <p:sp>
        <p:nvSpPr>
          <p:cNvPr id="71" name="Shape 69"/>
          <p:cNvSpPr/>
          <p:nvPr/>
        </p:nvSpPr>
        <p:spPr>
          <a:xfrm>
            <a:off x="6263640" y="5577840"/>
            <a:ext cx="5486400" cy="685800"/>
          </a:xfrm>
          <a:prstGeom prst="roundRect">
            <a:avLst>
              <a:gd name="adj" fmla="val 10667"/>
            </a:avLst>
          </a:prstGeom>
          <a:solidFill>
            <a:srgbClr val="0D0D0D"/>
          </a:solidFill>
          <a:ln w="12700">
            <a:solidFill>
              <a:srgbClr val="333333"/>
            </a:solidFill>
            <a:prstDash val="solid"/>
          </a:ln>
        </p:spPr>
      </p:sp>
      <p:sp>
        <p:nvSpPr>
          <p:cNvPr id="72" name="Shape 70"/>
          <p:cNvSpPr/>
          <p:nvPr/>
        </p:nvSpPr>
        <p:spPr>
          <a:xfrm>
            <a:off x="6355080" y="5715000"/>
            <a:ext cx="384048" cy="384048"/>
          </a:xfrm>
          <a:prstGeom prst="roundRect">
            <a:avLst>
              <a:gd name="adj" fmla="val 50000"/>
            </a:avLst>
          </a:prstGeom>
          <a:solidFill>
            <a:srgbClr val="FFA028"/>
          </a:solidFill>
          <a:ln w="12700">
            <a:solidFill>
              <a:srgbClr val="FFA028"/>
            </a:solidFill>
            <a:prstDash val="solid"/>
          </a:ln>
        </p:spPr>
      </p:sp>
      <p:sp>
        <p:nvSpPr>
          <p:cNvPr id="73" name="Text 71"/>
          <p:cNvSpPr txBox="1"/>
          <p:nvPr/>
        </p:nvSpPr>
        <p:spPr>
          <a:xfrm>
            <a:off x="6355080" y="5715000"/>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14</a:t>
            </a:r>
            <a:endParaRPr lang="en-US" sz="1300" dirty="0"/>
          </a:p>
        </p:txBody>
      </p:sp>
      <p:sp>
        <p:nvSpPr>
          <p:cNvPr id="74" name="Text 72"/>
          <p:cNvSpPr txBox="1"/>
          <p:nvPr/>
        </p:nvSpPr>
        <p:spPr>
          <a:xfrm>
            <a:off x="6858000" y="5669280"/>
            <a:ext cx="2743200" cy="384048"/>
          </a:xfrm>
          <a:prstGeom prst="rect">
            <a:avLst/>
          </a:prstGeom>
          <a:noFill/>
          <a:ln/>
        </p:spPr>
        <p:txBody>
          <a:bodyPr wrap="square" lIns="0" tIns="0" rIns="0" bIns="0" rtlCol="0" anchor="ctr"/>
          <a:lstStyle/>
          <a:p>
            <a:pPr indent="0" marL="0">
              <a:buNone/>
            </a:pPr>
            <a:r>
              <a:rPr lang="en-US" sz="1200" b="1" dirty="0">
                <a:solidFill>
                  <a:srgbClr val="FFFFFF"/>
                </a:solidFill>
                <a:latin typeface="Epilogue" pitchFamily="34" charset="0"/>
                <a:ea typeface="Epilogue" pitchFamily="34" charset="-122"/>
                <a:cs typeface="Epilogue" pitchFamily="34" charset="-120"/>
              </a:rPr>
              <a:t>Calendarios</a:t>
            </a:r>
            <a:endParaRPr lang="en-US" sz="1200" dirty="0"/>
          </a:p>
        </p:txBody>
      </p:sp>
      <p:sp>
        <p:nvSpPr>
          <p:cNvPr id="75" name="Text 73"/>
          <p:cNvSpPr txBox="1"/>
          <p:nvPr/>
        </p:nvSpPr>
        <p:spPr>
          <a:xfrm>
            <a:off x="9646920" y="5669280"/>
            <a:ext cx="1920240" cy="384048"/>
          </a:xfrm>
          <a:prstGeom prst="rect">
            <a:avLst/>
          </a:prstGeom>
          <a:noFill/>
          <a:ln/>
        </p:spPr>
        <p:txBody>
          <a:bodyPr wrap="square" lIns="0" tIns="0" rIns="0" bIns="0" rtlCol="0" anchor="ctr"/>
          <a:lstStyle/>
          <a:p>
            <a:pPr algn="r" indent="0" marL="0">
              <a:buNone/>
            </a:pPr>
            <a:r>
              <a:rPr lang="en-US" sz="1100" dirty="0">
                <a:solidFill>
                  <a:srgbClr val="FFA028"/>
                </a:solidFill>
                <a:latin typeface="Epilogue" pitchFamily="34" charset="0"/>
                <a:ea typeface="Epilogue" pitchFamily="34" charset="-122"/>
                <a:cs typeface="Epilogue" pitchFamily="34" charset="-120"/>
              </a:rPr>
              <a:t>0%</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UMBRALES DCMA Y SEMÁFORO</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261872"/>
          </a:xfrm>
          <a:prstGeom prst="roundRect">
            <a:avLst>
              <a:gd name="adj" fmla="val 5797"/>
            </a:avLst>
          </a:prstGeom>
          <a:solidFill>
            <a:srgbClr val="0D0D0D"/>
          </a:solidFill>
          <a:ln w="12700">
            <a:solidFill>
              <a:srgbClr val="FFA028"/>
            </a:solidFill>
            <a:prstDash val="solid"/>
          </a:ln>
        </p:spPr>
      </p:sp>
      <p:sp>
        <p:nvSpPr>
          <p:cNvPr id="7" name="Shape 5"/>
          <p:cNvSpPr/>
          <p:nvPr/>
        </p:nvSpPr>
        <p:spPr>
          <a:xfrm>
            <a:off x="411480" y="914400"/>
            <a:ext cx="64008" cy="1261872"/>
          </a:xfrm>
          <a:prstGeom prst="rect">
            <a:avLst/>
          </a:prstGeom>
          <a:solidFill>
            <a:srgbClr val="FFA028"/>
          </a:solidFill>
          <a:ln w="12700">
            <a:solidFill>
              <a:srgbClr val="FFA028"/>
            </a:solidFill>
            <a:prstDash val="solid"/>
          </a:ln>
        </p:spPr>
      </p:sp>
      <p:sp>
        <p:nvSpPr>
          <p:cNvPr id="8" name="Text 6"/>
          <p:cNvSpPr txBox="1"/>
          <p:nvPr/>
        </p:nvSpPr>
        <p:spPr>
          <a:xfrm>
            <a:off x="594360" y="1005840"/>
            <a:ext cx="228600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LAG_MAX</a:t>
            </a:r>
            <a:endParaRPr lang="en-US" sz="1400" dirty="0"/>
          </a:p>
        </p:txBody>
      </p:sp>
      <p:sp>
        <p:nvSpPr>
          <p:cNvPr id="9" name="Text 7"/>
          <p:cNvSpPr txBox="1"/>
          <p:nvPr/>
        </p:nvSpPr>
        <p:spPr>
          <a:xfrm>
            <a:off x="2971800" y="1005840"/>
            <a:ext cx="256032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5 días</a:t>
            </a:r>
            <a:endParaRPr lang="en-US" sz="1400" dirty="0"/>
          </a:p>
        </p:txBody>
      </p:sp>
      <p:sp>
        <p:nvSpPr>
          <p:cNvPr id="10" name="Text 8"/>
          <p:cNvSpPr txBox="1"/>
          <p:nvPr/>
        </p:nvSpPr>
        <p:spPr>
          <a:xfrm>
            <a:off x="594360" y="1572768"/>
            <a:ext cx="5120640" cy="50292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Lags mayores a 5 días generan advertencia. Deben estar justificados documentalmente.</a:t>
            </a:r>
            <a:endParaRPr lang="en-US" sz="1000" dirty="0"/>
          </a:p>
        </p:txBody>
      </p:sp>
      <p:sp>
        <p:nvSpPr>
          <p:cNvPr id="11" name="Shape 9"/>
          <p:cNvSpPr/>
          <p:nvPr/>
        </p:nvSpPr>
        <p:spPr>
          <a:xfrm>
            <a:off x="6263640" y="914400"/>
            <a:ext cx="5486400" cy="1261872"/>
          </a:xfrm>
          <a:prstGeom prst="roundRect">
            <a:avLst>
              <a:gd name="adj" fmla="val 5797"/>
            </a:avLst>
          </a:prstGeom>
          <a:solidFill>
            <a:srgbClr val="0D0D0D"/>
          </a:solidFill>
          <a:ln w="12700">
            <a:solidFill>
              <a:srgbClr val="FFA028"/>
            </a:solidFill>
            <a:prstDash val="solid"/>
          </a:ln>
        </p:spPr>
      </p:sp>
      <p:sp>
        <p:nvSpPr>
          <p:cNvPr id="12" name="Shape 10"/>
          <p:cNvSpPr/>
          <p:nvPr/>
        </p:nvSpPr>
        <p:spPr>
          <a:xfrm>
            <a:off x="6263640" y="914400"/>
            <a:ext cx="64008" cy="1261872"/>
          </a:xfrm>
          <a:prstGeom prst="rect">
            <a:avLst/>
          </a:prstGeom>
          <a:solidFill>
            <a:srgbClr val="FFA028"/>
          </a:solidFill>
          <a:ln w="12700">
            <a:solidFill>
              <a:srgbClr val="FFA028"/>
            </a:solidFill>
            <a:prstDash val="solid"/>
          </a:ln>
        </p:spPr>
      </p:sp>
      <p:sp>
        <p:nvSpPr>
          <p:cNvPr id="13" name="Text 11"/>
          <p:cNvSpPr txBox="1"/>
          <p:nvPr/>
        </p:nvSpPr>
        <p:spPr>
          <a:xfrm>
            <a:off x="6446520" y="1005840"/>
            <a:ext cx="228600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FLOAT_HIGH</a:t>
            </a:r>
            <a:endParaRPr lang="en-US" sz="1400" dirty="0"/>
          </a:p>
        </p:txBody>
      </p:sp>
      <p:sp>
        <p:nvSpPr>
          <p:cNvPr id="14" name="Text 12"/>
          <p:cNvSpPr txBox="1"/>
          <p:nvPr/>
        </p:nvSpPr>
        <p:spPr>
          <a:xfrm>
            <a:off x="8823960" y="1005840"/>
            <a:ext cx="256032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44 días</a:t>
            </a:r>
            <a:endParaRPr lang="en-US" sz="1400" dirty="0"/>
          </a:p>
        </p:txBody>
      </p:sp>
      <p:sp>
        <p:nvSpPr>
          <p:cNvPr id="15" name="Text 13"/>
          <p:cNvSpPr txBox="1"/>
          <p:nvPr/>
        </p:nvSpPr>
        <p:spPr>
          <a:xfrm>
            <a:off x="6446520" y="1572768"/>
            <a:ext cx="5120640" cy="50292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Actividades con HT &gt; 44 días pueden indicar lógica faltante en el cronograma.</a:t>
            </a:r>
            <a:endParaRPr lang="en-US" sz="1000" dirty="0"/>
          </a:p>
        </p:txBody>
      </p:sp>
      <p:sp>
        <p:nvSpPr>
          <p:cNvPr id="16" name="Shape 14"/>
          <p:cNvSpPr/>
          <p:nvPr/>
        </p:nvSpPr>
        <p:spPr>
          <a:xfrm>
            <a:off x="411480" y="2331720"/>
            <a:ext cx="5486400" cy="1261872"/>
          </a:xfrm>
          <a:prstGeom prst="roundRect">
            <a:avLst>
              <a:gd name="adj" fmla="val 5797"/>
            </a:avLst>
          </a:prstGeom>
          <a:solidFill>
            <a:srgbClr val="0D0D0D"/>
          </a:solidFill>
          <a:ln w="12700">
            <a:solidFill>
              <a:srgbClr val="FFA028"/>
            </a:solidFill>
            <a:prstDash val="solid"/>
          </a:ln>
        </p:spPr>
      </p:sp>
      <p:sp>
        <p:nvSpPr>
          <p:cNvPr id="17" name="Shape 15"/>
          <p:cNvSpPr/>
          <p:nvPr/>
        </p:nvSpPr>
        <p:spPr>
          <a:xfrm>
            <a:off x="411480" y="2331720"/>
            <a:ext cx="64008" cy="1261872"/>
          </a:xfrm>
          <a:prstGeom prst="rect">
            <a:avLst/>
          </a:prstGeom>
          <a:solidFill>
            <a:srgbClr val="FFA028"/>
          </a:solidFill>
          <a:ln w="12700">
            <a:solidFill>
              <a:srgbClr val="FFA028"/>
            </a:solidFill>
            <a:prstDash val="solid"/>
          </a:ln>
        </p:spPr>
      </p:sp>
      <p:sp>
        <p:nvSpPr>
          <p:cNvPr id="18" name="Text 16"/>
          <p:cNvSpPr txBox="1"/>
          <p:nvPr/>
        </p:nvSpPr>
        <p:spPr>
          <a:xfrm>
            <a:off x="594360" y="2423160"/>
            <a:ext cx="228600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DUR_HIGH</a:t>
            </a:r>
            <a:endParaRPr lang="en-US" sz="1400" dirty="0"/>
          </a:p>
        </p:txBody>
      </p:sp>
      <p:sp>
        <p:nvSpPr>
          <p:cNvPr id="19" name="Text 17"/>
          <p:cNvSpPr txBox="1"/>
          <p:nvPr/>
        </p:nvSpPr>
        <p:spPr>
          <a:xfrm>
            <a:off x="2971800" y="2423160"/>
            <a:ext cx="256032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44 días</a:t>
            </a:r>
            <a:endParaRPr lang="en-US" sz="1400" dirty="0"/>
          </a:p>
        </p:txBody>
      </p:sp>
      <p:sp>
        <p:nvSpPr>
          <p:cNvPr id="20" name="Text 18"/>
          <p:cNvSpPr txBox="1"/>
          <p:nvPr/>
        </p:nvSpPr>
        <p:spPr>
          <a:xfrm>
            <a:off x="594360" y="2990088"/>
            <a:ext cx="5120640" cy="50292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Actividades con duración mayor a 44 días deben subdividirse para mejor control.</a:t>
            </a:r>
            <a:endParaRPr lang="en-US" sz="1000" dirty="0"/>
          </a:p>
        </p:txBody>
      </p:sp>
      <p:sp>
        <p:nvSpPr>
          <p:cNvPr id="21" name="Shape 19"/>
          <p:cNvSpPr/>
          <p:nvPr/>
        </p:nvSpPr>
        <p:spPr>
          <a:xfrm>
            <a:off x="6263640" y="2331720"/>
            <a:ext cx="5486400" cy="1261872"/>
          </a:xfrm>
          <a:prstGeom prst="roundRect">
            <a:avLst>
              <a:gd name="adj" fmla="val 5797"/>
            </a:avLst>
          </a:prstGeom>
          <a:solidFill>
            <a:srgbClr val="0D0D0D"/>
          </a:solidFill>
          <a:ln w="12700">
            <a:solidFill>
              <a:srgbClr val="FFA028"/>
            </a:solidFill>
            <a:prstDash val="solid"/>
          </a:ln>
        </p:spPr>
      </p:sp>
      <p:sp>
        <p:nvSpPr>
          <p:cNvPr id="22" name="Shape 20"/>
          <p:cNvSpPr/>
          <p:nvPr/>
        </p:nvSpPr>
        <p:spPr>
          <a:xfrm>
            <a:off x="6263640" y="2331720"/>
            <a:ext cx="64008" cy="1261872"/>
          </a:xfrm>
          <a:prstGeom prst="rect">
            <a:avLst/>
          </a:prstGeom>
          <a:solidFill>
            <a:srgbClr val="FFA028"/>
          </a:solidFill>
          <a:ln w="12700">
            <a:solidFill>
              <a:srgbClr val="FFA028"/>
            </a:solidFill>
            <a:prstDash val="solid"/>
          </a:ln>
        </p:spPr>
      </p:sp>
      <p:sp>
        <p:nvSpPr>
          <p:cNvPr id="23" name="Text 21"/>
          <p:cNvSpPr txBox="1"/>
          <p:nvPr/>
        </p:nvSpPr>
        <p:spPr>
          <a:xfrm>
            <a:off x="6446520" y="2423160"/>
            <a:ext cx="228600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NONFS_PCT</a:t>
            </a:r>
            <a:endParaRPr lang="en-US" sz="1400" dirty="0"/>
          </a:p>
        </p:txBody>
      </p:sp>
      <p:sp>
        <p:nvSpPr>
          <p:cNvPr id="24" name="Text 22"/>
          <p:cNvSpPr txBox="1"/>
          <p:nvPr/>
        </p:nvSpPr>
        <p:spPr>
          <a:xfrm>
            <a:off x="8823960" y="2423160"/>
            <a:ext cx="2560320" cy="47548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10%</a:t>
            </a:r>
            <a:endParaRPr lang="en-US" sz="1400" dirty="0"/>
          </a:p>
        </p:txBody>
      </p:sp>
      <p:sp>
        <p:nvSpPr>
          <p:cNvPr id="25" name="Text 23"/>
          <p:cNvSpPr txBox="1"/>
          <p:nvPr/>
        </p:nvSpPr>
        <p:spPr>
          <a:xfrm>
            <a:off x="6446520" y="2990088"/>
            <a:ext cx="5120640" cy="50292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 más del 10% de relaciones pueden ser de tipo no-FS (SS, FF, SF).</a:t>
            </a:r>
            <a:endParaRPr lang="en-US" sz="1000" dirty="0"/>
          </a:p>
        </p:txBody>
      </p:sp>
      <p:sp>
        <p:nvSpPr>
          <p:cNvPr id="26" name="Shape 24"/>
          <p:cNvSpPr/>
          <p:nvPr/>
        </p:nvSpPr>
        <p:spPr>
          <a:xfrm>
            <a:off x="411480" y="3749040"/>
            <a:ext cx="5486400" cy="1261872"/>
          </a:xfrm>
          <a:prstGeom prst="roundRect">
            <a:avLst>
              <a:gd name="adj" fmla="val 5797"/>
            </a:avLst>
          </a:prstGeom>
          <a:solidFill>
            <a:srgbClr val="0D0D0D"/>
          </a:solidFill>
          <a:ln w="12700">
            <a:solidFill>
              <a:srgbClr val="FF433D"/>
            </a:solidFill>
            <a:prstDash val="solid"/>
          </a:ln>
        </p:spPr>
      </p:sp>
      <p:sp>
        <p:nvSpPr>
          <p:cNvPr id="27" name="Shape 25"/>
          <p:cNvSpPr/>
          <p:nvPr/>
        </p:nvSpPr>
        <p:spPr>
          <a:xfrm>
            <a:off x="411480" y="3749040"/>
            <a:ext cx="64008" cy="1261872"/>
          </a:xfrm>
          <a:prstGeom prst="rect">
            <a:avLst/>
          </a:prstGeom>
          <a:solidFill>
            <a:srgbClr val="FF433D"/>
          </a:solidFill>
          <a:ln w="12700">
            <a:solidFill>
              <a:srgbClr val="FF433D"/>
            </a:solidFill>
            <a:prstDash val="solid"/>
          </a:ln>
        </p:spPr>
      </p:sp>
      <p:sp>
        <p:nvSpPr>
          <p:cNvPr id="28" name="Text 26"/>
          <p:cNvSpPr txBox="1"/>
          <p:nvPr/>
        </p:nvSpPr>
        <p:spPr>
          <a:xfrm>
            <a:off x="594360" y="3840480"/>
            <a:ext cx="2286000" cy="475488"/>
          </a:xfrm>
          <a:prstGeom prst="rect">
            <a:avLst/>
          </a:prstGeom>
          <a:noFill/>
          <a:ln/>
        </p:spPr>
        <p:txBody>
          <a:bodyPr wrap="square" lIns="0" tIns="0" rIns="0" bIns="0" rtlCol="0" anchor="ctr"/>
          <a:lstStyle/>
          <a:p>
            <a:pPr indent="0" marL="0">
              <a:buNone/>
            </a:pPr>
            <a:r>
              <a:rPr lang="en-US" sz="1400" b="1" dirty="0">
                <a:solidFill>
                  <a:srgbClr val="FF433D"/>
                </a:solidFill>
                <a:latin typeface="Epilogue" pitchFamily="34" charset="0"/>
                <a:ea typeface="Epilogue" pitchFamily="34" charset="-122"/>
                <a:cs typeface="Epilogue" pitchFamily="34" charset="-120"/>
              </a:rPr>
              <a:t>CONSTRAINT_PCT</a:t>
            </a:r>
            <a:endParaRPr lang="en-US" sz="1400" dirty="0"/>
          </a:p>
        </p:txBody>
      </p:sp>
      <p:sp>
        <p:nvSpPr>
          <p:cNvPr id="29" name="Text 27"/>
          <p:cNvSpPr txBox="1"/>
          <p:nvPr/>
        </p:nvSpPr>
        <p:spPr>
          <a:xfrm>
            <a:off x="2971800" y="3840480"/>
            <a:ext cx="2560320" cy="475488"/>
          </a:xfrm>
          <a:prstGeom prst="rect">
            <a:avLst/>
          </a:prstGeom>
          <a:noFill/>
          <a:ln/>
        </p:spPr>
        <p:txBody>
          <a:bodyPr wrap="square" lIns="0" tIns="0" rIns="0" bIns="0" rtlCol="0" anchor="ctr"/>
          <a:lstStyle/>
          <a:p>
            <a:pPr indent="0" marL="0">
              <a:buNone/>
            </a:pPr>
            <a:r>
              <a:rPr lang="en-US" sz="1400" b="1" dirty="0">
                <a:solidFill>
                  <a:srgbClr val="FF433D"/>
                </a:solidFill>
                <a:latin typeface="Epilogue" pitchFamily="34" charset="0"/>
                <a:ea typeface="Epilogue" pitchFamily="34" charset="-122"/>
                <a:cs typeface="Epilogue" pitchFamily="34" charset="-120"/>
              </a:rPr>
              <a:t>≤ 5%</a:t>
            </a:r>
            <a:endParaRPr lang="en-US" sz="1400" dirty="0"/>
          </a:p>
        </p:txBody>
      </p:sp>
      <p:sp>
        <p:nvSpPr>
          <p:cNvPr id="30" name="Text 28"/>
          <p:cNvSpPr txBox="1"/>
          <p:nvPr/>
        </p:nvSpPr>
        <p:spPr>
          <a:xfrm>
            <a:off x="594360" y="4407408"/>
            <a:ext cx="5120640" cy="50292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Las restricciones duras (MSO/MFO) no deben superar el 5% de las actividades.</a:t>
            </a:r>
            <a:endParaRPr lang="en-US" sz="1000" dirty="0"/>
          </a:p>
        </p:txBody>
      </p:sp>
      <p:sp>
        <p:nvSpPr>
          <p:cNvPr id="31" name="Shape 29"/>
          <p:cNvSpPr/>
          <p:nvPr/>
        </p:nvSpPr>
        <p:spPr>
          <a:xfrm>
            <a:off x="6263640" y="3749040"/>
            <a:ext cx="5486400" cy="1261872"/>
          </a:xfrm>
          <a:prstGeom prst="roundRect">
            <a:avLst>
              <a:gd name="adj" fmla="val 5797"/>
            </a:avLst>
          </a:prstGeom>
          <a:solidFill>
            <a:srgbClr val="0D0D0D"/>
          </a:solidFill>
          <a:ln w="12700">
            <a:solidFill>
              <a:srgbClr val="FF433D"/>
            </a:solidFill>
            <a:prstDash val="solid"/>
          </a:ln>
        </p:spPr>
      </p:sp>
      <p:sp>
        <p:nvSpPr>
          <p:cNvPr id="32" name="Shape 30"/>
          <p:cNvSpPr/>
          <p:nvPr/>
        </p:nvSpPr>
        <p:spPr>
          <a:xfrm>
            <a:off x="6263640" y="3749040"/>
            <a:ext cx="64008" cy="1261872"/>
          </a:xfrm>
          <a:prstGeom prst="rect">
            <a:avLst/>
          </a:prstGeom>
          <a:solidFill>
            <a:srgbClr val="FF433D"/>
          </a:solidFill>
          <a:ln w="12700">
            <a:solidFill>
              <a:srgbClr val="FF433D"/>
            </a:solidFill>
            <a:prstDash val="solid"/>
          </a:ln>
        </p:spPr>
      </p:sp>
      <p:sp>
        <p:nvSpPr>
          <p:cNvPr id="33" name="Text 31"/>
          <p:cNvSpPr txBox="1"/>
          <p:nvPr/>
        </p:nvSpPr>
        <p:spPr>
          <a:xfrm>
            <a:off x="6446520" y="3840480"/>
            <a:ext cx="2286000" cy="475488"/>
          </a:xfrm>
          <a:prstGeom prst="rect">
            <a:avLst/>
          </a:prstGeom>
          <a:noFill/>
          <a:ln/>
        </p:spPr>
        <p:txBody>
          <a:bodyPr wrap="square" lIns="0" tIns="0" rIns="0" bIns="0" rtlCol="0" anchor="ctr"/>
          <a:lstStyle/>
          <a:p>
            <a:pPr indent="0" marL="0">
              <a:buNone/>
            </a:pPr>
            <a:r>
              <a:rPr lang="en-US" sz="1400" b="1" dirty="0">
                <a:solidFill>
                  <a:srgbClr val="FF433D"/>
                </a:solidFill>
                <a:latin typeface="Epilogue" pitchFamily="34" charset="0"/>
                <a:ea typeface="Epilogue" pitchFamily="34" charset="-122"/>
                <a:cs typeface="Epilogue" pitchFamily="34" charset="-120"/>
              </a:rPr>
              <a:t>FLOAT_HIGH_PCT</a:t>
            </a:r>
            <a:endParaRPr lang="en-US" sz="1400" dirty="0"/>
          </a:p>
        </p:txBody>
      </p:sp>
      <p:sp>
        <p:nvSpPr>
          <p:cNvPr id="34" name="Text 32"/>
          <p:cNvSpPr txBox="1"/>
          <p:nvPr/>
        </p:nvSpPr>
        <p:spPr>
          <a:xfrm>
            <a:off x="8823960" y="3840480"/>
            <a:ext cx="2560320" cy="475488"/>
          </a:xfrm>
          <a:prstGeom prst="rect">
            <a:avLst/>
          </a:prstGeom>
          <a:noFill/>
          <a:ln/>
        </p:spPr>
        <p:txBody>
          <a:bodyPr wrap="square" lIns="0" tIns="0" rIns="0" bIns="0" rtlCol="0" anchor="ctr"/>
          <a:lstStyle/>
          <a:p>
            <a:pPr indent="0" marL="0">
              <a:buNone/>
            </a:pPr>
            <a:r>
              <a:rPr lang="en-US" sz="1400" b="1" dirty="0">
                <a:solidFill>
                  <a:srgbClr val="FF433D"/>
                </a:solidFill>
                <a:latin typeface="Epilogue" pitchFamily="34" charset="0"/>
                <a:ea typeface="Epilogue" pitchFamily="34" charset="-122"/>
                <a:cs typeface="Epilogue" pitchFamily="34" charset="-120"/>
              </a:rPr>
              <a:t>≤ 5%</a:t>
            </a:r>
            <a:endParaRPr lang="en-US" sz="1400" dirty="0"/>
          </a:p>
        </p:txBody>
      </p:sp>
      <p:sp>
        <p:nvSpPr>
          <p:cNvPr id="35" name="Text 33"/>
          <p:cNvSpPr txBox="1"/>
          <p:nvPr/>
        </p:nvSpPr>
        <p:spPr>
          <a:xfrm>
            <a:off x="6446520" y="4407408"/>
            <a:ext cx="5120640" cy="502920"/>
          </a:xfrm>
          <a:prstGeom prst="rect">
            <a:avLst/>
          </a:prstGeom>
          <a:noFill/>
          <a:ln/>
        </p:spPr>
        <p:txBody>
          <a:bodyPr wrap="square" lIns="0" tIns="0" rIns="0" bIns="0" rtlCol="0" anchor="ctr"/>
          <a:lstStyle/>
          <a:p>
            <a:pPr indent="0" marL="0">
              <a:buNone/>
            </a:pPr>
            <a:r>
              <a:rPr lang="en-US" sz="1000" dirty="0">
                <a:solidFill>
                  <a:srgbClr val="A0A0A0"/>
                </a:solidFill>
                <a:latin typeface="Epilogue" pitchFamily="34" charset="0"/>
                <a:ea typeface="Epilogue" pitchFamily="34" charset="-122"/>
                <a:cs typeface="Epilogue" pitchFamily="34" charset="-120"/>
              </a:rPr>
              <a:t>No más del 5% de actividades deben tener float alto (&gt; 44 días).</a:t>
            </a:r>
            <a:endParaRPr lang="en-US" sz="1000" dirty="0"/>
          </a:p>
        </p:txBody>
      </p:sp>
      <p:sp>
        <p:nvSpPr>
          <p:cNvPr id="36" name="Shape 34"/>
          <p:cNvSpPr/>
          <p:nvPr/>
        </p:nvSpPr>
        <p:spPr>
          <a:xfrm>
            <a:off x="411480" y="5166360"/>
            <a:ext cx="11338560" cy="1261872"/>
          </a:xfrm>
          <a:prstGeom prst="roundRect">
            <a:avLst>
              <a:gd name="adj" fmla="val 5797"/>
            </a:avLst>
          </a:prstGeom>
          <a:solidFill>
            <a:srgbClr val="1A1A1A"/>
          </a:solidFill>
          <a:ln w="12700">
            <a:solidFill>
              <a:srgbClr val="198038"/>
            </a:solidFill>
            <a:prstDash val="solid"/>
          </a:ln>
        </p:spPr>
      </p:sp>
      <p:sp>
        <p:nvSpPr>
          <p:cNvPr id="37" name="Shape 35"/>
          <p:cNvSpPr/>
          <p:nvPr/>
        </p:nvSpPr>
        <p:spPr>
          <a:xfrm>
            <a:off x="411480" y="5166360"/>
            <a:ext cx="64008" cy="1261872"/>
          </a:xfrm>
          <a:prstGeom prst="rect">
            <a:avLst/>
          </a:prstGeom>
          <a:solidFill>
            <a:srgbClr val="198038"/>
          </a:solidFill>
          <a:ln w="12700">
            <a:solidFill>
              <a:srgbClr val="198038"/>
            </a:solidFill>
            <a:prstDash val="solid"/>
          </a:ln>
        </p:spPr>
      </p:sp>
      <p:sp>
        <p:nvSpPr>
          <p:cNvPr id="38" name="Text 36"/>
          <p:cNvSpPr txBox="1"/>
          <p:nvPr/>
        </p:nvSpPr>
        <p:spPr>
          <a:xfrm>
            <a:off x="594360" y="5276088"/>
            <a:ext cx="3200400" cy="475488"/>
          </a:xfrm>
          <a:prstGeom prst="rect">
            <a:avLst/>
          </a:prstGeom>
          <a:noFill/>
          <a:ln/>
        </p:spPr>
        <p:txBody>
          <a:bodyPr wrap="square" lIns="0" tIns="0" rIns="0" bIns="0" rtlCol="0" anchor="ctr"/>
          <a:lstStyle/>
          <a:p>
            <a:pPr indent="0" marL="0">
              <a:buNone/>
            </a:pPr>
            <a:r>
              <a:rPr lang="en-US" sz="1600" b="1" dirty="0">
                <a:solidFill>
                  <a:srgbClr val="198038"/>
                </a:solidFill>
                <a:latin typeface="Epilogue" pitchFamily="34" charset="0"/>
                <a:ea typeface="Epilogue" pitchFamily="34" charset="-122"/>
                <a:cs typeface="Epilogue" pitchFamily="34" charset="-120"/>
              </a:rPr>
              <a:t>CPLI_MIN</a:t>
            </a:r>
            <a:endParaRPr lang="en-US" sz="1600" dirty="0"/>
          </a:p>
        </p:txBody>
      </p:sp>
      <p:sp>
        <p:nvSpPr>
          <p:cNvPr id="39" name="Text 37"/>
          <p:cNvSpPr txBox="1"/>
          <p:nvPr/>
        </p:nvSpPr>
        <p:spPr>
          <a:xfrm>
            <a:off x="3840480" y="5276088"/>
            <a:ext cx="1645920" cy="475488"/>
          </a:xfrm>
          <a:prstGeom prst="rect">
            <a:avLst/>
          </a:prstGeom>
          <a:noFill/>
          <a:ln/>
        </p:spPr>
        <p:txBody>
          <a:bodyPr wrap="square" lIns="0" tIns="0" rIns="0" bIns="0" rtlCol="0" anchor="ctr"/>
          <a:lstStyle/>
          <a:p>
            <a:pPr indent="0" marL="0">
              <a:buNone/>
            </a:pPr>
            <a:r>
              <a:rPr lang="en-US" sz="1600" b="1" dirty="0">
                <a:solidFill>
                  <a:srgbClr val="198038"/>
                </a:solidFill>
                <a:latin typeface="Epilogue" pitchFamily="34" charset="0"/>
                <a:ea typeface="Epilogue" pitchFamily="34" charset="-122"/>
                <a:cs typeface="Epilogue" pitchFamily="34" charset="-120"/>
              </a:rPr>
              <a:t>0.95</a:t>
            </a:r>
            <a:endParaRPr lang="en-US" sz="1600" dirty="0"/>
          </a:p>
        </p:txBody>
      </p:sp>
      <p:sp>
        <p:nvSpPr>
          <p:cNvPr id="40" name="Text 38"/>
          <p:cNvSpPr txBox="1"/>
          <p:nvPr/>
        </p:nvSpPr>
        <p:spPr>
          <a:xfrm>
            <a:off x="594360" y="5824728"/>
            <a:ext cx="10972800" cy="50292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El Critical Path Length Index debe ser mayor o igual a 0.95 para un cronograma sano.</a:t>
            </a:r>
            <a:endParaRPr lang="en-US" sz="1100" dirty="0"/>
          </a:p>
        </p:txBody>
      </p:sp>
      <p:sp>
        <p:nvSpPr>
          <p:cNvPr id="41" name="Shape 39"/>
          <p:cNvSpPr/>
          <p:nvPr/>
        </p:nvSpPr>
        <p:spPr>
          <a:xfrm>
            <a:off x="411480" y="6446520"/>
            <a:ext cx="11338560" cy="274320"/>
          </a:xfrm>
          <a:prstGeom prst="roundRect">
            <a:avLst>
              <a:gd name="adj" fmla="val 26667"/>
            </a:avLst>
          </a:prstGeom>
          <a:solidFill>
            <a:srgbClr val="0D0D0D"/>
          </a:solidFill>
          <a:ln w="12700">
            <a:solidFill>
              <a:srgbClr val="555555"/>
            </a:solidFill>
            <a:prstDash val="solid"/>
          </a:ln>
        </p:spPr>
      </p:sp>
      <p:sp>
        <p:nvSpPr>
          <p:cNvPr id="42" name="Text 40"/>
          <p:cNvSpPr txBox="1"/>
          <p:nvPr/>
        </p:nvSpPr>
        <p:spPr>
          <a:xfrm>
            <a:off x="594360" y="6492240"/>
            <a:ext cx="10972800" cy="201168"/>
          </a:xfrm>
          <a:prstGeom prst="rect">
            <a:avLst/>
          </a:prstGeom>
          <a:noFill/>
          <a:ln/>
        </p:spPr>
        <p:txBody>
          <a:bodyPr wrap="square" lIns="0" tIns="0" rIns="0" bIns="0" rtlCol="0" anchor="ctr"/>
          <a:lstStyle/>
          <a:p>
            <a:pPr indent="0" marL="0">
              <a:buNone/>
            </a:pPr>
            <a:r>
              <a:rPr lang="en-US" sz="1100" dirty="0">
                <a:solidFill>
                  <a:srgbClr val="4AF6C3"/>
                </a:solidFill>
                <a:latin typeface="Epilogue" pitchFamily="34" charset="0"/>
                <a:ea typeface="Epilogue" pitchFamily="34" charset="-122"/>
                <a:cs typeface="Epilogue" pitchFamily="34" charset="-120"/>
              </a:rPr>
              <a:t>🟢 Verde = Pasa el umbral   🟡 Naranja = Advertencia   🔴 Rojo = Falla el umbral   ⚫ Gris = No aplica (N/A)</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12</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Caso Práctico</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Remodelación de Oficina — paso a paso</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CASO PRÁCTICO: REMODELACIÓN DE OFICINA</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280160"/>
          </a:xfrm>
          <a:prstGeom prst="roundRect">
            <a:avLst>
              <a:gd name="adj" fmla="val 5714"/>
            </a:avLst>
          </a:prstGeom>
          <a:solidFill>
            <a:srgbClr val="1A1A1A"/>
          </a:solidFill>
          <a:ln w="12700">
            <a:solidFill>
              <a:srgbClr val="FFA028"/>
            </a:solidFill>
            <a:prstDash val="solid"/>
          </a:ln>
        </p:spPr>
      </p:sp>
      <p:sp>
        <p:nvSpPr>
          <p:cNvPr id="7" name="Shape 5"/>
          <p:cNvSpPr/>
          <p:nvPr/>
        </p:nvSpPr>
        <p:spPr>
          <a:xfrm>
            <a:off x="411480" y="914400"/>
            <a:ext cx="11338560" cy="64008"/>
          </a:xfrm>
          <a:prstGeom prst="rect">
            <a:avLst/>
          </a:prstGeom>
          <a:solidFill>
            <a:srgbClr val="FFA028"/>
          </a:solidFill>
          <a:ln w="12700">
            <a:solidFill>
              <a:srgbClr val="FFA028"/>
            </a:solidFill>
            <a:prstDash val="solid"/>
          </a:ln>
        </p:spPr>
      </p:sp>
      <p:sp>
        <p:nvSpPr>
          <p:cNvPr id="8" name="Text 6"/>
          <p:cNvSpPr txBox="1"/>
          <p:nvPr/>
        </p:nvSpPr>
        <p:spPr>
          <a:xfrm>
            <a:off x="594360" y="1051560"/>
            <a:ext cx="10972800" cy="1005840"/>
          </a:xfrm>
          <a:prstGeom prst="rect">
            <a:avLst/>
          </a:prstGeom>
          <a:noFill/>
          <a:ln/>
        </p:spPr>
        <p:txBody>
          <a:bodyPr wrap="square" lIns="0" tIns="0" rIns="0" bIns="0" rtlCol="0" anchor="ctr"/>
          <a:lstStyle/>
          <a:p>
            <a:pPr indent="0" marL="0">
              <a:buNone/>
            </a:pPr>
            <a:r>
              <a:rPr lang="en-US" sz="1300" dirty="0">
                <a:solidFill>
                  <a:srgbClr val="FFFFFF"/>
                </a:solidFill>
                <a:latin typeface="Epilogue" pitchFamily="34" charset="0"/>
                <a:ea typeface="Epilogue" pitchFamily="34" charset="-122"/>
                <a:cs typeface="Epilogue" pitchFamily="34" charset="-120"/>
              </a:rPr>
              <a:t>En este ejercicio construiremos un cronograma completo de remodelación de oficina usando todas las funcionalidades de ECM Project. Seguiremos 8 pasos desde la creación del proyecto hasta la verificación DCMA y EVM.</a:t>
            </a:r>
            <a:endParaRPr lang="en-US" sz="1300" dirty="0"/>
          </a:p>
        </p:txBody>
      </p:sp>
      <p:sp>
        <p:nvSpPr>
          <p:cNvPr id="9" name="Text 7"/>
          <p:cNvSpPr txBox="1"/>
          <p:nvPr/>
        </p:nvSpPr>
        <p:spPr>
          <a:xfrm>
            <a:off x="411480" y="2377440"/>
            <a:ext cx="1133856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TABLA DE ACTIVIDADES</a:t>
            </a:r>
            <a:endParaRPr lang="en-US" sz="1400" dirty="0"/>
          </a:p>
        </p:txBody>
      </p:sp>
      <p:sp>
        <p:nvSpPr>
          <p:cNvPr id="10" name="Text 8"/>
          <p:cNvSpPr txBox="1"/>
          <p:nvPr/>
        </p:nvSpPr>
        <p:spPr>
          <a:xfrm>
            <a:off x="466344" y="2880360"/>
            <a:ext cx="822960" cy="237744"/>
          </a:xfrm>
          <a:prstGeom prst="rect">
            <a:avLst/>
          </a:prstGeom>
          <a:noFill/>
          <a:ln/>
        </p:spPr>
        <p:txBody>
          <a:bodyPr wrap="square" lIns="0" tIns="0" rIns="0" bIns="0" rtlCol="0" anchor="ctr"/>
          <a:lstStyle/>
          <a:p>
            <a:pPr indent="0" marL="0">
              <a:buNone/>
            </a:pPr>
            <a:r>
              <a:rPr lang="en-US" sz="1100" b="1" dirty="0">
                <a:solidFill>
                  <a:srgbClr val="000000"/>
                </a:solidFill>
                <a:latin typeface="Epilogue" pitchFamily="34" charset="0"/>
                <a:ea typeface="Epilogue" pitchFamily="34" charset="-122"/>
                <a:cs typeface="Epilogue" pitchFamily="34" charset="-120"/>
              </a:rPr>
              <a:t>ID</a:t>
            </a:r>
            <a:endParaRPr lang="en-US" sz="1100" dirty="0"/>
          </a:p>
        </p:txBody>
      </p:sp>
      <p:sp>
        <p:nvSpPr>
          <p:cNvPr id="11" name="Text 9"/>
          <p:cNvSpPr txBox="1"/>
          <p:nvPr/>
        </p:nvSpPr>
        <p:spPr>
          <a:xfrm>
            <a:off x="1426464" y="2880360"/>
            <a:ext cx="4023360" cy="237744"/>
          </a:xfrm>
          <a:prstGeom prst="rect">
            <a:avLst/>
          </a:prstGeom>
          <a:noFill/>
          <a:ln/>
        </p:spPr>
        <p:txBody>
          <a:bodyPr wrap="square" lIns="0" tIns="0" rIns="0" bIns="0" rtlCol="0" anchor="ctr"/>
          <a:lstStyle/>
          <a:p>
            <a:pPr indent="0" marL="0">
              <a:buNone/>
            </a:pPr>
            <a:r>
              <a:rPr lang="en-US" sz="1100" b="1" dirty="0">
                <a:solidFill>
                  <a:srgbClr val="000000"/>
                </a:solidFill>
                <a:latin typeface="Epilogue" pitchFamily="34" charset="0"/>
                <a:ea typeface="Epilogue" pitchFamily="34" charset="-122"/>
                <a:cs typeface="Epilogue" pitchFamily="34" charset="-120"/>
              </a:rPr>
              <a:t>NOMBRE</a:t>
            </a:r>
            <a:endParaRPr lang="en-US" sz="1100" dirty="0"/>
          </a:p>
        </p:txBody>
      </p:sp>
      <p:sp>
        <p:nvSpPr>
          <p:cNvPr id="12" name="Text 10"/>
          <p:cNvSpPr txBox="1"/>
          <p:nvPr/>
        </p:nvSpPr>
        <p:spPr>
          <a:xfrm>
            <a:off x="5586984" y="2880360"/>
            <a:ext cx="1005840" cy="237744"/>
          </a:xfrm>
          <a:prstGeom prst="rect">
            <a:avLst/>
          </a:prstGeom>
          <a:noFill/>
          <a:ln/>
        </p:spPr>
        <p:txBody>
          <a:bodyPr wrap="square" lIns="0" tIns="0" rIns="0" bIns="0" rtlCol="0" anchor="ctr"/>
          <a:lstStyle/>
          <a:p>
            <a:pPr indent="0" marL="0">
              <a:buNone/>
            </a:pPr>
            <a:r>
              <a:rPr lang="en-US" sz="1100" b="1" dirty="0">
                <a:solidFill>
                  <a:srgbClr val="000000"/>
                </a:solidFill>
                <a:latin typeface="Epilogue" pitchFamily="34" charset="0"/>
                <a:ea typeface="Epilogue" pitchFamily="34" charset="-122"/>
                <a:cs typeface="Epilogue" pitchFamily="34" charset="-120"/>
              </a:rPr>
              <a:t>DUR</a:t>
            </a:r>
            <a:endParaRPr lang="en-US" sz="1100" dirty="0"/>
          </a:p>
        </p:txBody>
      </p:sp>
      <p:sp>
        <p:nvSpPr>
          <p:cNvPr id="13" name="Text 11"/>
          <p:cNvSpPr txBox="1"/>
          <p:nvPr/>
        </p:nvSpPr>
        <p:spPr>
          <a:xfrm>
            <a:off x="6729984" y="2880360"/>
            <a:ext cx="3108960" cy="237744"/>
          </a:xfrm>
          <a:prstGeom prst="rect">
            <a:avLst/>
          </a:prstGeom>
          <a:noFill/>
          <a:ln/>
        </p:spPr>
        <p:txBody>
          <a:bodyPr wrap="square" lIns="0" tIns="0" rIns="0" bIns="0" rtlCol="0" anchor="ctr"/>
          <a:lstStyle/>
          <a:p>
            <a:pPr indent="0" marL="0">
              <a:buNone/>
            </a:pPr>
            <a:r>
              <a:rPr lang="en-US" sz="1100" b="1" dirty="0">
                <a:solidFill>
                  <a:srgbClr val="000000"/>
                </a:solidFill>
                <a:latin typeface="Epilogue" pitchFamily="34" charset="0"/>
                <a:ea typeface="Epilogue" pitchFamily="34" charset="-122"/>
                <a:cs typeface="Epilogue" pitchFamily="34" charset="-120"/>
              </a:rPr>
              <a:t>PREDS</a:t>
            </a:r>
            <a:endParaRPr lang="en-US" sz="1100" dirty="0"/>
          </a:p>
        </p:txBody>
      </p:sp>
      <p:sp>
        <p:nvSpPr>
          <p:cNvPr id="14" name="Text 12"/>
          <p:cNvSpPr txBox="1"/>
          <p:nvPr/>
        </p:nvSpPr>
        <p:spPr>
          <a:xfrm>
            <a:off x="9976104" y="2880360"/>
            <a:ext cx="1554480" cy="237744"/>
          </a:xfrm>
          <a:prstGeom prst="rect">
            <a:avLst/>
          </a:prstGeom>
          <a:noFill/>
          <a:ln/>
        </p:spPr>
        <p:txBody>
          <a:bodyPr wrap="square" lIns="0" tIns="0" rIns="0" bIns="0" rtlCol="0" anchor="ctr"/>
          <a:lstStyle/>
          <a:p>
            <a:pPr indent="0" marL="0">
              <a:buNone/>
            </a:pPr>
            <a:r>
              <a:rPr lang="en-US" sz="1100" b="1" dirty="0">
                <a:solidFill>
                  <a:srgbClr val="000000"/>
                </a:solidFill>
                <a:latin typeface="Epilogue" pitchFamily="34" charset="0"/>
                <a:ea typeface="Epilogue" pitchFamily="34" charset="-122"/>
                <a:cs typeface="Epilogue" pitchFamily="34" charset="-120"/>
              </a:rPr>
              <a:t>TIPO</a:t>
            </a:r>
            <a:endParaRPr lang="en-US" sz="1100" dirty="0"/>
          </a:p>
        </p:txBody>
      </p:sp>
      <p:sp>
        <p:nvSpPr>
          <p:cNvPr id="15" name="Shape 13"/>
          <p:cNvSpPr/>
          <p:nvPr/>
        </p:nvSpPr>
        <p:spPr>
          <a:xfrm>
            <a:off x="411480" y="2834640"/>
            <a:ext cx="11338560" cy="310896"/>
          </a:xfrm>
          <a:prstGeom prst="rect">
            <a:avLst/>
          </a:prstGeom>
          <a:solidFill>
            <a:srgbClr val="FFA028"/>
          </a:solidFill>
          <a:ln w="12700">
            <a:solidFill>
              <a:srgbClr val="FFA028"/>
            </a:solidFill>
            <a:prstDash val="solid"/>
          </a:ln>
        </p:spPr>
      </p:sp>
      <p:sp>
        <p:nvSpPr>
          <p:cNvPr id="16" name="Shape 14"/>
          <p:cNvSpPr/>
          <p:nvPr/>
        </p:nvSpPr>
        <p:spPr>
          <a:xfrm>
            <a:off x="411480" y="3163824"/>
            <a:ext cx="914400" cy="310896"/>
          </a:xfrm>
          <a:prstGeom prst="rect">
            <a:avLst/>
          </a:prstGeom>
          <a:solidFill>
            <a:srgbClr val="1A1A1A"/>
          </a:solidFill>
          <a:ln w="12700">
            <a:solidFill>
              <a:srgbClr val="1A1A1A"/>
            </a:solidFill>
            <a:prstDash val="solid"/>
          </a:ln>
        </p:spPr>
      </p:sp>
      <p:sp>
        <p:nvSpPr>
          <p:cNvPr id="17" name="Text 15"/>
          <p:cNvSpPr txBox="1"/>
          <p:nvPr/>
        </p:nvSpPr>
        <p:spPr>
          <a:xfrm>
            <a:off x="466344" y="3209544"/>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T1</a:t>
            </a:r>
            <a:endParaRPr lang="en-US" sz="1000" dirty="0"/>
          </a:p>
        </p:txBody>
      </p:sp>
      <p:sp>
        <p:nvSpPr>
          <p:cNvPr id="18" name="Shape 16"/>
          <p:cNvSpPr/>
          <p:nvPr/>
        </p:nvSpPr>
        <p:spPr>
          <a:xfrm>
            <a:off x="1371600" y="3163824"/>
            <a:ext cx="4114800" cy="310896"/>
          </a:xfrm>
          <a:prstGeom prst="rect">
            <a:avLst/>
          </a:prstGeom>
          <a:solidFill>
            <a:srgbClr val="1A1A1A"/>
          </a:solidFill>
          <a:ln w="12700">
            <a:solidFill>
              <a:srgbClr val="1A1A1A"/>
            </a:solidFill>
            <a:prstDash val="solid"/>
          </a:ln>
        </p:spPr>
      </p:sp>
      <p:sp>
        <p:nvSpPr>
          <p:cNvPr id="19" name="Text 17"/>
          <p:cNvSpPr txBox="1"/>
          <p:nvPr/>
        </p:nvSpPr>
        <p:spPr>
          <a:xfrm>
            <a:off x="1426464" y="3209544"/>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Evaluación y planificación inicial</a:t>
            </a:r>
            <a:endParaRPr lang="en-US" sz="1000" dirty="0"/>
          </a:p>
        </p:txBody>
      </p:sp>
      <p:sp>
        <p:nvSpPr>
          <p:cNvPr id="20" name="Shape 18"/>
          <p:cNvSpPr/>
          <p:nvPr/>
        </p:nvSpPr>
        <p:spPr>
          <a:xfrm>
            <a:off x="5532120" y="3163824"/>
            <a:ext cx="1097280" cy="310896"/>
          </a:xfrm>
          <a:prstGeom prst="rect">
            <a:avLst/>
          </a:prstGeom>
          <a:solidFill>
            <a:srgbClr val="1A1A1A"/>
          </a:solidFill>
          <a:ln w="12700">
            <a:solidFill>
              <a:srgbClr val="1A1A1A"/>
            </a:solidFill>
            <a:prstDash val="solid"/>
          </a:ln>
        </p:spPr>
      </p:sp>
      <p:sp>
        <p:nvSpPr>
          <p:cNvPr id="21" name="Text 19"/>
          <p:cNvSpPr txBox="1"/>
          <p:nvPr/>
        </p:nvSpPr>
        <p:spPr>
          <a:xfrm>
            <a:off x="5586984" y="3209544"/>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3d</a:t>
            </a:r>
            <a:endParaRPr lang="en-US" sz="1000" dirty="0"/>
          </a:p>
        </p:txBody>
      </p:sp>
      <p:sp>
        <p:nvSpPr>
          <p:cNvPr id="22" name="Shape 20"/>
          <p:cNvSpPr/>
          <p:nvPr/>
        </p:nvSpPr>
        <p:spPr>
          <a:xfrm>
            <a:off x="6675120" y="3163824"/>
            <a:ext cx="3200400" cy="310896"/>
          </a:xfrm>
          <a:prstGeom prst="rect">
            <a:avLst/>
          </a:prstGeom>
          <a:solidFill>
            <a:srgbClr val="1A1A1A"/>
          </a:solidFill>
          <a:ln w="12700">
            <a:solidFill>
              <a:srgbClr val="1A1A1A"/>
            </a:solidFill>
            <a:prstDash val="solid"/>
          </a:ln>
        </p:spPr>
      </p:sp>
      <p:sp>
        <p:nvSpPr>
          <p:cNvPr id="23" name="Text 21"/>
          <p:cNvSpPr txBox="1"/>
          <p:nvPr/>
        </p:nvSpPr>
        <p:spPr>
          <a:xfrm>
            <a:off x="6729984" y="3209544"/>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a:t>
            </a:r>
            <a:endParaRPr lang="en-US" sz="1000" dirty="0"/>
          </a:p>
        </p:txBody>
      </p:sp>
      <p:sp>
        <p:nvSpPr>
          <p:cNvPr id="24" name="Shape 22"/>
          <p:cNvSpPr/>
          <p:nvPr/>
        </p:nvSpPr>
        <p:spPr>
          <a:xfrm>
            <a:off x="9921240" y="3163824"/>
            <a:ext cx="1645920" cy="310896"/>
          </a:xfrm>
          <a:prstGeom prst="rect">
            <a:avLst/>
          </a:prstGeom>
          <a:solidFill>
            <a:srgbClr val="1A1A1A"/>
          </a:solidFill>
          <a:ln w="12700">
            <a:solidFill>
              <a:srgbClr val="1A1A1A"/>
            </a:solidFill>
            <a:prstDash val="solid"/>
          </a:ln>
        </p:spPr>
      </p:sp>
      <p:sp>
        <p:nvSpPr>
          <p:cNvPr id="25" name="Text 23"/>
          <p:cNvSpPr txBox="1"/>
          <p:nvPr/>
        </p:nvSpPr>
        <p:spPr>
          <a:xfrm>
            <a:off x="9976104" y="3209544"/>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26" name="Shape 24"/>
          <p:cNvSpPr/>
          <p:nvPr/>
        </p:nvSpPr>
        <p:spPr>
          <a:xfrm>
            <a:off x="411480" y="3493008"/>
            <a:ext cx="914400" cy="310896"/>
          </a:xfrm>
          <a:prstGeom prst="rect">
            <a:avLst/>
          </a:prstGeom>
          <a:solidFill>
            <a:srgbClr val="0D0D0D"/>
          </a:solidFill>
          <a:ln w="12700">
            <a:solidFill>
              <a:srgbClr val="0D0D0D"/>
            </a:solidFill>
            <a:prstDash val="solid"/>
          </a:ln>
        </p:spPr>
      </p:sp>
      <p:sp>
        <p:nvSpPr>
          <p:cNvPr id="27" name="Text 25"/>
          <p:cNvSpPr txBox="1"/>
          <p:nvPr/>
        </p:nvSpPr>
        <p:spPr>
          <a:xfrm>
            <a:off x="466344" y="3538728"/>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T2</a:t>
            </a:r>
            <a:endParaRPr lang="en-US" sz="1000" dirty="0"/>
          </a:p>
        </p:txBody>
      </p:sp>
      <p:sp>
        <p:nvSpPr>
          <p:cNvPr id="28" name="Shape 26"/>
          <p:cNvSpPr/>
          <p:nvPr/>
        </p:nvSpPr>
        <p:spPr>
          <a:xfrm>
            <a:off x="1371600" y="3493008"/>
            <a:ext cx="4114800" cy="310896"/>
          </a:xfrm>
          <a:prstGeom prst="rect">
            <a:avLst/>
          </a:prstGeom>
          <a:solidFill>
            <a:srgbClr val="0D0D0D"/>
          </a:solidFill>
          <a:ln w="12700">
            <a:solidFill>
              <a:srgbClr val="0D0D0D"/>
            </a:solidFill>
            <a:prstDash val="solid"/>
          </a:ln>
        </p:spPr>
      </p:sp>
      <p:sp>
        <p:nvSpPr>
          <p:cNvPr id="29" name="Text 27"/>
          <p:cNvSpPr txBox="1"/>
          <p:nvPr/>
        </p:nvSpPr>
        <p:spPr>
          <a:xfrm>
            <a:off x="1426464" y="3538728"/>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Diseño y planos</a:t>
            </a:r>
            <a:endParaRPr lang="en-US" sz="1000" dirty="0"/>
          </a:p>
        </p:txBody>
      </p:sp>
      <p:sp>
        <p:nvSpPr>
          <p:cNvPr id="30" name="Shape 28"/>
          <p:cNvSpPr/>
          <p:nvPr/>
        </p:nvSpPr>
        <p:spPr>
          <a:xfrm>
            <a:off x="5532120" y="3493008"/>
            <a:ext cx="1097280" cy="310896"/>
          </a:xfrm>
          <a:prstGeom prst="rect">
            <a:avLst/>
          </a:prstGeom>
          <a:solidFill>
            <a:srgbClr val="0D0D0D"/>
          </a:solidFill>
          <a:ln w="12700">
            <a:solidFill>
              <a:srgbClr val="0D0D0D"/>
            </a:solidFill>
            <a:prstDash val="solid"/>
          </a:ln>
        </p:spPr>
      </p:sp>
      <p:sp>
        <p:nvSpPr>
          <p:cNvPr id="31" name="Text 29"/>
          <p:cNvSpPr txBox="1"/>
          <p:nvPr/>
        </p:nvSpPr>
        <p:spPr>
          <a:xfrm>
            <a:off x="5586984" y="3538728"/>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4d</a:t>
            </a:r>
            <a:endParaRPr lang="en-US" sz="1000" dirty="0"/>
          </a:p>
        </p:txBody>
      </p:sp>
      <p:sp>
        <p:nvSpPr>
          <p:cNvPr id="32" name="Shape 30"/>
          <p:cNvSpPr/>
          <p:nvPr/>
        </p:nvSpPr>
        <p:spPr>
          <a:xfrm>
            <a:off x="6675120" y="3493008"/>
            <a:ext cx="3200400" cy="310896"/>
          </a:xfrm>
          <a:prstGeom prst="rect">
            <a:avLst/>
          </a:prstGeom>
          <a:solidFill>
            <a:srgbClr val="0D0D0D"/>
          </a:solidFill>
          <a:ln w="12700">
            <a:solidFill>
              <a:srgbClr val="0D0D0D"/>
            </a:solidFill>
            <a:prstDash val="solid"/>
          </a:ln>
        </p:spPr>
      </p:sp>
      <p:sp>
        <p:nvSpPr>
          <p:cNvPr id="33" name="Text 31"/>
          <p:cNvSpPr txBox="1"/>
          <p:nvPr/>
        </p:nvSpPr>
        <p:spPr>
          <a:xfrm>
            <a:off x="6729984" y="3538728"/>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T1 FS</a:t>
            </a:r>
            <a:endParaRPr lang="en-US" sz="1000" dirty="0"/>
          </a:p>
        </p:txBody>
      </p:sp>
      <p:sp>
        <p:nvSpPr>
          <p:cNvPr id="34" name="Shape 32"/>
          <p:cNvSpPr/>
          <p:nvPr/>
        </p:nvSpPr>
        <p:spPr>
          <a:xfrm>
            <a:off x="9921240" y="3493008"/>
            <a:ext cx="1645920" cy="310896"/>
          </a:xfrm>
          <a:prstGeom prst="rect">
            <a:avLst/>
          </a:prstGeom>
          <a:solidFill>
            <a:srgbClr val="0D0D0D"/>
          </a:solidFill>
          <a:ln w="12700">
            <a:solidFill>
              <a:srgbClr val="0D0D0D"/>
            </a:solidFill>
            <a:prstDash val="solid"/>
          </a:ln>
        </p:spPr>
      </p:sp>
      <p:sp>
        <p:nvSpPr>
          <p:cNvPr id="35" name="Text 33"/>
          <p:cNvSpPr txBox="1"/>
          <p:nvPr/>
        </p:nvSpPr>
        <p:spPr>
          <a:xfrm>
            <a:off x="9976104" y="3538728"/>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36" name="Shape 34"/>
          <p:cNvSpPr/>
          <p:nvPr/>
        </p:nvSpPr>
        <p:spPr>
          <a:xfrm>
            <a:off x="411480" y="3822192"/>
            <a:ext cx="914400" cy="310896"/>
          </a:xfrm>
          <a:prstGeom prst="rect">
            <a:avLst/>
          </a:prstGeom>
          <a:solidFill>
            <a:srgbClr val="1A1A1A"/>
          </a:solidFill>
          <a:ln w="12700">
            <a:solidFill>
              <a:srgbClr val="1A1A1A"/>
            </a:solidFill>
            <a:prstDash val="solid"/>
          </a:ln>
        </p:spPr>
      </p:sp>
      <p:sp>
        <p:nvSpPr>
          <p:cNvPr id="37" name="Text 35"/>
          <p:cNvSpPr txBox="1"/>
          <p:nvPr/>
        </p:nvSpPr>
        <p:spPr>
          <a:xfrm>
            <a:off x="466344" y="3867912"/>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T3</a:t>
            </a:r>
            <a:endParaRPr lang="en-US" sz="1000" dirty="0"/>
          </a:p>
        </p:txBody>
      </p:sp>
      <p:sp>
        <p:nvSpPr>
          <p:cNvPr id="38" name="Shape 36"/>
          <p:cNvSpPr/>
          <p:nvPr/>
        </p:nvSpPr>
        <p:spPr>
          <a:xfrm>
            <a:off x="1371600" y="3822192"/>
            <a:ext cx="4114800" cy="310896"/>
          </a:xfrm>
          <a:prstGeom prst="rect">
            <a:avLst/>
          </a:prstGeom>
          <a:solidFill>
            <a:srgbClr val="1A1A1A"/>
          </a:solidFill>
          <a:ln w="12700">
            <a:solidFill>
              <a:srgbClr val="1A1A1A"/>
            </a:solidFill>
            <a:prstDash val="solid"/>
          </a:ln>
        </p:spPr>
      </p:sp>
      <p:sp>
        <p:nvSpPr>
          <p:cNvPr id="39" name="Text 37"/>
          <p:cNvSpPr txBox="1"/>
          <p:nvPr/>
        </p:nvSpPr>
        <p:spPr>
          <a:xfrm>
            <a:off x="1426464" y="3867912"/>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Compra de materiales</a:t>
            </a:r>
            <a:endParaRPr lang="en-US" sz="1000" dirty="0"/>
          </a:p>
        </p:txBody>
      </p:sp>
      <p:sp>
        <p:nvSpPr>
          <p:cNvPr id="40" name="Shape 38"/>
          <p:cNvSpPr/>
          <p:nvPr/>
        </p:nvSpPr>
        <p:spPr>
          <a:xfrm>
            <a:off x="5532120" y="3822192"/>
            <a:ext cx="1097280" cy="310896"/>
          </a:xfrm>
          <a:prstGeom prst="rect">
            <a:avLst/>
          </a:prstGeom>
          <a:solidFill>
            <a:srgbClr val="1A1A1A"/>
          </a:solidFill>
          <a:ln w="12700">
            <a:solidFill>
              <a:srgbClr val="1A1A1A"/>
            </a:solidFill>
            <a:prstDash val="solid"/>
          </a:ln>
        </p:spPr>
      </p:sp>
      <p:sp>
        <p:nvSpPr>
          <p:cNvPr id="41" name="Text 39"/>
          <p:cNvSpPr txBox="1"/>
          <p:nvPr/>
        </p:nvSpPr>
        <p:spPr>
          <a:xfrm>
            <a:off x="5586984" y="3867912"/>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3d</a:t>
            </a:r>
            <a:endParaRPr lang="en-US" sz="1000" dirty="0"/>
          </a:p>
        </p:txBody>
      </p:sp>
      <p:sp>
        <p:nvSpPr>
          <p:cNvPr id="42" name="Shape 40"/>
          <p:cNvSpPr/>
          <p:nvPr/>
        </p:nvSpPr>
        <p:spPr>
          <a:xfrm>
            <a:off x="6675120" y="3822192"/>
            <a:ext cx="3200400" cy="310896"/>
          </a:xfrm>
          <a:prstGeom prst="rect">
            <a:avLst/>
          </a:prstGeom>
          <a:solidFill>
            <a:srgbClr val="1A1A1A"/>
          </a:solidFill>
          <a:ln w="12700">
            <a:solidFill>
              <a:srgbClr val="1A1A1A"/>
            </a:solidFill>
            <a:prstDash val="solid"/>
          </a:ln>
        </p:spPr>
      </p:sp>
      <p:sp>
        <p:nvSpPr>
          <p:cNvPr id="43" name="Text 41"/>
          <p:cNvSpPr txBox="1"/>
          <p:nvPr/>
        </p:nvSpPr>
        <p:spPr>
          <a:xfrm>
            <a:off x="6729984" y="3867912"/>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T2 FS</a:t>
            </a:r>
            <a:endParaRPr lang="en-US" sz="1000" dirty="0"/>
          </a:p>
        </p:txBody>
      </p:sp>
      <p:sp>
        <p:nvSpPr>
          <p:cNvPr id="44" name="Shape 42"/>
          <p:cNvSpPr/>
          <p:nvPr/>
        </p:nvSpPr>
        <p:spPr>
          <a:xfrm>
            <a:off x="9921240" y="3822192"/>
            <a:ext cx="1645920" cy="310896"/>
          </a:xfrm>
          <a:prstGeom prst="rect">
            <a:avLst/>
          </a:prstGeom>
          <a:solidFill>
            <a:srgbClr val="1A1A1A"/>
          </a:solidFill>
          <a:ln w="12700">
            <a:solidFill>
              <a:srgbClr val="1A1A1A"/>
            </a:solidFill>
            <a:prstDash val="solid"/>
          </a:ln>
        </p:spPr>
      </p:sp>
      <p:sp>
        <p:nvSpPr>
          <p:cNvPr id="45" name="Text 43"/>
          <p:cNvSpPr txBox="1"/>
          <p:nvPr/>
        </p:nvSpPr>
        <p:spPr>
          <a:xfrm>
            <a:off x="9976104" y="3867912"/>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46" name="Shape 44"/>
          <p:cNvSpPr/>
          <p:nvPr/>
        </p:nvSpPr>
        <p:spPr>
          <a:xfrm>
            <a:off x="411480" y="4151376"/>
            <a:ext cx="914400" cy="310896"/>
          </a:xfrm>
          <a:prstGeom prst="rect">
            <a:avLst/>
          </a:prstGeom>
          <a:solidFill>
            <a:srgbClr val="0D0D0D"/>
          </a:solidFill>
          <a:ln w="12700">
            <a:solidFill>
              <a:srgbClr val="0D0D0D"/>
            </a:solidFill>
            <a:prstDash val="solid"/>
          </a:ln>
        </p:spPr>
      </p:sp>
      <p:sp>
        <p:nvSpPr>
          <p:cNvPr id="47" name="Text 45"/>
          <p:cNvSpPr txBox="1"/>
          <p:nvPr/>
        </p:nvSpPr>
        <p:spPr>
          <a:xfrm>
            <a:off x="466344" y="4197096"/>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T4</a:t>
            </a:r>
            <a:endParaRPr lang="en-US" sz="1000" dirty="0"/>
          </a:p>
        </p:txBody>
      </p:sp>
      <p:sp>
        <p:nvSpPr>
          <p:cNvPr id="48" name="Shape 46"/>
          <p:cNvSpPr/>
          <p:nvPr/>
        </p:nvSpPr>
        <p:spPr>
          <a:xfrm>
            <a:off x="1371600" y="4151376"/>
            <a:ext cx="4114800" cy="310896"/>
          </a:xfrm>
          <a:prstGeom prst="rect">
            <a:avLst/>
          </a:prstGeom>
          <a:solidFill>
            <a:srgbClr val="0D0D0D"/>
          </a:solidFill>
          <a:ln w="12700">
            <a:solidFill>
              <a:srgbClr val="0D0D0D"/>
            </a:solidFill>
            <a:prstDash val="solid"/>
          </a:ln>
        </p:spPr>
      </p:sp>
      <p:sp>
        <p:nvSpPr>
          <p:cNvPr id="49" name="Text 47"/>
          <p:cNvSpPr txBox="1"/>
          <p:nvPr/>
        </p:nvSpPr>
        <p:spPr>
          <a:xfrm>
            <a:off x="1426464" y="4197096"/>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Demolición y preparación</a:t>
            </a:r>
            <a:endParaRPr lang="en-US" sz="1000" dirty="0"/>
          </a:p>
        </p:txBody>
      </p:sp>
      <p:sp>
        <p:nvSpPr>
          <p:cNvPr id="50" name="Shape 48"/>
          <p:cNvSpPr/>
          <p:nvPr/>
        </p:nvSpPr>
        <p:spPr>
          <a:xfrm>
            <a:off x="5532120" y="4151376"/>
            <a:ext cx="1097280" cy="310896"/>
          </a:xfrm>
          <a:prstGeom prst="rect">
            <a:avLst/>
          </a:prstGeom>
          <a:solidFill>
            <a:srgbClr val="0D0D0D"/>
          </a:solidFill>
          <a:ln w="12700">
            <a:solidFill>
              <a:srgbClr val="0D0D0D"/>
            </a:solidFill>
            <a:prstDash val="solid"/>
          </a:ln>
        </p:spPr>
      </p:sp>
      <p:sp>
        <p:nvSpPr>
          <p:cNvPr id="51" name="Text 49"/>
          <p:cNvSpPr txBox="1"/>
          <p:nvPr/>
        </p:nvSpPr>
        <p:spPr>
          <a:xfrm>
            <a:off x="5586984" y="4197096"/>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5d</a:t>
            </a:r>
            <a:endParaRPr lang="en-US" sz="1000" dirty="0"/>
          </a:p>
        </p:txBody>
      </p:sp>
      <p:sp>
        <p:nvSpPr>
          <p:cNvPr id="52" name="Shape 50"/>
          <p:cNvSpPr/>
          <p:nvPr/>
        </p:nvSpPr>
        <p:spPr>
          <a:xfrm>
            <a:off x="6675120" y="4151376"/>
            <a:ext cx="3200400" cy="310896"/>
          </a:xfrm>
          <a:prstGeom prst="rect">
            <a:avLst/>
          </a:prstGeom>
          <a:solidFill>
            <a:srgbClr val="0D0D0D"/>
          </a:solidFill>
          <a:ln w="12700">
            <a:solidFill>
              <a:srgbClr val="0D0D0D"/>
            </a:solidFill>
            <a:prstDash val="solid"/>
          </a:ln>
        </p:spPr>
      </p:sp>
      <p:sp>
        <p:nvSpPr>
          <p:cNvPr id="53" name="Text 51"/>
          <p:cNvSpPr txBox="1"/>
          <p:nvPr/>
        </p:nvSpPr>
        <p:spPr>
          <a:xfrm>
            <a:off x="6729984" y="4197096"/>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T2 FS</a:t>
            </a:r>
            <a:endParaRPr lang="en-US" sz="1000" dirty="0"/>
          </a:p>
        </p:txBody>
      </p:sp>
      <p:sp>
        <p:nvSpPr>
          <p:cNvPr id="54" name="Shape 52"/>
          <p:cNvSpPr/>
          <p:nvPr/>
        </p:nvSpPr>
        <p:spPr>
          <a:xfrm>
            <a:off x="9921240" y="4151376"/>
            <a:ext cx="1645920" cy="310896"/>
          </a:xfrm>
          <a:prstGeom prst="rect">
            <a:avLst/>
          </a:prstGeom>
          <a:solidFill>
            <a:srgbClr val="0D0D0D"/>
          </a:solidFill>
          <a:ln w="12700">
            <a:solidFill>
              <a:srgbClr val="0D0D0D"/>
            </a:solidFill>
            <a:prstDash val="solid"/>
          </a:ln>
        </p:spPr>
      </p:sp>
      <p:sp>
        <p:nvSpPr>
          <p:cNvPr id="55" name="Text 53"/>
          <p:cNvSpPr txBox="1"/>
          <p:nvPr/>
        </p:nvSpPr>
        <p:spPr>
          <a:xfrm>
            <a:off x="9976104" y="4197096"/>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56" name="Shape 54"/>
          <p:cNvSpPr/>
          <p:nvPr/>
        </p:nvSpPr>
        <p:spPr>
          <a:xfrm>
            <a:off x="411480" y="4480560"/>
            <a:ext cx="914400" cy="310896"/>
          </a:xfrm>
          <a:prstGeom prst="rect">
            <a:avLst/>
          </a:prstGeom>
          <a:solidFill>
            <a:srgbClr val="1A1A1A"/>
          </a:solidFill>
          <a:ln w="12700">
            <a:solidFill>
              <a:srgbClr val="1A1A1A"/>
            </a:solidFill>
            <a:prstDash val="solid"/>
          </a:ln>
        </p:spPr>
      </p:sp>
      <p:sp>
        <p:nvSpPr>
          <p:cNvPr id="57" name="Text 55"/>
          <p:cNvSpPr txBox="1"/>
          <p:nvPr/>
        </p:nvSpPr>
        <p:spPr>
          <a:xfrm>
            <a:off x="466344" y="4526280"/>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T5</a:t>
            </a:r>
            <a:endParaRPr lang="en-US" sz="1000" dirty="0"/>
          </a:p>
        </p:txBody>
      </p:sp>
      <p:sp>
        <p:nvSpPr>
          <p:cNvPr id="58" name="Shape 56"/>
          <p:cNvSpPr/>
          <p:nvPr/>
        </p:nvSpPr>
        <p:spPr>
          <a:xfrm>
            <a:off x="1371600" y="4480560"/>
            <a:ext cx="4114800" cy="310896"/>
          </a:xfrm>
          <a:prstGeom prst="rect">
            <a:avLst/>
          </a:prstGeom>
          <a:solidFill>
            <a:srgbClr val="1A1A1A"/>
          </a:solidFill>
          <a:ln w="12700">
            <a:solidFill>
              <a:srgbClr val="1A1A1A"/>
            </a:solidFill>
            <a:prstDash val="solid"/>
          </a:ln>
        </p:spPr>
      </p:sp>
      <p:sp>
        <p:nvSpPr>
          <p:cNvPr id="59" name="Text 57"/>
          <p:cNvSpPr txBox="1"/>
          <p:nvPr/>
        </p:nvSpPr>
        <p:spPr>
          <a:xfrm>
            <a:off x="1426464" y="4526280"/>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Instalación eléctrica</a:t>
            </a:r>
            <a:endParaRPr lang="en-US" sz="1000" dirty="0"/>
          </a:p>
        </p:txBody>
      </p:sp>
      <p:sp>
        <p:nvSpPr>
          <p:cNvPr id="60" name="Shape 58"/>
          <p:cNvSpPr/>
          <p:nvPr/>
        </p:nvSpPr>
        <p:spPr>
          <a:xfrm>
            <a:off x="5532120" y="4480560"/>
            <a:ext cx="1097280" cy="310896"/>
          </a:xfrm>
          <a:prstGeom prst="rect">
            <a:avLst/>
          </a:prstGeom>
          <a:solidFill>
            <a:srgbClr val="1A1A1A"/>
          </a:solidFill>
          <a:ln w="12700">
            <a:solidFill>
              <a:srgbClr val="1A1A1A"/>
            </a:solidFill>
            <a:prstDash val="solid"/>
          </a:ln>
        </p:spPr>
      </p:sp>
      <p:sp>
        <p:nvSpPr>
          <p:cNvPr id="61" name="Text 59"/>
          <p:cNvSpPr txBox="1"/>
          <p:nvPr/>
        </p:nvSpPr>
        <p:spPr>
          <a:xfrm>
            <a:off x="5586984" y="4526280"/>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4d</a:t>
            </a:r>
            <a:endParaRPr lang="en-US" sz="1000" dirty="0"/>
          </a:p>
        </p:txBody>
      </p:sp>
      <p:sp>
        <p:nvSpPr>
          <p:cNvPr id="62" name="Shape 60"/>
          <p:cNvSpPr/>
          <p:nvPr/>
        </p:nvSpPr>
        <p:spPr>
          <a:xfrm>
            <a:off x="6675120" y="4480560"/>
            <a:ext cx="3200400" cy="310896"/>
          </a:xfrm>
          <a:prstGeom prst="rect">
            <a:avLst/>
          </a:prstGeom>
          <a:solidFill>
            <a:srgbClr val="1A1A1A"/>
          </a:solidFill>
          <a:ln w="12700">
            <a:solidFill>
              <a:srgbClr val="1A1A1A"/>
            </a:solidFill>
            <a:prstDash val="solid"/>
          </a:ln>
        </p:spPr>
      </p:sp>
      <p:sp>
        <p:nvSpPr>
          <p:cNvPr id="63" name="Text 61"/>
          <p:cNvSpPr txBox="1"/>
          <p:nvPr/>
        </p:nvSpPr>
        <p:spPr>
          <a:xfrm>
            <a:off x="6729984" y="4526280"/>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T3 FS, T4 FS</a:t>
            </a:r>
            <a:endParaRPr lang="en-US" sz="1000" dirty="0"/>
          </a:p>
        </p:txBody>
      </p:sp>
      <p:sp>
        <p:nvSpPr>
          <p:cNvPr id="64" name="Shape 62"/>
          <p:cNvSpPr/>
          <p:nvPr/>
        </p:nvSpPr>
        <p:spPr>
          <a:xfrm>
            <a:off x="9921240" y="4480560"/>
            <a:ext cx="1645920" cy="310896"/>
          </a:xfrm>
          <a:prstGeom prst="rect">
            <a:avLst/>
          </a:prstGeom>
          <a:solidFill>
            <a:srgbClr val="1A1A1A"/>
          </a:solidFill>
          <a:ln w="12700">
            <a:solidFill>
              <a:srgbClr val="1A1A1A"/>
            </a:solidFill>
            <a:prstDash val="solid"/>
          </a:ln>
        </p:spPr>
      </p:sp>
      <p:sp>
        <p:nvSpPr>
          <p:cNvPr id="65" name="Text 63"/>
          <p:cNvSpPr txBox="1"/>
          <p:nvPr/>
        </p:nvSpPr>
        <p:spPr>
          <a:xfrm>
            <a:off x="9976104" y="4526280"/>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66" name="Shape 64"/>
          <p:cNvSpPr/>
          <p:nvPr/>
        </p:nvSpPr>
        <p:spPr>
          <a:xfrm>
            <a:off x="411480" y="4809744"/>
            <a:ext cx="914400" cy="310896"/>
          </a:xfrm>
          <a:prstGeom prst="rect">
            <a:avLst/>
          </a:prstGeom>
          <a:solidFill>
            <a:srgbClr val="0D0D0D"/>
          </a:solidFill>
          <a:ln w="12700">
            <a:solidFill>
              <a:srgbClr val="0D0D0D"/>
            </a:solidFill>
            <a:prstDash val="solid"/>
          </a:ln>
        </p:spPr>
      </p:sp>
      <p:sp>
        <p:nvSpPr>
          <p:cNvPr id="67" name="Text 65"/>
          <p:cNvSpPr txBox="1"/>
          <p:nvPr/>
        </p:nvSpPr>
        <p:spPr>
          <a:xfrm>
            <a:off x="466344" y="4855464"/>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T6</a:t>
            </a:r>
            <a:endParaRPr lang="en-US" sz="1000" dirty="0"/>
          </a:p>
        </p:txBody>
      </p:sp>
      <p:sp>
        <p:nvSpPr>
          <p:cNvPr id="68" name="Shape 66"/>
          <p:cNvSpPr/>
          <p:nvPr/>
        </p:nvSpPr>
        <p:spPr>
          <a:xfrm>
            <a:off x="1371600" y="4809744"/>
            <a:ext cx="4114800" cy="310896"/>
          </a:xfrm>
          <a:prstGeom prst="rect">
            <a:avLst/>
          </a:prstGeom>
          <a:solidFill>
            <a:srgbClr val="0D0D0D"/>
          </a:solidFill>
          <a:ln w="12700">
            <a:solidFill>
              <a:srgbClr val="0D0D0D"/>
            </a:solidFill>
            <a:prstDash val="solid"/>
          </a:ln>
        </p:spPr>
      </p:sp>
      <p:sp>
        <p:nvSpPr>
          <p:cNvPr id="69" name="Text 67"/>
          <p:cNvSpPr txBox="1"/>
          <p:nvPr/>
        </p:nvSpPr>
        <p:spPr>
          <a:xfrm>
            <a:off x="1426464" y="4855464"/>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Instalación sanitaria</a:t>
            </a:r>
            <a:endParaRPr lang="en-US" sz="1000" dirty="0"/>
          </a:p>
        </p:txBody>
      </p:sp>
      <p:sp>
        <p:nvSpPr>
          <p:cNvPr id="70" name="Shape 68"/>
          <p:cNvSpPr/>
          <p:nvPr/>
        </p:nvSpPr>
        <p:spPr>
          <a:xfrm>
            <a:off x="5532120" y="4809744"/>
            <a:ext cx="1097280" cy="310896"/>
          </a:xfrm>
          <a:prstGeom prst="rect">
            <a:avLst/>
          </a:prstGeom>
          <a:solidFill>
            <a:srgbClr val="0D0D0D"/>
          </a:solidFill>
          <a:ln w="12700">
            <a:solidFill>
              <a:srgbClr val="0D0D0D"/>
            </a:solidFill>
            <a:prstDash val="solid"/>
          </a:ln>
        </p:spPr>
      </p:sp>
      <p:sp>
        <p:nvSpPr>
          <p:cNvPr id="71" name="Text 69"/>
          <p:cNvSpPr txBox="1"/>
          <p:nvPr/>
        </p:nvSpPr>
        <p:spPr>
          <a:xfrm>
            <a:off x="5586984" y="4855464"/>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3d</a:t>
            </a:r>
            <a:endParaRPr lang="en-US" sz="1000" dirty="0"/>
          </a:p>
        </p:txBody>
      </p:sp>
      <p:sp>
        <p:nvSpPr>
          <p:cNvPr id="72" name="Shape 70"/>
          <p:cNvSpPr/>
          <p:nvPr/>
        </p:nvSpPr>
        <p:spPr>
          <a:xfrm>
            <a:off x="6675120" y="4809744"/>
            <a:ext cx="3200400" cy="310896"/>
          </a:xfrm>
          <a:prstGeom prst="rect">
            <a:avLst/>
          </a:prstGeom>
          <a:solidFill>
            <a:srgbClr val="0D0D0D"/>
          </a:solidFill>
          <a:ln w="12700">
            <a:solidFill>
              <a:srgbClr val="0D0D0D"/>
            </a:solidFill>
            <a:prstDash val="solid"/>
          </a:ln>
        </p:spPr>
      </p:sp>
      <p:sp>
        <p:nvSpPr>
          <p:cNvPr id="73" name="Text 71"/>
          <p:cNvSpPr txBox="1"/>
          <p:nvPr/>
        </p:nvSpPr>
        <p:spPr>
          <a:xfrm>
            <a:off x="6729984" y="4855464"/>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T3 FS, T4 FS</a:t>
            </a:r>
            <a:endParaRPr lang="en-US" sz="1000" dirty="0"/>
          </a:p>
        </p:txBody>
      </p:sp>
      <p:sp>
        <p:nvSpPr>
          <p:cNvPr id="74" name="Shape 72"/>
          <p:cNvSpPr/>
          <p:nvPr/>
        </p:nvSpPr>
        <p:spPr>
          <a:xfrm>
            <a:off x="9921240" y="4809744"/>
            <a:ext cx="1645920" cy="310896"/>
          </a:xfrm>
          <a:prstGeom prst="rect">
            <a:avLst/>
          </a:prstGeom>
          <a:solidFill>
            <a:srgbClr val="0D0D0D"/>
          </a:solidFill>
          <a:ln w="12700">
            <a:solidFill>
              <a:srgbClr val="0D0D0D"/>
            </a:solidFill>
            <a:prstDash val="solid"/>
          </a:ln>
        </p:spPr>
      </p:sp>
      <p:sp>
        <p:nvSpPr>
          <p:cNvPr id="75" name="Text 73"/>
          <p:cNvSpPr txBox="1"/>
          <p:nvPr/>
        </p:nvSpPr>
        <p:spPr>
          <a:xfrm>
            <a:off x="9976104" y="4855464"/>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76" name="Shape 74"/>
          <p:cNvSpPr/>
          <p:nvPr/>
        </p:nvSpPr>
        <p:spPr>
          <a:xfrm>
            <a:off x="411480" y="5138928"/>
            <a:ext cx="914400" cy="310896"/>
          </a:xfrm>
          <a:prstGeom prst="rect">
            <a:avLst/>
          </a:prstGeom>
          <a:solidFill>
            <a:srgbClr val="1A1A1A"/>
          </a:solidFill>
          <a:ln w="12700">
            <a:solidFill>
              <a:srgbClr val="1A1A1A"/>
            </a:solidFill>
            <a:prstDash val="solid"/>
          </a:ln>
        </p:spPr>
      </p:sp>
      <p:sp>
        <p:nvSpPr>
          <p:cNvPr id="77" name="Text 75"/>
          <p:cNvSpPr txBox="1"/>
          <p:nvPr/>
        </p:nvSpPr>
        <p:spPr>
          <a:xfrm>
            <a:off x="466344" y="5184648"/>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T7</a:t>
            </a:r>
            <a:endParaRPr lang="en-US" sz="1000" dirty="0"/>
          </a:p>
        </p:txBody>
      </p:sp>
      <p:sp>
        <p:nvSpPr>
          <p:cNvPr id="78" name="Shape 76"/>
          <p:cNvSpPr/>
          <p:nvPr/>
        </p:nvSpPr>
        <p:spPr>
          <a:xfrm>
            <a:off x="1371600" y="5138928"/>
            <a:ext cx="4114800" cy="310896"/>
          </a:xfrm>
          <a:prstGeom prst="rect">
            <a:avLst/>
          </a:prstGeom>
          <a:solidFill>
            <a:srgbClr val="1A1A1A"/>
          </a:solidFill>
          <a:ln w="12700">
            <a:solidFill>
              <a:srgbClr val="1A1A1A"/>
            </a:solidFill>
            <a:prstDash val="solid"/>
          </a:ln>
        </p:spPr>
      </p:sp>
      <p:sp>
        <p:nvSpPr>
          <p:cNvPr id="79" name="Text 77"/>
          <p:cNvSpPr txBox="1"/>
          <p:nvPr/>
        </p:nvSpPr>
        <p:spPr>
          <a:xfrm>
            <a:off x="1426464" y="5184648"/>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Acabados de paredes y pisos</a:t>
            </a:r>
            <a:endParaRPr lang="en-US" sz="1000" dirty="0"/>
          </a:p>
        </p:txBody>
      </p:sp>
      <p:sp>
        <p:nvSpPr>
          <p:cNvPr id="80" name="Shape 78"/>
          <p:cNvSpPr/>
          <p:nvPr/>
        </p:nvSpPr>
        <p:spPr>
          <a:xfrm>
            <a:off x="5532120" y="5138928"/>
            <a:ext cx="1097280" cy="310896"/>
          </a:xfrm>
          <a:prstGeom prst="rect">
            <a:avLst/>
          </a:prstGeom>
          <a:solidFill>
            <a:srgbClr val="1A1A1A"/>
          </a:solidFill>
          <a:ln w="12700">
            <a:solidFill>
              <a:srgbClr val="1A1A1A"/>
            </a:solidFill>
            <a:prstDash val="solid"/>
          </a:ln>
        </p:spPr>
      </p:sp>
      <p:sp>
        <p:nvSpPr>
          <p:cNvPr id="81" name="Text 79"/>
          <p:cNvSpPr txBox="1"/>
          <p:nvPr/>
        </p:nvSpPr>
        <p:spPr>
          <a:xfrm>
            <a:off x="5586984" y="5184648"/>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6d</a:t>
            </a:r>
            <a:endParaRPr lang="en-US" sz="1000" dirty="0"/>
          </a:p>
        </p:txBody>
      </p:sp>
      <p:sp>
        <p:nvSpPr>
          <p:cNvPr id="82" name="Shape 80"/>
          <p:cNvSpPr/>
          <p:nvPr/>
        </p:nvSpPr>
        <p:spPr>
          <a:xfrm>
            <a:off x="6675120" y="5138928"/>
            <a:ext cx="3200400" cy="310896"/>
          </a:xfrm>
          <a:prstGeom prst="rect">
            <a:avLst/>
          </a:prstGeom>
          <a:solidFill>
            <a:srgbClr val="1A1A1A"/>
          </a:solidFill>
          <a:ln w="12700">
            <a:solidFill>
              <a:srgbClr val="1A1A1A"/>
            </a:solidFill>
            <a:prstDash val="solid"/>
          </a:ln>
        </p:spPr>
      </p:sp>
      <p:sp>
        <p:nvSpPr>
          <p:cNvPr id="83" name="Text 81"/>
          <p:cNvSpPr txBox="1"/>
          <p:nvPr/>
        </p:nvSpPr>
        <p:spPr>
          <a:xfrm>
            <a:off x="6729984" y="5184648"/>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T5 FS, T6 FS</a:t>
            </a:r>
            <a:endParaRPr lang="en-US" sz="1000" dirty="0"/>
          </a:p>
        </p:txBody>
      </p:sp>
      <p:sp>
        <p:nvSpPr>
          <p:cNvPr id="84" name="Shape 82"/>
          <p:cNvSpPr/>
          <p:nvPr/>
        </p:nvSpPr>
        <p:spPr>
          <a:xfrm>
            <a:off x="9921240" y="5138928"/>
            <a:ext cx="1645920" cy="310896"/>
          </a:xfrm>
          <a:prstGeom prst="rect">
            <a:avLst/>
          </a:prstGeom>
          <a:solidFill>
            <a:srgbClr val="1A1A1A"/>
          </a:solidFill>
          <a:ln w="12700">
            <a:solidFill>
              <a:srgbClr val="1A1A1A"/>
            </a:solidFill>
            <a:prstDash val="solid"/>
          </a:ln>
        </p:spPr>
      </p:sp>
      <p:sp>
        <p:nvSpPr>
          <p:cNvPr id="85" name="Text 83"/>
          <p:cNvSpPr txBox="1"/>
          <p:nvPr/>
        </p:nvSpPr>
        <p:spPr>
          <a:xfrm>
            <a:off x="9976104" y="5184648"/>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86" name="Shape 84"/>
          <p:cNvSpPr/>
          <p:nvPr/>
        </p:nvSpPr>
        <p:spPr>
          <a:xfrm>
            <a:off x="411480" y="5468112"/>
            <a:ext cx="914400" cy="310896"/>
          </a:xfrm>
          <a:prstGeom prst="rect">
            <a:avLst/>
          </a:prstGeom>
          <a:solidFill>
            <a:srgbClr val="0D0D0D"/>
          </a:solidFill>
          <a:ln w="12700">
            <a:solidFill>
              <a:srgbClr val="0D0D0D"/>
            </a:solidFill>
            <a:prstDash val="solid"/>
          </a:ln>
        </p:spPr>
      </p:sp>
      <p:sp>
        <p:nvSpPr>
          <p:cNvPr id="87" name="Text 85"/>
          <p:cNvSpPr txBox="1"/>
          <p:nvPr/>
        </p:nvSpPr>
        <p:spPr>
          <a:xfrm>
            <a:off x="466344" y="5513832"/>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T8</a:t>
            </a:r>
            <a:endParaRPr lang="en-US" sz="1000" dirty="0"/>
          </a:p>
        </p:txBody>
      </p:sp>
      <p:sp>
        <p:nvSpPr>
          <p:cNvPr id="88" name="Shape 86"/>
          <p:cNvSpPr/>
          <p:nvPr/>
        </p:nvSpPr>
        <p:spPr>
          <a:xfrm>
            <a:off x="1371600" y="5468112"/>
            <a:ext cx="4114800" cy="310896"/>
          </a:xfrm>
          <a:prstGeom prst="rect">
            <a:avLst/>
          </a:prstGeom>
          <a:solidFill>
            <a:srgbClr val="0D0D0D"/>
          </a:solidFill>
          <a:ln w="12700">
            <a:solidFill>
              <a:srgbClr val="0D0D0D"/>
            </a:solidFill>
            <a:prstDash val="solid"/>
          </a:ln>
        </p:spPr>
      </p:sp>
      <p:sp>
        <p:nvSpPr>
          <p:cNvPr id="89" name="Text 87"/>
          <p:cNvSpPr txBox="1"/>
          <p:nvPr/>
        </p:nvSpPr>
        <p:spPr>
          <a:xfrm>
            <a:off x="1426464" y="5513832"/>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Instalación de mobiliario</a:t>
            </a:r>
            <a:endParaRPr lang="en-US" sz="1000" dirty="0"/>
          </a:p>
        </p:txBody>
      </p:sp>
      <p:sp>
        <p:nvSpPr>
          <p:cNvPr id="90" name="Shape 88"/>
          <p:cNvSpPr/>
          <p:nvPr/>
        </p:nvSpPr>
        <p:spPr>
          <a:xfrm>
            <a:off x="5532120" y="5468112"/>
            <a:ext cx="1097280" cy="310896"/>
          </a:xfrm>
          <a:prstGeom prst="rect">
            <a:avLst/>
          </a:prstGeom>
          <a:solidFill>
            <a:srgbClr val="0D0D0D"/>
          </a:solidFill>
          <a:ln w="12700">
            <a:solidFill>
              <a:srgbClr val="0D0D0D"/>
            </a:solidFill>
            <a:prstDash val="solid"/>
          </a:ln>
        </p:spPr>
      </p:sp>
      <p:sp>
        <p:nvSpPr>
          <p:cNvPr id="91" name="Text 89"/>
          <p:cNvSpPr txBox="1"/>
          <p:nvPr/>
        </p:nvSpPr>
        <p:spPr>
          <a:xfrm>
            <a:off x="5586984" y="5513832"/>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3d</a:t>
            </a:r>
            <a:endParaRPr lang="en-US" sz="1000" dirty="0"/>
          </a:p>
        </p:txBody>
      </p:sp>
      <p:sp>
        <p:nvSpPr>
          <p:cNvPr id="92" name="Shape 90"/>
          <p:cNvSpPr/>
          <p:nvPr/>
        </p:nvSpPr>
        <p:spPr>
          <a:xfrm>
            <a:off x="6675120" y="5468112"/>
            <a:ext cx="3200400" cy="310896"/>
          </a:xfrm>
          <a:prstGeom prst="rect">
            <a:avLst/>
          </a:prstGeom>
          <a:solidFill>
            <a:srgbClr val="0D0D0D"/>
          </a:solidFill>
          <a:ln w="12700">
            <a:solidFill>
              <a:srgbClr val="0D0D0D"/>
            </a:solidFill>
            <a:prstDash val="solid"/>
          </a:ln>
        </p:spPr>
      </p:sp>
      <p:sp>
        <p:nvSpPr>
          <p:cNvPr id="93" name="Text 91"/>
          <p:cNvSpPr txBox="1"/>
          <p:nvPr/>
        </p:nvSpPr>
        <p:spPr>
          <a:xfrm>
            <a:off x="6729984" y="5513832"/>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T7 FS</a:t>
            </a:r>
            <a:endParaRPr lang="en-US" sz="1000" dirty="0"/>
          </a:p>
        </p:txBody>
      </p:sp>
      <p:sp>
        <p:nvSpPr>
          <p:cNvPr id="94" name="Shape 92"/>
          <p:cNvSpPr/>
          <p:nvPr/>
        </p:nvSpPr>
        <p:spPr>
          <a:xfrm>
            <a:off x="9921240" y="5468112"/>
            <a:ext cx="1645920" cy="310896"/>
          </a:xfrm>
          <a:prstGeom prst="rect">
            <a:avLst/>
          </a:prstGeom>
          <a:solidFill>
            <a:srgbClr val="0D0D0D"/>
          </a:solidFill>
          <a:ln w="12700">
            <a:solidFill>
              <a:srgbClr val="0D0D0D"/>
            </a:solidFill>
            <a:prstDash val="solid"/>
          </a:ln>
        </p:spPr>
      </p:sp>
      <p:sp>
        <p:nvSpPr>
          <p:cNvPr id="95" name="Text 93"/>
          <p:cNvSpPr txBox="1"/>
          <p:nvPr/>
        </p:nvSpPr>
        <p:spPr>
          <a:xfrm>
            <a:off x="9976104" y="5513832"/>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96" name="Shape 94"/>
          <p:cNvSpPr/>
          <p:nvPr/>
        </p:nvSpPr>
        <p:spPr>
          <a:xfrm>
            <a:off x="411480" y="5797296"/>
            <a:ext cx="914400" cy="310896"/>
          </a:xfrm>
          <a:prstGeom prst="rect">
            <a:avLst/>
          </a:prstGeom>
          <a:solidFill>
            <a:srgbClr val="1A1A1A"/>
          </a:solidFill>
          <a:ln w="12700">
            <a:solidFill>
              <a:srgbClr val="1A1A1A"/>
            </a:solidFill>
            <a:prstDash val="solid"/>
          </a:ln>
        </p:spPr>
      </p:sp>
      <p:sp>
        <p:nvSpPr>
          <p:cNvPr id="97" name="Text 95"/>
          <p:cNvSpPr txBox="1"/>
          <p:nvPr/>
        </p:nvSpPr>
        <p:spPr>
          <a:xfrm>
            <a:off x="466344" y="5843016"/>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T9</a:t>
            </a:r>
            <a:endParaRPr lang="en-US" sz="1000" dirty="0"/>
          </a:p>
        </p:txBody>
      </p:sp>
      <p:sp>
        <p:nvSpPr>
          <p:cNvPr id="98" name="Shape 96"/>
          <p:cNvSpPr/>
          <p:nvPr/>
        </p:nvSpPr>
        <p:spPr>
          <a:xfrm>
            <a:off x="1371600" y="5797296"/>
            <a:ext cx="4114800" cy="310896"/>
          </a:xfrm>
          <a:prstGeom prst="rect">
            <a:avLst/>
          </a:prstGeom>
          <a:solidFill>
            <a:srgbClr val="1A1A1A"/>
          </a:solidFill>
          <a:ln w="12700">
            <a:solidFill>
              <a:srgbClr val="1A1A1A"/>
            </a:solidFill>
            <a:prstDash val="solid"/>
          </a:ln>
        </p:spPr>
      </p:sp>
      <p:sp>
        <p:nvSpPr>
          <p:cNvPr id="99" name="Text 97"/>
          <p:cNvSpPr txBox="1"/>
          <p:nvPr/>
        </p:nvSpPr>
        <p:spPr>
          <a:xfrm>
            <a:off x="1426464" y="5843016"/>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Limpieza final</a:t>
            </a:r>
            <a:endParaRPr lang="en-US" sz="1000" dirty="0"/>
          </a:p>
        </p:txBody>
      </p:sp>
      <p:sp>
        <p:nvSpPr>
          <p:cNvPr id="100" name="Shape 98"/>
          <p:cNvSpPr/>
          <p:nvPr/>
        </p:nvSpPr>
        <p:spPr>
          <a:xfrm>
            <a:off x="5532120" y="5797296"/>
            <a:ext cx="1097280" cy="310896"/>
          </a:xfrm>
          <a:prstGeom prst="rect">
            <a:avLst/>
          </a:prstGeom>
          <a:solidFill>
            <a:srgbClr val="1A1A1A"/>
          </a:solidFill>
          <a:ln w="12700">
            <a:solidFill>
              <a:srgbClr val="1A1A1A"/>
            </a:solidFill>
            <a:prstDash val="solid"/>
          </a:ln>
        </p:spPr>
      </p:sp>
      <p:sp>
        <p:nvSpPr>
          <p:cNvPr id="101" name="Text 99"/>
          <p:cNvSpPr txBox="1"/>
          <p:nvPr/>
        </p:nvSpPr>
        <p:spPr>
          <a:xfrm>
            <a:off x="5586984" y="5843016"/>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1d</a:t>
            </a:r>
            <a:endParaRPr lang="en-US" sz="1000" dirty="0"/>
          </a:p>
        </p:txBody>
      </p:sp>
      <p:sp>
        <p:nvSpPr>
          <p:cNvPr id="102" name="Shape 100"/>
          <p:cNvSpPr/>
          <p:nvPr/>
        </p:nvSpPr>
        <p:spPr>
          <a:xfrm>
            <a:off x="6675120" y="5797296"/>
            <a:ext cx="3200400" cy="310896"/>
          </a:xfrm>
          <a:prstGeom prst="rect">
            <a:avLst/>
          </a:prstGeom>
          <a:solidFill>
            <a:srgbClr val="1A1A1A"/>
          </a:solidFill>
          <a:ln w="12700">
            <a:solidFill>
              <a:srgbClr val="1A1A1A"/>
            </a:solidFill>
            <a:prstDash val="solid"/>
          </a:ln>
        </p:spPr>
      </p:sp>
      <p:sp>
        <p:nvSpPr>
          <p:cNvPr id="103" name="Text 101"/>
          <p:cNvSpPr txBox="1"/>
          <p:nvPr/>
        </p:nvSpPr>
        <p:spPr>
          <a:xfrm>
            <a:off x="6729984" y="5843016"/>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T8 FS</a:t>
            </a:r>
            <a:endParaRPr lang="en-US" sz="1000" dirty="0"/>
          </a:p>
        </p:txBody>
      </p:sp>
      <p:sp>
        <p:nvSpPr>
          <p:cNvPr id="104" name="Shape 102"/>
          <p:cNvSpPr/>
          <p:nvPr/>
        </p:nvSpPr>
        <p:spPr>
          <a:xfrm>
            <a:off x="9921240" y="5797296"/>
            <a:ext cx="1645920" cy="310896"/>
          </a:xfrm>
          <a:prstGeom prst="rect">
            <a:avLst/>
          </a:prstGeom>
          <a:solidFill>
            <a:srgbClr val="1A1A1A"/>
          </a:solidFill>
          <a:ln w="12700">
            <a:solidFill>
              <a:srgbClr val="1A1A1A"/>
            </a:solidFill>
            <a:prstDash val="solid"/>
          </a:ln>
        </p:spPr>
      </p:sp>
      <p:sp>
        <p:nvSpPr>
          <p:cNvPr id="105" name="Text 103"/>
          <p:cNvSpPr txBox="1"/>
          <p:nvPr/>
        </p:nvSpPr>
        <p:spPr>
          <a:xfrm>
            <a:off x="9976104" y="5843016"/>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Tarea</a:t>
            </a:r>
            <a:endParaRPr lang="en-US" sz="1000" dirty="0"/>
          </a:p>
        </p:txBody>
      </p:sp>
      <p:sp>
        <p:nvSpPr>
          <p:cNvPr id="106" name="Shape 104"/>
          <p:cNvSpPr/>
          <p:nvPr/>
        </p:nvSpPr>
        <p:spPr>
          <a:xfrm>
            <a:off x="411480" y="6126480"/>
            <a:ext cx="914400" cy="310896"/>
          </a:xfrm>
          <a:prstGeom prst="rect">
            <a:avLst/>
          </a:prstGeom>
          <a:solidFill>
            <a:srgbClr val="0D0D0D"/>
          </a:solidFill>
          <a:ln w="12700">
            <a:solidFill>
              <a:srgbClr val="0D0D0D"/>
            </a:solidFill>
            <a:prstDash val="solid"/>
          </a:ln>
        </p:spPr>
      </p:sp>
      <p:sp>
        <p:nvSpPr>
          <p:cNvPr id="107" name="Text 105"/>
          <p:cNvSpPr txBox="1"/>
          <p:nvPr/>
        </p:nvSpPr>
        <p:spPr>
          <a:xfrm>
            <a:off x="466344" y="6172200"/>
            <a:ext cx="822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T10</a:t>
            </a:r>
            <a:endParaRPr lang="en-US" sz="1000" dirty="0"/>
          </a:p>
        </p:txBody>
      </p:sp>
      <p:sp>
        <p:nvSpPr>
          <p:cNvPr id="108" name="Shape 106"/>
          <p:cNvSpPr/>
          <p:nvPr/>
        </p:nvSpPr>
        <p:spPr>
          <a:xfrm>
            <a:off x="1371600" y="6126480"/>
            <a:ext cx="4114800" cy="310896"/>
          </a:xfrm>
          <a:prstGeom prst="rect">
            <a:avLst/>
          </a:prstGeom>
          <a:solidFill>
            <a:srgbClr val="0D0D0D"/>
          </a:solidFill>
          <a:ln w="12700">
            <a:solidFill>
              <a:srgbClr val="0D0D0D"/>
            </a:solidFill>
            <a:prstDash val="solid"/>
          </a:ln>
        </p:spPr>
      </p:sp>
      <p:sp>
        <p:nvSpPr>
          <p:cNvPr id="109" name="Text 107"/>
          <p:cNvSpPr txBox="1"/>
          <p:nvPr/>
        </p:nvSpPr>
        <p:spPr>
          <a:xfrm>
            <a:off x="1426464" y="6172200"/>
            <a:ext cx="40233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Inspección y entrega</a:t>
            </a:r>
            <a:endParaRPr lang="en-US" sz="1000" dirty="0"/>
          </a:p>
        </p:txBody>
      </p:sp>
      <p:sp>
        <p:nvSpPr>
          <p:cNvPr id="110" name="Shape 108"/>
          <p:cNvSpPr/>
          <p:nvPr/>
        </p:nvSpPr>
        <p:spPr>
          <a:xfrm>
            <a:off x="5532120" y="6126480"/>
            <a:ext cx="1097280" cy="310896"/>
          </a:xfrm>
          <a:prstGeom prst="rect">
            <a:avLst/>
          </a:prstGeom>
          <a:solidFill>
            <a:srgbClr val="0D0D0D"/>
          </a:solidFill>
          <a:ln w="12700">
            <a:solidFill>
              <a:srgbClr val="0D0D0D"/>
            </a:solidFill>
            <a:prstDash val="solid"/>
          </a:ln>
        </p:spPr>
      </p:sp>
      <p:sp>
        <p:nvSpPr>
          <p:cNvPr id="111" name="Text 109"/>
          <p:cNvSpPr txBox="1"/>
          <p:nvPr/>
        </p:nvSpPr>
        <p:spPr>
          <a:xfrm>
            <a:off x="5586984" y="6172200"/>
            <a:ext cx="100584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0d</a:t>
            </a:r>
            <a:endParaRPr lang="en-US" sz="1000" dirty="0"/>
          </a:p>
        </p:txBody>
      </p:sp>
      <p:sp>
        <p:nvSpPr>
          <p:cNvPr id="112" name="Shape 110"/>
          <p:cNvSpPr/>
          <p:nvPr/>
        </p:nvSpPr>
        <p:spPr>
          <a:xfrm>
            <a:off x="6675120" y="6126480"/>
            <a:ext cx="3200400" cy="310896"/>
          </a:xfrm>
          <a:prstGeom prst="rect">
            <a:avLst/>
          </a:prstGeom>
          <a:solidFill>
            <a:srgbClr val="0D0D0D"/>
          </a:solidFill>
          <a:ln w="12700">
            <a:solidFill>
              <a:srgbClr val="0D0D0D"/>
            </a:solidFill>
            <a:prstDash val="solid"/>
          </a:ln>
        </p:spPr>
      </p:sp>
      <p:sp>
        <p:nvSpPr>
          <p:cNvPr id="113" name="Text 111"/>
          <p:cNvSpPr txBox="1"/>
          <p:nvPr/>
        </p:nvSpPr>
        <p:spPr>
          <a:xfrm>
            <a:off x="6729984" y="6172200"/>
            <a:ext cx="310896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T9 FS</a:t>
            </a:r>
            <a:endParaRPr lang="en-US" sz="1000" dirty="0"/>
          </a:p>
        </p:txBody>
      </p:sp>
      <p:sp>
        <p:nvSpPr>
          <p:cNvPr id="114" name="Shape 112"/>
          <p:cNvSpPr/>
          <p:nvPr/>
        </p:nvSpPr>
        <p:spPr>
          <a:xfrm>
            <a:off x="9921240" y="6126480"/>
            <a:ext cx="1645920" cy="310896"/>
          </a:xfrm>
          <a:prstGeom prst="rect">
            <a:avLst/>
          </a:prstGeom>
          <a:solidFill>
            <a:srgbClr val="0D0D0D"/>
          </a:solidFill>
          <a:ln w="12700">
            <a:solidFill>
              <a:srgbClr val="0D0D0D"/>
            </a:solidFill>
            <a:prstDash val="solid"/>
          </a:ln>
        </p:spPr>
      </p:sp>
      <p:sp>
        <p:nvSpPr>
          <p:cNvPr id="115" name="Text 113"/>
          <p:cNvSpPr txBox="1"/>
          <p:nvPr/>
        </p:nvSpPr>
        <p:spPr>
          <a:xfrm>
            <a:off x="9976104" y="6172200"/>
            <a:ext cx="1554480" cy="237744"/>
          </a:xfrm>
          <a:prstGeom prst="rect">
            <a:avLst/>
          </a:prstGeom>
          <a:noFill/>
          <a:ln/>
        </p:spPr>
        <p:txBody>
          <a:bodyPr wrap="square" lIns="0" tIns="0" rIns="0" bIns="0" rtlCol="0" anchor="ctr"/>
          <a:lstStyle/>
          <a:p>
            <a:pPr indent="0" marL="0">
              <a:buNone/>
            </a:pPr>
            <a:r>
              <a:rPr lang="en-US" sz="1000" dirty="0">
                <a:solidFill>
                  <a:srgbClr val="FFFFFF"/>
                </a:solidFill>
                <a:latin typeface="Epilogue" pitchFamily="34" charset="0"/>
                <a:ea typeface="Epilogue" pitchFamily="34" charset="-122"/>
                <a:cs typeface="Epilogue" pitchFamily="34" charset="-120"/>
              </a:rPr>
              <a:t>Hito</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PASOS 1 A 4: CONFIGURACIÓN INICIAL</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1051560"/>
            <a:ext cx="1280160" cy="594360"/>
          </a:xfrm>
          <a:prstGeom prst="roundRect">
            <a:avLst>
              <a:gd name="adj" fmla="val 12308"/>
            </a:avLst>
          </a:prstGeom>
          <a:solidFill>
            <a:srgbClr val="FFA028"/>
          </a:solidFill>
          <a:ln w="12700">
            <a:solidFill>
              <a:srgbClr val="FFA028"/>
            </a:solidFill>
            <a:prstDash val="solid"/>
          </a:ln>
        </p:spPr>
      </p:sp>
      <p:sp>
        <p:nvSpPr>
          <p:cNvPr id="7" name="Text 5"/>
          <p:cNvSpPr txBox="1"/>
          <p:nvPr/>
        </p:nvSpPr>
        <p:spPr>
          <a:xfrm>
            <a:off x="411480" y="105156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1</a:t>
            </a:r>
            <a:endParaRPr lang="en-US" sz="1300" dirty="0"/>
          </a:p>
        </p:txBody>
      </p:sp>
      <p:sp>
        <p:nvSpPr>
          <p:cNvPr id="8" name="Shape 6"/>
          <p:cNvSpPr/>
          <p:nvPr/>
        </p:nvSpPr>
        <p:spPr>
          <a:xfrm>
            <a:off x="1828800" y="914400"/>
            <a:ext cx="10241280" cy="1325880"/>
          </a:xfrm>
          <a:prstGeom prst="roundRect">
            <a:avLst>
              <a:gd name="adj" fmla="val 5517"/>
            </a:avLst>
          </a:prstGeom>
          <a:solidFill>
            <a:srgbClr val="1A1A1A"/>
          </a:solidFill>
          <a:ln w="12700">
            <a:solidFill>
              <a:srgbClr val="333333"/>
            </a:solidFill>
            <a:prstDash val="solid"/>
          </a:ln>
        </p:spPr>
      </p:sp>
      <p:sp>
        <p:nvSpPr>
          <p:cNvPr id="9" name="Text 7"/>
          <p:cNvSpPr txBox="1"/>
          <p:nvPr/>
        </p:nvSpPr>
        <p:spPr>
          <a:xfrm>
            <a:off x="2011680" y="1005840"/>
            <a:ext cx="987552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Crear el proyecto</a:t>
            </a:r>
            <a:endParaRPr lang="en-US" sz="1400" dirty="0"/>
          </a:p>
        </p:txBody>
      </p:sp>
      <p:sp>
        <p:nvSpPr>
          <p:cNvPr id="10" name="Text 8"/>
          <p:cNvSpPr txBox="1"/>
          <p:nvPr/>
        </p:nvSpPr>
        <p:spPr>
          <a:xfrm>
            <a:off x="2011680" y="144475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Clic en ＋ Nuevo → Tipo: Proyecto → Nombre: "Remodelación de Oficina" → Código: REM-001 → Fecha inicio: 2026-01-05 → Confirmar.</a:t>
            </a:r>
            <a:endParaRPr lang="en-US" sz="1200" dirty="0"/>
          </a:p>
        </p:txBody>
      </p:sp>
      <p:sp>
        <p:nvSpPr>
          <p:cNvPr id="11" name="Shape 9"/>
          <p:cNvSpPr/>
          <p:nvPr/>
        </p:nvSpPr>
        <p:spPr>
          <a:xfrm>
            <a:off x="411480" y="2514600"/>
            <a:ext cx="1280160" cy="594360"/>
          </a:xfrm>
          <a:prstGeom prst="roundRect">
            <a:avLst>
              <a:gd name="adj" fmla="val 12308"/>
            </a:avLst>
          </a:prstGeom>
          <a:solidFill>
            <a:srgbClr val="FFA028"/>
          </a:solidFill>
          <a:ln w="12700">
            <a:solidFill>
              <a:srgbClr val="FFA028"/>
            </a:solidFill>
            <a:prstDash val="solid"/>
          </a:ln>
        </p:spPr>
      </p:sp>
      <p:sp>
        <p:nvSpPr>
          <p:cNvPr id="12" name="Text 10"/>
          <p:cNvSpPr txBox="1"/>
          <p:nvPr/>
        </p:nvSpPr>
        <p:spPr>
          <a:xfrm>
            <a:off x="411480" y="251460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2</a:t>
            </a:r>
            <a:endParaRPr lang="en-US" sz="1300" dirty="0"/>
          </a:p>
        </p:txBody>
      </p:sp>
      <p:sp>
        <p:nvSpPr>
          <p:cNvPr id="13" name="Shape 11"/>
          <p:cNvSpPr/>
          <p:nvPr/>
        </p:nvSpPr>
        <p:spPr>
          <a:xfrm>
            <a:off x="1828800" y="2377440"/>
            <a:ext cx="10241280" cy="1325880"/>
          </a:xfrm>
          <a:prstGeom prst="roundRect">
            <a:avLst>
              <a:gd name="adj" fmla="val 5517"/>
            </a:avLst>
          </a:prstGeom>
          <a:solidFill>
            <a:srgbClr val="1A1A1A"/>
          </a:solidFill>
          <a:ln w="12700">
            <a:solidFill>
              <a:srgbClr val="333333"/>
            </a:solidFill>
            <a:prstDash val="solid"/>
          </a:ln>
        </p:spPr>
      </p:sp>
      <p:sp>
        <p:nvSpPr>
          <p:cNvPr id="14" name="Text 12"/>
          <p:cNvSpPr txBox="1"/>
          <p:nvPr/>
        </p:nvSpPr>
        <p:spPr>
          <a:xfrm>
            <a:off x="2011680" y="2468880"/>
            <a:ext cx="987552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Ingresar actividades</a:t>
            </a:r>
            <a:endParaRPr lang="en-US" sz="1400" dirty="0"/>
          </a:p>
        </p:txBody>
      </p:sp>
      <p:sp>
        <p:nvSpPr>
          <p:cNvPr id="15" name="Text 13"/>
          <p:cNvSpPr txBox="1"/>
          <p:nvPr/>
        </p:nvSpPr>
        <p:spPr>
          <a:xfrm>
            <a:off x="2011680" y="290779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Clic en ＋ Tarea 10 veces. Escribe el nombre de cada actividad. Para T10 (hito) usa el botón ◆ Hito. Ingresa las duraciones en la columna "Dur d".</a:t>
            </a:r>
            <a:endParaRPr lang="en-US" sz="1200" dirty="0"/>
          </a:p>
        </p:txBody>
      </p:sp>
      <p:sp>
        <p:nvSpPr>
          <p:cNvPr id="16" name="Shape 14"/>
          <p:cNvSpPr/>
          <p:nvPr/>
        </p:nvSpPr>
        <p:spPr>
          <a:xfrm>
            <a:off x="411480" y="3977640"/>
            <a:ext cx="1280160" cy="594360"/>
          </a:xfrm>
          <a:prstGeom prst="roundRect">
            <a:avLst>
              <a:gd name="adj" fmla="val 12308"/>
            </a:avLst>
          </a:prstGeom>
          <a:solidFill>
            <a:srgbClr val="FFA028"/>
          </a:solidFill>
          <a:ln w="12700">
            <a:solidFill>
              <a:srgbClr val="FFA028"/>
            </a:solidFill>
            <a:prstDash val="solid"/>
          </a:ln>
        </p:spPr>
      </p:sp>
      <p:sp>
        <p:nvSpPr>
          <p:cNvPr id="17" name="Text 15"/>
          <p:cNvSpPr txBox="1"/>
          <p:nvPr/>
        </p:nvSpPr>
        <p:spPr>
          <a:xfrm>
            <a:off x="411480" y="397764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3</a:t>
            </a:r>
            <a:endParaRPr lang="en-US" sz="1300" dirty="0"/>
          </a:p>
        </p:txBody>
      </p:sp>
      <p:sp>
        <p:nvSpPr>
          <p:cNvPr id="18" name="Shape 16"/>
          <p:cNvSpPr/>
          <p:nvPr/>
        </p:nvSpPr>
        <p:spPr>
          <a:xfrm>
            <a:off x="1828800" y="3840480"/>
            <a:ext cx="10241280" cy="1325880"/>
          </a:xfrm>
          <a:prstGeom prst="roundRect">
            <a:avLst>
              <a:gd name="adj" fmla="val 5517"/>
            </a:avLst>
          </a:prstGeom>
          <a:solidFill>
            <a:srgbClr val="1A1A1A"/>
          </a:solidFill>
          <a:ln w="12700">
            <a:solidFill>
              <a:srgbClr val="333333"/>
            </a:solidFill>
            <a:prstDash val="solid"/>
          </a:ln>
        </p:spPr>
      </p:sp>
      <p:sp>
        <p:nvSpPr>
          <p:cNvPr id="19" name="Text 17"/>
          <p:cNvSpPr txBox="1"/>
          <p:nvPr/>
        </p:nvSpPr>
        <p:spPr>
          <a:xfrm>
            <a:off x="2011680" y="3931920"/>
            <a:ext cx="987552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Definir dependencias</a:t>
            </a:r>
            <a:endParaRPr lang="en-US" sz="1400" dirty="0"/>
          </a:p>
        </p:txBody>
      </p:sp>
      <p:sp>
        <p:nvSpPr>
          <p:cNvPr id="20" name="Text 18"/>
          <p:cNvSpPr txBox="1"/>
          <p:nvPr/>
        </p:nvSpPr>
        <p:spPr>
          <a:xfrm>
            <a:off x="2011680" y="437083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En la columna "Pred." de cada tarea, escribe las predecesoras. Ej: T5 → "3FS,4FS" (T3 y T4 como predecesoras FS). Puedes usar el botón 🔗 Enlace FS.</a:t>
            </a:r>
            <a:endParaRPr lang="en-US" sz="1200" dirty="0"/>
          </a:p>
        </p:txBody>
      </p:sp>
      <p:sp>
        <p:nvSpPr>
          <p:cNvPr id="21" name="Shape 19"/>
          <p:cNvSpPr/>
          <p:nvPr/>
        </p:nvSpPr>
        <p:spPr>
          <a:xfrm>
            <a:off x="411480" y="5440680"/>
            <a:ext cx="1280160" cy="594360"/>
          </a:xfrm>
          <a:prstGeom prst="roundRect">
            <a:avLst>
              <a:gd name="adj" fmla="val 12308"/>
            </a:avLst>
          </a:prstGeom>
          <a:solidFill>
            <a:srgbClr val="FFA028"/>
          </a:solidFill>
          <a:ln w="12700">
            <a:solidFill>
              <a:srgbClr val="FFA028"/>
            </a:solidFill>
            <a:prstDash val="solid"/>
          </a:ln>
        </p:spPr>
      </p:sp>
      <p:sp>
        <p:nvSpPr>
          <p:cNvPr id="22" name="Text 20"/>
          <p:cNvSpPr txBox="1"/>
          <p:nvPr/>
        </p:nvSpPr>
        <p:spPr>
          <a:xfrm>
            <a:off x="411480" y="544068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4</a:t>
            </a:r>
            <a:endParaRPr lang="en-US" sz="1300" dirty="0"/>
          </a:p>
        </p:txBody>
      </p:sp>
      <p:sp>
        <p:nvSpPr>
          <p:cNvPr id="23" name="Shape 21"/>
          <p:cNvSpPr/>
          <p:nvPr/>
        </p:nvSpPr>
        <p:spPr>
          <a:xfrm>
            <a:off x="1828800" y="5303520"/>
            <a:ext cx="10241280" cy="1325880"/>
          </a:xfrm>
          <a:prstGeom prst="roundRect">
            <a:avLst>
              <a:gd name="adj" fmla="val 5517"/>
            </a:avLst>
          </a:prstGeom>
          <a:solidFill>
            <a:srgbClr val="1A1A1A"/>
          </a:solidFill>
          <a:ln w="12700">
            <a:solidFill>
              <a:srgbClr val="333333"/>
            </a:solidFill>
            <a:prstDash val="solid"/>
          </a:ln>
        </p:spPr>
      </p:sp>
      <p:sp>
        <p:nvSpPr>
          <p:cNvPr id="24" name="Text 22"/>
          <p:cNvSpPr txBox="1"/>
          <p:nvPr/>
        </p:nvSpPr>
        <p:spPr>
          <a:xfrm>
            <a:off x="2011680" y="5394960"/>
            <a:ext cx="9875520" cy="384048"/>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Activar Auto-calc</a:t>
            </a:r>
            <a:endParaRPr lang="en-US" sz="1400" dirty="0"/>
          </a:p>
        </p:txBody>
      </p:sp>
      <p:sp>
        <p:nvSpPr>
          <p:cNvPr id="25" name="Text 23"/>
          <p:cNvSpPr txBox="1"/>
          <p:nvPr/>
        </p:nvSpPr>
        <p:spPr>
          <a:xfrm>
            <a:off x="2011680" y="583387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Marca el checkbox "Auto-calc" en la barra de filtros. El CPM calculará automáticamente las fechas y resaltará en ROJO las actividades de la ruta crítica.</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PASOS 5 A 8: ANÁLISIS Y CONTROL</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1051560"/>
            <a:ext cx="1280160" cy="594360"/>
          </a:xfrm>
          <a:prstGeom prst="roundRect">
            <a:avLst>
              <a:gd name="adj" fmla="val 12308"/>
            </a:avLst>
          </a:prstGeom>
          <a:solidFill>
            <a:srgbClr val="4AF6C3"/>
          </a:solidFill>
          <a:ln w="12700">
            <a:solidFill>
              <a:srgbClr val="4AF6C3"/>
            </a:solidFill>
            <a:prstDash val="solid"/>
          </a:ln>
        </p:spPr>
      </p:sp>
      <p:sp>
        <p:nvSpPr>
          <p:cNvPr id="7" name="Text 5"/>
          <p:cNvSpPr txBox="1"/>
          <p:nvPr/>
        </p:nvSpPr>
        <p:spPr>
          <a:xfrm>
            <a:off x="411480" y="105156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5</a:t>
            </a:r>
            <a:endParaRPr lang="en-US" sz="1300" dirty="0"/>
          </a:p>
        </p:txBody>
      </p:sp>
      <p:sp>
        <p:nvSpPr>
          <p:cNvPr id="8" name="Shape 6"/>
          <p:cNvSpPr/>
          <p:nvPr/>
        </p:nvSpPr>
        <p:spPr>
          <a:xfrm>
            <a:off x="1828800" y="914400"/>
            <a:ext cx="10241280" cy="1325880"/>
          </a:xfrm>
          <a:prstGeom prst="roundRect">
            <a:avLst>
              <a:gd name="adj" fmla="val 5517"/>
            </a:avLst>
          </a:prstGeom>
          <a:solidFill>
            <a:srgbClr val="1A1A1A"/>
          </a:solidFill>
          <a:ln w="12700">
            <a:solidFill>
              <a:srgbClr val="333333"/>
            </a:solidFill>
            <a:prstDash val="solid"/>
          </a:ln>
        </p:spPr>
      </p:sp>
      <p:sp>
        <p:nvSpPr>
          <p:cNvPr id="9" name="Text 7"/>
          <p:cNvSpPr txBox="1"/>
          <p:nvPr/>
        </p:nvSpPr>
        <p:spPr>
          <a:xfrm>
            <a:off x="2011680" y="1005840"/>
            <a:ext cx="9875520" cy="384048"/>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Guardar Línea Base</a:t>
            </a:r>
            <a:endParaRPr lang="en-US" sz="1400" dirty="0"/>
          </a:p>
        </p:txBody>
      </p:sp>
      <p:sp>
        <p:nvSpPr>
          <p:cNvPr id="10" name="Text 8"/>
          <p:cNvSpPr txBox="1"/>
          <p:nvPr/>
        </p:nvSpPr>
        <p:spPr>
          <a:xfrm>
            <a:off x="2011680" y="144475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Clic en 📐 Línea Base → "Guardar línea base" → Nombre: "LB-Inicial-Ene2026". Confirmar. Las columnas ΔI, ΔF, ΔD estarán disponibles para comparación futura.</a:t>
            </a:r>
            <a:endParaRPr lang="en-US" sz="1200" dirty="0"/>
          </a:p>
        </p:txBody>
      </p:sp>
      <p:sp>
        <p:nvSpPr>
          <p:cNvPr id="11" name="Shape 9"/>
          <p:cNvSpPr/>
          <p:nvPr/>
        </p:nvSpPr>
        <p:spPr>
          <a:xfrm>
            <a:off x="411480" y="2514600"/>
            <a:ext cx="1280160" cy="594360"/>
          </a:xfrm>
          <a:prstGeom prst="roundRect">
            <a:avLst>
              <a:gd name="adj" fmla="val 12308"/>
            </a:avLst>
          </a:prstGeom>
          <a:solidFill>
            <a:srgbClr val="4AF6C3"/>
          </a:solidFill>
          <a:ln w="12700">
            <a:solidFill>
              <a:srgbClr val="4AF6C3"/>
            </a:solidFill>
            <a:prstDash val="solid"/>
          </a:ln>
        </p:spPr>
      </p:sp>
      <p:sp>
        <p:nvSpPr>
          <p:cNvPr id="12" name="Text 10"/>
          <p:cNvSpPr txBox="1"/>
          <p:nvPr/>
        </p:nvSpPr>
        <p:spPr>
          <a:xfrm>
            <a:off x="411480" y="251460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6</a:t>
            </a:r>
            <a:endParaRPr lang="en-US" sz="1300" dirty="0"/>
          </a:p>
        </p:txBody>
      </p:sp>
      <p:sp>
        <p:nvSpPr>
          <p:cNvPr id="13" name="Shape 11"/>
          <p:cNvSpPr/>
          <p:nvPr/>
        </p:nvSpPr>
        <p:spPr>
          <a:xfrm>
            <a:off x="1828800" y="2377440"/>
            <a:ext cx="10241280" cy="1325880"/>
          </a:xfrm>
          <a:prstGeom prst="roundRect">
            <a:avLst>
              <a:gd name="adj" fmla="val 5517"/>
            </a:avLst>
          </a:prstGeom>
          <a:solidFill>
            <a:srgbClr val="1A1A1A"/>
          </a:solidFill>
          <a:ln w="12700">
            <a:solidFill>
              <a:srgbClr val="333333"/>
            </a:solidFill>
            <a:prstDash val="solid"/>
          </a:ln>
        </p:spPr>
      </p:sp>
      <p:sp>
        <p:nvSpPr>
          <p:cNvPr id="14" name="Text 12"/>
          <p:cNvSpPr txBox="1"/>
          <p:nvPr/>
        </p:nvSpPr>
        <p:spPr>
          <a:xfrm>
            <a:off x="2011680" y="2468880"/>
            <a:ext cx="9875520" cy="384048"/>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Simular avance</a:t>
            </a:r>
            <a:endParaRPr lang="en-US" sz="1400" dirty="0"/>
          </a:p>
        </p:txBody>
      </p:sp>
      <p:sp>
        <p:nvSpPr>
          <p:cNvPr id="15" name="Text 13"/>
          <p:cNvSpPr txBox="1"/>
          <p:nvPr/>
        </p:nvSpPr>
        <p:spPr>
          <a:xfrm>
            <a:off x="2011680" y="290779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Edita el % de avance: T1=100%, T2=80%, T3=50%. Observa cómo la columna HT cambia y las barras verdes aparecen en el Gantt para las tareas completadas.</a:t>
            </a:r>
            <a:endParaRPr lang="en-US" sz="1200" dirty="0"/>
          </a:p>
        </p:txBody>
      </p:sp>
      <p:sp>
        <p:nvSpPr>
          <p:cNvPr id="16" name="Shape 14"/>
          <p:cNvSpPr/>
          <p:nvPr/>
        </p:nvSpPr>
        <p:spPr>
          <a:xfrm>
            <a:off x="411480" y="3977640"/>
            <a:ext cx="1280160" cy="594360"/>
          </a:xfrm>
          <a:prstGeom prst="roundRect">
            <a:avLst>
              <a:gd name="adj" fmla="val 12308"/>
            </a:avLst>
          </a:prstGeom>
          <a:solidFill>
            <a:srgbClr val="4AF6C3"/>
          </a:solidFill>
          <a:ln w="12700">
            <a:solidFill>
              <a:srgbClr val="4AF6C3"/>
            </a:solidFill>
            <a:prstDash val="solid"/>
          </a:ln>
        </p:spPr>
      </p:sp>
      <p:sp>
        <p:nvSpPr>
          <p:cNvPr id="17" name="Text 15"/>
          <p:cNvSpPr txBox="1"/>
          <p:nvPr/>
        </p:nvSpPr>
        <p:spPr>
          <a:xfrm>
            <a:off x="411480" y="397764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7</a:t>
            </a:r>
            <a:endParaRPr lang="en-US" sz="1300" dirty="0"/>
          </a:p>
        </p:txBody>
      </p:sp>
      <p:sp>
        <p:nvSpPr>
          <p:cNvPr id="18" name="Shape 16"/>
          <p:cNvSpPr/>
          <p:nvPr/>
        </p:nvSpPr>
        <p:spPr>
          <a:xfrm>
            <a:off x="1828800" y="3840480"/>
            <a:ext cx="10241280" cy="1325880"/>
          </a:xfrm>
          <a:prstGeom prst="roundRect">
            <a:avLst>
              <a:gd name="adj" fmla="val 5517"/>
            </a:avLst>
          </a:prstGeom>
          <a:solidFill>
            <a:srgbClr val="1A1A1A"/>
          </a:solidFill>
          <a:ln w="12700">
            <a:solidFill>
              <a:srgbClr val="333333"/>
            </a:solidFill>
            <a:prstDash val="solid"/>
          </a:ln>
        </p:spPr>
      </p:sp>
      <p:sp>
        <p:nvSpPr>
          <p:cNvPr id="19" name="Text 17"/>
          <p:cNvSpPr txBox="1"/>
          <p:nvPr/>
        </p:nvSpPr>
        <p:spPr>
          <a:xfrm>
            <a:off x="2011680" y="3931920"/>
            <a:ext cx="9875520" cy="384048"/>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Revisar EVM</a:t>
            </a:r>
            <a:endParaRPr lang="en-US" sz="1400" dirty="0"/>
          </a:p>
        </p:txBody>
      </p:sp>
      <p:sp>
        <p:nvSpPr>
          <p:cNvPr id="20" name="Text 18"/>
          <p:cNvSpPr txBox="1"/>
          <p:nvPr/>
        </p:nvSpPr>
        <p:spPr>
          <a:xfrm>
            <a:off x="2011680" y="437083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Clic en 📈 EVM. Verifica: PV (lo planeado), EV (lo ganado), AC (lo gastado). Revisa si SPI &gt; 1 (adelantado) o SPI &lt; 1 (atrasado). Observa la Curva S.</a:t>
            </a:r>
            <a:endParaRPr lang="en-US" sz="1200" dirty="0"/>
          </a:p>
        </p:txBody>
      </p:sp>
      <p:sp>
        <p:nvSpPr>
          <p:cNvPr id="21" name="Shape 19"/>
          <p:cNvSpPr/>
          <p:nvPr/>
        </p:nvSpPr>
        <p:spPr>
          <a:xfrm>
            <a:off x="411480" y="5440680"/>
            <a:ext cx="1280160" cy="594360"/>
          </a:xfrm>
          <a:prstGeom prst="roundRect">
            <a:avLst>
              <a:gd name="adj" fmla="val 12308"/>
            </a:avLst>
          </a:prstGeom>
          <a:solidFill>
            <a:srgbClr val="4AF6C3"/>
          </a:solidFill>
          <a:ln w="12700">
            <a:solidFill>
              <a:srgbClr val="4AF6C3"/>
            </a:solidFill>
            <a:prstDash val="solid"/>
          </a:ln>
        </p:spPr>
      </p:sp>
      <p:sp>
        <p:nvSpPr>
          <p:cNvPr id="22" name="Text 20"/>
          <p:cNvSpPr txBox="1"/>
          <p:nvPr/>
        </p:nvSpPr>
        <p:spPr>
          <a:xfrm>
            <a:off x="411480" y="5440680"/>
            <a:ext cx="1280160" cy="594360"/>
          </a:xfrm>
          <a:prstGeom prst="rect">
            <a:avLst/>
          </a:prstGeom>
          <a:noFill/>
          <a:ln/>
        </p:spPr>
        <p:txBody>
          <a:bodyPr wrap="square" lIns="0" tIns="0" rIns="0" bIns="0" rtlCol="0" anchor="ctr"/>
          <a:lstStyle/>
          <a:p>
            <a:pPr algn="ctr" indent="0" marL="0">
              <a:buNone/>
            </a:pPr>
            <a:r>
              <a:rPr lang="en-US" sz="1300" b="1" dirty="0">
                <a:solidFill>
                  <a:srgbClr val="000000"/>
                </a:solidFill>
                <a:latin typeface="Epilogue" pitchFamily="34" charset="0"/>
                <a:ea typeface="Epilogue" pitchFamily="34" charset="-122"/>
                <a:cs typeface="Epilogue" pitchFamily="34" charset="-120"/>
              </a:rPr>
              <a:t>PASO 8</a:t>
            </a:r>
            <a:endParaRPr lang="en-US" sz="1300" dirty="0"/>
          </a:p>
        </p:txBody>
      </p:sp>
      <p:sp>
        <p:nvSpPr>
          <p:cNvPr id="23" name="Shape 21"/>
          <p:cNvSpPr/>
          <p:nvPr/>
        </p:nvSpPr>
        <p:spPr>
          <a:xfrm>
            <a:off x="1828800" y="5303520"/>
            <a:ext cx="10241280" cy="1325880"/>
          </a:xfrm>
          <a:prstGeom prst="roundRect">
            <a:avLst>
              <a:gd name="adj" fmla="val 5517"/>
            </a:avLst>
          </a:prstGeom>
          <a:solidFill>
            <a:srgbClr val="1A1A1A"/>
          </a:solidFill>
          <a:ln w="12700">
            <a:solidFill>
              <a:srgbClr val="333333"/>
            </a:solidFill>
            <a:prstDash val="solid"/>
          </a:ln>
        </p:spPr>
      </p:sp>
      <p:sp>
        <p:nvSpPr>
          <p:cNvPr id="24" name="Text 22"/>
          <p:cNvSpPr txBox="1"/>
          <p:nvPr/>
        </p:nvSpPr>
        <p:spPr>
          <a:xfrm>
            <a:off x="2011680" y="5394960"/>
            <a:ext cx="9875520" cy="384048"/>
          </a:xfrm>
          <a:prstGeom prst="rect">
            <a:avLst/>
          </a:prstGeom>
          <a:noFill/>
          <a:ln/>
        </p:spPr>
        <p:txBody>
          <a:bodyPr wrap="square" lIns="0" tIns="0" rIns="0" bIns="0" rtlCol="0" anchor="ctr"/>
          <a:lstStyle/>
          <a:p>
            <a:pPr indent="0" marL="0">
              <a:buNone/>
            </a:pPr>
            <a:r>
              <a:rPr lang="en-US" sz="1400" b="1" dirty="0">
                <a:solidFill>
                  <a:srgbClr val="4AF6C3"/>
                </a:solidFill>
                <a:latin typeface="Epilogue" pitchFamily="34" charset="0"/>
                <a:ea typeface="Epilogue" pitchFamily="34" charset="-122"/>
                <a:cs typeface="Epilogue" pitchFamily="34" charset="-120"/>
              </a:rPr>
              <a:t>Evaluar DCMA</a:t>
            </a:r>
            <a:endParaRPr lang="en-US" sz="1400" dirty="0"/>
          </a:p>
        </p:txBody>
      </p:sp>
      <p:sp>
        <p:nvSpPr>
          <p:cNvPr id="25" name="Text 23"/>
          <p:cNvSpPr txBox="1"/>
          <p:nvPr/>
        </p:nvSpPr>
        <p:spPr>
          <a:xfrm>
            <a:off x="2011680" y="5833872"/>
            <a:ext cx="9875520" cy="731520"/>
          </a:xfrm>
          <a:prstGeom prst="rect">
            <a:avLst/>
          </a:prstGeom>
          <a:noFill/>
          <a:ln/>
        </p:spPr>
        <p:txBody>
          <a:bodyPr wrap="square" lIns="0" tIns="0" rIns="0" bIns="0" rtlCol="0" anchor="ctr"/>
          <a:lstStyle/>
          <a:p>
            <a:pPr indent="0" marL="0">
              <a:buNone/>
            </a:pPr>
            <a:r>
              <a:rPr lang="en-US" sz="1200" dirty="0">
                <a:solidFill>
                  <a:srgbClr val="A0A0A0"/>
                </a:solidFill>
                <a:latin typeface="Epilogue" pitchFamily="34" charset="0"/>
                <a:ea typeface="Epilogue" pitchFamily="34" charset="-122"/>
                <a:cs typeface="Epilogue" pitchFamily="34" charset="-120"/>
              </a:rPr>
              <a:t>Clic en ✅ DCMA. Revisa los 14 puntos. Verifica que Logic, Leads y Lags estén en verde. Si hay fallos, identifica las tareas problemáticas y corrígelas.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0D0D"/>
          </a:solidFill>
          <a:ln w="12700">
            <a:solidFill>
              <a:srgbClr val="0D0D0D"/>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Text 2"/>
          <p:cNvSpPr txBox="1"/>
          <p:nvPr/>
        </p:nvSpPr>
        <p:spPr>
          <a:xfrm>
            <a:off x="320040" y="914400"/>
            <a:ext cx="3657600" cy="3200400"/>
          </a:xfrm>
          <a:prstGeom prst="rect">
            <a:avLst/>
          </a:prstGeom>
          <a:noFill/>
          <a:ln/>
        </p:spPr>
        <p:txBody>
          <a:bodyPr wrap="square" lIns="0" tIns="0" rIns="0" bIns="0" rtlCol="0" anchor="ctr"/>
          <a:lstStyle/>
          <a:p>
            <a:pPr indent="0" marL="0">
              <a:buNone/>
            </a:pPr>
            <a:r>
              <a:rPr lang="en-US" sz="18000" b="1" dirty="0">
                <a:solidFill>
                  <a:srgbClr val="1A1A1A"/>
                </a:solidFill>
                <a:latin typeface="Epilogue" pitchFamily="34" charset="0"/>
                <a:ea typeface="Epilogue" pitchFamily="34" charset="-122"/>
                <a:cs typeface="Epilogue" pitchFamily="34" charset="-120"/>
              </a:rPr>
              <a:t>13</a:t>
            </a:r>
            <a:endParaRPr lang="en-US" sz="18000" dirty="0"/>
          </a:p>
        </p:txBody>
      </p:sp>
      <p:sp>
        <p:nvSpPr>
          <p:cNvPr id="5" name="Text 3"/>
          <p:cNvSpPr txBox="1"/>
          <p:nvPr/>
        </p:nvSpPr>
        <p:spPr>
          <a:xfrm>
            <a:off x="411480" y="3108960"/>
            <a:ext cx="11430000" cy="1097280"/>
          </a:xfrm>
          <a:prstGeom prst="rect">
            <a:avLst/>
          </a:prstGeom>
          <a:noFill/>
          <a:ln/>
        </p:spPr>
        <p:txBody>
          <a:bodyPr wrap="square" lIns="0" tIns="0" rIns="0" bIns="0" rtlCol="0" anchor="ctr"/>
          <a:lstStyle/>
          <a:p>
            <a:pPr indent="0" marL="0">
              <a:buNone/>
            </a:pPr>
            <a:r>
              <a:rPr lang="en-US" sz="4200" b="1" dirty="0">
                <a:solidFill>
                  <a:srgbClr val="FFA028"/>
                </a:solidFill>
                <a:latin typeface="Epilogue" pitchFamily="34" charset="0"/>
                <a:ea typeface="Epilogue" pitchFamily="34" charset="-122"/>
                <a:cs typeface="Epilogue" pitchFamily="34" charset="-120"/>
              </a:rPr>
              <a:t>Referencia Rápida</a:t>
            </a:r>
            <a:endParaRPr lang="en-US" sz="4200" dirty="0"/>
          </a:p>
        </p:txBody>
      </p:sp>
      <p:sp>
        <p:nvSpPr>
          <p:cNvPr id="6" name="Text 4"/>
          <p:cNvSpPr txBox="1"/>
          <p:nvPr/>
        </p:nvSpPr>
        <p:spPr>
          <a:xfrm>
            <a:off x="411480" y="4297680"/>
            <a:ext cx="11430000" cy="548640"/>
          </a:xfrm>
          <a:prstGeom prst="rect">
            <a:avLst/>
          </a:prstGeom>
          <a:noFill/>
          <a:ln/>
        </p:spPr>
        <p:txBody>
          <a:bodyPr wrap="square" lIns="0" tIns="0" rIns="0" bIns="0" rtlCol="0" anchor="ctr"/>
          <a:lstStyle/>
          <a:p>
            <a:pPr indent="0" marL="0">
              <a:buNone/>
            </a:pPr>
            <a:r>
              <a:rPr lang="en-US" sz="1800" dirty="0">
                <a:solidFill>
                  <a:srgbClr val="A0A0A0"/>
                </a:solidFill>
                <a:latin typeface="Epilogue" pitchFamily="34" charset="0"/>
                <a:ea typeface="Epilogue" pitchFamily="34" charset="-122"/>
                <a:cs typeface="Epilogue" pitchFamily="34" charset="-120"/>
              </a:rPr>
              <a:t>Atajos • Errores frecuentes • Tips</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ATAJOS DE TECLADO</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749808"/>
          </a:xfrm>
          <a:prstGeom prst="roundRect">
            <a:avLst>
              <a:gd name="adj" fmla="val 9756"/>
            </a:avLst>
          </a:prstGeom>
          <a:solidFill>
            <a:srgbClr val="0D0D0D"/>
          </a:solidFill>
          <a:ln w="12700">
            <a:solidFill>
              <a:srgbClr val="333333"/>
            </a:solidFill>
            <a:prstDash val="solid"/>
          </a:ln>
        </p:spPr>
      </p:sp>
      <p:sp>
        <p:nvSpPr>
          <p:cNvPr id="7" name="Shape 5"/>
          <p:cNvSpPr/>
          <p:nvPr/>
        </p:nvSpPr>
        <p:spPr>
          <a:xfrm>
            <a:off x="521208" y="1078992"/>
            <a:ext cx="1920240" cy="420624"/>
          </a:xfrm>
          <a:prstGeom prst="roundRect">
            <a:avLst>
              <a:gd name="adj" fmla="val 13043"/>
            </a:avLst>
          </a:prstGeom>
          <a:solidFill>
            <a:srgbClr val="1A1A1A"/>
          </a:solidFill>
          <a:ln w="12700">
            <a:solidFill>
              <a:srgbClr val="1A1A1A"/>
            </a:solidFill>
            <a:prstDash val="solid"/>
          </a:ln>
        </p:spPr>
      </p:sp>
      <p:sp>
        <p:nvSpPr>
          <p:cNvPr id="8" name="Text 6"/>
          <p:cNvSpPr txBox="1"/>
          <p:nvPr/>
        </p:nvSpPr>
        <p:spPr>
          <a:xfrm>
            <a:off x="521208" y="107899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Ctrl + Z</a:t>
            </a:r>
            <a:endParaRPr lang="en-US" sz="1300" dirty="0"/>
          </a:p>
        </p:txBody>
      </p:sp>
      <p:sp>
        <p:nvSpPr>
          <p:cNvPr id="9" name="Text 7"/>
          <p:cNvSpPr txBox="1"/>
          <p:nvPr/>
        </p:nvSpPr>
        <p:spPr>
          <a:xfrm>
            <a:off x="2560320" y="107899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Deshacer la última acción (hasta 50 pasos en el historial)</a:t>
            </a:r>
            <a:endParaRPr lang="en-US" sz="1100" dirty="0"/>
          </a:p>
        </p:txBody>
      </p:sp>
      <p:sp>
        <p:nvSpPr>
          <p:cNvPr id="10" name="Shape 8"/>
          <p:cNvSpPr/>
          <p:nvPr/>
        </p:nvSpPr>
        <p:spPr>
          <a:xfrm>
            <a:off x="6263640" y="914400"/>
            <a:ext cx="5486400" cy="749808"/>
          </a:xfrm>
          <a:prstGeom prst="roundRect">
            <a:avLst>
              <a:gd name="adj" fmla="val 9756"/>
            </a:avLst>
          </a:prstGeom>
          <a:solidFill>
            <a:srgbClr val="0D0D0D"/>
          </a:solidFill>
          <a:ln w="12700">
            <a:solidFill>
              <a:srgbClr val="333333"/>
            </a:solidFill>
            <a:prstDash val="solid"/>
          </a:ln>
        </p:spPr>
      </p:sp>
      <p:sp>
        <p:nvSpPr>
          <p:cNvPr id="11" name="Shape 9"/>
          <p:cNvSpPr/>
          <p:nvPr/>
        </p:nvSpPr>
        <p:spPr>
          <a:xfrm>
            <a:off x="6373368" y="1078992"/>
            <a:ext cx="1920240" cy="420624"/>
          </a:xfrm>
          <a:prstGeom prst="roundRect">
            <a:avLst>
              <a:gd name="adj" fmla="val 13043"/>
            </a:avLst>
          </a:prstGeom>
          <a:solidFill>
            <a:srgbClr val="1A1A1A"/>
          </a:solidFill>
          <a:ln w="12700">
            <a:solidFill>
              <a:srgbClr val="1A1A1A"/>
            </a:solidFill>
            <a:prstDash val="solid"/>
          </a:ln>
        </p:spPr>
      </p:sp>
      <p:sp>
        <p:nvSpPr>
          <p:cNvPr id="12" name="Text 10"/>
          <p:cNvSpPr txBox="1"/>
          <p:nvPr/>
        </p:nvSpPr>
        <p:spPr>
          <a:xfrm>
            <a:off x="6373368" y="107899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Ctrl + Y</a:t>
            </a:r>
            <a:endParaRPr lang="en-US" sz="1300" dirty="0"/>
          </a:p>
        </p:txBody>
      </p:sp>
      <p:sp>
        <p:nvSpPr>
          <p:cNvPr id="13" name="Text 11"/>
          <p:cNvSpPr txBox="1"/>
          <p:nvPr/>
        </p:nvSpPr>
        <p:spPr>
          <a:xfrm>
            <a:off x="8412480" y="107899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Rehacer la última acción revertida</a:t>
            </a:r>
            <a:endParaRPr lang="en-US" sz="1100" dirty="0"/>
          </a:p>
        </p:txBody>
      </p:sp>
      <p:sp>
        <p:nvSpPr>
          <p:cNvPr id="14" name="Shape 12"/>
          <p:cNvSpPr/>
          <p:nvPr/>
        </p:nvSpPr>
        <p:spPr>
          <a:xfrm>
            <a:off x="411480" y="1783080"/>
            <a:ext cx="5486400" cy="749808"/>
          </a:xfrm>
          <a:prstGeom prst="roundRect">
            <a:avLst>
              <a:gd name="adj" fmla="val 9756"/>
            </a:avLst>
          </a:prstGeom>
          <a:solidFill>
            <a:srgbClr val="0D0D0D"/>
          </a:solidFill>
          <a:ln w="12700">
            <a:solidFill>
              <a:srgbClr val="333333"/>
            </a:solidFill>
            <a:prstDash val="solid"/>
          </a:ln>
        </p:spPr>
      </p:sp>
      <p:sp>
        <p:nvSpPr>
          <p:cNvPr id="15" name="Shape 13"/>
          <p:cNvSpPr/>
          <p:nvPr/>
        </p:nvSpPr>
        <p:spPr>
          <a:xfrm>
            <a:off x="521208" y="1947672"/>
            <a:ext cx="1920240" cy="420624"/>
          </a:xfrm>
          <a:prstGeom prst="roundRect">
            <a:avLst>
              <a:gd name="adj" fmla="val 13043"/>
            </a:avLst>
          </a:prstGeom>
          <a:solidFill>
            <a:srgbClr val="1A1A1A"/>
          </a:solidFill>
          <a:ln w="12700">
            <a:solidFill>
              <a:srgbClr val="1A1A1A"/>
            </a:solidFill>
            <a:prstDash val="solid"/>
          </a:ln>
        </p:spPr>
      </p:sp>
      <p:sp>
        <p:nvSpPr>
          <p:cNvPr id="16" name="Text 14"/>
          <p:cNvSpPr txBox="1"/>
          <p:nvPr/>
        </p:nvSpPr>
        <p:spPr>
          <a:xfrm>
            <a:off x="521208" y="194767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Ctrl + Shift + Z</a:t>
            </a:r>
            <a:endParaRPr lang="en-US" sz="1300" dirty="0"/>
          </a:p>
        </p:txBody>
      </p:sp>
      <p:sp>
        <p:nvSpPr>
          <p:cNvPr id="17" name="Text 15"/>
          <p:cNvSpPr txBox="1"/>
          <p:nvPr/>
        </p:nvSpPr>
        <p:spPr>
          <a:xfrm>
            <a:off x="2560320" y="194767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Rehacer (alternativa a Ctrl+Y)</a:t>
            </a:r>
            <a:endParaRPr lang="en-US" sz="1100" dirty="0"/>
          </a:p>
        </p:txBody>
      </p:sp>
      <p:sp>
        <p:nvSpPr>
          <p:cNvPr id="18" name="Shape 16"/>
          <p:cNvSpPr/>
          <p:nvPr/>
        </p:nvSpPr>
        <p:spPr>
          <a:xfrm>
            <a:off x="6263640" y="1783080"/>
            <a:ext cx="5486400" cy="749808"/>
          </a:xfrm>
          <a:prstGeom prst="roundRect">
            <a:avLst>
              <a:gd name="adj" fmla="val 9756"/>
            </a:avLst>
          </a:prstGeom>
          <a:solidFill>
            <a:srgbClr val="0D0D0D"/>
          </a:solidFill>
          <a:ln w="12700">
            <a:solidFill>
              <a:srgbClr val="333333"/>
            </a:solidFill>
            <a:prstDash val="solid"/>
          </a:ln>
        </p:spPr>
      </p:sp>
      <p:sp>
        <p:nvSpPr>
          <p:cNvPr id="19" name="Shape 17"/>
          <p:cNvSpPr/>
          <p:nvPr/>
        </p:nvSpPr>
        <p:spPr>
          <a:xfrm>
            <a:off x="6373368" y="1947672"/>
            <a:ext cx="1920240" cy="420624"/>
          </a:xfrm>
          <a:prstGeom prst="roundRect">
            <a:avLst>
              <a:gd name="adj" fmla="val 13043"/>
            </a:avLst>
          </a:prstGeom>
          <a:solidFill>
            <a:srgbClr val="1A1A1A"/>
          </a:solidFill>
          <a:ln w="12700">
            <a:solidFill>
              <a:srgbClr val="1A1A1A"/>
            </a:solidFill>
            <a:prstDash val="solid"/>
          </a:ln>
        </p:spPr>
      </p:sp>
      <p:sp>
        <p:nvSpPr>
          <p:cNvPr id="20" name="Text 18"/>
          <p:cNvSpPr txBox="1"/>
          <p:nvPr/>
        </p:nvSpPr>
        <p:spPr>
          <a:xfrm>
            <a:off x="6373368" y="194767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Insert</a:t>
            </a:r>
            <a:endParaRPr lang="en-US" sz="1300" dirty="0"/>
          </a:p>
        </p:txBody>
      </p:sp>
      <p:sp>
        <p:nvSpPr>
          <p:cNvPr id="21" name="Text 19"/>
          <p:cNvSpPr txBox="1"/>
          <p:nvPr/>
        </p:nvSpPr>
        <p:spPr>
          <a:xfrm>
            <a:off x="8412480" y="194767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Agregar nueva tarea después de la selección</a:t>
            </a:r>
            <a:endParaRPr lang="en-US" sz="1100" dirty="0"/>
          </a:p>
        </p:txBody>
      </p:sp>
      <p:sp>
        <p:nvSpPr>
          <p:cNvPr id="22" name="Shape 20"/>
          <p:cNvSpPr/>
          <p:nvPr/>
        </p:nvSpPr>
        <p:spPr>
          <a:xfrm>
            <a:off x="411480" y="2651760"/>
            <a:ext cx="5486400" cy="749808"/>
          </a:xfrm>
          <a:prstGeom prst="roundRect">
            <a:avLst>
              <a:gd name="adj" fmla="val 9756"/>
            </a:avLst>
          </a:prstGeom>
          <a:solidFill>
            <a:srgbClr val="0D0D0D"/>
          </a:solidFill>
          <a:ln w="12700">
            <a:solidFill>
              <a:srgbClr val="333333"/>
            </a:solidFill>
            <a:prstDash val="solid"/>
          </a:ln>
        </p:spPr>
      </p:sp>
      <p:sp>
        <p:nvSpPr>
          <p:cNvPr id="23" name="Shape 21"/>
          <p:cNvSpPr/>
          <p:nvPr/>
        </p:nvSpPr>
        <p:spPr>
          <a:xfrm>
            <a:off x="521208" y="2816352"/>
            <a:ext cx="1920240" cy="420624"/>
          </a:xfrm>
          <a:prstGeom prst="roundRect">
            <a:avLst>
              <a:gd name="adj" fmla="val 13043"/>
            </a:avLst>
          </a:prstGeom>
          <a:solidFill>
            <a:srgbClr val="1A1A1A"/>
          </a:solidFill>
          <a:ln w="12700">
            <a:solidFill>
              <a:srgbClr val="1A1A1A"/>
            </a:solidFill>
            <a:prstDash val="solid"/>
          </a:ln>
        </p:spPr>
      </p:sp>
      <p:sp>
        <p:nvSpPr>
          <p:cNvPr id="24" name="Text 22"/>
          <p:cNvSpPr txBox="1"/>
          <p:nvPr/>
        </p:nvSpPr>
        <p:spPr>
          <a:xfrm>
            <a:off x="521208" y="281635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Delete</a:t>
            </a:r>
            <a:endParaRPr lang="en-US" sz="1300" dirty="0"/>
          </a:p>
        </p:txBody>
      </p:sp>
      <p:sp>
        <p:nvSpPr>
          <p:cNvPr id="25" name="Text 23"/>
          <p:cNvSpPr txBox="1"/>
          <p:nvPr/>
        </p:nvSpPr>
        <p:spPr>
          <a:xfrm>
            <a:off x="2560320" y="281635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Eliminar la tarea seleccionada (pide confirmación)</a:t>
            </a:r>
            <a:endParaRPr lang="en-US" sz="1100" dirty="0"/>
          </a:p>
        </p:txBody>
      </p:sp>
      <p:sp>
        <p:nvSpPr>
          <p:cNvPr id="26" name="Shape 24"/>
          <p:cNvSpPr/>
          <p:nvPr/>
        </p:nvSpPr>
        <p:spPr>
          <a:xfrm>
            <a:off x="6263640" y="2651760"/>
            <a:ext cx="5486400" cy="749808"/>
          </a:xfrm>
          <a:prstGeom prst="roundRect">
            <a:avLst>
              <a:gd name="adj" fmla="val 9756"/>
            </a:avLst>
          </a:prstGeom>
          <a:solidFill>
            <a:srgbClr val="0D0D0D"/>
          </a:solidFill>
          <a:ln w="12700">
            <a:solidFill>
              <a:srgbClr val="333333"/>
            </a:solidFill>
            <a:prstDash val="solid"/>
          </a:ln>
        </p:spPr>
      </p:sp>
      <p:sp>
        <p:nvSpPr>
          <p:cNvPr id="27" name="Shape 25"/>
          <p:cNvSpPr/>
          <p:nvPr/>
        </p:nvSpPr>
        <p:spPr>
          <a:xfrm>
            <a:off x="6373368" y="2816352"/>
            <a:ext cx="1920240" cy="420624"/>
          </a:xfrm>
          <a:prstGeom prst="roundRect">
            <a:avLst>
              <a:gd name="adj" fmla="val 13043"/>
            </a:avLst>
          </a:prstGeom>
          <a:solidFill>
            <a:srgbClr val="1A1A1A"/>
          </a:solidFill>
          <a:ln w="12700">
            <a:solidFill>
              <a:srgbClr val="1A1A1A"/>
            </a:solidFill>
            <a:prstDash val="solid"/>
          </a:ln>
        </p:spPr>
      </p:sp>
      <p:sp>
        <p:nvSpPr>
          <p:cNvPr id="28" name="Text 26"/>
          <p:cNvSpPr txBox="1"/>
          <p:nvPr/>
        </p:nvSpPr>
        <p:spPr>
          <a:xfrm>
            <a:off x="6373368" y="281635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Tab</a:t>
            </a:r>
            <a:endParaRPr lang="en-US" sz="1300" dirty="0"/>
          </a:p>
        </p:txBody>
      </p:sp>
      <p:sp>
        <p:nvSpPr>
          <p:cNvPr id="29" name="Text 27"/>
          <p:cNvSpPr txBox="1"/>
          <p:nvPr/>
        </p:nvSpPr>
        <p:spPr>
          <a:xfrm>
            <a:off x="8412480" y="281635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Indentar tarea (hacer hija de la anterior)</a:t>
            </a:r>
            <a:endParaRPr lang="en-US" sz="1100" dirty="0"/>
          </a:p>
        </p:txBody>
      </p:sp>
      <p:sp>
        <p:nvSpPr>
          <p:cNvPr id="30" name="Shape 28"/>
          <p:cNvSpPr/>
          <p:nvPr/>
        </p:nvSpPr>
        <p:spPr>
          <a:xfrm>
            <a:off x="411480" y="3520440"/>
            <a:ext cx="5486400" cy="749808"/>
          </a:xfrm>
          <a:prstGeom prst="roundRect">
            <a:avLst>
              <a:gd name="adj" fmla="val 9756"/>
            </a:avLst>
          </a:prstGeom>
          <a:solidFill>
            <a:srgbClr val="0D0D0D"/>
          </a:solidFill>
          <a:ln w="12700">
            <a:solidFill>
              <a:srgbClr val="333333"/>
            </a:solidFill>
            <a:prstDash val="solid"/>
          </a:ln>
        </p:spPr>
      </p:sp>
      <p:sp>
        <p:nvSpPr>
          <p:cNvPr id="31" name="Shape 29"/>
          <p:cNvSpPr/>
          <p:nvPr/>
        </p:nvSpPr>
        <p:spPr>
          <a:xfrm>
            <a:off x="521208" y="3685032"/>
            <a:ext cx="1920240" cy="420624"/>
          </a:xfrm>
          <a:prstGeom prst="roundRect">
            <a:avLst>
              <a:gd name="adj" fmla="val 13043"/>
            </a:avLst>
          </a:prstGeom>
          <a:solidFill>
            <a:srgbClr val="1A1A1A"/>
          </a:solidFill>
          <a:ln w="12700">
            <a:solidFill>
              <a:srgbClr val="1A1A1A"/>
            </a:solidFill>
            <a:prstDash val="solid"/>
          </a:ln>
        </p:spPr>
      </p:sp>
      <p:sp>
        <p:nvSpPr>
          <p:cNvPr id="32" name="Text 30"/>
          <p:cNvSpPr txBox="1"/>
          <p:nvPr/>
        </p:nvSpPr>
        <p:spPr>
          <a:xfrm>
            <a:off x="521208" y="368503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Shift + Tab</a:t>
            </a:r>
            <a:endParaRPr lang="en-US" sz="1300" dirty="0"/>
          </a:p>
        </p:txBody>
      </p:sp>
      <p:sp>
        <p:nvSpPr>
          <p:cNvPr id="33" name="Text 31"/>
          <p:cNvSpPr txBox="1"/>
          <p:nvPr/>
        </p:nvSpPr>
        <p:spPr>
          <a:xfrm>
            <a:off x="2560320" y="368503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Desindentar tarea (subir un nivel)</a:t>
            </a:r>
            <a:endParaRPr lang="en-US" sz="1100" dirty="0"/>
          </a:p>
        </p:txBody>
      </p:sp>
      <p:sp>
        <p:nvSpPr>
          <p:cNvPr id="34" name="Shape 32"/>
          <p:cNvSpPr/>
          <p:nvPr/>
        </p:nvSpPr>
        <p:spPr>
          <a:xfrm>
            <a:off x="6263640" y="3520440"/>
            <a:ext cx="5486400" cy="749808"/>
          </a:xfrm>
          <a:prstGeom prst="roundRect">
            <a:avLst>
              <a:gd name="adj" fmla="val 9756"/>
            </a:avLst>
          </a:prstGeom>
          <a:solidFill>
            <a:srgbClr val="0D0D0D"/>
          </a:solidFill>
          <a:ln w="12700">
            <a:solidFill>
              <a:srgbClr val="333333"/>
            </a:solidFill>
            <a:prstDash val="solid"/>
          </a:ln>
        </p:spPr>
      </p:sp>
      <p:sp>
        <p:nvSpPr>
          <p:cNvPr id="35" name="Shape 33"/>
          <p:cNvSpPr/>
          <p:nvPr/>
        </p:nvSpPr>
        <p:spPr>
          <a:xfrm>
            <a:off x="6373368" y="3685032"/>
            <a:ext cx="1920240" cy="420624"/>
          </a:xfrm>
          <a:prstGeom prst="roundRect">
            <a:avLst>
              <a:gd name="adj" fmla="val 13043"/>
            </a:avLst>
          </a:prstGeom>
          <a:solidFill>
            <a:srgbClr val="1A1A1A"/>
          </a:solidFill>
          <a:ln w="12700">
            <a:solidFill>
              <a:srgbClr val="1A1A1A"/>
            </a:solidFill>
            <a:prstDash val="solid"/>
          </a:ln>
        </p:spPr>
      </p:sp>
      <p:sp>
        <p:nvSpPr>
          <p:cNvPr id="36" name="Text 34"/>
          <p:cNvSpPr txBox="1"/>
          <p:nvPr/>
        </p:nvSpPr>
        <p:spPr>
          <a:xfrm>
            <a:off x="6373368" y="368503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Enter</a:t>
            </a:r>
            <a:endParaRPr lang="en-US" sz="1300" dirty="0"/>
          </a:p>
        </p:txBody>
      </p:sp>
      <p:sp>
        <p:nvSpPr>
          <p:cNvPr id="37" name="Text 35"/>
          <p:cNvSpPr txBox="1"/>
          <p:nvPr/>
        </p:nvSpPr>
        <p:spPr>
          <a:xfrm>
            <a:off x="8412480" y="368503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Confirmar edición de celda</a:t>
            </a:r>
            <a:endParaRPr lang="en-US" sz="1100" dirty="0"/>
          </a:p>
        </p:txBody>
      </p:sp>
      <p:sp>
        <p:nvSpPr>
          <p:cNvPr id="38" name="Shape 36"/>
          <p:cNvSpPr/>
          <p:nvPr/>
        </p:nvSpPr>
        <p:spPr>
          <a:xfrm>
            <a:off x="411480" y="4389120"/>
            <a:ext cx="5486400" cy="749808"/>
          </a:xfrm>
          <a:prstGeom prst="roundRect">
            <a:avLst>
              <a:gd name="adj" fmla="val 9756"/>
            </a:avLst>
          </a:prstGeom>
          <a:solidFill>
            <a:srgbClr val="0D0D0D"/>
          </a:solidFill>
          <a:ln w="12700">
            <a:solidFill>
              <a:srgbClr val="333333"/>
            </a:solidFill>
            <a:prstDash val="solid"/>
          </a:ln>
        </p:spPr>
      </p:sp>
      <p:sp>
        <p:nvSpPr>
          <p:cNvPr id="39" name="Shape 37"/>
          <p:cNvSpPr/>
          <p:nvPr/>
        </p:nvSpPr>
        <p:spPr>
          <a:xfrm>
            <a:off x="521208" y="4553712"/>
            <a:ext cx="1920240" cy="420624"/>
          </a:xfrm>
          <a:prstGeom prst="roundRect">
            <a:avLst>
              <a:gd name="adj" fmla="val 13043"/>
            </a:avLst>
          </a:prstGeom>
          <a:solidFill>
            <a:srgbClr val="1A1A1A"/>
          </a:solidFill>
          <a:ln w="12700">
            <a:solidFill>
              <a:srgbClr val="1A1A1A"/>
            </a:solidFill>
            <a:prstDash val="solid"/>
          </a:ln>
        </p:spPr>
      </p:sp>
      <p:sp>
        <p:nvSpPr>
          <p:cNvPr id="40" name="Text 38"/>
          <p:cNvSpPr txBox="1"/>
          <p:nvPr/>
        </p:nvSpPr>
        <p:spPr>
          <a:xfrm>
            <a:off x="521208" y="455371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Escape</a:t>
            </a:r>
            <a:endParaRPr lang="en-US" sz="1300" dirty="0"/>
          </a:p>
        </p:txBody>
      </p:sp>
      <p:sp>
        <p:nvSpPr>
          <p:cNvPr id="41" name="Text 39"/>
          <p:cNvSpPr txBox="1"/>
          <p:nvPr/>
        </p:nvSpPr>
        <p:spPr>
          <a:xfrm>
            <a:off x="2560320" y="455371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Cancelar edición de celda</a:t>
            </a:r>
            <a:endParaRPr lang="en-US" sz="1100" dirty="0"/>
          </a:p>
        </p:txBody>
      </p:sp>
      <p:sp>
        <p:nvSpPr>
          <p:cNvPr id="42" name="Shape 40"/>
          <p:cNvSpPr/>
          <p:nvPr/>
        </p:nvSpPr>
        <p:spPr>
          <a:xfrm>
            <a:off x="6263640" y="4389120"/>
            <a:ext cx="5486400" cy="749808"/>
          </a:xfrm>
          <a:prstGeom prst="roundRect">
            <a:avLst>
              <a:gd name="adj" fmla="val 9756"/>
            </a:avLst>
          </a:prstGeom>
          <a:solidFill>
            <a:srgbClr val="0D0D0D"/>
          </a:solidFill>
          <a:ln w="12700">
            <a:solidFill>
              <a:srgbClr val="333333"/>
            </a:solidFill>
            <a:prstDash val="solid"/>
          </a:ln>
        </p:spPr>
      </p:sp>
      <p:sp>
        <p:nvSpPr>
          <p:cNvPr id="43" name="Shape 41"/>
          <p:cNvSpPr/>
          <p:nvPr/>
        </p:nvSpPr>
        <p:spPr>
          <a:xfrm>
            <a:off x="6373368" y="4553712"/>
            <a:ext cx="1920240" cy="420624"/>
          </a:xfrm>
          <a:prstGeom prst="roundRect">
            <a:avLst>
              <a:gd name="adj" fmla="val 13043"/>
            </a:avLst>
          </a:prstGeom>
          <a:solidFill>
            <a:srgbClr val="1A1A1A"/>
          </a:solidFill>
          <a:ln w="12700">
            <a:solidFill>
              <a:srgbClr val="1A1A1A"/>
            </a:solidFill>
            <a:prstDash val="solid"/>
          </a:ln>
        </p:spPr>
      </p:sp>
      <p:sp>
        <p:nvSpPr>
          <p:cNvPr id="44" name="Text 42"/>
          <p:cNvSpPr txBox="1"/>
          <p:nvPr/>
        </p:nvSpPr>
        <p:spPr>
          <a:xfrm>
            <a:off x="6373368" y="455371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Ctrl + Rueda</a:t>
            </a:r>
            <a:endParaRPr lang="en-US" sz="1300" dirty="0"/>
          </a:p>
        </p:txBody>
      </p:sp>
      <p:sp>
        <p:nvSpPr>
          <p:cNvPr id="45" name="Text 43"/>
          <p:cNvSpPr txBox="1"/>
          <p:nvPr/>
        </p:nvSpPr>
        <p:spPr>
          <a:xfrm>
            <a:off x="8412480" y="455371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Zoom in/out en el diagrama Gantt</a:t>
            </a:r>
            <a:endParaRPr lang="en-US" sz="1100" dirty="0"/>
          </a:p>
        </p:txBody>
      </p:sp>
      <p:sp>
        <p:nvSpPr>
          <p:cNvPr id="46" name="Shape 44"/>
          <p:cNvSpPr/>
          <p:nvPr/>
        </p:nvSpPr>
        <p:spPr>
          <a:xfrm>
            <a:off x="411480" y="5257800"/>
            <a:ext cx="5486400" cy="749808"/>
          </a:xfrm>
          <a:prstGeom prst="roundRect">
            <a:avLst>
              <a:gd name="adj" fmla="val 9756"/>
            </a:avLst>
          </a:prstGeom>
          <a:solidFill>
            <a:srgbClr val="0D0D0D"/>
          </a:solidFill>
          <a:ln w="12700">
            <a:solidFill>
              <a:srgbClr val="333333"/>
            </a:solidFill>
            <a:prstDash val="solid"/>
          </a:ln>
        </p:spPr>
      </p:sp>
      <p:sp>
        <p:nvSpPr>
          <p:cNvPr id="47" name="Shape 45"/>
          <p:cNvSpPr/>
          <p:nvPr/>
        </p:nvSpPr>
        <p:spPr>
          <a:xfrm>
            <a:off x="521208" y="5422392"/>
            <a:ext cx="1920240" cy="420624"/>
          </a:xfrm>
          <a:prstGeom prst="roundRect">
            <a:avLst>
              <a:gd name="adj" fmla="val 13043"/>
            </a:avLst>
          </a:prstGeom>
          <a:solidFill>
            <a:srgbClr val="1A1A1A"/>
          </a:solidFill>
          <a:ln w="12700">
            <a:solidFill>
              <a:srgbClr val="1A1A1A"/>
            </a:solidFill>
            <a:prstDash val="solid"/>
          </a:ln>
        </p:spPr>
      </p:sp>
      <p:sp>
        <p:nvSpPr>
          <p:cNvPr id="48" name="Text 46"/>
          <p:cNvSpPr txBox="1"/>
          <p:nvPr/>
        </p:nvSpPr>
        <p:spPr>
          <a:xfrm>
            <a:off x="521208" y="542239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Doble clic en celda</a:t>
            </a:r>
            <a:endParaRPr lang="en-US" sz="1300" dirty="0"/>
          </a:p>
        </p:txBody>
      </p:sp>
      <p:sp>
        <p:nvSpPr>
          <p:cNvPr id="49" name="Text 47"/>
          <p:cNvSpPr txBox="1"/>
          <p:nvPr/>
        </p:nvSpPr>
        <p:spPr>
          <a:xfrm>
            <a:off x="2560320" y="542239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Entrar en modo de edición inline</a:t>
            </a:r>
            <a:endParaRPr lang="en-US" sz="1100" dirty="0"/>
          </a:p>
        </p:txBody>
      </p:sp>
      <p:sp>
        <p:nvSpPr>
          <p:cNvPr id="50" name="Shape 48"/>
          <p:cNvSpPr/>
          <p:nvPr/>
        </p:nvSpPr>
        <p:spPr>
          <a:xfrm>
            <a:off x="6263640" y="5257800"/>
            <a:ext cx="5486400" cy="749808"/>
          </a:xfrm>
          <a:prstGeom prst="roundRect">
            <a:avLst>
              <a:gd name="adj" fmla="val 9756"/>
            </a:avLst>
          </a:prstGeom>
          <a:solidFill>
            <a:srgbClr val="0D0D0D"/>
          </a:solidFill>
          <a:ln w="12700">
            <a:solidFill>
              <a:srgbClr val="333333"/>
            </a:solidFill>
            <a:prstDash val="solid"/>
          </a:ln>
        </p:spPr>
      </p:sp>
      <p:sp>
        <p:nvSpPr>
          <p:cNvPr id="51" name="Shape 49"/>
          <p:cNvSpPr/>
          <p:nvPr/>
        </p:nvSpPr>
        <p:spPr>
          <a:xfrm>
            <a:off x="6373368" y="5422392"/>
            <a:ext cx="1920240" cy="420624"/>
          </a:xfrm>
          <a:prstGeom prst="roundRect">
            <a:avLst>
              <a:gd name="adj" fmla="val 13043"/>
            </a:avLst>
          </a:prstGeom>
          <a:solidFill>
            <a:srgbClr val="1A1A1A"/>
          </a:solidFill>
          <a:ln w="12700">
            <a:solidFill>
              <a:srgbClr val="1A1A1A"/>
            </a:solidFill>
            <a:prstDash val="solid"/>
          </a:ln>
        </p:spPr>
      </p:sp>
      <p:sp>
        <p:nvSpPr>
          <p:cNvPr id="52" name="Text 50"/>
          <p:cNvSpPr txBox="1"/>
          <p:nvPr/>
        </p:nvSpPr>
        <p:spPr>
          <a:xfrm>
            <a:off x="6373368" y="5422392"/>
            <a:ext cx="1920240" cy="420624"/>
          </a:xfrm>
          <a:prstGeom prst="rect">
            <a:avLst/>
          </a:prstGeom>
          <a:noFill/>
          <a:ln/>
        </p:spPr>
        <p:txBody>
          <a:bodyPr wrap="square" lIns="0" tIns="0" rIns="0" bIns="0" rtlCol="0" anchor="ctr"/>
          <a:lstStyle/>
          <a:p>
            <a:pPr algn="ctr" indent="0" marL="0">
              <a:buNone/>
            </a:pPr>
            <a:r>
              <a:rPr lang="en-US" sz="1300" b="1" dirty="0">
                <a:solidFill>
                  <a:srgbClr val="4AF6C3"/>
                </a:solidFill>
                <a:latin typeface="Courier New" pitchFamily="34" charset="0"/>
                <a:ea typeface="Courier New" pitchFamily="34" charset="-122"/>
                <a:cs typeface="Courier New" pitchFamily="34" charset="-120"/>
              </a:rPr>
              <a:t>Clic en barra Gantt</a:t>
            </a:r>
            <a:endParaRPr lang="en-US" sz="1300" dirty="0"/>
          </a:p>
        </p:txBody>
      </p:sp>
      <p:sp>
        <p:nvSpPr>
          <p:cNvPr id="53" name="Text 51"/>
          <p:cNvSpPr txBox="1"/>
          <p:nvPr/>
        </p:nvSpPr>
        <p:spPr>
          <a:xfrm>
            <a:off x="8412480" y="5422392"/>
            <a:ext cx="3200400" cy="420624"/>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Seleccionar actividad correspondiente en la tabla</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ERRORES FRECUENTES Y SOLUCIONES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11338560" cy="1024128"/>
          </a:xfrm>
          <a:prstGeom prst="roundRect">
            <a:avLst>
              <a:gd name="adj" fmla="val 7143"/>
            </a:avLst>
          </a:prstGeom>
          <a:solidFill>
            <a:srgbClr val="0D0D0D"/>
          </a:solidFill>
          <a:ln w="12700">
            <a:solidFill>
              <a:srgbClr val="FF433D"/>
            </a:solidFill>
            <a:prstDash val="solid"/>
          </a:ln>
        </p:spPr>
      </p:sp>
      <p:sp>
        <p:nvSpPr>
          <p:cNvPr id="7" name="Shape 5"/>
          <p:cNvSpPr/>
          <p:nvPr/>
        </p:nvSpPr>
        <p:spPr>
          <a:xfrm>
            <a:off x="411480" y="914400"/>
            <a:ext cx="64008" cy="1024128"/>
          </a:xfrm>
          <a:prstGeom prst="rect">
            <a:avLst/>
          </a:prstGeom>
          <a:solidFill>
            <a:srgbClr val="FF433D"/>
          </a:solidFill>
          <a:ln w="12700">
            <a:solidFill>
              <a:srgbClr val="FF433D"/>
            </a:solidFill>
            <a:prstDash val="solid"/>
          </a:ln>
        </p:spPr>
      </p:sp>
      <p:sp>
        <p:nvSpPr>
          <p:cNvPr id="8" name="Text 6"/>
          <p:cNvSpPr txBox="1"/>
          <p:nvPr/>
        </p:nvSpPr>
        <p:spPr>
          <a:xfrm>
            <a:off x="594360" y="987552"/>
            <a:ext cx="3200400" cy="384048"/>
          </a:xfrm>
          <a:prstGeom prst="rect">
            <a:avLst/>
          </a:prstGeom>
          <a:noFill/>
          <a:ln/>
        </p:spPr>
        <p:txBody>
          <a:bodyPr wrap="square" lIns="0" tIns="0" rIns="0" bIns="0" rtlCol="0" anchor="ctr"/>
          <a:lstStyle/>
          <a:p>
            <a:pPr indent="0" marL="0">
              <a:buNone/>
            </a:pPr>
            <a:r>
              <a:rPr lang="en-US" sz="1300" b="1" dirty="0">
                <a:solidFill>
                  <a:srgbClr val="FF433D"/>
                </a:solidFill>
                <a:latin typeface="Epilogue" pitchFamily="34" charset="0"/>
                <a:ea typeface="Epilogue" pitchFamily="34" charset="-122"/>
                <a:cs typeface="Epilogue" pitchFamily="34" charset="-120"/>
              </a:rPr>
              <a:t>⚠ Alerta CICLO</a:t>
            </a:r>
            <a:endParaRPr lang="en-US" sz="1300" dirty="0"/>
          </a:p>
        </p:txBody>
      </p:sp>
      <p:sp>
        <p:nvSpPr>
          <p:cNvPr id="9" name="Text 7"/>
          <p:cNvSpPr txBox="1"/>
          <p:nvPr/>
        </p:nvSpPr>
        <p:spPr>
          <a:xfrm>
            <a:off x="3931920" y="987552"/>
            <a:ext cx="777240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Se detectó una dependencia circular (ej: A→B→C→A). El CPM no puede calcular las fechas.</a:t>
            </a:r>
            <a:endParaRPr lang="en-US" sz="1100" dirty="0"/>
          </a:p>
        </p:txBody>
      </p:sp>
      <p:sp>
        <p:nvSpPr>
          <p:cNvPr id="10" name="Text 8"/>
          <p:cNvSpPr txBox="1"/>
          <p:nvPr/>
        </p:nvSpPr>
        <p:spPr>
          <a:xfrm>
            <a:off x="594360" y="1481328"/>
            <a:ext cx="10972800" cy="38404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 Revisa las predecesoras de las tareas involucradas. Elimina la relación que cierra el ciclo. La columna ALERTAS indica las tareas afectadas.</a:t>
            </a:r>
            <a:endParaRPr lang="en-US" sz="1100" dirty="0"/>
          </a:p>
        </p:txBody>
      </p:sp>
      <p:sp>
        <p:nvSpPr>
          <p:cNvPr id="11" name="Shape 9"/>
          <p:cNvSpPr/>
          <p:nvPr/>
        </p:nvSpPr>
        <p:spPr>
          <a:xfrm>
            <a:off x="411480" y="2084832"/>
            <a:ext cx="11338560" cy="1024128"/>
          </a:xfrm>
          <a:prstGeom prst="roundRect">
            <a:avLst>
              <a:gd name="adj" fmla="val 7143"/>
            </a:avLst>
          </a:prstGeom>
          <a:solidFill>
            <a:srgbClr val="0D0D0D"/>
          </a:solidFill>
          <a:ln w="12700">
            <a:solidFill>
              <a:srgbClr val="FF433D"/>
            </a:solidFill>
            <a:prstDash val="solid"/>
          </a:ln>
        </p:spPr>
      </p:sp>
      <p:sp>
        <p:nvSpPr>
          <p:cNvPr id="12" name="Shape 10"/>
          <p:cNvSpPr/>
          <p:nvPr/>
        </p:nvSpPr>
        <p:spPr>
          <a:xfrm>
            <a:off x="411480" y="2084832"/>
            <a:ext cx="64008" cy="1024128"/>
          </a:xfrm>
          <a:prstGeom prst="rect">
            <a:avLst/>
          </a:prstGeom>
          <a:solidFill>
            <a:srgbClr val="FF433D"/>
          </a:solidFill>
          <a:ln w="12700">
            <a:solidFill>
              <a:srgbClr val="FF433D"/>
            </a:solidFill>
            <a:prstDash val="solid"/>
          </a:ln>
        </p:spPr>
      </p:sp>
      <p:sp>
        <p:nvSpPr>
          <p:cNvPr id="13" name="Text 11"/>
          <p:cNvSpPr txBox="1"/>
          <p:nvPr/>
        </p:nvSpPr>
        <p:spPr>
          <a:xfrm>
            <a:off x="594360" y="2157984"/>
            <a:ext cx="3200400" cy="384048"/>
          </a:xfrm>
          <a:prstGeom prst="rect">
            <a:avLst/>
          </a:prstGeom>
          <a:noFill/>
          <a:ln/>
        </p:spPr>
        <p:txBody>
          <a:bodyPr wrap="square" lIns="0" tIns="0" rIns="0" bIns="0" rtlCol="0" anchor="ctr"/>
          <a:lstStyle/>
          <a:p>
            <a:pPr indent="0" marL="0">
              <a:buNone/>
            </a:pPr>
            <a:r>
              <a:rPr lang="en-US" sz="1300" b="1" dirty="0">
                <a:solidFill>
                  <a:srgbClr val="FF433D"/>
                </a:solidFill>
                <a:latin typeface="Epilogue" pitchFamily="34" charset="0"/>
                <a:ea typeface="Epilogue" pitchFamily="34" charset="-122"/>
                <a:cs typeface="Epilogue" pitchFamily="34" charset="-120"/>
              </a:rPr>
              <a:t>⚠ Float negativo (HT &lt; 0)</a:t>
            </a:r>
            <a:endParaRPr lang="en-US" sz="1300" dirty="0"/>
          </a:p>
        </p:txBody>
      </p:sp>
      <p:sp>
        <p:nvSpPr>
          <p:cNvPr id="14" name="Text 12"/>
          <p:cNvSpPr txBox="1"/>
          <p:nvPr/>
        </p:nvSpPr>
        <p:spPr>
          <a:xfrm>
            <a:off x="3931920" y="2157984"/>
            <a:ext cx="777240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Una restricción dura (MSO/MFO) conflicta con la lógica CPM. La tarea "debería" terminar después de su restricción.</a:t>
            </a:r>
            <a:endParaRPr lang="en-US" sz="1100" dirty="0"/>
          </a:p>
        </p:txBody>
      </p:sp>
      <p:sp>
        <p:nvSpPr>
          <p:cNvPr id="15" name="Text 13"/>
          <p:cNvSpPr txBox="1"/>
          <p:nvPr/>
        </p:nvSpPr>
        <p:spPr>
          <a:xfrm>
            <a:off x="594360" y="2651760"/>
            <a:ext cx="10972800" cy="38404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 Revisa la restricción de fecha de la tarea. Considera cambiar a SNET/SNLT (restricciones suaves) o ajustar las predecesoras.</a:t>
            </a:r>
            <a:endParaRPr lang="en-US" sz="1100" dirty="0"/>
          </a:p>
        </p:txBody>
      </p:sp>
      <p:sp>
        <p:nvSpPr>
          <p:cNvPr id="16" name="Shape 14"/>
          <p:cNvSpPr/>
          <p:nvPr/>
        </p:nvSpPr>
        <p:spPr>
          <a:xfrm>
            <a:off x="411480" y="3255264"/>
            <a:ext cx="11338560" cy="1024128"/>
          </a:xfrm>
          <a:prstGeom prst="roundRect">
            <a:avLst>
              <a:gd name="adj" fmla="val 7143"/>
            </a:avLst>
          </a:prstGeom>
          <a:solidFill>
            <a:srgbClr val="0D0D0D"/>
          </a:solidFill>
          <a:ln w="12700">
            <a:solidFill>
              <a:srgbClr val="FFA028"/>
            </a:solidFill>
            <a:prstDash val="solid"/>
          </a:ln>
        </p:spPr>
      </p:sp>
      <p:sp>
        <p:nvSpPr>
          <p:cNvPr id="17" name="Shape 15"/>
          <p:cNvSpPr/>
          <p:nvPr/>
        </p:nvSpPr>
        <p:spPr>
          <a:xfrm>
            <a:off x="411480" y="3255264"/>
            <a:ext cx="64008" cy="1024128"/>
          </a:xfrm>
          <a:prstGeom prst="rect">
            <a:avLst/>
          </a:prstGeom>
          <a:solidFill>
            <a:srgbClr val="FFA028"/>
          </a:solidFill>
          <a:ln w="12700">
            <a:solidFill>
              <a:srgbClr val="FFA028"/>
            </a:solidFill>
            <a:prstDash val="solid"/>
          </a:ln>
        </p:spPr>
      </p:sp>
      <p:sp>
        <p:nvSpPr>
          <p:cNvPr id="18" name="Text 16"/>
          <p:cNvSpPr txBox="1"/>
          <p:nvPr/>
        </p:nvSpPr>
        <p:spPr>
          <a:xfrm>
            <a:off x="594360" y="3328416"/>
            <a:ext cx="3200400" cy="384048"/>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Tarea sin predecesoras</a:t>
            </a:r>
            <a:endParaRPr lang="en-US" sz="1300" dirty="0"/>
          </a:p>
        </p:txBody>
      </p:sp>
      <p:sp>
        <p:nvSpPr>
          <p:cNvPr id="19" name="Text 17"/>
          <p:cNvSpPr txBox="1"/>
          <p:nvPr/>
        </p:nvSpPr>
        <p:spPr>
          <a:xfrm>
            <a:off x="3931920" y="3328416"/>
            <a:ext cx="777240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La alerta NO_PRED indica que la tarea no está conectada al inicio del proyecto.</a:t>
            </a:r>
            <a:endParaRPr lang="en-US" sz="1100" dirty="0"/>
          </a:p>
        </p:txBody>
      </p:sp>
      <p:sp>
        <p:nvSpPr>
          <p:cNvPr id="20" name="Text 18"/>
          <p:cNvSpPr txBox="1"/>
          <p:nvPr/>
        </p:nvSpPr>
        <p:spPr>
          <a:xfrm>
            <a:off x="594360" y="3822192"/>
            <a:ext cx="10972800" cy="38404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 Excepto la primera actividad, todas deben tener predecesora. Agrega la dependencia faltante.</a:t>
            </a:r>
            <a:endParaRPr lang="en-US" sz="1100" dirty="0"/>
          </a:p>
        </p:txBody>
      </p:sp>
      <p:sp>
        <p:nvSpPr>
          <p:cNvPr id="21" name="Shape 19"/>
          <p:cNvSpPr/>
          <p:nvPr/>
        </p:nvSpPr>
        <p:spPr>
          <a:xfrm>
            <a:off x="411480" y="4425696"/>
            <a:ext cx="11338560" cy="1024128"/>
          </a:xfrm>
          <a:prstGeom prst="roundRect">
            <a:avLst>
              <a:gd name="adj" fmla="val 7143"/>
            </a:avLst>
          </a:prstGeom>
          <a:solidFill>
            <a:srgbClr val="0D0D0D"/>
          </a:solidFill>
          <a:ln w="12700">
            <a:solidFill>
              <a:srgbClr val="FFA028"/>
            </a:solidFill>
            <a:prstDash val="solid"/>
          </a:ln>
        </p:spPr>
      </p:sp>
      <p:sp>
        <p:nvSpPr>
          <p:cNvPr id="22" name="Shape 20"/>
          <p:cNvSpPr/>
          <p:nvPr/>
        </p:nvSpPr>
        <p:spPr>
          <a:xfrm>
            <a:off x="411480" y="4425696"/>
            <a:ext cx="64008" cy="1024128"/>
          </a:xfrm>
          <a:prstGeom prst="rect">
            <a:avLst/>
          </a:prstGeom>
          <a:solidFill>
            <a:srgbClr val="FFA028"/>
          </a:solidFill>
          <a:ln w="12700">
            <a:solidFill>
              <a:srgbClr val="FFA028"/>
            </a:solidFill>
            <a:prstDash val="solid"/>
          </a:ln>
        </p:spPr>
      </p:sp>
      <p:sp>
        <p:nvSpPr>
          <p:cNvPr id="23" name="Text 21"/>
          <p:cNvSpPr txBox="1"/>
          <p:nvPr/>
        </p:nvSpPr>
        <p:spPr>
          <a:xfrm>
            <a:off x="594360" y="4498848"/>
            <a:ext cx="3200400" cy="384048"/>
          </a:xfrm>
          <a:prstGeom prst="rect">
            <a:avLst/>
          </a:prstGeom>
          <a:noFill/>
          <a:ln/>
        </p:spPr>
        <p:txBody>
          <a:bodyPr wrap="square" lIns="0" tIns="0" rIns="0" bIns="0" rtlCol="0" anchor="ctr"/>
          <a:lstStyle/>
          <a:p>
            <a:pPr indent="0" marL="0">
              <a:buNone/>
            </a:pPr>
            <a:r>
              <a:rPr lang="en-US" sz="1300" b="1" dirty="0">
                <a:solidFill>
                  <a:srgbClr val="FFA028"/>
                </a:solidFill>
                <a:latin typeface="Epilogue" pitchFamily="34" charset="0"/>
                <a:ea typeface="Epilogue" pitchFamily="34" charset="-122"/>
                <a:cs typeface="Epilogue" pitchFamily="34" charset="-120"/>
              </a:rPr>
              <a:t>⚠ Fecha inicio no cambia</a:t>
            </a:r>
            <a:endParaRPr lang="en-US" sz="1300" dirty="0"/>
          </a:p>
        </p:txBody>
      </p:sp>
      <p:sp>
        <p:nvSpPr>
          <p:cNvPr id="24" name="Text 22"/>
          <p:cNvSpPr txBox="1"/>
          <p:nvPr/>
        </p:nvSpPr>
        <p:spPr>
          <a:xfrm>
            <a:off x="3931920" y="4498848"/>
            <a:ext cx="777240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Con Auto-calc activo, el CPM controla las fechas. Editarlas directamente puede no tener efecto.</a:t>
            </a:r>
            <a:endParaRPr lang="en-US" sz="1100" dirty="0"/>
          </a:p>
        </p:txBody>
      </p:sp>
      <p:sp>
        <p:nvSpPr>
          <p:cNvPr id="25" name="Text 23"/>
          <p:cNvSpPr txBox="1"/>
          <p:nvPr/>
        </p:nvSpPr>
        <p:spPr>
          <a:xfrm>
            <a:off x="594360" y="4992624"/>
            <a:ext cx="10972800" cy="38404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 Desactiva Auto-calc para editar fechas manualmente, o usa restricciones SNET para forzar una fecha de inicio mínima.</a:t>
            </a:r>
            <a:endParaRPr lang="en-US" sz="1100" dirty="0"/>
          </a:p>
        </p:txBody>
      </p:sp>
      <p:sp>
        <p:nvSpPr>
          <p:cNvPr id="26" name="Shape 24"/>
          <p:cNvSpPr/>
          <p:nvPr/>
        </p:nvSpPr>
        <p:spPr>
          <a:xfrm>
            <a:off x="411480" y="5596128"/>
            <a:ext cx="11338560" cy="1024128"/>
          </a:xfrm>
          <a:prstGeom prst="roundRect">
            <a:avLst>
              <a:gd name="adj" fmla="val 7143"/>
            </a:avLst>
          </a:prstGeom>
          <a:solidFill>
            <a:srgbClr val="0D0D0D"/>
          </a:solidFill>
          <a:ln w="12700">
            <a:solidFill>
              <a:srgbClr val="A0A0A0"/>
            </a:solidFill>
            <a:prstDash val="solid"/>
          </a:ln>
        </p:spPr>
      </p:sp>
      <p:sp>
        <p:nvSpPr>
          <p:cNvPr id="27" name="Shape 25"/>
          <p:cNvSpPr/>
          <p:nvPr/>
        </p:nvSpPr>
        <p:spPr>
          <a:xfrm>
            <a:off x="411480" y="5596128"/>
            <a:ext cx="64008" cy="1024128"/>
          </a:xfrm>
          <a:prstGeom prst="rect">
            <a:avLst/>
          </a:prstGeom>
          <a:solidFill>
            <a:srgbClr val="A0A0A0"/>
          </a:solidFill>
          <a:ln w="12700">
            <a:solidFill>
              <a:srgbClr val="A0A0A0"/>
            </a:solidFill>
            <a:prstDash val="solid"/>
          </a:ln>
        </p:spPr>
      </p:sp>
      <p:sp>
        <p:nvSpPr>
          <p:cNvPr id="28" name="Text 26"/>
          <p:cNvSpPr txBox="1"/>
          <p:nvPr/>
        </p:nvSpPr>
        <p:spPr>
          <a:xfrm>
            <a:off x="594360" y="5669280"/>
            <a:ext cx="3200400" cy="384048"/>
          </a:xfrm>
          <a:prstGeom prst="rect">
            <a:avLst/>
          </a:prstGeom>
          <a:noFill/>
          <a:ln/>
        </p:spPr>
        <p:txBody>
          <a:bodyPr wrap="square" lIns="0" tIns="0" rIns="0" bIns="0" rtlCol="0" anchor="ctr"/>
          <a:lstStyle/>
          <a:p>
            <a:pPr indent="0" marL="0">
              <a:buNone/>
            </a:pPr>
            <a:r>
              <a:rPr lang="en-US" sz="1300" b="1" dirty="0">
                <a:solidFill>
                  <a:srgbClr val="A0A0A0"/>
                </a:solidFill>
                <a:latin typeface="Epilogue" pitchFamily="34" charset="0"/>
                <a:ea typeface="Epilogue" pitchFamily="34" charset="-122"/>
                <a:cs typeface="Epilogue" pitchFamily="34" charset="-120"/>
              </a:rPr>
              <a:t>⚠ EVM muestra valores en 0</a:t>
            </a:r>
            <a:endParaRPr lang="en-US" sz="1300" dirty="0"/>
          </a:p>
        </p:txBody>
      </p:sp>
      <p:sp>
        <p:nvSpPr>
          <p:cNvPr id="29" name="Text 27"/>
          <p:cNvSpPr txBox="1"/>
          <p:nvPr/>
        </p:nvSpPr>
        <p:spPr>
          <a:xfrm>
            <a:off x="3931920" y="5669280"/>
            <a:ext cx="7772400" cy="365760"/>
          </a:xfrm>
          <a:prstGeom prst="rect">
            <a:avLst/>
          </a:prstGeom>
          <a:noFill/>
          <a:ln/>
        </p:spPr>
        <p:txBody>
          <a:bodyPr wrap="square" lIns="0" tIns="0" rIns="0" bIns="0" rtlCol="0" anchor="ctr"/>
          <a:lstStyle/>
          <a:p>
            <a:pPr indent="0" marL="0">
              <a:buNone/>
            </a:pPr>
            <a:r>
              <a:rPr lang="en-US" sz="1100" dirty="0">
                <a:solidFill>
                  <a:srgbClr val="FFFFFF"/>
                </a:solidFill>
                <a:latin typeface="Epilogue" pitchFamily="34" charset="0"/>
                <a:ea typeface="Epilogue" pitchFamily="34" charset="-122"/>
                <a:cs typeface="Epilogue" pitchFamily="34" charset="-120"/>
              </a:rPr>
              <a:t>El módulo EVM requiere que las actividades tengan costo planificado (costo_planificado) asignado.</a:t>
            </a:r>
            <a:endParaRPr lang="en-US" sz="1100" dirty="0"/>
          </a:p>
        </p:txBody>
      </p:sp>
      <p:sp>
        <p:nvSpPr>
          <p:cNvPr id="30" name="Text 28"/>
          <p:cNvSpPr txBox="1"/>
          <p:nvPr/>
        </p:nvSpPr>
        <p:spPr>
          <a:xfrm>
            <a:off x="594360" y="6163056"/>
            <a:ext cx="10972800" cy="384048"/>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 Ingresa el costo planificado de cada actividad en la tabla. Sin costos, PV, EV y AC serán 0.</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1A"/>
          </a:solidFill>
          <a:ln w="12700">
            <a:solidFill>
              <a:srgbClr val="1A1A1A"/>
            </a:solidFill>
            <a:prstDash val="solid"/>
          </a:ln>
        </p:spPr>
      </p:sp>
      <p:sp>
        <p:nvSpPr>
          <p:cNvPr id="3" name="Shape 1"/>
          <p:cNvSpPr/>
          <p:nvPr/>
        </p:nvSpPr>
        <p:spPr>
          <a:xfrm>
            <a:off x="0" y="0"/>
            <a:ext cx="12188952" cy="64008"/>
          </a:xfrm>
          <a:prstGeom prst="rect">
            <a:avLst/>
          </a:prstGeom>
          <a:solidFill>
            <a:srgbClr val="FFA028"/>
          </a:solidFill>
          <a:ln w="12700">
            <a:solidFill>
              <a:srgbClr val="FFA028"/>
            </a:solidFill>
            <a:prstDash val="solid"/>
          </a:ln>
        </p:spPr>
      </p:sp>
      <p:sp>
        <p:nvSpPr>
          <p:cNvPr id="4" name="Text 2"/>
          <p:cNvSpPr txBox="1"/>
          <p:nvPr/>
        </p:nvSpPr>
        <p:spPr>
          <a:xfrm>
            <a:off x="411480" y="201168"/>
            <a:ext cx="11338560" cy="384048"/>
          </a:xfrm>
          <a:prstGeom prst="rect">
            <a:avLst/>
          </a:prstGeom>
          <a:noFill/>
          <a:ln/>
        </p:spPr>
        <p:txBody>
          <a:bodyPr wrap="square" lIns="0" tIns="0" rIns="0" bIns="0" rtlCol="0" anchor="ctr"/>
          <a:lstStyle/>
          <a:p>
            <a:pPr indent="0" marL="0">
              <a:buNone/>
            </a:pPr>
            <a:r>
              <a:rPr lang="en-US" sz="2200" b="1" dirty="0">
                <a:solidFill>
                  <a:srgbClr val="FFA028"/>
                </a:solidFill>
                <a:latin typeface="Epilogue" pitchFamily="34" charset="0"/>
                <a:ea typeface="Epilogue" pitchFamily="34" charset="-122"/>
                <a:cs typeface="Epilogue" pitchFamily="34" charset="-120"/>
              </a:rPr>
              <a:t>MEJORES PRÁCTICAS Y TIPS</a:t>
            </a:r>
            <a:endParaRPr lang="en-US" sz="2200" dirty="0"/>
          </a:p>
        </p:txBody>
      </p:sp>
      <p:sp>
        <p:nvSpPr>
          <p:cNvPr id="5" name="Shape 3"/>
          <p:cNvSpPr/>
          <p:nvPr/>
        </p:nvSpPr>
        <p:spPr>
          <a:xfrm>
            <a:off x="411480" y="612648"/>
            <a:ext cx="11338560" cy="18288"/>
          </a:xfrm>
          <a:prstGeom prst="rect">
            <a:avLst/>
          </a:prstGeom>
          <a:solidFill>
            <a:srgbClr val="333333"/>
          </a:solidFill>
          <a:ln w="12700">
            <a:solidFill>
              <a:srgbClr val="333333"/>
            </a:solidFill>
            <a:prstDash val="solid"/>
          </a:ln>
        </p:spPr>
      </p:sp>
      <p:sp>
        <p:nvSpPr>
          <p:cNvPr id="6" name="Shape 4"/>
          <p:cNvSpPr/>
          <p:nvPr/>
        </p:nvSpPr>
        <p:spPr>
          <a:xfrm>
            <a:off x="411480" y="914400"/>
            <a:ext cx="5486400" cy="1664208"/>
          </a:xfrm>
          <a:prstGeom prst="roundRect">
            <a:avLst>
              <a:gd name="adj" fmla="val 4396"/>
            </a:avLst>
          </a:prstGeom>
          <a:solidFill>
            <a:srgbClr val="1A1A1A"/>
          </a:solidFill>
          <a:ln w="12700">
            <a:solidFill>
              <a:srgbClr val="333333"/>
            </a:solidFill>
            <a:prstDash val="solid"/>
          </a:ln>
        </p:spPr>
      </p:sp>
      <p:sp>
        <p:nvSpPr>
          <p:cNvPr id="7" name="Text 5"/>
          <p:cNvSpPr txBox="1"/>
          <p:nvPr/>
        </p:nvSpPr>
        <p:spPr>
          <a:xfrm>
            <a:off x="548640" y="1024128"/>
            <a:ext cx="5212080" cy="438912"/>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Respaldo regular</a:t>
            </a:r>
            <a:endParaRPr lang="en-US" sz="1400" dirty="0"/>
          </a:p>
        </p:txBody>
      </p:sp>
      <p:sp>
        <p:nvSpPr>
          <p:cNvPr id="8" name="Text 6"/>
          <p:cNvSpPr txBox="1"/>
          <p:nvPr/>
        </p:nvSpPr>
        <p:spPr>
          <a:xfrm>
            <a:off x="548640" y="1536192"/>
            <a:ext cx="5212080" cy="9144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Exporta el proyecto como JSON periódicamente. Es el formato nativo de ECM Project y contiene TODOS los datos: tareas, dependencias, calendarios y líneas base.</a:t>
            </a:r>
            <a:endParaRPr lang="en-US" sz="1100" dirty="0"/>
          </a:p>
        </p:txBody>
      </p:sp>
      <p:sp>
        <p:nvSpPr>
          <p:cNvPr id="9" name="Shape 7"/>
          <p:cNvSpPr/>
          <p:nvPr/>
        </p:nvSpPr>
        <p:spPr>
          <a:xfrm>
            <a:off x="6263640" y="914400"/>
            <a:ext cx="5486400" cy="1664208"/>
          </a:xfrm>
          <a:prstGeom prst="roundRect">
            <a:avLst>
              <a:gd name="adj" fmla="val 4396"/>
            </a:avLst>
          </a:prstGeom>
          <a:solidFill>
            <a:srgbClr val="1A1A1A"/>
          </a:solidFill>
          <a:ln w="12700">
            <a:solidFill>
              <a:srgbClr val="333333"/>
            </a:solidFill>
            <a:prstDash val="solid"/>
          </a:ln>
        </p:spPr>
      </p:sp>
      <p:sp>
        <p:nvSpPr>
          <p:cNvPr id="10" name="Text 8"/>
          <p:cNvSpPr txBox="1"/>
          <p:nvPr/>
        </p:nvSpPr>
        <p:spPr>
          <a:xfrm>
            <a:off x="6400800" y="1024128"/>
            <a:ext cx="5212080" cy="438912"/>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Línea base antes de reprogramar</a:t>
            </a:r>
            <a:endParaRPr lang="en-US" sz="1400" dirty="0"/>
          </a:p>
        </p:txBody>
      </p:sp>
      <p:sp>
        <p:nvSpPr>
          <p:cNvPr id="11" name="Text 9"/>
          <p:cNvSpPr txBox="1"/>
          <p:nvPr/>
        </p:nvSpPr>
        <p:spPr>
          <a:xfrm>
            <a:off x="6400800" y="1536192"/>
            <a:ext cx="5212080" cy="9144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Siempre guarda una línea base antes de hacer cambios importantes al cronograma. Esto te permite comparar el plan original con los cambios.</a:t>
            </a:r>
            <a:endParaRPr lang="en-US" sz="1100" dirty="0"/>
          </a:p>
        </p:txBody>
      </p:sp>
      <p:sp>
        <p:nvSpPr>
          <p:cNvPr id="12" name="Shape 10"/>
          <p:cNvSpPr/>
          <p:nvPr/>
        </p:nvSpPr>
        <p:spPr>
          <a:xfrm>
            <a:off x="411480" y="2743200"/>
            <a:ext cx="5486400" cy="1664208"/>
          </a:xfrm>
          <a:prstGeom prst="roundRect">
            <a:avLst>
              <a:gd name="adj" fmla="val 4396"/>
            </a:avLst>
          </a:prstGeom>
          <a:solidFill>
            <a:srgbClr val="1A1A1A"/>
          </a:solidFill>
          <a:ln w="12700">
            <a:solidFill>
              <a:srgbClr val="333333"/>
            </a:solidFill>
            <a:prstDash val="solid"/>
          </a:ln>
        </p:spPr>
      </p:sp>
      <p:sp>
        <p:nvSpPr>
          <p:cNvPr id="13" name="Text 11"/>
          <p:cNvSpPr txBox="1"/>
          <p:nvPr/>
        </p:nvSpPr>
        <p:spPr>
          <a:xfrm>
            <a:off x="548640" y="2852928"/>
            <a:ext cx="5212080" cy="438912"/>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Usa Auto-calc</a:t>
            </a:r>
            <a:endParaRPr lang="en-US" sz="1400" dirty="0"/>
          </a:p>
        </p:txBody>
      </p:sp>
      <p:sp>
        <p:nvSpPr>
          <p:cNvPr id="14" name="Text 12"/>
          <p:cNvSpPr txBox="1"/>
          <p:nvPr/>
        </p:nvSpPr>
        <p:spPr>
          <a:xfrm>
            <a:off x="548640" y="3364992"/>
            <a:ext cx="5212080" cy="9144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Con Auto-calc activado, el CPM recalcula automáticamente al editar. Desactívalo solo si necesitas ingresar muchas actividades de forma manual sin recálculo.</a:t>
            </a:r>
            <a:endParaRPr lang="en-US" sz="1100" dirty="0"/>
          </a:p>
        </p:txBody>
      </p:sp>
      <p:sp>
        <p:nvSpPr>
          <p:cNvPr id="15" name="Shape 13"/>
          <p:cNvSpPr/>
          <p:nvPr/>
        </p:nvSpPr>
        <p:spPr>
          <a:xfrm>
            <a:off x="6263640" y="2743200"/>
            <a:ext cx="5486400" cy="1664208"/>
          </a:xfrm>
          <a:prstGeom prst="roundRect">
            <a:avLst>
              <a:gd name="adj" fmla="val 4396"/>
            </a:avLst>
          </a:prstGeom>
          <a:solidFill>
            <a:srgbClr val="1A1A1A"/>
          </a:solidFill>
          <a:ln w="12700">
            <a:solidFill>
              <a:srgbClr val="333333"/>
            </a:solidFill>
            <a:prstDash val="solid"/>
          </a:ln>
        </p:spPr>
      </p:sp>
      <p:sp>
        <p:nvSpPr>
          <p:cNvPr id="16" name="Text 14"/>
          <p:cNvSpPr txBox="1"/>
          <p:nvPr/>
        </p:nvSpPr>
        <p:spPr>
          <a:xfrm>
            <a:off x="6400800" y="2852928"/>
            <a:ext cx="5212080" cy="438912"/>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Lógica completa</a:t>
            </a:r>
            <a:endParaRPr lang="en-US" sz="1400" dirty="0"/>
          </a:p>
        </p:txBody>
      </p:sp>
      <p:sp>
        <p:nvSpPr>
          <p:cNvPr id="17" name="Text 15"/>
          <p:cNvSpPr txBox="1"/>
          <p:nvPr/>
        </p:nvSpPr>
        <p:spPr>
          <a:xfrm>
            <a:off x="6400800" y="3364992"/>
            <a:ext cx="5212080" cy="9144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Asegúrate de que todas las actividades (excepto la primera y última) tengan al menos una predecesora y una sucesora. Esto pasa el check de Logic en DCMA.</a:t>
            </a:r>
            <a:endParaRPr lang="en-US" sz="1100" dirty="0"/>
          </a:p>
        </p:txBody>
      </p:sp>
      <p:sp>
        <p:nvSpPr>
          <p:cNvPr id="18" name="Shape 16"/>
          <p:cNvSpPr/>
          <p:nvPr/>
        </p:nvSpPr>
        <p:spPr>
          <a:xfrm>
            <a:off x="411480" y="4572000"/>
            <a:ext cx="5486400" cy="1664208"/>
          </a:xfrm>
          <a:prstGeom prst="roundRect">
            <a:avLst>
              <a:gd name="adj" fmla="val 4396"/>
            </a:avLst>
          </a:prstGeom>
          <a:solidFill>
            <a:srgbClr val="1A1A1A"/>
          </a:solidFill>
          <a:ln w="12700">
            <a:solidFill>
              <a:srgbClr val="333333"/>
            </a:solidFill>
            <a:prstDash val="solid"/>
          </a:ln>
        </p:spPr>
      </p:sp>
      <p:sp>
        <p:nvSpPr>
          <p:cNvPr id="19" name="Text 17"/>
          <p:cNvSpPr txBox="1"/>
          <p:nvPr/>
        </p:nvSpPr>
        <p:spPr>
          <a:xfrm>
            <a:off x="548640" y="4681728"/>
            <a:ext cx="5212080" cy="438912"/>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Chrome / Edge recomendados</a:t>
            </a:r>
            <a:endParaRPr lang="en-US" sz="1400" dirty="0"/>
          </a:p>
        </p:txBody>
      </p:sp>
      <p:sp>
        <p:nvSpPr>
          <p:cNvPr id="20" name="Text 18"/>
          <p:cNvSpPr txBox="1"/>
          <p:nvPr/>
        </p:nvSpPr>
        <p:spPr>
          <a:xfrm>
            <a:off x="548640" y="5193792"/>
            <a:ext cx="5212080" cy="9144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ECM Project funciona mejor en Chromium-based browsers (Chrome, Edge). Firefox es compatible. Para mejor experiencia, usa pantalla completa (F11).</a:t>
            </a:r>
            <a:endParaRPr lang="en-US" sz="1100" dirty="0"/>
          </a:p>
        </p:txBody>
      </p:sp>
      <p:sp>
        <p:nvSpPr>
          <p:cNvPr id="21" name="Shape 19"/>
          <p:cNvSpPr/>
          <p:nvPr/>
        </p:nvSpPr>
        <p:spPr>
          <a:xfrm>
            <a:off x="6263640" y="4572000"/>
            <a:ext cx="5486400" cy="1664208"/>
          </a:xfrm>
          <a:prstGeom prst="roundRect">
            <a:avLst>
              <a:gd name="adj" fmla="val 4396"/>
            </a:avLst>
          </a:prstGeom>
          <a:solidFill>
            <a:srgbClr val="1A1A1A"/>
          </a:solidFill>
          <a:ln w="12700">
            <a:solidFill>
              <a:srgbClr val="333333"/>
            </a:solidFill>
            <a:prstDash val="solid"/>
          </a:ln>
        </p:spPr>
      </p:sp>
      <p:sp>
        <p:nvSpPr>
          <p:cNvPr id="22" name="Text 20"/>
          <p:cNvSpPr txBox="1"/>
          <p:nvPr/>
        </p:nvSpPr>
        <p:spPr>
          <a:xfrm>
            <a:off x="6400800" y="4681728"/>
            <a:ext cx="5212080" cy="438912"/>
          </a:xfrm>
          <a:prstGeom prst="rect">
            <a:avLst/>
          </a:prstGeom>
          <a:noFill/>
          <a:ln/>
        </p:spPr>
        <p:txBody>
          <a:bodyPr wrap="square" lIns="0" tIns="0" rIns="0" bIns="0" rtlCol="0" anchor="ctr"/>
          <a:lstStyle/>
          <a:p>
            <a:pPr indent="0" marL="0">
              <a:buNone/>
            </a:pPr>
            <a:r>
              <a:rPr lang="en-US" sz="1400" b="1" dirty="0">
                <a:solidFill>
                  <a:srgbClr val="FFA028"/>
                </a:solidFill>
                <a:latin typeface="Epilogue" pitchFamily="34" charset="0"/>
                <a:ea typeface="Epilogue" pitchFamily="34" charset="-122"/>
                <a:cs typeface="Epilogue" pitchFamily="34" charset="-120"/>
              </a:rPr>
              <a:t>📱 Modo móvil</a:t>
            </a:r>
            <a:endParaRPr lang="en-US" sz="1400" dirty="0"/>
          </a:p>
        </p:txBody>
      </p:sp>
      <p:sp>
        <p:nvSpPr>
          <p:cNvPr id="23" name="Text 21"/>
          <p:cNvSpPr txBox="1"/>
          <p:nvPr/>
        </p:nvSpPr>
        <p:spPr>
          <a:xfrm>
            <a:off x="6400800" y="5193792"/>
            <a:ext cx="5212080" cy="914400"/>
          </a:xfrm>
          <a:prstGeom prst="rect">
            <a:avLst/>
          </a:prstGeom>
          <a:noFill/>
          <a:ln/>
        </p:spPr>
        <p:txBody>
          <a:bodyPr wrap="square" lIns="0" tIns="0" rIns="0" bIns="0" rtlCol="0" anchor="ctr"/>
          <a:lstStyle/>
          <a:p>
            <a:pPr indent="0" marL="0">
              <a:buNone/>
            </a:pPr>
            <a:r>
              <a:rPr lang="en-US" sz="1100" dirty="0">
                <a:solidFill>
                  <a:srgbClr val="A0A0A0"/>
                </a:solidFill>
                <a:latin typeface="Epilogue" pitchFamily="34" charset="0"/>
                <a:ea typeface="Epilogue" pitchFamily="34" charset="-122"/>
                <a:cs typeface="Epilogue" pitchFamily="34" charset="-120"/>
              </a:rPr>
              <a:t>En dispositivos móviles, usa las pestañas inferiores: Proyectos, EDT, Gantt, KPIs. La interfaz se adapta automáticamente.</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00000"/>
          </a:solidFill>
          <a:ln w="12700">
            <a:solidFill>
              <a:srgbClr val="000000"/>
            </a:solidFill>
            <a:prstDash val="solid"/>
          </a:ln>
        </p:spPr>
      </p:sp>
      <p:sp>
        <p:nvSpPr>
          <p:cNvPr id="3" name="Shape 1"/>
          <p:cNvSpPr/>
          <p:nvPr/>
        </p:nvSpPr>
        <p:spPr>
          <a:xfrm>
            <a:off x="0" y="0"/>
            <a:ext cx="109728" cy="6858000"/>
          </a:xfrm>
          <a:prstGeom prst="rect">
            <a:avLst/>
          </a:prstGeom>
          <a:solidFill>
            <a:srgbClr val="FFA028"/>
          </a:solidFill>
          <a:ln w="12700">
            <a:solidFill>
              <a:srgbClr val="FFA028"/>
            </a:solidFill>
            <a:prstDash val="solid"/>
          </a:ln>
        </p:spPr>
      </p:sp>
      <p:sp>
        <p:nvSpPr>
          <p:cNvPr id="4" name="Shape 2"/>
          <p:cNvSpPr/>
          <p:nvPr/>
        </p:nvSpPr>
        <p:spPr>
          <a:xfrm>
            <a:off x="0" y="5303520"/>
            <a:ext cx="12188952" cy="1554480"/>
          </a:xfrm>
          <a:prstGeom prst="rect">
            <a:avLst/>
          </a:prstGeom>
          <a:solidFill>
            <a:srgbClr val="1A1A1A"/>
          </a:solidFill>
          <a:ln w="12700">
            <a:solidFill>
              <a:srgbClr val="1A1A1A"/>
            </a:solidFill>
            <a:prstDash val="solid"/>
          </a:ln>
        </p:spPr>
      </p:sp>
      <p:sp>
        <p:nvSpPr>
          <p:cNvPr id="5" name="Text 3"/>
          <p:cNvSpPr txBox="1"/>
          <p:nvPr/>
        </p:nvSpPr>
        <p:spPr>
          <a:xfrm>
            <a:off x="411480" y="914400"/>
            <a:ext cx="11430000" cy="1097280"/>
          </a:xfrm>
          <a:prstGeom prst="rect">
            <a:avLst/>
          </a:prstGeom>
          <a:noFill/>
          <a:ln/>
        </p:spPr>
        <p:txBody>
          <a:bodyPr wrap="square" lIns="0" tIns="0" rIns="0" bIns="0" rtlCol="0" anchor="ctr"/>
          <a:lstStyle/>
          <a:p>
            <a:pPr indent="0" marL="0">
              <a:buNone/>
            </a:pPr>
            <a:r>
              <a:rPr lang="en-US" sz="5600" b="1" dirty="0">
                <a:solidFill>
                  <a:srgbClr val="FFA028"/>
                </a:solidFill>
                <a:latin typeface="Epilogue" pitchFamily="34" charset="0"/>
                <a:ea typeface="Epilogue" pitchFamily="34" charset="-122"/>
                <a:cs typeface="Epilogue" pitchFamily="34" charset="-120"/>
              </a:rPr>
              <a:t>ECM Project</a:t>
            </a:r>
            <a:endParaRPr lang="en-US" sz="5600" dirty="0"/>
          </a:p>
        </p:txBody>
      </p:sp>
      <p:sp>
        <p:nvSpPr>
          <p:cNvPr id="6" name="Text 4"/>
          <p:cNvSpPr txBox="1"/>
          <p:nvPr/>
        </p:nvSpPr>
        <p:spPr>
          <a:xfrm>
            <a:off x="411480" y="2103120"/>
            <a:ext cx="11430000" cy="640080"/>
          </a:xfrm>
          <a:prstGeom prst="rect">
            <a:avLst/>
          </a:prstGeom>
          <a:noFill/>
          <a:ln/>
        </p:spPr>
        <p:txBody>
          <a:bodyPr wrap="square" lIns="0" tIns="0" rIns="0" bIns="0" rtlCol="0" anchor="ctr"/>
          <a:lstStyle/>
          <a:p>
            <a:pPr indent="0" marL="0">
              <a:buNone/>
            </a:pPr>
            <a:r>
              <a:rPr lang="en-US" sz="2600" dirty="0">
                <a:solidFill>
                  <a:srgbClr val="FFFFFF"/>
                </a:solidFill>
                <a:latin typeface="Epilogue" pitchFamily="34" charset="0"/>
                <a:ea typeface="Epilogue" pitchFamily="34" charset="-122"/>
                <a:cs typeface="Epilogue" pitchFamily="34" charset="-120"/>
              </a:rPr>
              <a:t>Gestión profesional de cronogramas de proyectos</a:t>
            </a:r>
            <a:endParaRPr lang="en-US" sz="2600" dirty="0"/>
          </a:p>
        </p:txBody>
      </p:sp>
      <p:sp>
        <p:nvSpPr>
          <p:cNvPr id="7" name="Shape 5"/>
          <p:cNvSpPr/>
          <p:nvPr/>
        </p:nvSpPr>
        <p:spPr>
          <a:xfrm>
            <a:off x="411480" y="2926080"/>
            <a:ext cx="5486400" cy="36576"/>
          </a:xfrm>
          <a:prstGeom prst="rect">
            <a:avLst/>
          </a:prstGeom>
          <a:solidFill>
            <a:srgbClr val="FFA028"/>
          </a:solidFill>
          <a:ln w="12700">
            <a:solidFill>
              <a:srgbClr val="FFA028"/>
            </a:solidFill>
            <a:prstDash val="solid"/>
          </a:ln>
        </p:spPr>
      </p:sp>
      <p:sp>
        <p:nvSpPr>
          <p:cNvPr id="8" name="Text 6"/>
          <p:cNvSpPr txBox="1"/>
          <p:nvPr/>
        </p:nvSpPr>
        <p:spPr>
          <a:xfrm>
            <a:off x="411480" y="3108960"/>
            <a:ext cx="11430000" cy="457200"/>
          </a:xfrm>
          <a:prstGeom prst="rect">
            <a:avLst/>
          </a:prstGeom>
          <a:noFill/>
          <a:ln/>
        </p:spPr>
        <p:txBody>
          <a:bodyPr wrap="square" lIns="0" tIns="0" rIns="0" bIns="0" rtlCol="0" anchor="ctr"/>
          <a:lstStyle/>
          <a:p>
            <a:pPr indent="0" marL="0">
              <a:buNone/>
            </a:pPr>
            <a:r>
              <a:rPr lang="en-US" sz="1400" dirty="0">
                <a:solidFill>
                  <a:srgbClr val="A0A0A0"/>
                </a:solidFill>
                <a:latin typeface="Epilogue" pitchFamily="34" charset="0"/>
                <a:ea typeface="Epilogue" pitchFamily="34" charset="-122"/>
                <a:cs typeface="Epilogue" pitchFamily="34" charset="-120"/>
              </a:rPr>
              <a:t>Módulos integrados: EDT • Gantt • CPM • EVM • DCMA • Línea Base • Calendario • Sync</a:t>
            </a:r>
            <a:endParaRPr lang="en-US" sz="1400" dirty="0"/>
          </a:p>
        </p:txBody>
      </p:sp>
      <p:sp>
        <p:nvSpPr>
          <p:cNvPr id="9" name="Text 7"/>
          <p:cNvSpPr txBox="1"/>
          <p:nvPr/>
        </p:nvSpPr>
        <p:spPr>
          <a:xfrm>
            <a:off x="411480" y="3657600"/>
            <a:ext cx="11430000" cy="457200"/>
          </a:xfrm>
          <a:prstGeom prst="rect">
            <a:avLst/>
          </a:prstGeom>
          <a:noFill/>
          <a:ln/>
        </p:spPr>
        <p:txBody>
          <a:bodyPr wrap="square" lIns="0" tIns="0" rIns="0" bIns="0" rtlCol="0" anchor="ctr"/>
          <a:lstStyle/>
          <a:p>
            <a:pPr indent="0" marL="0">
              <a:buNone/>
            </a:pPr>
            <a:r>
              <a:rPr lang="en-US" sz="1300" dirty="0">
                <a:solidFill>
                  <a:srgbClr val="555555"/>
                </a:solidFill>
                <a:latin typeface="Epilogue" pitchFamily="34" charset="0"/>
                <a:ea typeface="Epilogue" pitchFamily="34" charset="-122"/>
                <a:cs typeface="Epilogue" pitchFamily="34" charset="-120"/>
              </a:rPr>
              <a:t>Funciona sin instalación · Modo offline (PWA) · Compatible Windows, Mac, Linux y móviles</a:t>
            </a:r>
            <a:endParaRPr lang="en-US" sz="1300" dirty="0"/>
          </a:p>
        </p:txBody>
      </p:sp>
      <p:sp>
        <p:nvSpPr>
          <p:cNvPr id="10" name="Text 8"/>
          <p:cNvSpPr txBox="1"/>
          <p:nvPr/>
        </p:nvSpPr>
        <p:spPr>
          <a:xfrm>
            <a:off x="411480" y="5394960"/>
            <a:ext cx="11430000" cy="365760"/>
          </a:xfrm>
          <a:prstGeom prst="rect">
            <a:avLst/>
          </a:prstGeom>
          <a:noFill/>
          <a:ln/>
        </p:spPr>
        <p:txBody>
          <a:bodyPr wrap="square" lIns="0" tIns="0" rIns="0" bIns="0" rtlCol="0" anchor="ctr"/>
          <a:lstStyle/>
          <a:p>
            <a:pPr indent="0" marL="0">
              <a:buNone/>
            </a:pPr>
            <a:r>
              <a:rPr lang="en-US" sz="1300" dirty="0">
                <a:solidFill>
                  <a:srgbClr val="A0A0A0"/>
                </a:solidFill>
                <a:latin typeface="Epilogue" pitchFamily="34" charset="0"/>
                <a:ea typeface="Epilogue" pitchFamily="34" charset="-122"/>
                <a:cs typeface="Epilogue" pitchFamily="34" charset="-120"/>
              </a:rPr>
              <a:t>© 2026 E. Chávez  |  ECM Project v1.0.0</a:t>
            </a:r>
            <a:endParaRPr lang="en-US" sz="1300" dirty="0"/>
          </a:p>
        </p:txBody>
      </p:sp>
      <p:sp>
        <p:nvSpPr>
          <p:cNvPr id="11" name="Text 9"/>
          <p:cNvSpPr txBox="1"/>
          <p:nvPr/>
        </p:nvSpPr>
        <p:spPr>
          <a:xfrm>
            <a:off x="411480" y="5806440"/>
            <a:ext cx="11430000" cy="365760"/>
          </a:xfrm>
          <a:prstGeom prst="rect">
            <a:avLst/>
          </a:prstGeom>
          <a:noFill/>
          <a:ln/>
        </p:spPr>
        <p:txBody>
          <a:bodyPr wrap="square" lIns="0" tIns="0" rIns="0" bIns="0" rtlCol="0" anchor="ctr"/>
          <a:lstStyle/>
          <a:p>
            <a:pPr indent="0" marL="0">
              <a:buNone/>
            </a:pPr>
            <a:r>
              <a:rPr lang="en-US" sz="1200" dirty="0">
                <a:solidFill>
                  <a:srgbClr val="555555"/>
                </a:solidFill>
                <a:latin typeface="Epilogue" pitchFamily="34" charset="0"/>
                <a:ea typeface="Epilogue" pitchFamily="34" charset="-122"/>
                <a:cs typeface="Epilogue" pitchFamily="34" charset="-120"/>
              </a:rPr>
              <a:t>Repositorio: github.com/ehchavezm-hub/10-cronograma</a:t>
            </a:r>
            <a:endParaRPr lang="en-US" sz="1200" dirty="0"/>
          </a:p>
        </p:txBody>
      </p:sp>
    </p:spTree>
  </p:cSld>
  <p:clrMapOvr>
    <a:masterClrMapping/>
  </p:clrMapOvr>
</p:sld>
</file>

<file path=ppt/theme/theme1.xml><?xml version="1.0" encoding="utf-8"?>
<a:theme xmlns:a="http://schemas.openxmlformats.org/drawingml/2006/main" name="Bloomberg Executive">
  <a:themeElements>
    <a:clrScheme name="Bloomberg Executive">
      <a:dk1>
        <a:srgbClr val="000000"/>
      </a:dk1>
      <a:lt1>
        <a:srgbClr val="FFFFFF"/>
      </a:lt1>
      <a:dk2>
        <a:srgbClr val="1A1A1A"/>
      </a:dk2>
      <a:lt2>
        <a:srgbClr val="2A2A2A"/>
      </a:lt2>
      <a:accent1>
        <a:srgbClr val="FFA028"/>
      </a:accent1>
      <a:accent2>
        <a:srgbClr val="FFB020"/>
      </a:accent2>
      <a:accent3>
        <a:srgbClr val="4AF6C3"/>
      </a:accent3>
      <a:accent4>
        <a:srgbClr val="00C805"/>
      </a:accent4>
      <a:accent5>
        <a:srgbClr val="FF6600"/>
      </a:accent5>
      <a:accent6>
        <a:srgbClr val="FF433D"/>
      </a:accent6>
      <a:hlink>
        <a:srgbClr val="0068FF"/>
      </a:hlink>
      <a:folHlink>
        <a:srgbClr val="A0A0A0"/>
      </a:folHlink>
    </a:clrScheme>
    <a:fontScheme name="Bloomberg Executiv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2026-10-18T16:48:35Z</dcterms:created>
  <dcterms:modified xsi:type="dcterms:W3CDTF">2026-10-18T16:48:35Z</dcterms:modified>
</cp:coreProperties>
</file>