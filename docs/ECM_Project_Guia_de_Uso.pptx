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USUARIO · 2025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Project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de Uso — Sistema de Gestión de Proyectos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Project — Sistema de Gestión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64008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Introducción y Primer Uso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96926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Interfaz Principal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298448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Vista Gantt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62763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EDT — Tabla de Tareas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95681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Organigrama WBS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28600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Red CPM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261518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Análisis DCMA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64008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Valor Ganado (EVM)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96926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Sincronización en la Nube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298448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Recursos y Calendario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2763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Línea Base e Historial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95681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Edición de Tareas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28600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Tema Oscuro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1518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Exportar e Imprimir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Primer Uso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ECM Project y cómo empezar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hacer ECM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proyectos con cronograma visual Gantt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tareas en estructura jerárquica (EDT/WBS)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automáticamente la ruta crítica (CPM)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calidad del cronograma con 14 puntos DCMA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desempeño con Valor Ganado (EVM)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recursos humanos y calendario laboral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comparar líneas base del proyecto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 a PDF, Excel, PNG e imprimir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7355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32278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datos con la nube (Supabase)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0273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" y="355701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entre tema claro y oscuro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6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del sistema con proyecto cargado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Project — Vista General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principal con proyecto de demostración "Edificio Residencial Las Palmas" cargado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Nuevo Proyecto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8-nuevo-proye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"+ Nuevo" para crear un proyecto: ingrese nombre, fecha de inicio y configuración inicial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Principal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la pantalla y cómo navegar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la Pantalla Principal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" y="566928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Barra Superior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37160" y="841248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Barra de Herramientas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37160" y="1115568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Filtros del Proyecto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" y="4526280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Estado del Proyecto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325880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Panel WBS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325880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Gráfico Gantt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" y="1371600"/>
            <a:ext cx="146304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FFA028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Menú Lateral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Superior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 y nombre de la aplicación ECM Project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 activo (editable)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para alternar entre tema claro y oscuro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"+ Nuevo" para crear un nuevo proyecto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duración total del proyecto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16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superior se ubica en la parte más alta de la pantalla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Herramientas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/ Rehacer: revertir o repetir la última acción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Tarea: agregar nueva tarea al proyecto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Hito: agregar un hito (duración cero)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/ Des.: indentar o desidentar tarea (crear jerarquía)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FS: vincular tareas con relación Fin-Inicio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(+/-/Fit): acercar, alejar o ajustar el Gantt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Etiquetas: configurar texto sobre barras Gantt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Columnas: mostrar/ocultar columnas de la tabla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de herramientas está debajo de la barra superior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Herramientas del Proyecto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gestionar personas asignadas a las tareas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Calendario: configurar días laborales y festivos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base: guardar y comparar la planificación original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Auto-calc: actualizar automáticamente las fechas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DCMA: análisis de calidad del cronograma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EVM: indicadores de valor ganado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Historial: registro de todos los cambios realizados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Filtrar: mostrar todas las tareas o solo las críticas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7355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32278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Exportar: generar reportes en PDF, Excel, PNG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4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filtros y herramientas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(Sidebar)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Gantt: vista principal con cronograma de barras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(Tabla): tabla plana de todas las tareas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Proyectos: árbol jerárquico WBS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CPM: diagrama de precedencias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DCMA: análisis de 14 puntos de calidad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Supabase: sincronización con la nube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Ganado: curvas S y métricas EVM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ícono ☰ para expandir/colapsar el menú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A02-sid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2731" y="91440"/>
            <a:ext cx="1304778" cy="4846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para navegar entre todas las vistas del sistema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Colapsado — Más Espacio de Trabajo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E01-sidebar-colaps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colapsar el sidebar se maximiza el área de trabajo del cronograma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Gantt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visual con cronograma de barras interactivo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Gantt — Pantalla Principal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Gantt con tabla de tareas (WBS) a la izquierda y gráfico de barras a la derecha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Gantt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1-gantt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monitores grandes se visualizan más tareas y más meses del cronograma simultáneamente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Tareas (Panel WBS)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# — número de fila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— código jerárquico de la tarea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actividad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Tarea, Hito o Resumen (fase)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en días hábiles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Inicio y Fecha de Fin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avance (0 a 100)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Predecesores — tareas que deben terminar antes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7355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32278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clic en cualquier celda para editar directamente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4" name="Image 0" descr="/tmp/claude-0/-home-user-10-cronograma/65a54c1f-fafb-5dda-8f3f-850e641098f9/scratchpad/screens/A07-wb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242" y="91440"/>
            <a:ext cx="3965755" cy="4846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izquierdo con la tabla de tareas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Gantt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barras muestran la duración y posición en el tiempo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en rojo: tareas de la ruta crítica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en naranja: tareas casi críticas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en azul: tareas normales en progreso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en verde: tareas completadas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Diamantes dorados: hitos del proyecto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oscuras: tareas resumen / fases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vertical punteada indica la fecha actual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A08-gantt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40663"/>
            <a:ext cx="4572000" cy="454787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derecho con el gráfico de barras Gantt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Acercado — Ver Detalle Diario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1-zoom-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los botones (+) para acercarse y ver el detalle día a día de las barras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Ajustado — Todo el Proyecto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2-zoom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"Fit" muestra toda la duración del proyecto en una sola pantalla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Alejado — Vista Panorámica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3-zoom-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los botones (-) para alejarse y ver más meses del proyecto al mismo tiempo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— Solo Ruta Crítica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E02-ruta-crit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el filtro "Auto crítico" para mostrar únicamente las tareas críticas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Gantt en Laptop (1366×768)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G01-gantt-1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315" y="512064"/>
            <a:ext cx="772537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adapta a pantallas de laptop manteniendo todas las funcionalidades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— Tabla de Tareas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tabular completa de todas las actividades del proyecto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EDT — Tabla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B01-edt-tab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EDT muestra todas las tareas en formato de tabla con columnas de datos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EDT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2-edt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pantallas grandes se visualizan todas las columnas: fechas, duración, avance y predecesores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EDT en Laptop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G02-edt-1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315" y="512064"/>
            <a:ext cx="772537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EDT adaptada a pantalla de laptop con scroll horizontal para ver columnas adicionales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la Tabla EDT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clic en cualquier celda para editar su valor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"Nombre" acepta texto libre descriptivo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Ingrese fechas en formato DD/MM/AAAA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% de avance va de 0 (no iniciado) a 100 (terminado)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predecesores se ingresan como número de fila: ej. "3" o "3FS"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Resumen se calculan automáticamente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 para moverse entre celdas de izquierda a derecha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Enter para confirmar un valor y bajar a la fila siguiente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B01-edt-tab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EDT es completamente editable — haga clic para modificar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WBS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visual de la estructura jerárquica del proyecto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Proyectos — Organigrama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B02-estru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en árbol de la jerarquía del proyecto: cada nodo representa una fase o tarea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3-estructura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pantallas grandes se aprecia mejor la jerarquía completa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el Organigrama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 rueda del mouse para hacer zoom al diagrama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Arrastre con clic sostenido para moverse por el árbol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muestra el código EDT y nombre de la actividad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de color diferente indican el nivel jerárquico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raíz representa el proyecto completo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hoja representan las tareas individuales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"Fit" para centrar y ver todo el árbol de una vez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exportar para guardar el organigrama como imagen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B02-estru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jerárquico de la Estructura de Desglose del Trabajo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precedencias y cálculo automático de ruta crítica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 — Diagrama de Precedencias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B03-red-c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muestra las dependencias entre actividades y resalta la ruta crítica en rojo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4-cpm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visualización de toda la red de dependencias en monitores grandes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 en Laptop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G06-cpm-1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315" y="512064"/>
            <a:ext cx="772537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CPM adaptada a pantalla de laptop con zoom automático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la Red CPM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rectángulo es una actividad del proyecto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flechas muestran las relaciones de dependencia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en rojo: actividades en la ruta crítica (holgura = 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en azul/naranja: actividades con cierta holgura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crítica determina la duración mínima del proyecto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Retrasar una actividad crítica retrasa todo el proyecto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zoom (+/-) para ver el detalle de cada nodo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se actualiza automáticamente al editar tareas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B03-red-c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 con ruta crítica calculada automáticamente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DCMA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la calidad del cronograma en 14 puntos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DCMA — Análisis Completo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B04-dc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DCMA muestra el resultado de 14 verificaciones de calidad sobre el cronograma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DCMA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5-dcma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indicadores DCMA con sus valores y semáforo de estado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DCMA en Laptop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G03-dcma-1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315" y="512064"/>
            <a:ext cx="772537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DCMA adaptada a pantalla de laptop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DCMA — Desde el Botón DCMA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3-dcma-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presionar el botón DCMA en la barra de filtros se abre un panel lateral con el análisis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DCMA — Detalle de Indicadores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3b-dcma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54" y="512064"/>
            <a:ext cx="8352692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muestra cada punto de control con semáforo verde/amarillo/rojo y valor numérico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Puntos de Verificación DCMA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Lógica — ¿Todas las tareas tienen predecesores y sucesores?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Adelantos — ¿Hay relaciones con tiempo negativo (leads)?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Rezagos — ¿Hay relaciones con tiempo positivo excesivo?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Tipos de relación — ¿Solo se usan relaciones FS recomendadas?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Restricciones fuertes — ¿Hay fechas impuestas innecesarias?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Holgura alta — ¿Tareas con demasiados días sin usar?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Holgura negativa — ¿Tareas con fecha comprometida imposible?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Duración alta — ¿Tareas con duración mayor a 44 días?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7355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32278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BEI — ¿El avance real coincide con lo planificado?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0273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" y="355701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Recursos — ¿Todas las tareas tienen recursos asignados?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6" name="Image 0" descr="/tmp/claude-0/-home-user-10-cronograma/65a54c1f-fafb-5dda-8f3f-850e641098f9/scratchpad/screens/B04-dc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los 14 puntos de control del estándar DCMA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DCMA en Tema Oscuro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8-dark-dc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DCMA también está disponible en tema oscuro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 (EVM)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desempeño real del proyecto versus lo planificado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Valor Ganado — Curvas S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B05-e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curvas S comparan lo planificado (BCWS), lo realizado (BCWP) y el costo real (ACWP)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Valor Ganado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6-evm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completa de las curvas S con tabla de indicadores a la derecha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Valor Ganado en Laptop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G04-evm-1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315" y="512064"/>
            <a:ext cx="772537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EVM adaptada a laptop mostrando curvas e indicadores de rendimiento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Valor Ganado — Indicadores KPI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4-evm-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presionar EVM en la barra de filtros se abre un panel con todos los indicadores de rendimiento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EVM — Detalle de Indicadores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4b-evm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54" y="512064"/>
            <a:ext cx="8352692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numéricos de SPI, CPI, variaciones de costo y cronograma, y estimados a la conclusión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significan los indicadores EVM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&gt; 1.0: el proyecto va adelantado respecto al plan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&lt; 1.0: el proyecto va atrasado respecto al plan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&gt; 1.0: se está gastando menos de lo presupuestado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&lt; 1.0: se está gastando más de lo presupuestado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SV: variación de cronograma en valor monetario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variación de costo (positivo = bajo presupuesto)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EAC: estimado del costo total al finalizar el proyecto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TCPI: eficiencia requerida para terminar dentro del presupuesto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B05-e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indicadores EVM miden desempeño en costo y cronograma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Valor Ganado en Tema Oscuro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9-dark-e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EVM también funciona en tema oscuro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 la Nube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compartir el proyecto con Supabase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Sync Supabase — Estado de Conexión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B06-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Sync muestra el estado de la conexión con la base de datos en la nube y las opciones disponibles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Sync Supabase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7-sync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sincronización en pantalla completa con detalle de registros y estado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sincronizar el proyecto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Ingrese la URL de su proyecto Supabase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Ingrese la API Key (clave de acceso)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envía el proyecto local a la nube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Pull: descarga el proyecto más reciente desde la nube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sincroniza cambios en ambas direcciones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muestra cuándo fue la última sincronización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usuarios pueden compartir el mismo proyecto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guardan en una base de datos PostgreSQL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B06-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sincronización con Supabase permite colaboración y respaldo en la nube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Calendario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el equipo de trabajo y los días laborales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Recursos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7-recur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recursos: agregar, editar y eliminar las personas asignadas al proyecto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Recursos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12-recursos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 recursos con tabla de asignaciones por tarea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gestionar recursos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el panel desde el botón "Recursos" en la barra de filtros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 personas con nombre, rol y costo por hora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Asigne recursos a las tareas desde el detalle de cada tarea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calcula el costo total por recurso automáticamente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Visualice la asignación total de horas por persona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 sobreasignaciones de recursos fácilmente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se reutilizan en múltiples tareas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DCMA verifica que todas las tareas tengan recursos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7-recur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de recursos humanos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Calendario Laboral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6-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días son laborables, festivos y excepciones del calendario de trabajo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Laboral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11-calendario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completa del calendario con vista anual de días laborales y festivos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configurar el calendario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el calendario desde el botón "Calendario" en la barra de filtros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 los días de la semana laborables (por defecto Lun-Vie)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días festivos nacionales y locales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 excepciones: días laborables que normalmente no lo serían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recalcula automáticamente al cambiar el calendario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duraciones se expresan en días hábiles según este calendario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fechas de inicio/fin respetan los días no laborables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tener diferentes calendarios por tipo de recurso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6-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define qué días son hábiles para 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e Historial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plan original y registrar todos los cambios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del Proyecto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2-linea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base congela el plan original para compararlo con el avance real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14-baseline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líneas base en pantalla completa con opciones de guardar y restaurar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la Línea Base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desde el botón "Línea base" en la barra de filtros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Establezca la línea base al terminar la planificación inicial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guarda fechas, duraciones y % de avance originales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barras de la línea base aparecen como sombras en el Gantt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el plan original con la ejecución real en cualquier momento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guardar múltiples líneas base (Línea Base 0, 1, 2...)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 la línea base original si necesita volver al plan inicial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EVM usa la línea base como referencia del BCWS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2-linea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base es la referencia para medir las desviaciones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5-histo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registra automáticamente cada modificación realizada al proyecto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10-historial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completo de cambios con fecha, hora y descripción de cada modificación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el Historial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automáticamente cada cambio en el proyecto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quién hizo el cambio y cuándo exactamente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qué campo fue modificado y cuál fue el valor anterior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auditar el historial de decisiones del proyecto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reportar cambios al cliente o al patrocinador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fecha para ver cambios en un período específico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no pueden borrarse para mantener la trazabilidad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exportar el historial completo a Excel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5-histo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provee trazabilidad completa de todos los cambios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de Tareas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modificar y vincular actividades del proyecto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Tarea — Panel de Edición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11-task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 sobre una tarea en el Gantt o EDT abre el panel detallado de edición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puede editar en una tarea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descripción completa de la actividad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Tarea individual, Hito o Resumen (fase)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inicio y fecha de fin planificadas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en días hábiles (se recalcula automáticamente)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avance: qué porcentaje está completado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Predecesores: qué tareas deben terminar antes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personas asignadas a esta tarea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Notas: comentarios o información adicional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11-task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detalle con todos los campos editables de la tarea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agregar y organizar tareas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"+ Tarea": agrega una nueva tarea al final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"+ Hito": agrega un punto de control (duración = 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"Ind.": indenta la tarea — la convierte en subtarea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"Des.": desindenta — sube la tarea un nivel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"Enlace FS": vincular dos tareas seleccionadas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seleccionar múltiples tareas use Shift + clic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Arrastre una barra en el Gantt para mover su fecha de inicio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para deshacer y Ctrl+Y para rehacer cualquier cambio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herramientas con todas las operaciones de edición de tareas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sobre Barras Gantt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9-etique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qué información aparece sobre las barras: nombre, fechas, duración o % de avance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Visibles en la Tabla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10-colum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 desactive columnas de la tabla WBS según las necesidades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adaptable entre modo claro y modo oscuro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vs Modo Oscuro — Vista Gantt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D04-dark-gan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Modo Claro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Modo Oscuro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vs Modo Oscuro — EDT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B01-edt-tab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D05-dark-ed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EDT — Modo Claro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EDT — Modo Oscuro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vs Modo Oscuro — DCMA y EVM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D08-dark-dc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D09-dark-ev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DCMA — Modo Oscuro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EVM — Modo Oscuro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Vista Gantt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4-dark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oscuro reduce la fatiga visual en jornadas largas de trabajo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Vista EDT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5-dark-e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EDT en tema oscuro con alto contraste para mejor legibilidad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Organigrama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6-dark-estru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organigrama WBS adaptado al tema oscuro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Red CPM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07-dark-c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 precedencias en tema oscuro con nodos y flechas adaptadas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Sync Supabase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10-dark-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de sincronización en tema oscuro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Panel DCMA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11-dark-dcma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DCMA en tema oscuro con indicadores de calidad del cronograma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— Panel Valor Ganado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D12-dark-evm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EVM en tema oscuro con indicadores de rendimiento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cambiar el tema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clic en el ícono 🌗 en la barra superior derecha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es inmediato en toda la interfaz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recuerda su preferencia para la próxima sesión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temas tienen el mismo nivel de funcionalidad completa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oscuro es recomendable para trabajo nocturno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claro es ideal para impresiones y proyecciones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gráficos y colores se adaptan automáticamente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no afecta los datos del proyecto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D04-dark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 entre tema claro y oscuro con un solo clic</a:t>
            </a:r>
            <a:endParaRPr lang="en-US" sz="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 Imprimir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y compartir el cronograma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Exportación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C01-expor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"Exportar ▾" en la barra de filtros despliega las opciones de formato disponibles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Exportar — Pantalla Completa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13-exportar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exportación visibles en monitor de resolución full HD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Exportación Disponibles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Ejecutivo: portada + Gantt + EDT + indicadores EVM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CSV: tabla completa de tareas con todos los campos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Imagen: captura de la vista actual del Gantt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respaldo completo del proyecto (puede reimportarse)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MPP: formato compatible con Microsoft Project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Imprimir: vista optimizada para papel A4 o carta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incluye automáticamente la fecha de generación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Excel abren directamente en Microsoft Excel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1-expor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exportación para compartir el proyecto en distintos formatos</a:t>
            </a:r>
            <a:endParaRPr lang="en-US" sz="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Análisis DCMA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8-dcma-panel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DCMA también puede exportarse como parte del reporte PDF ejecutivo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Indicadores EVM</a:t>
            </a:r>
            <a:endParaRPr lang="en-US" sz="1300" dirty="0"/>
          </a:p>
        </p:txBody>
      </p:sp>
      <p:pic>
        <p:nvPicPr>
          <p:cNvPr id="6" name="Image 0" descr="/tmp/claude-0/-home-user-10-cronograma/65a54c1f-fafb-5dda-8f3f-850e641098f9/scratchpad/screens/F09-evm-panel-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12064"/>
            <a:ext cx="772160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indicadores de Valor Ganado se incluyen en el reporte PDF ejecutivo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1: Crear y Planificar un Proyecto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Clic en "+ Nuevo" en la barra superior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Ingrese el nombre y fecha de inicio del proyecto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Configure el calendario laboral (días y festivos)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Agregue las fases principales (tareas resumen)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Agregue las tareas detalladas dentro de cada fase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Defina duraciones y vincule las dependencias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Asigne recursos a cada tarea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Establezca la línea base para tener referencia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8-nuevo-proye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completo de creación de un nuevo proyecto desde cero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2: Actualizar el Avance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Abra el proyecto desde la lista de proyectos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Para cada tarea completada, actualice el % de avance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Registre las fechas reales de inicio si difieren del plan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Revise el análisis DCMA para detectar problemas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Verifique los indicadores EVM (SPI y CPI)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Si hay retrasos, ajuste el cronograma y comuníquelos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Guarde los cambios — el historial los registra automáticamente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Sincronice con Supabase si trabaja en equipo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A01-app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seguimiento y control durante la ejecución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731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3: Generar un Reporte Ejecutivo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594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Asegúrese que el % de avance de todas las tareas esté actualizado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9235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Revise que la línea base esté establecida correctamente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1252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Abra el menú "Exportar" en la barra de filtros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58191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Seleccione "PDF Ejecutivo" para el reporte completo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56816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19110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El PDF incluye: Gantt actualizado, EDT, DCMA y EVM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Para solo el cronograma, seleccione "PNG / Imagen"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694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Para datos en Excel, seleccione "Excel / CSV"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44368"/>
            <a:ext cx="64008" cy="64008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" y="28986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Comparta el archivo con el cliente o equipo directivo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"/>
            <a:ext cx="4572000" cy="484632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2" name="Image 0" descr="/tmp/claude-0/-home-user-10-cronograma/65a54c1f-fafb-5dda-8f3f-850e641098f9/scratchpad/screens/C01-expor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28725"/>
            <a:ext cx="4572000" cy="2571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3891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generación y entrega del reporte ejecutivo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Analíticas — DCMA y Valor Ganado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B04-dc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B05-ev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DCMA — 14 Puntos de Calidad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 — Curvas S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Red — Organigrama y CPM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B02-estru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B03-red-cp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WBS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CPM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Gestión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C07-recur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C06-calend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Recursos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Laboral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Proyecto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548640"/>
            <a:ext cx="4343400" cy="425196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/tmp/claude-0/-home-user-10-cronograma/65a54c1f-fafb-5dda-8f3f-850e641098f9/scratchpad/screens/C02-linea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453039"/>
            <a:ext cx="4343400" cy="2443163"/>
          </a:xfrm>
          <a:prstGeom prst="rect">
            <a:avLst/>
          </a:prstGeom>
        </p:spPr>
      </p:pic>
      <p:pic>
        <p:nvPicPr>
          <p:cNvPr id="8" name="Image 1" descr="/tmp/claude-0/-home-user-10-cronograma/65a54c1f-fafb-5dda-8f3f-850e641098f9/scratchpad/screens/C05-histor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53039"/>
            <a:ext cx="4343400" cy="244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del Proyecto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486460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A0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Project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Gestión de Proyectos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 ·  EDT  ·  CPM  ·  DCMA  ·  EVM  ·  Supabase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cosapi.com.pe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mberg ECM">
  <a:themeElements>
    <a:clrScheme name="Bloomberg ECM">
      <a:dk1>
        <a:srgbClr val="000000"/>
      </a:dk1>
      <a:lt1>
        <a:srgbClr val="FFFFFF"/>
      </a:lt1>
      <a:dk2>
        <a:srgbClr val="CCCCCC"/>
      </a:dk2>
      <a:lt2>
        <a:srgbClr val="1A1A1A"/>
      </a:lt2>
      <a:accent1>
        <a:srgbClr val="FFA028"/>
      </a:accent1>
      <a:accent2>
        <a:srgbClr val="2A2A2A"/>
      </a:accent2>
      <a:accent3>
        <a:srgbClr val="3A3A3A"/>
      </a:accent3>
      <a:accent4>
        <a:srgbClr val="E8E8E8"/>
      </a:accent4>
      <a:accent5>
        <a:srgbClr val="666666"/>
      </a:accent5>
      <a:accent6>
        <a:srgbClr val="999999"/>
      </a:accent6>
      <a:hlink>
        <a:srgbClr val="FFA028"/>
      </a:hlink>
      <a:folHlink>
        <a:srgbClr val="FF7A00"/>
      </a:folHlink>
    </a:clrScheme>
    <a:fontScheme name="Bloomberg ECM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2026-10-18T18:42:26Z</dcterms:created>
  <dcterms:modified xsi:type="dcterms:W3CDTF">2026-10-18T18:42:26Z</dcterms:modified>
</cp:coreProperties>
</file>