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</p:sldIdLst>
  <p:notesMasterIdLst>
    <p:notesMasterId r:id="rId10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notesMaster" Target="notesMasters/notesMaster1.xml"/><Relationship Id="rId106" Type="http://schemas.openxmlformats.org/officeDocument/2006/relationships/presProps" Target="presProps.xml"/><Relationship Id="rId107" Type="http://schemas.openxmlformats.org/officeDocument/2006/relationships/viewProps" Target="viewProps.xml"/><Relationship Id="rId108" Type="http://schemas.openxmlformats.org/officeDocument/2006/relationships/theme" Target="theme/theme1.xml"/><Relationship Id="rId10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image" Target="../media/image-9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image" Target="../media/image-10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image" Target="../media/image-10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image" Target="../media/image-10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USUARIO · 2025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801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 Project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200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Visual de Uso — Sistema de Gestión de Proyectos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 Project — Sistema de Gestión de Proyectos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640080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Introducción y Primer Uso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969264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Interfaz Principal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1298448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Vista Gantt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74320" y="1627632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EDT — Tabla de Tareas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1956816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Organigrama WBS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74320" y="2286000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Red CPM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74320" y="2615184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Análisis DCMA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640080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Valor Ganado (EVM)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969264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Sincronización en la Nube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1298448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Recursos y Calendario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1627632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Línea Base e Historial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54880" y="1956816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Edición de Tareas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286000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Tema Oscuro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2615184"/>
            <a:ext cx="4206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Exportar e Imprimir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 y Primer Uso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ECM Project y cómo empezar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puede hacer ECM Project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Planificar proyectos con cronograma visual Gantt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Organizar tareas en estructura jerárquica (EDT/WBS)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automáticamente la ruta crítica (CPM)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Analizar calidad del cronograma con 14 puntos DCMA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el desempeño con Valor Ganado (EVM)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recursos humanos y calendario laboral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y comparar líneas base del proyecto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reportes a PDF, Excel, PNG e imprimir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27355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5760" y="322783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Sincronizar datos con la nube (Supabase)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28600" y="360273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65760" y="355701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entre tema claro y oscuro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6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general del sistema con proyecto cargado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 Project — Vista General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principal con proyecto de demostración "Edificio Residencial Las Palmas" cargado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un Nuevo Proyecto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8-nuevo-proyec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 en "+ Nuevo" para crear un proyecto: ingrese nombre, fecha de inicio y configuración inicial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Principal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Partes de la pantalla y cómo navegar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Anatomía de la Pantalla Principal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" y="566928"/>
            <a:ext cx="146304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FFA028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Barra Superior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37160" y="841248"/>
            <a:ext cx="146304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FFA028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Barra de Herramientas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137160" y="1115568"/>
            <a:ext cx="146304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FFA028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Filtros del Proyecto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37160" y="4526280"/>
            <a:ext cx="146304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FFA028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Estado del Proyecto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1325880"/>
            <a:ext cx="146304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FFA028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Panel WBS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1325880"/>
            <a:ext cx="146304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FFA028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Gráfico Gantt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" y="1371600"/>
            <a:ext cx="146304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FFA028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Menú Lateral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Superior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Logotipo y nombre de la aplicación ECM Project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del proyecto activo (editable)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para alternar entre tema claro y oscuro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"+ Nuevo" para crear un nuevo proyecto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 de duración total del proyecto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16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barra superior se ubica en la parte más alta de la pantalla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de Herramientas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Deshacer / Rehacer: revertir o repetir la última acción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Tarea: agregar nueva tarea al proyecto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Hito: agregar un hito (duración cero)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Ind. / Des.: indentar o desidentar tarea (crear jerarquía)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Enlace FS: vincular tareas con relación Fin-Inicio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(+/-/Fit): acercar, alejar o ajustar el Gantt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Etiquetas: configurar texto sobre barras Gantt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Columnas: mostrar/ocultar columnas de la tabla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barra de herramientas está debajo de la barra superior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y Herramientas del Proyecto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Recursos: gestionar personas asignadas a las tareas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Calendario: configurar días laborales y festivos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base: guardar y comparar la planificación original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Auto-calc: actualizar automáticamente las fechas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DCMA: análisis de calidad del cronograma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EVM: indicadores de valor ganado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Historial: registro de todos los cambios realizados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Filtrar: mostrar todas las tareas o solo las críticas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27355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5760" y="322783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Exportar: generar reportes en PDF, Excel, 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4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de filtros y herramientas del proyecto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Lateral (Sidebar)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Gantt: vista principal con cronograma de barras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 (Tabla): tabla plana de todas las tareas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Proyectos: árbol jerárquico WBS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CPM: diagrama de precedencias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DCMA: análisis de 14 puntos de calidad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Supabase: sincronización con la nube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Ganado: curvas S y métricas EVM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 en el ícono ☰ para expandir/colapsar el menú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A02-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22731" y="91440"/>
            <a:ext cx="1304778" cy="484632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lateral para navegar entre todas las vistas del sistema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Colapsado — Más Espacio de Trabajo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E01-sidebar-colaps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colapsar el sidebar se maximiza el área de trabajo del cronograma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Gantt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visual con cronograma de barras interactivo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Gantt — Pantalla Principal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Gantt con tabla de tareas (WBS) a la izquierda y gráfico de barras a la derecha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Gantt — Pantalla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1-gantt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monitores grandes se visualizan más tareas y más meses del cronograma simultáneamente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Tareas (Panel WBS)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# — número de fila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 — código jerárquico de la tarea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 la actividad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Tipo: Tarea, Hito o Resumen (fase)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en días hábiles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de Inicio y Fecha de Fin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avance (0 a 100)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Predecesores — tareas que deben terminar antes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27355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5760" y="322783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Haga clic en cualquier celda para editar directamente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4" name="Image 0" descr="/tmp/claude-0/-home-user-10-cronograma/65a54c1f-fafb-5dda-8f3f-850e641098f9/scratchpad/screens/A07-wbs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92242" y="91440"/>
            <a:ext cx="3965755" cy="48463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izquierdo con la tabla de tareas del proyecto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 de Barras Gantt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barras muestran la duración y posición en el tiempo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en rojo: tareas de la ruta crítica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en naranja: tareas casi críticas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en azul: tareas normales en progreso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en verde: tareas completadas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Diamantes dorados: hitos del proyecto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oscuras: tareas resumen / fases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línea vertical punteada indica la fecha actual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A08-gantt-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240663"/>
            <a:ext cx="4572000" cy="4547873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derecho con el gráfico de barras Gantt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Acercado — Ver Detalle Diario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01-zoom-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los botones (+) para acercarse y ver el detalle día a día de las barras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Ajustado — Todo el Proyecto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02-zoom-f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"Fit" muestra toda la duración del proyecto en una sola pantalla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Alejado — Vista Panorámica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03-zoom-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los botones (-) para alejarse y ver más meses del proyecto al mismo tiempo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— Solo Ruta Crítica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E02-ruta-crit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el filtro "Auto crítico" para mostrar únicamente las tareas críticas del proyecto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Gantt en Laptop (1366×768)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G01-gantt-13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315" y="512064"/>
            <a:ext cx="772537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se adapta a pantallas de laptop manteniendo todas las funcionalidades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 — Tabla de Tareas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tabular completa de todas las actividades del proyecto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EDT — Tabla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B01-edt-tab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EDT muestra todas las tareas en formato de tabla con columnas de datos del proyecto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EDT — Pantalla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2-edt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pantallas grandes se visualizan todas las columnas: fechas, duración, avance y predecesores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EDT en Laptop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G02-edt-13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315" y="512064"/>
            <a:ext cx="772537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EDT adaptada a pantalla de laptop con scroll horizontal para ver columnas adicionales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en la Tabla EDT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Haga clic en cualquier celda para editar su valor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columna "Nombre" acepta texto libre descriptivo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Ingrese fechas en formato DD/MM/AAAA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% de avance va de 0 (no iniciado) a 100 (terminado)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predecesores se ingresan como número de fila: ej. "3" o "3FS"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tareas Resumen se calculan automáticamente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Tab para moverse entre celdas de izquierda a derecha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Enter para confirmar un valor y bajar a la fila siguiente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B01-edt-tab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tabla EDT es completamente editable — haga clic para modificar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Organigrama WBS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visual de la estructura jerárquica del proyecto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Proyectos — Organigrama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B02-estru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en árbol de la jerarquía del proyecto: cada nodo representa una fase o tarea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Organigrama — Pantalla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3-estructura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pantallas grandes se aprecia mejor la jerarquía completa del proyecto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usar el Organigrama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la rueda del mouse para hacer zoom al diagrama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Arrastre con clic sostenido para moverse por el árbol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nodo muestra el código EDT y nombre de la actividad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nodos de color diferente indican el nivel jerárquico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nodo raíz representa el proyecto completo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nodos hoja representan las tareas individuales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"Fit" para centrar y ver todo el árbol de una vez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exportar para guardar el organigrama como imagen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B02-estru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jerárquico de la Estructura de Desglose del Trabajo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precedencias y cálculo automático de ruta crítica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 — Diagrama de Precedencias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B03-red-cp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diagrama muestra las dependencias entre actividades y resalta la ruta crítica en rojo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 — Pantalla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4-cpm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visualización de toda la red de dependencias en monitores grandes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 en Laptop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G06-cpm-13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315" y="512064"/>
            <a:ext cx="772537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CPM adaptada a pantalla de laptop con zoom automático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leer la Red CPM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rectángulo es una actividad del proyecto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flechas muestran las relaciones de dependencia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Nodos en rojo: actividades en la ruta crítica (holgura = 0)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Nodos en azul/naranja: actividades con cierta holgura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ruta crítica determina la duración mínima del proyecto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Retrasar una actividad crítica retrasa todo el proyecto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zoom (+/-) para ver el detalle de cada nodo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 se actualiza automáticamente al editar tareas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B03-red-cp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 con ruta crítica calculada automáticamente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DCMA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la calidad del cronograma en 14 puntos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DCMA — Análisis Completo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B04-dc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DCMA muestra el resultado de 14 verificaciones de calidad sobre el cronograma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DCMA — Pantalla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5-dcma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indicadores DCMA con sus valores y semáforo de estado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DCMA en Laptop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G03-dcma-13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315" y="512064"/>
            <a:ext cx="772537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DCMA adaptada a pantalla de laptop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DCMA — Desde el Botón DCMA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3-dcma-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presionar el botón DCMA en la barra de filtros se abre un panel lateral con el análisis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DCMA — Detalle de Indicadores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3b-dcma-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5654" y="512064"/>
            <a:ext cx="8352692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panel muestra cada punto de control con semáforo verde/amarillo/rojo y valor numérico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Puntos de Verificación DCMA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Lógica — ¿Todas las tareas tienen predecesores y sucesores?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Adelantos — ¿Hay relaciones con tiempo negativo (leads)?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Rezagos — ¿Hay relaciones con tiempo positivo excesivo?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Tipos de relación — ¿Solo se usan relaciones FS recomendadas?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Restricciones fuertes — ¿Hay fechas impuestas innecesarias?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Holgura alta — ¿Tareas con demasiados días sin usar?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Holgura negativa — ¿Tareas con fecha comprometida imposible?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Duración alta — ¿Tareas con duración mayor a 44 días?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27355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5760" y="322783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BEI — ¿El avance real coincide con lo planificado?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28600" y="360273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65760" y="355701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Recursos — ¿Todas las tareas tienen recursos asignados?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6" name="Image 0" descr="/tmp/claude-0/-home-user-10-cronograma/65a54c1f-fafb-5dda-8f3f-850e641098f9/scratchpad/screens/B04-dc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de los 14 puntos de control del estándar DCMA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DCMA en Tema Oscuro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08-dark-dc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DCMA también está disponible en tema oscuro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Ganado (EVM)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el desempeño real del proyecto versus lo planificado</a:t>
            </a:r>
            <a:endParaRPr lang="en-US" sz="13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Valor Ganado — Curvas S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B05-ev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curvas S comparan lo planificado (BCWS), lo realizado (BCWP) y el costo real (ACWP)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Valor Ganado — Pantalla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6-evm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completa de las curvas S con tabla de indicadores a la derecha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Valor Ganado en Laptop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G04-evm-13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315" y="512064"/>
            <a:ext cx="772537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EVM adaptada a laptop mostrando curvas e indicadores de rendimiento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Valor Ganado — Indicadores KPI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4-evm-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presionar EVM en la barra de filtros se abre un panel con todos los indicadores de rendimiento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EVM — Detalle de Indicadores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4b-evm-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5654" y="512064"/>
            <a:ext cx="8352692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numéricos de SPI, CPI, variaciones de costo y cronograma, y estimados a la conclusión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significan los indicadores EVM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 &gt; 1.0: el proyecto va adelantado respecto al plan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 &lt; 1.0: el proyecto va atrasado respecto al plan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 &gt; 1.0: se está gastando menos de lo presupuestado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 &lt; 1.0: se está gastando más de lo presupuestado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SV: variación de cronograma en valor monetario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CV: variación de costo (positivo = bajo presupuesto)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EAC: estimado del costo total al finalizar el proyecto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TCPI: eficiencia requerida para terminar dentro del presupuesto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B05-ev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indicadores EVM miden desempeño en costo y cronograma</a:t>
            </a:r>
            <a:endParaRPr lang="en-US" sz="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Valor Ganado en Tema Oscuro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09-dark-ev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EVM también funciona en tema oscuro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Sincronización en la Nube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y compartir el proyecto con Supabase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Sync Supabase — Estado de Conexión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B06-sy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Sync muestra el estado de la conexión con la base de datos en la nube y las opciones disponibles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Sync Supabase — Pantalla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7-sync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 sincronización en pantalla completa con detalle de registros y estado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sincronizar el proyecto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Ingrese la URL de su proyecto Supabase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Ingrese la API Key (clave de acceso)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Push: envía el proyecto local a la nube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Pull: descarga el proyecto más reciente desde la nube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Sync: sincroniza cambios en ambas direcciones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estado muestra cuándo fue la última sincronización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Varios usuarios pueden compartir el mismo proyecto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se guardan en una base de datos PostgreSQL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B06-sy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sincronización con Supabase permite colaboración y respaldo en la nube</a:t>
            </a:r>
            <a:endParaRPr lang="en-US" sz="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y Calendario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el equipo de trabajo y los días laborales</a:t>
            </a:r>
            <a:endParaRPr lang="en-US" sz="13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Recursos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7-recurs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recursos: agregar, editar y eliminar las personas asignadas al proyecto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Recursos — Pantalla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12-recursos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 recursos con tabla de asignaciones por tarea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gestionar recursos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el panel desde el botón "Recursos" en la barra de filtros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Agregue personas con nombre, rol y costo por hora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Asigne recursos a las tareas desde el detalle de cada tarea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calcula el costo total por recurso automáticamente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Visualice la asignación total de horas por persona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 sobreasignaciones de recursos fácilmente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recursos se reutilizan en múltiples tareas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análisis DCMA verifica que todas las tareas tengan recursos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C07-recurs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gestión de recursos humanos del proyecto</a:t>
            </a:r>
            <a:endParaRPr lang="en-US" sz="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del Calendario Laboral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6-calend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qué días son laborables, festivos y excepciones del calendario de trabajo del proyecto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Laboral — Pantalla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11-calendario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completa del calendario con vista anual de días laborales y festivos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configurar el calendario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el calendario desde el botón "Calendario" en la barra de filtros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Seleccione los días de la semana laborables (por defecto Lun-Vie)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 días festivos nacionales y locales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Agregue excepciones: días laborables que normalmente no lo serían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cronograma recalcula automáticamente al cambiar el calendario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duraciones se expresan en días hábiles según este calendario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fechas de inicio/fin respetan los días no laborables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tener diferentes calendarios por tipo de recurso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C06-calend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calendario define qué días son hábiles para el proyecto</a:t>
            </a:r>
            <a:endParaRPr lang="en-US" sz="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Base e Historial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el plan original y registrar todos los cambios</a:t>
            </a:r>
            <a:endParaRPr lang="en-US" sz="13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Base del Proyecto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2-linea-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línea base congela el plan original para compararlo con el avance real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Base — Pantalla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14-baseline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líneas base en pantalla completa con opciones de guardar y restaurar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usar la Línea Base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desde el botón "Línea base" en la barra de filtros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Establezca la línea base al terminar la planificación inicial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guarda fechas, duraciones y % de avance originales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barras de la línea base aparecen como sombras en el Gantt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el plan original con la ejecución real en cualquier momento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guardar múltiples líneas base (Línea Base 0, 1, 2...)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Restaure la línea base original si necesita volver al plan inicial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análisis EVM usa la línea base como referencia del BCWS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C02-linea-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línea base es la referencia para medir las desviaciones del proyecto</a:t>
            </a:r>
            <a:endParaRPr lang="en-US" sz="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Cambios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5-histor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historial registra automáticamente cada modificación realizada al proyecto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Cambios — Pantalla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10-historial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completo de cambios con fecha, hora y descripción de cada modificación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qué sirve el Historial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automáticamente cada cambio en el proyecto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 quién hizo el cambio y cuándo exactamente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qué campo fue modificado y cuál fue el valor anterior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auditar el historial de decisiones del proyecto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Útil para reportar cambios al cliente o al patrocinador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por fecha para ver cambios en un período específico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cambios no pueden borrarse para mantener la trazabilidad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puede exportar el historial completo a Excel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C05-histor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historial provee trazabilidad completa de todos los cambios</a:t>
            </a:r>
            <a:endParaRPr lang="en-US" sz="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Edición de Tareas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Agregar, modificar y vincular actividades del proyecto</a:t>
            </a:r>
            <a:endParaRPr lang="en-US" sz="13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Tarea — Panel de Edición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11-task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Doble clic sobre una tarea en el Gantt o EDT abre el panel detallado de edición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se puede editar en una tarea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Nombre: descripción completa de la actividad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Tipo: Tarea individual, Hito o Resumen (fase)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de inicio y fecha de fin planificadas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en días hábiles (se recalcula automáticamente)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avance: qué porcentaje está completado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Predecesores: qué tareas deben terminar antes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Recursos: personas asignadas a esta tarea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Notas: comentarios o información adicional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C11-task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detalle con todos los campos editables de la tarea</a:t>
            </a:r>
            <a:endParaRPr lang="en-US" sz="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agregar y organizar tareas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"+ Tarea": agrega una nueva tarea al final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"+ Hito": agrega un punto de control (duración = 0)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"Ind.": indenta la tarea — la convierte en subtarea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"Des.": desindenta — sube la tarea un nivel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"Enlace FS": vincular dos tareas seleccionadas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seleccionar múltiples tareas use Shift + clic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Arrastre una barra en el Gantt para mover su fecha de inicio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Ctrl+Z para deshacer y Ctrl+Y para rehacer cualquier cambio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de herramientas con todas las operaciones de edición de tareas</a:t>
            </a:r>
            <a:endParaRPr lang="en-US" sz="8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Etiquetas sobre Barras Gantt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9-etiquet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qué información aparece sobre las barras: nombre, fechas, duración o % de avance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Visibles en la Tabla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10-column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o desactive columnas de la tabla WBS según las necesidades del proyecto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adaptable entre modo claro y modo oscuro</a:t>
            </a:r>
            <a:endParaRPr lang="en-US" sz="13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Claro vs Modo Oscuro — Vista Gantt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Shape 4"/>
          <p:cNvSpPr/>
          <p:nvPr/>
        </p:nvSpPr>
        <p:spPr>
          <a:xfrm>
            <a:off x="470916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7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53039"/>
            <a:ext cx="4343400" cy="2443163"/>
          </a:xfrm>
          <a:prstGeom prst="rect">
            <a:avLst/>
          </a:prstGeom>
        </p:spPr>
      </p:pic>
      <p:pic>
        <p:nvPicPr>
          <p:cNvPr id="8" name="Image 1" descr="/tmp/claude-0/-home-user-10-cronograma/65a54c1f-fafb-5dda-8f3f-850e641098f9/scratchpad/screens/D04-dark-gant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53039"/>
            <a:ext cx="4343400" cy="244316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144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  Modo Claro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70916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 Modo Oscuro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Claro vs Modo Oscuro — EDT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Shape 4"/>
          <p:cNvSpPr/>
          <p:nvPr/>
        </p:nvSpPr>
        <p:spPr>
          <a:xfrm>
            <a:off x="470916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7" name="Image 0" descr="/tmp/claude-0/-home-user-10-cronograma/65a54c1f-fafb-5dda-8f3f-850e641098f9/scratchpad/screens/B01-edt-tab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53039"/>
            <a:ext cx="4343400" cy="2443163"/>
          </a:xfrm>
          <a:prstGeom prst="rect">
            <a:avLst/>
          </a:prstGeom>
        </p:spPr>
      </p:pic>
      <p:pic>
        <p:nvPicPr>
          <p:cNvPr id="8" name="Image 1" descr="/tmp/claude-0/-home-user-10-cronograma/65a54c1f-fafb-5dda-8f3f-850e641098f9/scratchpad/screens/D05-dark-ed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53039"/>
            <a:ext cx="4343400" cy="244316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144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  EDT — Modo Claro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70916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 EDT — Modo Oscuro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Claro vs Modo Oscuro — DCMA y EVM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Shape 4"/>
          <p:cNvSpPr/>
          <p:nvPr/>
        </p:nvSpPr>
        <p:spPr>
          <a:xfrm>
            <a:off x="470916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7" name="Image 0" descr="/tmp/claude-0/-home-user-10-cronograma/65a54c1f-fafb-5dda-8f3f-850e641098f9/scratchpad/screens/D08-dark-dc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53039"/>
            <a:ext cx="4343400" cy="2443163"/>
          </a:xfrm>
          <a:prstGeom prst="rect">
            <a:avLst/>
          </a:prstGeom>
        </p:spPr>
      </p:pic>
      <p:pic>
        <p:nvPicPr>
          <p:cNvPr id="8" name="Image 1" descr="/tmp/claude-0/-home-user-10-cronograma/65a54c1f-fafb-5dda-8f3f-850e641098f9/scratchpad/screens/D09-dark-ev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53039"/>
            <a:ext cx="4343400" cy="244316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144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 DCMA — Modo Oscuro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70916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 EVM — Modo Oscuro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 — Vista Gantt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04-dark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tema oscuro reduce la fatiga visual en jornadas largas de trabajo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 — Vista EDT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05-dark-ed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tabla EDT en tema oscuro con alto contraste para mejor legibilidad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 — Organigrama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06-dark-estru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organigrama WBS adaptado al tema oscuro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 — Red CPM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07-dark-cp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 de precedencias en tema oscuro con nodos y flechas adaptadas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 — Sync Supabase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10-dark-sy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de sincronización en tema oscuro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 — Panel DCMA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11-dark-dcma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lateral DCMA en tema oscuro con indicadores de calidad del cronograma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 — Panel Valor Ganado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D12-dark-evm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lateral EVM en tema oscuro con indicadores de rendimiento del proyecto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cambiar el tema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Haga clic en el ícono 🌗 en la barra superior derecha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cambio es inmediato en toda la interfaz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recuerda su preferencia para la próxima sesión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Ambos temas tienen el mismo nivel de funcionalidad completa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tema oscuro es recomendable para trabajo nocturno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tema claro es ideal para impresiones y proyecciones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gráficos y colores se adaptan automáticamente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tema no afecta los datos del proyecto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D04-dark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Alterne entre tema claro y oscuro con un solo clic</a:t>
            </a:r>
            <a:endParaRPr lang="en-US" sz="8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64008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e Imprimir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reportes y compartir el cronograma</a:t>
            </a:r>
            <a:endParaRPr lang="en-US" sz="13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de Exportación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C01-expor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botón "Exportar ▾" en la barra de filtros despliega las opciones de formato disponibles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Exportar — Pantalla Completa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13-exportar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Opciones de exportación visibles en monitor de resolución full HD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Formatos de Exportación Disponibles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Ejecutivo: portada + Gantt + EDT + indicadores EVM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/ CSV: tabla completa de tareas con todos los campos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 / Imagen: captura de la vista actual del Gantt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JSON: respaldo completo del proyecto (puede reimportarse)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MPP: formato compatible con Microsoft Project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Imprimir: vista optimizada para papel A4 o carta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PDF incluye automáticamente la fecha de generación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archivos Excel abren directamente en Microsoft Excel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C01-expor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Opciones de exportación para compartir el proyecto en distintos formatos</a:t>
            </a:r>
            <a:endParaRPr lang="en-US" sz="8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Análisis DCMA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8-dcma-panel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panel DCMA también puede exportarse como parte del reporte PDF ejecutivo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82880" y="54864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Indicadores EVM</a:t>
            </a:r>
            <a:endParaRPr lang="en-US" sz="1300" dirty="0"/>
          </a:p>
        </p:txBody>
      </p:sp>
      <p:pic>
        <p:nvPicPr>
          <p:cNvPr id="6" name="Image 0" descr="/tmp/claude-0/-home-user-10-cronograma/65a54c1f-fafb-5dda-8f3f-850e641098f9/scratchpad/screens/F09-evm-panel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82880" y="4901184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indicadores de Valor Ganado se incluyen en el reporte PDF ejecutivo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1: Crear y Planificar un Proyecto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Clic en "+ Nuevo" en la barra superior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Ingrese el nombre y fecha de inicio del proyecto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Configure el calendario laboral (días y festivos)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Agregue las fases principales (tareas resumen)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Agregue las tareas detalladas dentro de cada fase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Defina duraciones y vincule las dependencias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Asigne recursos a cada tarea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Establezca la línea base para tener referencia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C08-nuevo-proyec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completo de creación de un nuevo proyecto desde cero</a:t>
            </a:r>
            <a:endParaRPr lang="en-US" sz="8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2: Actualizar el Avance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Abra el proyecto desde la lista de proyectos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Para cada tarea completada, actualice el % de avance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Registre las fechas reales de inicio si difieren del plan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Revise el análisis DCMA para detectar problemas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Verifique los indicadores EVM (SPI y CPI)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Si hay retrasos, ajuste el cronograma y comuníquelos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Guarde los cambios — el historial los registra automáticamente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Sincronice con Supabase si trabaja en equipo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A01-app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de seguimiento y control durante la ejecución del proyecto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28600" y="73152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3: Generar un Reporte Ejecutivo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" y="64008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59436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Asegúrese que el % de avance de todas las tareas esté actualizado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8600" y="96926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92354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Revise que la línea base esté establecida correctamente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29844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25272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Abra el menú "Exportar" en la barra de filtros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627632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1581912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Seleccione "PDF Ejecutivo" para el reporte completo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1956816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1911096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El PDF incluye: Gantt actualizado, EDT, DCMA y EVM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8600" y="2286000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" y="2240280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Para solo el cronograma, seleccione "PNG / Imagen"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615184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569464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Para datos en Excel, seleccione "Excel / CSV"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944368"/>
            <a:ext cx="64008" cy="64008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5760" y="2898648"/>
            <a:ext cx="3749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Comparta el archivo con el cliente o equipo directivo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0" y="91440"/>
            <a:ext cx="4572000" cy="484632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22" name="Image 0" descr="/tmp/claude-0/-home-user-10-cronograma/65a54c1f-fafb-5dda-8f3f-850e641098f9/scratchpad/screens/C01-expor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228725"/>
            <a:ext cx="4572000" cy="257175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4389120" y="4846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de generación y entrega del reporte ejecutivo del proyecto</a:t>
            </a:r>
            <a:endParaRPr lang="en-US" sz="8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 Analíticas — DCMA y Valor Ganado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Shape 4"/>
          <p:cNvSpPr/>
          <p:nvPr/>
        </p:nvSpPr>
        <p:spPr>
          <a:xfrm>
            <a:off x="470916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7" name="Image 0" descr="/tmp/claude-0/-home-user-10-cronograma/65a54c1f-fafb-5dda-8f3f-850e641098f9/scratchpad/screens/B04-dc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53039"/>
            <a:ext cx="4343400" cy="2443163"/>
          </a:xfrm>
          <a:prstGeom prst="rect">
            <a:avLst/>
          </a:prstGeom>
        </p:spPr>
      </p:pic>
      <p:pic>
        <p:nvPicPr>
          <p:cNvPr id="8" name="Image 1" descr="/tmp/claude-0/-home-user-10-cronograma/65a54c1f-fafb-5dda-8f3f-850e641098f9/scratchpad/screens/B05-ev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53039"/>
            <a:ext cx="4343400" cy="244316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144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DCMA — 14 Puntos de Calidad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70916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Ganado — Curvas S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 de Red — Organigrama y CPM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Shape 4"/>
          <p:cNvSpPr/>
          <p:nvPr/>
        </p:nvSpPr>
        <p:spPr>
          <a:xfrm>
            <a:off x="470916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7" name="Image 0" descr="/tmp/claude-0/-home-user-10-cronograma/65a54c1f-fafb-5dda-8f3f-850e641098f9/scratchpad/screens/B02-estru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53039"/>
            <a:ext cx="4343400" cy="2443163"/>
          </a:xfrm>
          <a:prstGeom prst="rect">
            <a:avLst/>
          </a:prstGeom>
        </p:spPr>
      </p:pic>
      <p:pic>
        <p:nvPicPr>
          <p:cNvPr id="8" name="Image 1" descr="/tmp/claude-0/-home-user-10-cronograma/65a54c1f-fafb-5dda-8f3f-850e641098f9/scratchpad/screens/B03-red-cp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53039"/>
            <a:ext cx="4343400" cy="244316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144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Organigrama WBS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70916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de Gestión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Shape 4"/>
          <p:cNvSpPr/>
          <p:nvPr/>
        </p:nvSpPr>
        <p:spPr>
          <a:xfrm>
            <a:off x="470916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7" name="Image 0" descr="/tmp/claude-0/-home-user-10-cronograma/65a54c1f-fafb-5dda-8f3f-850e641098f9/scratchpad/screens/C07-recurs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53039"/>
            <a:ext cx="4343400" cy="2443163"/>
          </a:xfrm>
          <a:prstGeom prst="rect">
            <a:avLst/>
          </a:prstGeom>
        </p:spPr>
      </p:pic>
      <p:pic>
        <p:nvPicPr>
          <p:cNvPr id="8" name="Image 1" descr="/tmp/claude-0/-home-user-10-cronograma/65a54c1f-fafb-5dda-8f3f-850e641098f9/scratchpad/screens/C06-calendar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53039"/>
            <a:ext cx="4343400" cy="244316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144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Recursos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70916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Laboral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del Proyecto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Shape 4"/>
          <p:cNvSpPr/>
          <p:nvPr/>
        </p:nvSpPr>
        <p:spPr>
          <a:xfrm>
            <a:off x="4709160" y="548640"/>
            <a:ext cx="4343400" cy="4251960"/>
          </a:xfrm>
          <a:prstGeom prst="rect">
            <a:avLst/>
          </a:prstGeom>
          <a:solidFill>
            <a:srgbClr val="111111"/>
          </a:solidFill>
          <a:ln/>
        </p:spPr>
      </p:sp>
      <p:pic>
        <p:nvPicPr>
          <p:cNvPr id="7" name="Image 0" descr="/tmp/claude-0/-home-user-10-cronograma/65a54c1f-fafb-5dda-8f3f-850e641098f9/scratchpad/screens/C02-linea-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53039"/>
            <a:ext cx="4343400" cy="2443163"/>
          </a:xfrm>
          <a:prstGeom prst="rect">
            <a:avLst/>
          </a:prstGeom>
        </p:spPr>
      </p:pic>
      <p:pic>
        <p:nvPicPr>
          <p:cNvPr id="8" name="Image 1" descr="/tmp/claude-0/-home-user-10-cronograma/65a54c1f-fafb-5dda-8f3f-850e641098f9/scratchpad/screens/C05-histor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53039"/>
            <a:ext cx="4343400" cy="244316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144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Base del Proyecto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709160" y="4864608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Cambios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 Project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Integrado de Gestión de Proyectos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  ·  EDT  ·  CPM  ·  DCMA  ·  EVM  ·  Supabase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cosapi.com.pe  ·  2025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oomberg ECM">
  <a:themeElements>
    <a:clrScheme name="Bloomberg ECM">
      <a:dk1>
        <a:srgbClr val="000000"/>
      </a:dk1>
      <a:lt1>
        <a:srgbClr val="FFFFFF"/>
      </a:lt1>
      <a:dk2>
        <a:srgbClr val="CCCCCC"/>
      </a:dk2>
      <a:lt2>
        <a:srgbClr val="1A1A1A"/>
      </a:lt2>
      <a:accent1>
        <a:srgbClr val="FFA028"/>
      </a:accent1>
      <a:accent2>
        <a:srgbClr val="2A2A2A"/>
      </a:accent2>
      <a:accent3>
        <a:srgbClr val="3A3A3A"/>
      </a:accent3>
      <a:accent4>
        <a:srgbClr val="E8E8E8"/>
      </a:accent4>
      <a:accent5>
        <a:srgbClr val="666666"/>
      </a:accent5>
      <a:accent6>
        <a:srgbClr val="999999"/>
      </a:accent6>
      <a:hlink>
        <a:srgbClr val="FFA028"/>
      </a:hlink>
      <a:folHlink>
        <a:srgbClr val="FF7A00"/>
      </a:folHlink>
    </a:clrScheme>
    <a:fontScheme name="Bloomberg ECM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103</Slides>
  <Notes>103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103</vt:i4>
      </vt:variant>
    </vt:vector>
  </HeadingPairs>
  <TitlesOfParts>
    <vt:vector size="10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2026-10-18T18:55:43Z</dcterms:created>
  <dcterms:modified xsi:type="dcterms:W3CDTF">2026-10-18T18:55:43Z</dcterms:modified>
</cp:coreProperties>
</file>