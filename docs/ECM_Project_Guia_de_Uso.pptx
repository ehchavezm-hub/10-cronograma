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</p:sldIdLst>
  <p:notesMasterIdLst>
    <p:notesMasterId r:id="rId1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notesMaster" Target="notesMasters/notesMaster1.xml"/><Relationship Id="rId112" Type="http://schemas.openxmlformats.org/officeDocument/2006/relationships/presProps" Target="presProps.xml"/><Relationship Id="rId113" Type="http://schemas.openxmlformats.org/officeDocument/2006/relationships/viewProps" Target="viewProps.xml"/><Relationship Id="rId114" Type="http://schemas.openxmlformats.org/officeDocument/2006/relationships/theme" Target="theme/theme1.xml"/><Relationship Id="rId1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image" Target="../media/image-8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image" Target="../media/image-8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6-1.png"/><Relationship Id="rId2" Type="http://schemas.openxmlformats.org/officeDocument/2006/relationships/image" Target="../media/image-10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7-1.png"/><Relationship Id="rId2" Type="http://schemas.openxmlformats.org/officeDocument/2006/relationships/image" Target="../media/image-10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8-1.png"/><Relationship Id="rId2" Type="http://schemas.openxmlformats.org/officeDocument/2006/relationships/image" Target="../media/image-10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11480" y="274320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USO VISUAL · 2025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1371600"/>
            <a:ext cx="83210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 Project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11480" y="3200400"/>
            <a:ext cx="8321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Integrado de Gestión de Proyectos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11480" y="4572000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 Project — Sistema de Gestión de Proyectos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91440"/>
            <a:ext cx="8595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de la Presentación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274320" y="685800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Introducción y Arquitectura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996696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Interfaz Principal y Componentes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74320" y="1307592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Vista Gantt — La Vista Central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74320" y="161848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EDT (Estructura de Desglose del Trabajo)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74320" y="1929384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Estructura de Proyectos (Org Chart)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74320" y="2240280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Red CPM (Ruta Crítica)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74320" y="2551176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Vista DCMA — Análisis de Calidad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685800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Valor Ganado (EVM)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996696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Sincronización Supabase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754880" y="1307592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Paneles y Modales — Herramientas Analíticas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161848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Gestión de Tareas y Detalles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754880" y="1929384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Tema Oscuro y Responsividad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754880" y="2240280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 Exportación y Configuración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754880" y="2551176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 Flujos de Trabajo Completos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73152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651760"/>
            <a:ext cx="8321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Introducción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8404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ECM Project y sus capacidades principales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91440"/>
            <a:ext cx="8595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 Project — Sistema Integrado de Gestión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685800"/>
            <a:ext cx="54864" cy="27432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11480" y="68580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Gantt Interactivo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11480" y="91440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Planificación visual con cronograma drag-and-drop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74320" y="1371600"/>
            <a:ext cx="54864" cy="27432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11480" y="137160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EDT (WBS)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11480" y="160020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desglose del trabajo jerárquica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4320" y="2057400"/>
            <a:ext cx="54864" cy="27432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11480" y="205740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CPM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" y="228600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automático de ruta crítica (Critical Path Method)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2743200"/>
            <a:ext cx="54864" cy="27432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11480" y="274320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DCMA 14-Point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11480" y="297180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calidad del cronograma según estándar DCMA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4320" y="3429000"/>
            <a:ext cx="54864" cy="27432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11480" y="342900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Ganado (EVM)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11480" y="365760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SPI, CPI, BCWS, BCWP, ACWP en tiempo real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74320" y="4114800"/>
            <a:ext cx="54864" cy="27432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11480" y="411480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Supabase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11480" y="434340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Sincronización en la nube con base de datos PostgreSQL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754880" y="685800"/>
            <a:ext cx="54864" cy="27432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892040" y="68580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Base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892040" y="91440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Establecimiento y comparación de líneas base del proyecto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754880" y="1371600"/>
            <a:ext cx="54864" cy="27432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892040" y="137160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Exportación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92040" y="160020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 a PDF, Excel, PNG, JSON y MPP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54880" y="2057400"/>
            <a:ext cx="54864" cy="27432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92040" y="205740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Recursos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4892040" y="228600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Asignación y seguimiento de recursos humanos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754880" y="2743200"/>
            <a:ext cx="54864" cy="27432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892040" y="274320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4892040" y="297180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calendarios laborales y festivos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754880" y="3429000"/>
            <a:ext cx="54864" cy="27432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4892040" y="342900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de Cambios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4892040" y="365760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completo de modificaciones del proyecto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754880" y="4114800"/>
            <a:ext cx="54864" cy="27432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4892040" y="411480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Oscuro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4892040" y="434340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Interfaz adaptable modo claro/oscuro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 Project — Vista General del Sistema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A01-app-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inicial al cargar ECM Project con proyecto demo cargado automáticamente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914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Tecnologías y Arquitectura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82880" y="72237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0040" y="6858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 de página única (SPA) con módulos ES6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82880" y="10424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20040" y="100584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dependencias externas — todo en vanilla JS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82880" y="136245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040" y="13258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local IndexedDB para persistencia offline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82880" y="168249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20040" y="164592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opcional con Supabase (PostgreSQL) en la nube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00253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0040" y="196596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Renderizado de Gantt mediante canvas HTML5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82880" y="232257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20040" y="22860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CPM calculado con algoritmo Critical Path Method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82880" y="26426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20040" y="260604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EVM calculado en tiempo real con fórmulas EVMS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82880" y="296265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20040" y="29260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Exportación a múltiples formatos sin servidor</a:t>
            </a:r>
            <a:endParaRPr lang="en-US" sz="1050" dirty="0"/>
          </a:p>
        </p:txBody>
      </p:sp>
      <p:pic>
        <p:nvPicPr>
          <p:cNvPr id="21" name="Image 0" descr="/tmp/claude-0/-home-user-10-cronograma/65a54c1f-fafb-5dda-8f3f-850e641098f9/scratchpad/screens/A01-app-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3400" y="91440"/>
            <a:ext cx="4617720" cy="48463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4343400" y="4846320"/>
            <a:ext cx="4617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cliente-servidor con datos locales y cloud opcional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73152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651760"/>
            <a:ext cx="8321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Interfaz Principal y Componentes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8404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Anatomía de la pantalla: barras, paneles y controles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64008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Superior (Header)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132320" y="6400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</a:t>
            </a:r>
            <a:endParaRPr lang="en-US" sz="1100" dirty="0"/>
          </a:p>
        </p:txBody>
      </p:sp>
      <p:pic>
        <p:nvPicPr>
          <p:cNvPr id="7" name="Image 0" descr="/tmp/claude-0/-home-user-10-cronograma/65a54c1f-fafb-5dda-8f3f-850e641098f9/scratchpad/screens/A03-top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94360"/>
            <a:ext cx="8229600" cy="42062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superior: logotipo, nombre del proyecto, botones de tema y nuevo proyecto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64008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de Herramientas (Toolbar)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132320" y="6400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Toolbar</a:t>
            </a:r>
            <a:endParaRPr lang="en-US" sz="1100" dirty="0"/>
          </a:p>
        </p:txBody>
      </p:sp>
      <p:pic>
        <p:nvPicPr>
          <p:cNvPr id="7" name="Image 0" descr="/tmp/claude-0/-home-user-10-cronograma/65a54c1f-fafb-5dda-8f3f-850e641098f9/scratchpad/screens/A04-toolbar-ed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94360"/>
            <a:ext cx="8229600" cy="42062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Acciones de edición: deshacer, rehacer, agregar tarea/hito, indentación, vínculos, zoom Gantt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64008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de Filtros del Proyecto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132320" y="6400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</a:t>
            </a:r>
            <a:endParaRPr lang="en-US" sz="1100" dirty="0"/>
          </a:p>
        </p:txBody>
      </p:sp>
      <p:pic>
        <p:nvPicPr>
          <p:cNvPr id="7" name="Image 0" descr="/tmp/claude-0/-home-user-10-cronograma/65a54c1f-fafb-5dda-8f3f-850e641098f9/scratchpad/screens/A05-filter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94360"/>
            <a:ext cx="8229600" cy="42062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Botones de análisis del proyecto: Recursos, Calendario, Línea Base, DCMA, EVM, Historial, Exportar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64008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WBS — Tabla de Tareas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132320" y="6400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WBS</a:t>
            </a:r>
            <a:endParaRPr lang="en-US" sz="1100" dirty="0"/>
          </a:p>
        </p:txBody>
      </p:sp>
      <p:pic>
        <p:nvPicPr>
          <p:cNvPr id="7" name="Image 0" descr="/tmp/claude-0/-home-user-10-cronograma/65a54c1f-fafb-5dda-8f3f-850e641098f9/scratchpad/screens/A07-wbs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94360"/>
            <a:ext cx="8229600" cy="42062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jerárquica con columnas: EDT, Nombre, Inicio, Fin, Duración, % Avance, Predecesores, Recursos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64008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Gantt — Gráfico de Barras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132320" y="6400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Gantt</a:t>
            </a:r>
            <a:endParaRPr lang="en-US" sz="1100" dirty="0"/>
          </a:p>
        </p:txBody>
      </p:sp>
      <p:pic>
        <p:nvPicPr>
          <p:cNvPr id="7" name="Image 0" descr="/tmp/claude-0/-home-user-10-cronograma/65a54c1f-fafb-5dda-8f3f-850e641098f9/scratchpad/screens/A08-gantt-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94360"/>
            <a:ext cx="8229600" cy="42062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de Gantt con barras coloreadas por criticidad y línea de tiempo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64008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de Estado (Statusbar)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132320" y="6400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Statusbar</a:t>
            </a:r>
            <a:endParaRPr lang="en-US" sz="1100" dirty="0"/>
          </a:p>
        </p:txBody>
      </p:sp>
      <p:pic>
        <p:nvPicPr>
          <p:cNvPr id="7" name="Image 0" descr="/tmp/claude-0/-home-user-10-cronograma/65a54c1f-fafb-5dda-8f3f-850e641098f9/scratchpad/screens/A06-status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94360"/>
            <a:ext cx="8229600" cy="42062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del proyecto: total de tareas, tareas críticas, avance global, fechas inicio/fin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64008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Lateral (Sidebar)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132320" y="6400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Sidebar</a:t>
            </a:r>
            <a:endParaRPr lang="en-US" sz="1100" dirty="0"/>
          </a:p>
        </p:txBody>
      </p:sp>
      <p:pic>
        <p:nvPicPr>
          <p:cNvPr id="7" name="Image 0" descr="/tmp/claude-0/-home-user-10-cronograma/65a54c1f-fafb-5dda-8f3f-850e641098f9/scratchpad/screens/A02-side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94360"/>
            <a:ext cx="8229600" cy="42062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de navegación: acceso a todas las vistas del sistema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Completa — Componentes Principales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A01-app-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+ Toolbar + Filterbar + Sidebar + WBS + Gantt + Statusbar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73152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651760"/>
            <a:ext cx="8321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Gantt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8404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corazón del sistema: planificación visual con cronograma interactivo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Gantt — Pantalla Principal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B07-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Gantt principal con tabla WBS a la izquierda y gráfico de barras a la derecha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Gantt — Pantalla Completa 1920×1080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F01-gantt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full HD: mayor espacio para visualizar más tareas y horizonte temporal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Gantt — Resolución 1366×768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G01-gantt-136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laptop estándar: interfaz compacta pero funcional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914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Colores de Barras Gantt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82880" y="72237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0040" y="6858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(#1976D2) — Tareas normales en progreso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82880" y="10424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20040" y="100584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Rojo (#D32F2F) — Tareas en ruta crítica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82880" y="136245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040" y="13258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Naranja (#FB8C00) — Tareas casi críticas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82880" y="168249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20040" y="164592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Verde (#388E3C) — Tareas completadas al 100%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00253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0040" y="196596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Amarillo dorado (#F9A825) — Hitos del proyecto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82880" y="232257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20040" y="22860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Gris (#9E9E9E) — Tareas pendientes sin iniciar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82880" y="26426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20040" y="260604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oscuro (#455A64) — Tareas resumen/fase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82880" y="296265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20040" y="29260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color obedece a criterios de gestión predefinidos</a:t>
            </a:r>
            <a:endParaRPr lang="en-US" sz="1050" dirty="0"/>
          </a:p>
        </p:txBody>
      </p:sp>
      <p:pic>
        <p:nvPicPr>
          <p:cNvPr id="21" name="Image 0" descr="/tmp/claude-0/-home-user-10-cronograma/65a54c1f-fafb-5dda-8f3f-850e641098f9/scratchpad/screens/A01-app-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3400" y="91440"/>
            <a:ext cx="4617720" cy="48463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4343400" y="4846320"/>
            <a:ext cx="4617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Codificación cromática según estado y criticidad de cada tarea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64008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 — Vista Ampliada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132320" y="6400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 +</a:t>
            </a:r>
            <a:endParaRPr lang="en-US" sz="1100" dirty="0"/>
          </a:p>
        </p:txBody>
      </p:sp>
      <p:pic>
        <p:nvPicPr>
          <p:cNvPr id="7" name="Image 0" descr="/tmp/claude-0/-home-user-10-cronograma/65a54c1f-fafb-5dda-8f3f-850e641098f9/scratchpad/screens/D01-zoom-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94360"/>
            <a:ext cx="8229600" cy="42062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 in: mayor detalle de las barras Gantt, más días visibles por pantalla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64008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 — Vista Ajustada al Proyecto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132320" y="6400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 fit</a:t>
            </a:r>
            <a:endParaRPr lang="en-US" sz="1100" dirty="0"/>
          </a:p>
        </p:txBody>
      </p:sp>
      <p:pic>
        <p:nvPicPr>
          <p:cNvPr id="7" name="Image 0" descr="/tmp/claude-0/-home-user-10-cronograma/65a54c1f-fafb-5dda-8f3f-850e641098f9/scratchpad/screens/D02-zoom-f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94360"/>
            <a:ext cx="8229600" cy="42062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 fit: toda la duración del proyecto visible en una sola pantalla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64008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 — Vista Reducida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132320" y="6400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 -</a:t>
            </a:r>
            <a:endParaRPr lang="en-US" sz="1100" dirty="0"/>
          </a:p>
        </p:txBody>
      </p:sp>
      <p:pic>
        <p:nvPicPr>
          <p:cNvPr id="7" name="Image 0" descr="/tmp/claude-0/-home-user-10-cronograma/65a54c1f-fafb-5dda-8f3f-850e641098f9/scratchpad/screens/D03-zoom-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94360"/>
            <a:ext cx="8229600" cy="42062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 out: vista panorámica del proyecto completo con más meses visibles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WBS — Vista 1920×1080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F01b-wbs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WBS en resolución full HD: columnas completas y más filas visibles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73152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651760"/>
            <a:ext cx="8321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EDT — Estructura de Desglose del Trabajo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8404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plana de todas las tareas con columnas editables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EDT — Tabla de Tareas Completa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B01-edt-tabl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EDT con todas las tareas, columnas editables y datos completos del proyecto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EDT — Pantalla Completa 1920×1080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F02-edt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EDT en resolución full HD: mayor número de columnas y filas visibles simultáneamente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EDT — Resolución 1366×768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G02-edt-136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EDT en resolución laptop: tabla adaptativa con scroll horizontal para columnas adicionales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914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 de la Tabla EDT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82880" y="72237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0040" y="6858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/ Código EDT jerárquico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82880" y="10424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20040" y="100584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de la tarea (editable)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82880" y="136245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040" y="13258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Tipo: tarea, hito, resumen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82880" y="168249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20040" y="164592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de inicio planificada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00253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0040" y="196596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de fin planificada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82880" y="232257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20040" y="22860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Duración (días hábiles)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82880" y="26426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20040" y="260604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 avance (0-100)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82880" y="296265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20040" y="29260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Predecesores (vínculos FS/SS/FF/SF)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82880" y="328269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20040" y="324612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asignados</a:t>
            </a:r>
            <a:endParaRPr lang="en-US" sz="1050" dirty="0"/>
          </a:p>
        </p:txBody>
      </p:sp>
      <p:pic>
        <p:nvPicPr>
          <p:cNvPr id="23" name="Image 0" descr="/tmp/claude-0/-home-user-10-cronograma/65a54c1f-fafb-5dda-8f3f-850e641098f9/scratchpad/screens/B01-edt-tabl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3400" y="91440"/>
            <a:ext cx="4617720" cy="484632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4343400" y="4846320"/>
            <a:ext cx="4617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EDT — todas las columnas del proyecto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73152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651760"/>
            <a:ext cx="8321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Proyectos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8404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Organigrama jerárquico del desglose del trabajo (OBS/WBS)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Proyectos — Organigrama WBS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B02-estructu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árbol jerárquico del desglose del trabajo con nodos expandibles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Proyectos — 1920×1080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F03-estructura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Organigrama en resolución full HD: más espacio para visualizar la jerarquía completa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Proyectos — 1366×768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G05-estructura-136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Organigrama en resolución laptop con zoom automático para mostrar el árbol completo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64008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 Organigrama — Detalle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132320" y="6400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OrgChart canvas</a:t>
            </a:r>
            <a:endParaRPr lang="en-US" sz="1100" dirty="0"/>
          </a:p>
        </p:txBody>
      </p:sp>
      <p:pic>
        <p:nvPicPr>
          <p:cNvPr id="7" name="Image 0" descr="/tmp/claude-0/-home-user-10-cronograma/65a54c1f-fafb-5dda-8f3f-850e641098f9/scratchpad/screens/B02b-org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94360"/>
            <a:ext cx="8229600" cy="42062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del canvas del organigrama: nodos con código EDT, nombre y tipo de tarea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914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del Organigrama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82880" y="72237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0040" y="6858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Árbol jerárquico con niveles EDT 1, 2, 3, 4+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82880" y="10424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20040" y="100584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Nodos con código de color por nivel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82880" y="136245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040" y="13258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 interactivo con rueda del mouse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82880" y="168249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20040" y="164592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 (arrastre) para navegar el árbol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00253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0040" y="196596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Exportación a PNG del organigrama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82880" y="232257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20040" y="22860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Resaltado de rama seleccionada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82880" y="26426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20040" y="260604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Tooltip con información detallada de la tarea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82880" y="296265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20040" y="29260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Auto-fit para centrar y escalar toda la estructura</a:t>
            </a:r>
            <a:endParaRPr lang="en-US" sz="1050" dirty="0"/>
          </a:p>
        </p:txBody>
      </p:sp>
      <p:pic>
        <p:nvPicPr>
          <p:cNvPr id="21" name="Image 0" descr="/tmp/claude-0/-home-user-10-cronograma/65a54c1f-fafb-5dda-8f3f-850e641098f9/scratchpad/screens/B02-estructu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3400" y="91440"/>
            <a:ext cx="4617720" cy="48463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4343400" y="4846320"/>
            <a:ext cx="4617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Organigrama WBS con jerarquía completa del proyecto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73152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651760"/>
            <a:ext cx="8321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CPM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8404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precedencias con cálculo automático de ruta crítica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CPM — Diagrama de Precedencias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B03-red-cp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red CPM con nodos de actividades y flechas de dependencias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CPM — 1920×1080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F04-cpm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CPM en pantalla completa: mayor área de trabajo para proyectos con muchas dependencias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CPM — 1366×768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G06-cpm-136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CPM en resolución estándar con zoom automático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64008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Nodos CPM — Detalle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132320" y="6400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CPM canvas</a:t>
            </a:r>
            <a:endParaRPr lang="en-US" sz="1100" dirty="0"/>
          </a:p>
        </p:txBody>
      </p:sp>
      <p:pic>
        <p:nvPicPr>
          <p:cNvPr id="7" name="Image 0" descr="/tmp/claude-0/-home-user-10-cronograma/65a54c1f-fafb-5dda-8f3f-850e641098f9/scratchpad/screens/B03b-cp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94360"/>
            <a:ext cx="8229600" cy="42062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los nodos CPM: ID, nombre, inicio temprano (ES), fin temprano (EF), holgura total (TF)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914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de Ruta Crítica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82880" y="72237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0040" y="6858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 CPM (Critical Path Method)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82880" y="10424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20040" y="100584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de Early Start (ES) y Early Finish (EF)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82880" y="136245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040" y="13258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de Late Start (LS) y Late Finish (LF)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82880" y="168249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20040" y="164592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Holgura Total (TF) y Holgura Libre (FF)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00253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0040" y="196596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 crítica resaltada en rojo (TF = 0)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82880" y="232257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20040" y="22860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Tareas casi críticas en naranja (TF ≤ umbral)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82880" y="26426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20040" y="260604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Recalcúlculo automático al editar dependencias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82880" y="296265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20040" y="29260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Exportación del diagrama CPM a imagen</a:t>
            </a:r>
            <a:endParaRPr lang="en-US" sz="1050" dirty="0"/>
          </a:p>
        </p:txBody>
      </p:sp>
      <p:pic>
        <p:nvPicPr>
          <p:cNvPr id="21" name="Image 0" descr="/tmp/claude-0/-home-user-10-cronograma/65a54c1f-fafb-5dda-8f3f-850e641098f9/scratchpad/screens/B03-red-cp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3400" y="91440"/>
            <a:ext cx="4617720" cy="48463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4343400" y="4846320"/>
            <a:ext cx="4617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 CPM con cálculo de holguras y ruta crítica</a:t>
            </a:r>
            <a:endParaRPr lang="en-US" sz="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73152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651760"/>
            <a:ext cx="8321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DCMA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8404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calidad del cronograma — 14 puntos de verificación</a:t>
            </a:r>
            <a:endParaRPr lang="en-US" sz="1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DCMA — Análisis de Calidad del Cronograma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B04-dc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dedicada DCMA con métricas de los 14 puntos de control del cronograma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DCMA — 1920×1080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F05-dcma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DCMA en pantalla completa con todos los indicadores y métricas del análisis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DCMA — 1366×768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G03-dcma-136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DCMA en resolución laptop: métricas compactas pero completamente funcionales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64008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DCMA — Overlay Análisis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132320" y="6400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DCMA</a:t>
            </a:r>
            <a:endParaRPr lang="en-US" sz="1100" dirty="0"/>
          </a:p>
        </p:txBody>
      </p:sp>
      <p:pic>
        <p:nvPicPr>
          <p:cNvPr id="7" name="Image 0" descr="/tmp/claude-0/-home-user-10-cronograma/65a54c1f-fafb-5dda-8f3f-850e641098f9/scratchpad/screens/C03-dcma-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94360"/>
            <a:ext cx="8229600" cy="42062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lateral DCMA con resultados detallados de cada uno de los 14 puntos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64008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DCMA — Métricas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132320" y="6400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DCMA</a:t>
            </a:r>
            <a:endParaRPr lang="en-US" sz="1100" dirty="0"/>
          </a:p>
        </p:txBody>
      </p:sp>
      <p:pic>
        <p:nvPicPr>
          <p:cNvPr id="7" name="Image 0" descr="/tmp/claude-0/-home-user-10-cronograma/65a54c1f-fafb-5dda-8f3f-850e641098f9/scratchpad/screens/C03b-dcma-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94360"/>
            <a:ext cx="8229600" cy="42062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métricas DCMA: indicadores semáforo (verde/amarillo/rojo) y valores numéricos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914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Puntos de Control DCMA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82880" y="72237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0040" y="6858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Logic (dependencias entre tareas)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82880" y="10424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20040" y="100584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Leads (relaciones con adelantos)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82880" y="136245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040" y="13258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Lags (relaciones con rezagos)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82880" y="168249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20040" y="164592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Relationship Types (tipos FS/SS/FF/SF)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00253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0040" y="196596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Hard Constraints (restricciones fuertes)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82880" y="232257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20040" y="22860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High Float (tareas con holgura excesiva)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82880" y="26426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20040" y="260604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Negative Float (tareas con holgura negativa)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82880" y="296265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20040" y="29260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High Duration (tareas demasiado largas)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82880" y="328269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20040" y="324612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Invalid Dates (fechas incoherentes)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82880" y="360273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20040" y="356616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Resources (asignación de recursos)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182880" y="392277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20040" y="38862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Missed Tasks (tareas sin iniciar pasadas)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182880" y="4242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20040" y="420624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Critical Path (longitud ruta crítica)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182880" y="456285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20040" y="45262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BEI (Baseline Execution Index)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82880" y="488289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20040" y="484632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 Increments (progreso por intervalos)</a:t>
            </a:r>
            <a:endParaRPr lang="en-US" sz="1050" dirty="0"/>
          </a:p>
        </p:txBody>
      </p:sp>
      <p:pic>
        <p:nvPicPr>
          <p:cNvPr id="33" name="Image 0" descr="/tmp/claude-0/-home-user-10-cronograma/65a54c1f-fafb-5dda-8f3f-850e641098f9/scratchpad/screens/B04-dc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3400" y="91440"/>
            <a:ext cx="4617720" cy="4846320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4343400" y="4846320"/>
            <a:ext cx="4617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puntos de control de calidad del cronograma según estándar DCMA</a:t>
            </a:r>
            <a:endParaRPr lang="en-US" sz="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73152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651760"/>
            <a:ext cx="8321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Ganado (EVM)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8404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del valor ganado: SPI, CPI, BCWS, BCWP, ACWP</a:t>
            </a:r>
            <a:endParaRPr lang="en-US" sz="14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EVM — Curvas S del Proyecto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B05-ev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dedicada EVM con gráficas de curvas S: BCWS, BCWP y ACWP en el tiempo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EVM — 1920×1080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F06-evm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EVM en pantalla completa con curvas S detalladas y tabla de indicadores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EVM — 1366×768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G04-evm-136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EVM en resolución laptop con visualización adaptativa de las curvas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64008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EVM — Overlay con Indicadores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132320" y="6400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EVM</a:t>
            </a:r>
            <a:endParaRPr lang="en-US" sz="1100" dirty="0"/>
          </a:p>
        </p:txBody>
      </p:sp>
      <p:pic>
        <p:nvPicPr>
          <p:cNvPr id="7" name="Image 0" descr="/tmp/claude-0/-home-user-10-cronograma/65a54c1f-fafb-5dda-8f3f-850e641098f9/scratchpad/screens/C04-evm-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94360"/>
            <a:ext cx="8229600" cy="42062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lateral EVM con KPIs en tiempo real: SPI, CPI, SV, CV, EAC, TCPI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64008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EVM — KPIs del Proyecto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132320" y="6400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EVM</a:t>
            </a:r>
            <a:endParaRPr lang="en-US" sz="1100" dirty="0"/>
          </a:p>
        </p:txBody>
      </p:sp>
      <p:pic>
        <p:nvPicPr>
          <p:cNvPr id="7" name="Image 0" descr="/tmp/claude-0/-home-user-10-cronograma/65a54c1f-fafb-5dda-8f3f-850e641098f9/scratchpad/screens/C04b-evm-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94360"/>
            <a:ext cx="8229600" cy="42062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indicadores EVM: valores numéricos con semáforo de rendimiento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914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de Valor Ganado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82880" y="72237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0040" y="6858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BCWS: Costo Presupuestado del Trabajo Planificado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82880" y="10424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20040" y="100584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BCWP: Costo Presupuestado del Trabajo Realizado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82880" y="136245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040" y="13258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ACWP: Costo Real del Trabajo Realizado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82880" y="168249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20040" y="164592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= BCWP - ACWP (Variación de Costo)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00253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0040" y="196596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 = BCWP - BCWS (Variación de Cronograma)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82880" y="232257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20040" y="22860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CPI = BCWP / ACWP (Índice Rendimiento Costo)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82880" y="26426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20040" y="260604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 = BCWP / BCWS (Índice Rendimiento Cronograma)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82880" y="296265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20040" y="29260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EAC: Estimado a la Conclusión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82880" y="328269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20040" y="324612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TCPI: Índice Rendimiento para Completar</a:t>
            </a:r>
            <a:endParaRPr lang="en-US" sz="1050" dirty="0"/>
          </a:p>
        </p:txBody>
      </p:sp>
      <p:pic>
        <p:nvPicPr>
          <p:cNvPr id="23" name="Image 0" descr="/tmp/claude-0/-home-user-10-cronograma/65a54c1f-fafb-5dda-8f3f-850e641098f9/scratchpad/screens/B05-ev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3400" y="91440"/>
            <a:ext cx="4617720" cy="484632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4343400" y="4846320"/>
            <a:ext cx="4617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EVM calculados automáticamente sobre el cronograma</a:t>
            </a:r>
            <a:endParaRPr lang="en-US" sz="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73152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651760"/>
            <a:ext cx="8321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Sincronización Supabase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8404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Respaldo y colaboración en la nube con base de datos PostgreSQL</a:t>
            </a:r>
            <a:endParaRPr lang="en-US" sz="14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Sync Supabase — Estado de Sincronización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B06-syn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dedicada a la sincronización con el backend Supabase en la nube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Sync Supabase — 1920×1080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F07-sync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en pantalla completa con detalle de registros y estado de conexión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914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 Sincronización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82880" y="72237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0040" y="6858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Conexión a Supabase con URL y API Key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82880" y="10424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20040" y="100584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Push: enviar datos locales a la nube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82880" y="136245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040" y="13258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Pull: descargar datos desde la nube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82880" y="168249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20040" y="164592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Sync: sincronización bidireccional inteligente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00253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0040" y="196596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conexión en tiempo real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82880" y="232257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20040" y="22860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conflictos automática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82880" y="26426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20040" y="260604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de sincronizaciones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82880" y="296265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20040" y="29260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Colaboración multi-usuario con el mismo proyecto</a:t>
            </a:r>
            <a:endParaRPr lang="en-US" sz="1050" dirty="0"/>
          </a:p>
        </p:txBody>
      </p:sp>
      <p:pic>
        <p:nvPicPr>
          <p:cNvPr id="21" name="Image 0" descr="/tmp/claude-0/-home-user-10-cronograma/65a54c1f-fafb-5dda-8f3f-850e641098f9/scratchpad/screens/B06-syn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3400" y="91440"/>
            <a:ext cx="4617720" cy="48463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4343400" y="4846320"/>
            <a:ext cx="4617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con Supabase para persistencia y colaboración en la nube</a:t>
            </a:r>
            <a:endParaRPr lang="en-US" sz="8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73152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651760"/>
            <a:ext cx="8321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Paneles y Modales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8404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analíticas y de configuración en ventanas especializadas</a:t>
            </a:r>
            <a:endParaRPr lang="en-US" sz="14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 Laboral — Configuración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C06-calendar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Diálogo de configuración del calendario: días laborales, festivos y excepciones por proyecto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Recursos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C07-recurs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gestión de recursos humanos: asignación, disponibilidad y horas por tarea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Base del Proyecto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C02-linea-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Diálogo de línea base: establecer, guardar y comparar con la planificación original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de Cambios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C05-histor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historial: log completo de todas las modificaciones realizadas al proyecto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64008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Historial — Log de Cambios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132320" y="6400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changelog</a:t>
            </a:r>
            <a:endParaRPr lang="en-US" sz="1100" dirty="0"/>
          </a:p>
        </p:txBody>
      </p:sp>
      <p:pic>
        <p:nvPicPr>
          <p:cNvPr id="7" name="Image 0" descr="/tmp/claude-0/-home-user-10-cronograma/65a54c1f-fafb-5dda-8f3f-850e641098f9/scratchpad/screens/C05b-histor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94360"/>
            <a:ext cx="8229600" cy="42062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del historial con timestamp, usuario y descripción de cada cambio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Nuevo Proyecto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C08-nuevo-proyec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Diálogo de creación de proyecto: nombre, fechas, calendario de trabajo y configuración inicial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64008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de Exportación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132320" y="6400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</a:t>
            </a:r>
            <a:endParaRPr lang="en-US" sz="1100" dirty="0"/>
          </a:p>
        </p:txBody>
      </p:sp>
      <p:pic>
        <p:nvPicPr>
          <p:cNvPr id="7" name="Image 0" descr="/tmp/claude-0/-home-user-10-cronograma/65a54c1f-fafb-5dda-8f3f-850e641098f9/scratchpad/screens/C01-expor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94360"/>
            <a:ext cx="8229600" cy="42062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Dropdown del menú Exportar con opciones: PDF, Excel/CSV, PNG, JSON, MPP, Imprimir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64008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Etiquetas de Barras — Configuración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132320" y="6400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labels</a:t>
            </a:r>
            <a:endParaRPr lang="en-US" sz="1100" dirty="0"/>
          </a:p>
        </p:txBody>
      </p:sp>
      <p:pic>
        <p:nvPicPr>
          <p:cNvPr id="7" name="Image 0" descr="/tmp/claude-0/-home-user-10-cronograma/65a54c1f-fafb-5dda-8f3f-850e641098f9/scratchpad/screens/C09-etiquet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94360"/>
            <a:ext cx="8229600" cy="42062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Dropdown para configurar qué texto mostrar sobre las barras del Gantt: nombre, fechas, duración, avance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64008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 WBS — Configuración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132320" y="6400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WBS columns</a:t>
            </a:r>
            <a:endParaRPr lang="en-US" sz="1100" dirty="0"/>
          </a:p>
        </p:txBody>
      </p:sp>
      <p:pic>
        <p:nvPicPr>
          <p:cNvPr id="7" name="Image 0" descr="/tmp/claude-0/-home-user-10-cronograma/65a54c1f-fafb-5dda-8f3f-850e641098f9/scratchpad/screens/C10-column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94360"/>
            <a:ext cx="8229600" cy="42062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Dropdown para mostrar/ocultar columnas de la tabla WBS según necesidad del usuario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73152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651760"/>
            <a:ext cx="8321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Tareas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8404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Crear, editar y vincular tareas con detalle completo</a:t>
            </a:r>
            <a:endParaRPr lang="en-US" sz="14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Detalle de Tarea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C11-task-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lateral al hacer doble clic en una tarea: todos los campos editables de la tarea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914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del Detalle de Tarea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82880" y="72237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0040" y="6858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de la tarea (texto libre)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82880" y="10424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20040" y="100584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Tipo: Tarea / Hito / Resumen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82880" y="136245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040" y="13258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de inicio y fecha de fin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82880" y="168249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20040" y="164592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Duración en días hábiles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00253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0040" y="196596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 avance (0 a 100)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82880" y="232257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20040" y="22860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Predecesores con tipo de vínculo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82880" y="26426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20040" y="260604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asignados y horas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82880" y="296265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20040" y="29260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 y comentarios del responsable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82880" y="328269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20040" y="324612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Estado: Activa / Suspendida / Cancelada</a:t>
            </a:r>
            <a:endParaRPr lang="en-US" sz="1050" dirty="0"/>
          </a:p>
        </p:txBody>
      </p:sp>
      <p:pic>
        <p:nvPicPr>
          <p:cNvPr id="23" name="Image 0" descr="/tmp/claude-0/-home-user-10-cronograma/65a54c1f-fafb-5dda-8f3f-850e641098f9/scratchpad/screens/C11-task-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3400" y="91440"/>
            <a:ext cx="4617720" cy="484632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4343400" y="4846320"/>
            <a:ext cx="4617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detalle con todos los campos editables de una tarea</a:t>
            </a:r>
            <a:endParaRPr lang="en-US" sz="8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914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 sobre Tareas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82880" y="72237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0040" y="6858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Agregar nueva tarea al final o debajo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82880" y="10424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20040" y="100584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 hito (tarea de duración 0)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82880" y="136245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040" y="13258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Indentar / Desidentar para crear jerarquía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82880" y="168249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20040" y="164592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Vincular tareas con Finish-to-Start por defecto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00253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0040" y="196596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Vincular con Start-to-Start, Finish-to-Finish, Start-to-Finish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82880" y="232257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20040" y="22860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Deshacer / Rehacer (Ctrl+Z / Ctrl+Y)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82880" y="26426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20040" y="260604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 múltiple con Shift+Click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82880" y="296265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20040" y="29260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Mover tareas con Drag &amp; Drop en el Gantt</a:t>
            </a:r>
            <a:endParaRPr lang="en-US" sz="1050" dirty="0"/>
          </a:p>
        </p:txBody>
      </p:sp>
      <p:pic>
        <p:nvPicPr>
          <p:cNvPr id="21" name="Image 0" descr="/tmp/claude-0/-home-user-10-cronograma/65a54c1f-fafb-5dda-8f3f-850e641098f9/scratchpad/screens/A04-toolbar-ed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3400" y="91440"/>
            <a:ext cx="4617720" cy="48463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4343400" y="4846320"/>
            <a:ext cx="4617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de herramientas con todas las operaciones de edición de tareas</a:t>
            </a:r>
            <a:endParaRPr lang="en-US" sz="8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73152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651760"/>
            <a:ext cx="8321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Oscuro y Responsividad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8404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Adaptabilidad visual para distintos contextos de uso</a:t>
            </a:r>
            <a:endParaRPr lang="en-US" sz="14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Claro vs Modo Oscuro — Vista Gantt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0" y="73152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instantáneo</a:t>
            </a:r>
            <a:endParaRPr lang="en-US" sz="1000" dirty="0"/>
          </a:p>
        </p:txBody>
      </p:sp>
      <p:pic>
        <p:nvPicPr>
          <p:cNvPr id="6" name="Image 0" descr="/tmp/claude-0/-home-user-10-cronograma/65a54c1f-fafb-5dda-8f3f-850e641098f9/scratchpad/screens/A01-app-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48640"/>
            <a:ext cx="4343400" cy="42519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1440" y="4846320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☀ Modo Claro</a:t>
            </a:r>
            <a:endParaRPr lang="en-US" sz="900" dirty="0"/>
          </a:p>
        </p:txBody>
      </p:sp>
      <p:pic>
        <p:nvPicPr>
          <p:cNvPr id="8" name="Image 1" descr="/tmp/claude-0/-home-user-10-cronograma/65a54c1f-fafb-5dda-8f3f-850e641098f9/scratchpad/screens/D04-dark-gant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548640"/>
            <a:ext cx="4343400" cy="42519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709160" y="4846320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Modo Oscuro</a:t>
            </a:r>
            <a:endParaRPr lang="en-US" sz="9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Oscuro — Vista EDT</a:t>
            </a:r>
            <a:endParaRPr lang="en-US" sz="1500" dirty="0"/>
          </a:p>
        </p:txBody>
      </p:sp>
      <p:pic>
        <p:nvPicPr>
          <p:cNvPr id="5" name="Image 0" descr="/tmp/claude-0/-home-user-10-cronograma/65a54c1f-fafb-5dda-8f3f-850e641098f9/scratchpad/screens/B01-edt-tabl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48640"/>
            <a:ext cx="4343400" cy="4251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46320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☀ EDT Modo Claro</a:t>
            </a:r>
            <a:endParaRPr lang="en-US" sz="900" dirty="0"/>
          </a:p>
        </p:txBody>
      </p:sp>
      <p:pic>
        <p:nvPicPr>
          <p:cNvPr id="7" name="Image 1" descr="/tmp/claude-0/-home-user-10-cronograma/65a54c1f-fafb-5dda-8f3f-850e641098f9/scratchpad/screens/D05-dark-ed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548640"/>
            <a:ext cx="4343400" cy="42519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709160" y="4846320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EDT Modo Oscuro</a:t>
            </a:r>
            <a:endParaRPr lang="en-US" sz="9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Oscuro — Vista DCMA</a:t>
            </a:r>
            <a:endParaRPr lang="en-US" sz="1500" dirty="0"/>
          </a:p>
        </p:txBody>
      </p:sp>
      <p:pic>
        <p:nvPicPr>
          <p:cNvPr id="5" name="Image 0" descr="/tmp/claude-0/-home-user-10-cronograma/65a54c1f-fafb-5dda-8f3f-850e641098f9/scratchpad/screens/B04-dc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48640"/>
            <a:ext cx="4343400" cy="4251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46320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☀ DCMA Claro</a:t>
            </a:r>
            <a:endParaRPr lang="en-US" sz="900" dirty="0"/>
          </a:p>
        </p:txBody>
      </p:sp>
      <p:pic>
        <p:nvPicPr>
          <p:cNvPr id="7" name="Image 1" descr="/tmp/claude-0/-home-user-10-cronograma/65a54c1f-fafb-5dda-8f3f-850e641098f9/scratchpad/screens/D08-dark-dcm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548640"/>
            <a:ext cx="4343400" cy="42519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709160" y="4846320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DCMA Oscuro</a:t>
            </a:r>
            <a:endParaRPr lang="en-US" sz="9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Oscuro — Vista EVM</a:t>
            </a:r>
            <a:endParaRPr lang="en-US" sz="1500" dirty="0"/>
          </a:p>
        </p:txBody>
      </p:sp>
      <p:pic>
        <p:nvPicPr>
          <p:cNvPr id="5" name="Image 0" descr="/tmp/claude-0/-home-user-10-cronograma/65a54c1f-fafb-5dda-8f3f-850e641098f9/scratchpad/screens/B05-ev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48640"/>
            <a:ext cx="4343400" cy="4251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46320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☀ EVM Claro</a:t>
            </a:r>
            <a:endParaRPr lang="en-US" sz="900" dirty="0"/>
          </a:p>
        </p:txBody>
      </p:sp>
      <p:pic>
        <p:nvPicPr>
          <p:cNvPr id="7" name="Image 1" descr="/tmp/claude-0/-home-user-10-cronograma/65a54c1f-fafb-5dda-8f3f-850e641098f9/scratchpad/screens/D09-dark-ev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548640"/>
            <a:ext cx="4343400" cy="42519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709160" y="4846320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EVM Oscuro</a:t>
            </a:r>
            <a:endParaRPr lang="en-US" sz="9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Oscuro — Gantt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D04-dark-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Gantt en modo oscuro: menor fatiga visual, ideal para uso nocturno o monitores brillantes</a:t>
            </a:r>
            <a:endParaRPr lang="en-US" sz="9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Oscuro — EDT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D05-dark-ed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EDT en modo oscuro con tabla y barras con colores adaptados</a:t>
            </a:r>
            <a:endParaRPr lang="en-US" sz="9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Oscuro — Organigrama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D06-dark-estructu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Organigrama WBS en modo oscuro: nodos con fondo oscuro y texto claro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Oscuro — Red CPM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D07-dark-cp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CPM en modo oscuro: nodos y flechas adaptados al fondo negro</a:t>
            </a:r>
            <a:endParaRPr lang="en-US" sz="9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Oscuro — Vista DCMA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D08-dark-dc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DCMA completa en modo oscuro con métricas y gráficas adaptadas</a:t>
            </a:r>
            <a:endParaRPr lang="en-US" sz="9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Oscuro — Valor Ganado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D09-dark-ev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Curvas S en modo oscuro: colores ajustados para máxima legibilidad</a:t>
            </a:r>
            <a:endParaRPr lang="en-US" sz="9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Oscuro — Sync Supabase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D10-dark-syn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Sync en modo oscuro mostrando estado de conexión</a:t>
            </a:r>
            <a:endParaRPr lang="en-US" sz="9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Oscuro — Panel DCMA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D11-dark-dcma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lateral DCMA en modo oscuro con indicadores semáforo</a:t>
            </a:r>
            <a:endParaRPr lang="en-US" sz="9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Oscuro — Panel EVM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D12-dark-evm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lateral EVM en modo oscuro con KPIs de valor ganado</a:t>
            </a:r>
            <a:endParaRPr lang="en-US" sz="9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Resoluciones Soportadas — Gantt</a:t>
            </a:r>
            <a:endParaRPr lang="en-US" sz="1500" dirty="0"/>
          </a:p>
        </p:txBody>
      </p:sp>
      <p:pic>
        <p:nvPicPr>
          <p:cNvPr id="5" name="Image 0" descr="/tmp/claude-0/-home-user-10-cronograma/65a54c1f-fafb-5dda-8f3f-850e641098f9/scratchpad/screens/F01-gantt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48640"/>
            <a:ext cx="4343400" cy="4251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46320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 1920×1080 (Full HD)</a:t>
            </a:r>
            <a:endParaRPr lang="en-US" sz="900" dirty="0"/>
          </a:p>
        </p:txBody>
      </p:sp>
      <p:pic>
        <p:nvPicPr>
          <p:cNvPr id="7" name="Image 1" descr="/tmp/claude-0/-home-user-10-cronograma/65a54c1f-fafb-5dda-8f3f-850e641098f9/scratchpad/screens/G01-gantt-136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548640"/>
            <a:ext cx="4343400" cy="42519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709160" y="4846320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1366×768 (Laptop)</a:t>
            </a:r>
            <a:endParaRPr lang="en-US" sz="9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Resoluciones Soportadas — EDT</a:t>
            </a:r>
            <a:endParaRPr lang="en-US" sz="1500" dirty="0"/>
          </a:p>
        </p:txBody>
      </p:sp>
      <p:pic>
        <p:nvPicPr>
          <p:cNvPr id="5" name="Image 0" descr="/tmp/claude-0/-home-user-10-cronograma/65a54c1f-fafb-5dda-8f3f-850e641098f9/scratchpad/screens/F02-edt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48640"/>
            <a:ext cx="4343400" cy="4251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46320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 1920×1080 (Full HD)</a:t>
            </a:r>
            <a:endParaRPr lang="en-US" sz="900" dirty="0"/>
          </a:p>
        </p:txBody>
      </p:sp>
      <p:pic>
        <p:nvPicPr>
          <p:cNvPr id="7" name="Image 1" descr="/tmp/claude-0/-home-user-10-cronograma/65a54c1f-fafb-5dda-8f3f-850e641098f9/scratchpad/screens/G02-edt-136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548640"/>
            <a:ext cx="4343400" cy="42519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709160" y="4846320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1366×768 (Laptop)</a:t>
            </a:r>
            <a:endParaRPr lang="en-US" sz="9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Sidebar Colapsado — Más Espacio de Trabajo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E01-sidebar-colaps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Sidebar minimizado para maximizar el área de trabajo del Gantt y EDT</a:t>
            </a:r>
            <a:endParaRPr lang="en-US" sz="9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73152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651760"/>
            <a:ext cx="8321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Exportación y Configuración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8404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de exportación, calendario y recursos</a:t>
            </a:r>
            <a:endParaRPr lang="en-US" sz="14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de Exportación — Opciones Disponibles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C01-expor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Dropdown con formatos de exportación: PDF ejecutivo, Excel, PNG, JSON para backup, MPP para MS Project</a:t>
            </a:r>
            <a:endParaRPr lang="en-US" sz="9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Exportación — Menú en 1920×1080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F13-exportar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de exportación en resolución full HD</a:t>
            </a:r>
            <a:endParaRPr lang="en-US" sz="9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Base — 1920×1080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F14-baseline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Diálogo de línea base en resolución full HD con opciones de gestión</a:t>
            </a:r>
            <a:endParaRPr lang="en-US" sz="9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 Laboral — 1920×1080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F11-calendario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completa del calendario laboral en resolución full HD</a:t>
            </a:r>
            <a:endParaRPr lang="en-US" sz="9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Recursos — 1920×1080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F12-recursos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recursos en resolución full HD: tabla completa de asignaciones</a:t>
            </a:r>
            <a:endParaRPr lang="en-US" sz="9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de Cambios — 1920×1080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F10-historial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de cambios en resolución full HD</a:t>
            </a:r>
            <a:endParaRPr lang="en-US" sz="9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DCMA — 1920×1080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F08-dcma-panel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análisis DCMA en resolución full HD con métricas expandidas</a:t>
            </a:r>
            <a:endParaRPr lang="en-US" sz="9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EVM — 1920×1080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F09-evm-panel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EVM en resolución full HD con todos los KPIs visibles</a:t>
            </a:r>
            <a:endParaRPr lang="en-US" sz="9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73152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651760"/>
            <a:ext cx="8321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Flujos de Trabajo Completos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8404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Procesos end-to-end: crear proyecto, planificar, analizar y exportar</a:t>
            </a:r>
            <a:endParaRPr lang="en-US" sz="14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914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Flujo: Crear Nuevo Proyecto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82880" y="72237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0040" y="6858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Clic en botón "Nuevo Proyecto" (top bar)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82880" y="10424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20040" y="100584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Ingresar nombre del proyecto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82880" y="136245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040" y="13258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Definir fecha de inicio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82880" y="168249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20040" y="164592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Seleccionar calendario laboral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00253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0040" y="196596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Confirmar creación del proyecto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82880" y="232257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20040" y="22860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Vista Gantt vacía lista para agregar tareas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82880" y="26426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20040" y="260604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Agregar tareas con botón "+ Tarea"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82880" y="296265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20040" y="29260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Definir duraciones y fechas</a:t>
            </a:r>
            <a:endParaRPr lang="en-US" sz="1050" dirty="0"/>
          </a:p>
        </p:txBody>
      </p:sp>
      <p:pic>
        <p:nvPicPr>
          <p:cNvPr id="21" name="Image 0" descr="/tmp/claude-0/-home-user-10-cronograma/65a54c1f-fafb-5dda-8f3f-850e641098f9/scratchpad/screens/C08-nuevo-proyec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3400" y="91440"/>
            <a:ext cx="4617720" cy="48463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4343400" y="4846320"/>
            <a:ext cx="4617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Creación de un proyecto desde cero</a:t>
            </a:r>
            <a:endParaRPr lang="en-US" sz="8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914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Flujo: Planificación del Cronograma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82880" y="72237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0040" y="6858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Agregar tareas jerárquicas (indentación)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82880" y="10424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20040" y="100584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Definir duraciones en días hábiles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82880" y="136245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040" y="13258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Establecer vínculos de precedencia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82880" y="168249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20040" y="164592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Asignar recursos a cada tarea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00253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0040" y="196596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Verificar red CPM automáticamente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82880" y="232257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20040" y="22860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Revisar análisis DCMA (14 puntos)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82880" y="26426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20040" y="260604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Ajustar según indicadores de calidad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82880" y="296265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20040" y="29260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Establecer línea base del proyecto</a:t>
            </a:r>
            <a:endParaRPr lang="en-US" sz="1050" dirty="0"/>
          </a:p>
        </p:txBody>
      </p:sp>
      <p:pic>
        <p:nvPicPr>
          <p:cNvPr id="21" name="Image 0" descr="/tmp/claude-0/-home-user-10-cronograma/65a54c1f-fafb-5dda-8f3f-850e641098f9/scratchpad/screens/A01-app-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3400" y="91440"/>
            <a:ext cx="4617720" cy="48463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4343400" y="4846320"/>
            <a:ext cx="4617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completo de planificación del cronograma</a:t>
            </a:r>
            <a:endParaRPr lang="en-US" sz="8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914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Flujo: Control y Seguimiento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82880" y="72237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0040" y="6858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Actualizar % avance de tareas realizadas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82880" y="10424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20040" y="100584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Registrar fechas reales de inicio y fin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82880" y="136245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040" y="13258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Revisar indicadores EVM (SPI, CPI)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82880" y="168249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20040" y="164592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Comparar con línea base establecida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00253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0040" y="196596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Identificar tareas en riesgo (DCMA)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82880" y="232257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20040" y="22860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Ajustar cronograma según desviaciones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82880" y="26426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20040" y="260604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Guardar cambios y registrar en historial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82880" y="296265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20040" y="29260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Sincronizar con Supabase (si aplica)</a:t>
            </a:r>
            <a:endParaRPr lang="en-US" sz="1050" dirty="0"/>
          </a:p>
        </p:txBody>
      </p:sp>
      <p:pic>
        <p:nvPicPr>
          <p:cNvPr id="21" name="Image 0" descr="/tmp/claude-0/-home-user-10-cronograma/65a54c1f-fafb-5dda-8f3f-850e641098f9/scratchpad/screens/B05-ev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3400" y="91440"/>
            <a:ext cx="4617720" cy="48463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4343400" y="4846320"/>
            <a:ext cx="4617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de control y seguimiento del cronograma</a:t>
            </a:r>
            <a:endParaRPr lang="en-US" sz="8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914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Flujo: Reportes y Exportación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82880" y="72237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0040" y="6858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Abrir menú Exportar desde toolbar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82880" y="10424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20040" y="100584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Seleccionar formato: PDF, Excel, PNG, JSON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82880" y="136245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040" y="13258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PDF ejecutivo: portada + Gantt + EDT + KPIs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82880" y="168249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20040" y="164592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Excel: tabla de tareas con todos los campos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00253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0040" y="196596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PNG: captura de vista actual del Gantt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82880" y="232257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20040" y="22860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JSON: backup completo del proyecto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82880" y="26426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20040" y="260604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MPP: compatible con MS Project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82880" y="296265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20040" y="29260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Imprimir: vista optimizada para papel</a:t>
            </a:r>
            <a:endParaRPr lang="en-US" sz="1050" dirty="0"/>
          </a:p>
        </p:txBody>
      </p:sp>
      <p:pic>
        <p:nvPicPr>
          <p:cNvPr id="21" name="Image 0" descr="/tmp/claude-0/-home-user-10-cronograma/65a54c1f-fafb-5dda-8f3f-850e641098f9/scratchpad/screens/C01-expor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3400" y="91440"/>
            <a:ext cx="4617720" cy="48463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4343400" y="4846320"/>
            <a:ext cx="4617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de generación de reportes y exportación del proyecto</a:t>
            </a:r>
            <a:endParaRPr lang="en-US" sz="8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45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— Solo Ruta Crítica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E02-ruta-criti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02920"/>
            <a:ext cx="896112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Gantt filtrado mostrando únicamente las tareas de la ruta crítica resaltadas en rojo</a:t>
            </a:r>
            <a:endParaRPr lang="en-US" sz="9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Vistas del Sistema — Comparativa Completa</a:t>
            </a:r>
            <a:endParaRPr lang="en-US" sz="1500" dirty="0"/>
          </a:p>
        </p:txBody>
      </p:sp>
      <p:pic>
        <p:nvPicPr>
          <p:cNvPr id="5" name="Image 0" descr="/tmp/claude-0/-home-user-10-cronograma/65a54c1f-fafb-5dda-8f3f-850e641098f9/scratchpad/screens/A01-app-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48640"/>
            <a:ext cx="4343400" cy="4251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46320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Gantt + WBS</a:t>
            </a:r>
            <a:endParaRPr lang="en-US" sz="800" dirty="0"/>
          </a:p>
        </p:txBody>
      </p:sp>
      <p:pic>
        <p:nvPicPr>
          <p:cNvPr id="7" name="Image 1" descr="/tmp/claude-0/-home-user-10-cronograma/65a54c1f-fafb-5dda-8f3f-850e641098f9/scratchpad/screens/B01-edt-tabl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548640"/>
            <a:ext cx="4343400" cy="42519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709160" y="4846320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EDT Tabla</a:t>
            </a:r>
            <a:endParaRPr lang="en-US" sz="8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Avanzado — DCMA y EVM</a:t>
            </a:r>
            <a:endParaRPr lang="en-US" sz="1500" dirty="0"/>
          </a:p>
        </p:txBody>
      </p:sp>
      <p:pic>
        <p:nvPicPr>
          <p:cNvPr id="5" name="Image 0" descr="/tmp/claude-0/-home-user-10-cronograma/65a54c1f-fafb-5dda-8f3f-850e641098f9/scratchpad/screens/B04-dc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48640"/>
            <a:ext cx="4343400" cy="4251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46320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DCMA</a:t>
            </a:r>
            <a:endParaRPr lang="en-US" sz="800" dirty="0"/>
          </a:p>
        </p:txBody>
      </p:sp>
      <p:pic>
        <p:nvPicPr>
          <p:cNvPr id="7" name="Image 1" descr="/tmp/claude-0/-home-user-10-cronograma/65a54c1f-fafb-5dda-8f3f-850e641098f9/scratchpad/screens/B05-ev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548640"/>
            <a:ext cx="4343400" cy="42519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709160" y="4846320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EVM</a:t>
            </a:r>
            <a:endParaRPr lang="en-US" sz="8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 de Dependencias</a:t>
            </a:r>
            <a:endParaRPr lang="en-US" sz="1500" dirty="0"/>
          </a:p>
        </p:txBody>
      </p:sp>
      <p:pic>
        <p:nvPicPr>
          <p:cNvPr id="5" name="Image 0" descr="/tmp/claude-0/-home-user-10-cronograma/65a54c1f-fafb-5dda-8f3f-850e641098f9/scratchpad/screens/B02-estructu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548640"/>
            <a:ext cx="4343400" cy="4251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46320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Organigrama WBS</a:t>
            </a:r>
            <a:endParaRPr lang="en-US" sz="800" dirty="0"/>
          </a:p>
        </p:txBody>
      </p:sp>
      <p:pic>
        <p:nvPicPr>
          <p:cNvPr id="7" name="Image 1" descr="/tmp/claude-0/-home-user-10-cronograma/65a54c1f-fafb-5dda-8f3f-850e641098f9/scratchpad/screens/B03-red-cp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548640"/>
            <a:ext cx="4343400" cy="42519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709160" y="4846320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CPM</a:t>
            </a:r>
            <a:endParaRPr lang="en-US" sz="8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 Project</a:t>
            </a:r>
            <a:endParaRPr lang="en-US" sz="5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60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Integrado de Gestión de Proyectos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Gantt · EDT · CPM · DCMA · EVM · Supabase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cosapi.com.pe · 2025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oomberg ECM">
  <a:themeElements>
    <a:clrScheme name="Bloomberg ECM">
      <a:dk1>
        <a:srgbClr val="000000"/>
      </a:dk1>
      <a:lt1>
        <a:srgbClr val="FFFFFF"/>
      </a:lt1>
      <a:dk2>
        <a:srgbClr val="CCCCCC"/>
      </a:dk2>
      <a:lt2>
        <a:srgbClr val="1A1A1A"/>
      </a:lt2>
      <a:accent1>
        <a:srgbClr val="FFA028"/>
      </a:accent1>
      <a:accent2>
        <a:srgbClr val="2A2A2A"/>
      </a:accent2>
      <a:accent3>
        <a:srgbClr val="3A3A3A"/>
      </a:accent3>
      <a:accent4>
        <a:srgbClr val="E8E8E8"/>
      </a:accent4>
      <a:accent5>
        <a:srgbClr val="666666"/>
      </a:accent5>
      <a:accent6>
        <a:srgbClr val="999999"/>
      </a:accent6>
      <a:hlink>
        <a:srgbClr val="FFA028"/>
      </a:hlink>
      <a:folHlink>
        <a:srgbClr val="FF7A00"/>
      </a:folHlink>
    </a:clrScheme>
    <a:fontScheme name="Bloomberg ECM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109</Slides>
  <Notes>109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109</vt:i4>
      </vt:variant>
    </vt:vector>
  </HeadingPairs>
  <TitlesOfParts>
    <vt:vector size="1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2026-10-18T17:25:30Z</dcterms:created>
  <dcterms:modified xsi:type="dcterms:W3CDTF">2026-10-18T17:25:30Z</dcterms:modified>
</cp:coreProperties>
</file>