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36576" cy="51435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91440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ECM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800" kern="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PROJECT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Avanzada de Cronogramas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52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 CPM · EVM · DCMA 14-Point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GUÍA DE USUARIO  ·  v1.0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4805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© 2026 E. Chávez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82880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80000"/>
              </a:lnSpc>
              <a:buNone/>
            </a:pPr>
            <a:r>
              <a:rPr lang="en-US" sz="11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ENGINEERING</a:t>
            </a:r>
            <a:endParaRPr lang="en-US" sz="11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1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CONSTRUCTION</a:t>
            </a:r>
            <a:endParaRPr lang="en-US" sz="1100" dirty="0"/>
          </a:p>
          <a:p>
            <a:pPr algn="ctr" indent="0" marL="0">
              <a:lnSpc>
                <a:spcPct val="180000"/>
              </a:lnSpc>
              <a:buNone/>
            </a:pPr>
            <a:r>
              <a:rPr lang="en-US" sz="11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ÍNDICE GENERAL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68680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868680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94183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24128" y="978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Introducción a ECM Project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527048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365760" y="1527048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60020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6367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 Rápido — Primeros Pasos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185416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" y="2185416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22585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Estructura de Trabajo (EDT/WBS)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2843784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2843784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291693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9535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Cronograma Gantt Interactivo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3502152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3502152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5753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3611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de Dependencias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4160520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Shape 24"/>
          <p:cNvSpPr/>
          <p:nvPr/>
        </p:nvSpPr>
        <p:spPr>
          <a:xfrm>
            <a:off x="365760" y="4160520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7200" y="4233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270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Cálculo del Camino Crítico (CPM)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868680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4663440" y="868680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54880" y="94183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321808" y="97840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del Valor Ganado (EVM)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1527048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Shape 32"/>
          <p:cNvSpPr/>
          <p:nvPr/>
        </p:nvSpPr>
        <p:spPr>
          <a:xfrm>
            <a:off x="4663440" y="1527048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54880" y="160020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5321808" y="16367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Auditoría DCMA 14-Puntos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2185416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Shape 36"/>
          <p:cNvSpPr/>
          <p:nvPr/>
        </p:nvSpPr>
        <p:spPr>
          <a:xfrm>
            <a:off x="4663440" y="2185416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754880" y="225856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5321808" y="2295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Línea Base y Control de Cambios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663440" y="2843784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2" name="Shape 40"/>
          <p:cNvSpPr/>
          <p:nvPr/>
        </p:nvSpPr>
        <p:spPr>
          <a:xfrm>
            <a:off x="4663440" y="2843784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54880" y="2916936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5321808" y="29535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Sincronización Supabase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3502152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Shape 44"/>
          <p:cNvSpPr/>
          <p:nvPr/>
        </p:nvSpPr>
        <p:spPr>
          <a:xfrm>
            <a:off x="4663440" y="3502152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754880" y="3575304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11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321808" y="361188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Ejecutable Windows — Instalación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160520"/>
            <a:ext cx="393192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0" name="Shape 48"/>
          <p:cNvSpPr/>
          <p:nvPr/>
        </p:nvSpPr>
        <p:spPr>
          <a:xfrm>
            <a:off x="4663440" y="4160520"/>
            <a:ext cx="36576" cy="54864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754880" y="423367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12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5321808" y="4270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Referencia Rápida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INTRODUCCIÓN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 ECM PROJECT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¿Qué es? · ¿Para qué sirve? · Capacidades clave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¿QUÉ ES ECM PROJECT?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685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Aplicación web profesional de gestión de cronogramas de construcción e ingeniería. Funciona 100% offline en el navegador sin instalación de servidores.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5"/>
          <p:cNvSpPr/>
          <p:nvPr/>
        </p:nvSpPr>
        <p:spPr>
          <a:xfrm>
            <a:off x="365760" y="1371600"/>
            <a:ext cx="265176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" y="14996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EDT/WBS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75488" y="18836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Estructura de desglose de trabajo con jerarquía multinivel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0" y="13716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0" y="1371600"/>
            <a:ext cx="2651760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310128" y="14996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CPM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310128" y="18836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Camino crítico automático: ES/EF/LS/LF/Float para cada tarea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1371600"/>
            <a:ext cx="2651760" cy="54864"/>
          </a:xfrm>
          <a:prstGeom prst="rect">
            <a:avLst/>
          </a:prstGeom>
          <a:solidFill>
            <a:srgbClr val="FFC85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14996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EVM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836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Valor Ganado: PV/EV/AC/SPI/CPI/EAC/ETC/TCPI + Curva 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" y="27432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Shape 17"/>
          <p:cNvSpPr/>
          <p:nvPr/>
        </p:nvSpPr>
        <p:spPr>
          <a:xfrm>
            <a:off x="365760" y="2743200"/>
            <a:ext cx="2651760" cy="54864"/>
          </a:xfrm>
          <a:prstGeom prst="rect">
            <a:avLst/>
          </a:prstGeom>
          <a:solidFill>
            <a:srgbClr val="E87A1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75488" y="28712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A1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" y="32552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14 métricas de calidad del cronograma según estándar DCMA-EA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00400" y="27432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2743200"/>
            <a:ext cx="265176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10128" y="28712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Gantt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3310128" y="32552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Diagrama interactivo con barras de colores y zoom dinámico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35040" y="2743200"/>
            <a:ext cx="2651760" cy="12344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Shape 25"/>
          <p:cNvSpPr/>
          <p:nvPr/>
        </p:nvSpPr>
        <p:spPr>
          <a:xfrm>
            <a:off x="6035040" y="2743200"/>
            <a:ext cx="2651760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2871216"/>
            <a:ext cx="2432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Baseline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3255264"/>
            <a:ext cx="24323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Línea base con comparación visual vs. progreso actual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INTERFAZ GENERAL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685800"/>
            <a:ext cx="8595360" cy="384048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" y="722376"/>
            <a:ext cx="8449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BARRA SUPERIOR — Nombre proyecto · Zoom Gantt · Supabase status · Exportar · Importar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8595360" cy="292608"/>
          </a:xfrm>
          <a:prstGeom prst="rect">
            <a:avLst/>
          </a:prstGeom>
          <a:solidFill>
            <a:srgbClr val="25252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" y="1152144"/>
            <a:ext cx="8449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BARRA DE HERRAMIENTAS EDT — Nueva tarea · Hito · Sangría · Mover · Eliminar · Deshacer · Rehacer · Baseline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453896"/>
            <a:ext cx="8595360" cy="256032"/>
          </a:xfrm>
          <a:prstGeom prst="rect">
            <a:avLst/>
          </a:prstGeom>
          <a:solidFill>
            <a:srgbClr val="1A1A1A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" y="1490472"/>
            <a:ext cx="8449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FILTROS GANTT — Mostrar completadas · Buscar · Filtrar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74320" y="1755648"/>
            <a:ext cx="2560320" cy="2651760"/>
          </a:xfrm>
          <a:prstGeom prst="rect">
            <a:avLst/>
          </a:prstGeom>
          <a:solidFill>
            <a:srgbClr val="181818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" y="1792224"/>
            <a:ext cx="2414016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PANEL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WBS / EDT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Jerarquía de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e hitos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880360" y="1755648"/>
            <a:ext cx="5989320" cy="2651760"/>
          </a:xfrm>
          <a:prstGeom prst="rect">
            <a:avLst/>
          </a:prstGeom>
          <a:solidFill>
            <a:srgbClr val="10101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53512" y="1792224"/>
            <a:ext cx="5843016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DIAGRAMA GANTT — Canvas 2D interactivo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4453128"/>
            <a:ext cx="8595360" cy="320040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" y="4489704"/>
            <a:ext cx="84490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BARRA DE ESTADO — Modo auto-calc · Umbral near-critical · Tareas / Hitos / Mensajes DCMA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834640" y="1755648"/>
            <a:ext cx="45720" cy="265176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 RÁPIDO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PRIMEROS PASOS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Abrir la app · Crear proyecto · Agregar tareas · Ver Gantt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PRIMEROS PASOS EN 5 MINUTOS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685800"/>
            <a:ext cx="1572768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685800"/>
            <a:ext cx="1572768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74980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1463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Abrir la aplicación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38912" y="2011680"/>
            <a:ext cx="142646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Abre el archivo index.html en Chrome/Edge/Firefox. No requiere instalación de servidor ni conexión a internet. La app carga instantáneamente.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048256" y="685800"/>
            <a:ext cx="1572768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2048256" y="685800"/>
            <a:ext cx="1572768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048256" y="74980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1463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Crear el proyecto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011680"/>
            <a:ext cx="142646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Haz clic en el nombre del proyecto en la barra superior. Escribe el nombre (ej. "Edificio Torre A"). Confirma con Enter.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730752" y="685800"/>
            <a:ext cx="1572768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3730752" y="685800"/>
            <a:ext cx="1572768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730752" y="74980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3803904" y="1463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Agregar tareas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803904" y="2011680"/>
            <a:ext cx="142646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Usa el botón "+ Tarea" en la barra EDT. Escribe el nombre y duración en días. Repite para cada actividad del cronograma.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413248" y="685800"/>
            <a:ext cx="1572768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5413248" y="685800"/>
            <a:ext cx="1572768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13248" y="74980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1463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Definir dependencias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2011680"/>
            <a:ext cx="142646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En el panel Gantt, haz clic en una tarea y asigna predecesoras. Soporta FS/FF/SS/SF con lag en días.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095744" y="685800"/>
            <a:ext cx="1572768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Shape 24"/>
          <p:cNvSpPr/>
          <p:nvPr/>
        </p:nvSpPr>
        <p:spPr>
          <a:xfrm>
            <a:off x="7095744" y="685800"/>
            <a:ext cx="1572768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95744" y="749808"/>
            <a:ext cx="15727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5</a:t>
            </a:r>
            <a:endParaRPr lang="en-US" sz="440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146304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Calcular CPM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7168896" y="2011680"/>
            <a:ext cx="142646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El cálculo es automático. Activa "Auto-Calc" en la barra de estado o usa el botón "Recalcular CPM". Las barras rojas = camino crítico.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ESTRUCTURA DE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TRABAJO (EDT/WBS)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Crear jerarquías · Tareas resumen · Hitos · Ordenar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PANEL EDT — ESTRUCTURA DE DESGLOSE DE TRABAJO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685800"/>
            <a:ext cx="384048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0040" y="70408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▼  PROYECTO: Torre 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74320" y="1069848"/>
            <a:ext cx="384048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0040" y="108813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▼  1. MOVIMIENTO DE TIERRAS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74320" y="1453896"/>
            <a:ext cx="384048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4721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1.1 Excavación masiva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837944"/>
            <a:ext cx="384048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0040" y="18562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1.2 Relleno y compactación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74320" y="2221992"/>
            <a:ext cx="384048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0040" y="22402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9A82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◆  Excavación completa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384048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26243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55A64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▼  2. ESTRUCTURA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990088"/>
            <a:ext cx="384048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30083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2.1 Encofrado sótano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3374136"/>
            <a:ext cx="384048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33924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2.2 Vaciado concreto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" y="3758184"/>
            <a:ext cx="3840480" cy="347472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040" y="377647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9A825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    ◆  Estructura completada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0" y="640080"/>
            <a:ext cx="9144000" cy="41148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ACCIONES DISPONIBLES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0" y="868680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45152" y="90525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+ Tarea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080760" y="905256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Agregar tarea nueva al nivel seleccionado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572000" y="1344168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45152" y="1380744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+ Hito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1380744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Crear hito (duración = 0, símbolo ◆)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0" y="1819656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45152" y="185623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→ Sangría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6080760" y="1856232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Mover tarea a nivel inferior (hijo)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0" y="2295144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45152" y="2331720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← Quitar sangría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233172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Subir tarea a nivel superior (padre)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0" y="2770632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45152" y="2807208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↑ ↓ Mover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2807208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Reordenar dentro del mismo nivel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0" y="3246120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45152" y="3282696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⌫ Eliminar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6080760" y="3282696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Eliminación lógica (recuperable)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0" y="3721608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645152" y="3758184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↩ Deshacer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6080760" y="3758184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Ctrl+Z — historial de acciones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72000" y="4197096"/>
            <a:ext cx="4114800" cy="411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45152" y="4233672"/>
            <a:ext cx="1371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↺ Rehacer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080760" y="4233672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Ctrl+Y — rehacer última acción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PROPIEDADES DE TAREA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758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Nombre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057400" y="7589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Texto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14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Nombre descriptivo de la actividad o entregable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399032"/>
            <a:ext cx="4114800" cy="59436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" y="14447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Duración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14447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Días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17007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Duración en días hábiles (calendario de trabajo)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74320" y="20848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5760" y="2130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Horas de trabajo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057400" y="21305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Horas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" y="23865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Carga de trabajo total en horas-hombre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74320" y="2770632"/>
            <a:ext cx="4114800" cy="59436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65760" y="28163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% Completado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057400" y="28163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0-100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0723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Porcentaje de avance físico de la tarea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4564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5760" y="3502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 real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2057400" y="35021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37581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de inicio real (no forzada por CPM)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4142232"/>
            <a:ext cx="4114800" cy="59436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65760" y="4187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Fin real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057400" y="41879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4443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de finalización real confirmada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709160" y="7132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00600" y="758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Tipo restricción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7589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Enum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10149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ASAP / ALAP / MSO / MFO / SNET / SNLT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709160" y="1399032"/>
            <a:ext cx="4114800" cy="59436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00600" y="14447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restricción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14447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17007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Aplica cuando tipo restricción ≠ ASAP/ALAP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709160" y="20848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00600" y="21305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Costo planificado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21305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USD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800600" y="23865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Presupuesto asignado a la tarea (BAC parcial)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09160" y="2770632"/>
            <a:ext cx="4114800" cy="594360"/>
          </a:xfrm>
          <a:prstGeom prst="rect">
            <a:avLst/>
          </a:prstGeom>
          <a:solidFill>
            <a:srgbClr val="15151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00600" y="28163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Costo actual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492240" y="28163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USD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30723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Costo real incurrido a la fecha de estado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709160" y="34564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00600" y="35021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Notas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492240" y="350215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Texto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4800600" y="375818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Comentarios, riesgos o aclaraciones libres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04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CRONOGRAMA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GANTT INTERACTIVO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Barras · Colores · Zoom · Hoy · Dependencias · Baseline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CÓDIGO DE COLORES — BARRAS GANTT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7132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713232"/>
            <a:ext cx="1965960" cy="34747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38912" y="7680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NORMAL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38912" y="11338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 en progreso normal (no crítica)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468880" y="7132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2468880" y="713232"/>
            <a:ext cx="1965960" cy="347472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42032" y="7680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CRÍTICA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542032" y="11338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Pertenece al camino crítico (Float = 0)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0" y="7132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713232"/>
            <a:ext cx="1965960" cy="347472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45152" y="7680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NEAR-CRITICAL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11338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≤ umbral definido (configurable)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675120" y="7132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6675120" y="713232"/>
            <a:ext cx="1965960" cy="347472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48272" y="7680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COMPLETADA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748272" y="11338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 con 100% de avance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5760" y="20848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084832"/>
            <a:ext cx="1965960" cy="347472"/>
          </a:xfrm>
          <a:prstGeom prst="rect">
            <a:avLst/>
          </a:prstGeom>
          <a:solidFill>
            <a:srgbClr val="F9A82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8912" y="21396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HITO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" y="25054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Evento puntual (duración = 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468880" y="20848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68880" y="2084832"/>
            <a:ext cx="1965960" cy="34747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42032" y="21396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PENDIENTE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542032" y="25054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 inicio, sin progreso registrado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0" y="2084832"/>
            <a:ext cx="196596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0" y="2084832"/>
            <a:ext cx="1965960" cy="34747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645152" y="2139696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RESUMEN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4645152" y="2505456"/>
            <a:ext cx="1819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 padre que agrupa subtareas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NOTA: Los colores del Gantt siguen criterios técnicos predefinidos y no deben modificarse.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NAVEGACIÓN DEL GANTT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71323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Scroll horizontal: barra inferior del Gantt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9692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Zoom IN/OUT: selector en barra superior (días/semanas/meses)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225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Ir a HOY: botón "Hoy" centra la vista en la fecha actual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813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Filtrar completadas: toggle para ocultar/mostrar barras 100%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7373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Buscar tarea: campo de texto filtra en tiempo real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1993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Redimensionar columnas: arrastra el separador WBS|Gantt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71323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Seleccionar tarea: clic en barra o fila WBS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9692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Editar tarea: clic en barra abre panel de propiedades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2252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Arrastrar barra: mueve la tarea en el tiempo (actualiza fechas)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14813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Ver float: valor numérico visible en barra de tarea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373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Baseline overlay: barras transparentes muestran plan original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1993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A028"/>
                </a:solidFill>
              </a:rPr>
              <a:t>▸ </a:t>
            </a:r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Exportar PNG: función en menú principal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05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DE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DEPENDENCIAS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Tipos FS/FF/SS/SF · Lag · Bucles · Predecesoras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TIPOS DE DEPENDENCIAS (RELACIONES LÓGICAS)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859536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13232"/>
            <a:ext cx="45720" cy="9601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4048" y="85039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FS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8229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Fin-Inicio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261872" y="121615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sucesora inicia cuando la predecesora termina. El tipo más común en construcción.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03327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Uso: 95%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746504"/>
            <a:ext cx="859536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10"/>
          <p:cNvSpPr/>
          <p:nvPr/>
        </p:nvSpPr>
        <p:spPr>
          <a:xfrm>
            <a:off x="274320" y="1746504"/>
            <a:ext cx="45720" cy="9601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4048" y="1883664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SS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18562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Inicio-Inicio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61872" y="224942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sucesora puede iniciar cuando la predecesora inicia. Trabajo paralelo con desfase.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0665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Uso: 4%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79776"/>
            <a:ext cx="859536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274320" y="2779776"/>
            <a:ext cx="45720" cy="9601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" y="2916936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FF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28895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Fin-Fin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28269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sucesora termina cuando la predecesora termina. Útil para entregas simultáneas.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0" y="30998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Uso: 0.8%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813048"/>
            <a:ext cx="859536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3813048"/>
            <a:ext cx="45720" cy="9601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84048" y="395020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SF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39227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Inicio-Fin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431596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sucesora termina cuando la predecesora inicia. Poco frecuente, uso especializado.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41330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Uso: 0.2%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LAG: Desfase en días (positivo = retraso, negativo = adelanto). Ingreso en el campo "lag_days" de la dependencia.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06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CAMINO CRÍTICO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CPM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 · EF · LS · LF · Float · Camino crítico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MÉTODO DEL CAMINO CRÍTICO — CPM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685800"/>
            <a:ext cx="164592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685800"/>
            <a:ext cx="164592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795528"/>
            <a:ext cx="14630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22806"/>
            <a:ext cx="146304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Early Start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mínima de inicio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011680" y="685800"/>
            <a:ext cx="164592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2011680" y="685800"/>
            <a:ext cx="1645920" cy="36576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03120" y="795528"/>
            <a:ext cx="14630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EF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1422806"/>
            <a:ext cx="146304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Early Finish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mínima de fin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749040" y="685800"/>
            <a:ext cx="164592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3749040" y="685800"/>
            <a:ext cx="1645920" cy="3657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40480" y="795528"/>
            <a:ext cx="14630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LS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1422806"/>
            <a:ext cx="146304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Late Start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máxima de inicio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486400" y="685800"/>
            <a:ext cx="164592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0" y="685800"/>
            <a:ext cx="1645920" cy="36576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577840" y="795528"/>
            <a:ext cx="14630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LF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1422806"/>
            <a:ext cx="146304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Late Finish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Fecha máxima de fin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223760" y="685800"/>
            <a:ext cx="164592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7223760" y="685800"/>
            <a:ext cx="1645920" cy="36576"/>
          </a:xfrm>
          <a:prstGeom prst="rect">
            <a:avLst/>
          </a:prstGeom>
          <a:solidFill>
            <a:srgbClr val="FFC8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0" y="795528"/>
            <a:ext cx="146304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TF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1422806"/>
            <a:ext cx="146304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Total Float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LS − ES (días)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2011680"/>
            <a:ext cx="8595360" cy="146304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ALGORITMO CPM EN ECM PROJECT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377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Forward Pass (Pase Adelante): </a:t>
            </a:r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Calcula ES y EF de cada tarea respetando dependencias y calendario laboral.
</a:t>
            </a:r>
            <a:pPr indent="0" marL="0">
              <a:buNone/>
            </a:pPr>
            <a:r>
              <a:rPr lang="en-US" sz="9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Backward Pass (Pase Atrás): </a:t>
            </a:r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Calcula LS y LF desde la última tarea hacia atrás.
</a:t>
            </a:r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= LS − ES. </a:t>
            </a:r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con Float = 0 forman el Camino Crítico (barras rojas).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611880"/>
            <a:ext cx="8595360" cy="1325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3685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CONFIGURACIÓN DE AUTO-CALC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9776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Modo Auto-Calc: recalcula CPM automáticamente en cada cambio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2062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Modo Manual: usa el botón "Recalcular CPM" explícitamente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4348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Near-Critical Threshold: umbral configurable en barra de estado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Barras amber = near-critical (float ≤ umbral), rojo = crítico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07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7830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DEL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VALOR GANADO (EVM)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 · PV · EV · AC · SPI · CPI · EAC · ETC · TCPI · Curva 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EVM — MÉTRICAS BASE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1323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8046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Budget At Completion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4904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Σ costo planificado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Presupuesto total del proyecto al final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15468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10"/>
          <p:cNvSpPr/>
          <p:nvPr/>
        </p:nvSpPr>
        <p:spPr>
          <a:xfrm>
            <a:off x="3154680" y="71323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46120" y="8046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PV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Planned Value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14904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Σ PV hasta Fecha Estado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Trabajo planificado acumulado a la fecha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3504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71323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80467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Earned Value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4904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Σ (BAC_tarea × %comp)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Valor del trabajo físicamente completado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432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213055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5760" y="22219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Actual Cost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907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Σ costo_actual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Costo real incurrido a la fecha de estado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15468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3154680" y="213055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246120" y="22219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SV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324612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Schedule Variance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246120" y="2907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 − PV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Variación de cronograma (+ adelanto, − atraso)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03504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Shape 34"/>
          <p:cNvSpPr/>
          <p:nvPr/>
        </p:nvSpPr>
        <p:spPr>
          <a:xfrm>
            <a:off x="6035040" y="213055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26480" y="222199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CV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 Variance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6126480" y="2907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 − AC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12648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Variación de costo (+ ahorro, − sobrecosto)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EVM — ÍNDICES Y PRONÓSTICOS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1323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8046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SPI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Schedule Perf. Index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4996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 / PV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≥ 1.0 = adelantado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15468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10"/>
          <p:cNvSpPr/>
          <p:nvPr/>
        </p:nvSpPr>
        <p:spPr>
          <a:xfrm>
            <a:off x="3154680" y="713232"/>
            <a:ext cx="27432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46120" y="8046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 Perf. Index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3246120" y="14996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 / AC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24612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≥ 1.0 = ahorrando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35040" y="71323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0" y="713232"/>
            <a:ext cx="2743200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26480" y="80467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EAC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12252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Estimate At Completion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14996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 / CPI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17190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Proyección costo final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432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2130552"/>
            <a:ext cx="2743200" cy="54864"/>
          </a:xfrm>
          <a:prstGeom prst="rect">
            <a:avLst/>
          </a:prstGeom>
          <a:solidFill>
            <a:srgbClr val="FF7A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65760" y="222199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7A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ETC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Estimate To Complete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9169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EAC − AC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Costo restante estimado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15468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3154680" y="2130552"/>
            <a:ext cx="2743200" cy="54864"/>
          </a:xfrm>
          <a:prstGeom prst="rect">
            <a:avLst/>
          </a:prstGeom>
          <a:solidFill>
            <a:srgbClr val="FFC85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246120" y="222199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TCPI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324612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To-Complete Perf. Idx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3246120" y="29169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(BAC−EV)/(BAC−AC)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24612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1.0 = alcanzable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035040" y="2130552"/>
            <a:ext cx="2743200" cy="129844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Shape 34"/>
          <p:cNvSpPr/>
          <p:nvPr/>
        </p:nvSpPr>
        <p:spPr>
          <a:xfrm>
            <a:off x="6035040" y="2130552"/>
            <a:ext cx="2743200" cy="54864"/>
          </a:xfrm>
          <a:prstGeom prst="rect">
            <a:avLst/>
          </a:prstGeom>
          <a:solidFill>
            <a:srgbClr val="FFC85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26480" y="222199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VAC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6126480" y="26426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Variance At Completion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126480" y="291693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 − EAC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6126480" y="31363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+ = bajo presupuesto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CURVA S — VISUALIZACIÓN EVM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713232"/>
            <a:ext cx="5303520" cy="41148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914400"/>
            <a:ext cx="0" cy="365760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4572000"/>
            <a:ext cx="475488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4389120"/>
            <a:ext cx="640080" cy="-18288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4206240"/>
            <a:ext cx="548640" cy="-27432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3931920"/>
            <a:ext cx="640080" cy="-45720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3474720"/>
            <a:ext cx="640080" cy="-73152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2743200"/>
            <a:ext cx="640080" cy="-73152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2011680"/>
            <a:ext cx="640080" cy="-45720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0560" y="1554480"/>
            <a:ext cx="548640" cy="-36576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0" y="1188720"/>
            <a:ext cx="457200" cy="-22860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389120"/>
            <a:ext cx="640080" cy="-13716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71600" y="4251960"/>
            <a:ext cx="548640" cy="-18288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20240" y="4069080"/>
            <a:ext cx="640080" cy="-32004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0" y="3749040"/>
            <a:ext cx="640080" cy="-54864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3200400"/>
            <a:ext cx="640080" cy="-64008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0" y="2560320"/>
            <a:ext cx="1188720" cy="-118872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4389120"/>
            <a:ext cx="640080" cy="-18288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71600" y="4206240"/>
            <a:ext cx="548640" cy="-22860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3977640"/>
            <a:ext cx="640080" cy="-41148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60320" y="3566160"/>
            <a:ext cx="640080" cy="-64008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2926080"/>
            <a:ext cx="640080" cy="-64008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0480" y="2286000"/>
            <a:ext cx="1188720" cy="-109728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914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$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617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Tiempo →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22960" y="4892040"/>
            <a:ext cx="457200" cy="0"/>
          </a:xfrm>
          <a:prstGeom prst="line">
            <a:avLst/>
          </a:prstGeom>
          <a:noFill/>
          <a:ln w="25400">
            <a:solidFill>
              <a:srgbClr val="FFA0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25880" y="4818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PV (Valor Planificado)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822960" y="5029200"/>
            <a:ext cx="457200" cy="0"/>
          </a:xfrm>
          <a:prstGeom prst="line">
            <a:avLst/>
          </a:prstGeom>
          <a:noFill/>
          <a:ln w="25400">
            <a:solidFill>
              <a:srgbClr val="388E3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325880" y="49560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 (Valor Ganado)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200400" y="4892040"/>
            <a:ext cx="457200" cy="0"/>
          </a:xfrm>
          <a:prstGeom prst="line">
            <a:avLst/>
          </a:prstGeom>
          <a:noFill/>
          <a:ln w="25400">
            <a:solidFill>
              <a:srgbClr val="D32F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03320" y="48188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32F2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 (Costo Real)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52160" y="713232"/>
            <a:ext cx="3017520" cy="4114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89320" y="7863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INTERPRETACIÓN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10972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SV = EV − PV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5989320" y="13350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Schedule Variance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+ adelanto / − atraso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1755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CV = EV − AC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98932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 Variance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+ ahorro / − sobrecosto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4140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SPI = EV/PV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98932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Schedule Perf. Index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&gt; 1 = eficiente en tiempo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5989320" y="30723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CPI = EV/AC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5989320" y="33101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 Perf. Index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&gt; 1 = eficiente en costo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5989320" y="37307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EAC = BAC/CPI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5989320" y="39684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Proyección costo final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08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AUDITORÍA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14-PUNTOS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14 métricas de calidad · DCMA-EA PAM 200.1 · GAO-16-89G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14 MÉTRICAS DE CALIDAD DE CRONOGRAMA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685800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" y="7589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758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sin sucesora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273552" y="7589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133088" y="758952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§3.2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74320" y="1289304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" y="136245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13624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sin predecesora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273552" y="136245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1362456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§3.2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4320" y="1892808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7472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FS con lag &gt; 5 días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3273552" y="19659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5%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133088" y="1965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§3.3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74320" y="2496312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" y="25694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con lead time (lag &lt; 0)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73552" y="256946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33088" y="2569464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§3.4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274320" y="3099816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7472" y="3172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D5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" y="31729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Relaciones no-FS (SS/FF/SF)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273552" y="31729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10%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33088" y="3172968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§3.5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274320" y="3703320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7472" y="37764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D6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" y="3776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negativo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273552" y="37764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133088" y="3776472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§3.6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74320" y="4306824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47472" y="437997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D7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43799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alto (&gt; 44 días)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273552" y="4379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5%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133088" y="4379976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§3.7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663440" y="685800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736592" y="7589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D8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230368" y="75895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Duración alta (&gt; 44 días)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7662672" y="75895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5%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8522208" y="758952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§3.8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4663440" y="1289304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36592" y="136245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D9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230368" y="13624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con restricciones fuertes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7662672" y="136245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&lt; 5%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8522208" y="1362456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§3.9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4663440" y="1892808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736592" y="19659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D10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5230368" y="1965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CPLI (Índice Camino Crítico)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7662672" y="19659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≥ 0.95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8522208" y="1965960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§3.10</a:t>
            </a:r>
            <a:endParaRPr lang="en-US" sz="650" dirty="0"/>
          </a:p>
        </p:txBody>
      </p:sp>
      <p:sp>
        <p:nvSpPr>
          <p:cNvPr id="55" name="Shape 53"/>
          <p:cNvSpPr/>
          <p:nvPr/>
        </p:nvSpPr>
        <p:spPr>
          <a:xfrm>
            <a:off x="4663440" y="2496312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736592" y="25694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D11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52303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Incompletas al inicio del período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7662672" y="256946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8522208" y="2569464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§3.11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4663440" y="3099816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36592" y="3172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D12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230368" y="31729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Inicios con fecha futura y sin baseline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7662672" y="31729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8522208" y="3172968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§3.12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663440" y="3703320"/>
            <a:ext cx="4114800" cy="5303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36592" y="377647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D13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5230368" y="3776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Tareas sin recursos asignados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7662672" y="37764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Info.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8522208" y="3776472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§3.13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4663440" y="4306824"/>
            <a:ext cx="4114800" cy="53035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4736592" y="437997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D14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5230368" y="43799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negativo en camino crítico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7662672" y="4379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= 0%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8522208" y="4379976"/>
            <a:ext cx="228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 §3.14</a:t>
            </a:r>
            <a:endParaRPr lang="en-US" sz="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09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LÍNEA BASE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Y CONTROL DE CAMBIOS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Snapshot · Comparación visual · Métricas de variación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LÍNEA BASE — BASELINE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65760" y="694944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 línea base es una fotografía (snapshot) del cronograma aprobado. Permite comparar el progreso real vs. el plan original.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207008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207008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84048" y="13167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Guardar Baseline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7099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Botón "Guardar Baseline" en barra EDT. Captura fechas CPM actuales (ES/EF/LS/LF) y % completado de cada tarea en ese momento.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0" y="1207008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207008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1728" y="13167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Ver Baseline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17099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Toggle "Mostrar Baseline" superpone barras transparentes sobre el Gantt actual. Barras desplazadas = variación temporal.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3035808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274320" y="3035808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4048" y="31455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Variación SV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84048" y="35387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SV = EV − PV. Si EV &lt; PV, el proyecto está atrasado respecto al plan. La Curva S muestra la brecha acumulada.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0" y="3035808"/>
            <a:ext cx="411480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0" y="3035808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81728" y="31455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Actualizar Baseline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81728" y="35387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 el proyecto sufre cambios de alcance autorizados, actualiza la baseline con "Guardar Baseline" nuevamente. El historial se sobreescribe.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10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SINCRONIZACIÓN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SUPABASE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Cloud sync · Modo offline · Outbox · Reconexión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SINCRONIZACIÓN CON SUPABASE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685800"/>
            <a:ext cx="20116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685800"/>
            <a:ext cx="2011680" cy="54864"/>
          </a:xfrm>
          <a:prstGeom prst="rect">
            <a:avLst/>
          </a:prstGeom>
          <a:solidFill>
            <a:srgbClr val="388E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84048" y="7589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8E3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7589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SYNCED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07899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Todos los cambios sincronizados con Supabase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423160" y="685800"/>
            <a:ext cx="20116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2423160" y="685800"/>
            <a:ext cx="2011680" cy="54864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532888" y="7589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8C00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●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43784" y="7589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PENDING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532888" y="107899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Cambios en outbox esperando sincronización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72000" y="685800"/>
            <a:ext cx="20116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685800"/>
            <a:ext cx="2011680" cy="54864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81728" y="7589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32F2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992624" y="7589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OFFLINE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681728" y="107899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 conexión. Cambios guardados localmente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20840" y="685800"/>
            <a:ext cx="20116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20840" y="685800"/>
            <a:ext cx="2011680" cy="54864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30568" y="7589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976D2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41464" y="7589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SYNCING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30568" y="107899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Sincronización en curso con la nube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74320" y="1828800"/>
            <a:ext cx="8595360" cy="3017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19019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CONFIGURACIÓN SUPABASE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Abrir "Configurar Supabase" en la barra superior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2677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Ingresar SUPABASE_URL (https://xxxxxxxx.supabase.co)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5420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Ingresar SUPABASE_ANON_KEY (clave pública del proyecto)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663440" y="25420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La conexión se prueba automáticamente al guardar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816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Sin Supabase: la app funciona 100% en modo local (IndexedDB)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663440" y="28163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Con Supabase: sincronización multi-dispositivo en tiempo real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090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Outbox: cambios pendientes se envían automáticamente al reconectar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3090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</a:rPr>
              <a:t>▶  </a:t>
            </a:r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Conflictos: la versión más reciente prevalece (last-write-wins)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11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EJECUTABLE WINDOWS</a:t>
            </a:r>
            <a:endParaRPr lang="en-US" sz="2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INSTALACIÓN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Descargar .zip · Instalar · Ejecutar sin internet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INSTALACIÓN EN WINDOWS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411480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713232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786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80467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Ir a GitHub Releases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84048" y="1307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Visita: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github.com/ehchavezm-hub/10-cronograma/releases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Descarga el archivo .zip más reciente.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0" y="713232"/>
            <a:ext cx="411480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713232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786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212080" y="80467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Descomprimir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1307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Extrae el .zip en cualquier carpeta, por ejemplo: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C:\Programas\ECM-Project\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4320" y="2724912"/>
            <a:ext cx="411480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" y="2724912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65760" y="2798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28163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Ejecutar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" y="331927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Abre "ECM Cronograma.exe"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 requiere instalación adicional ni internet.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0" y="2724912"/>
            <a:ext cx="411480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2724912"/>
            <a:ext cx="4114800" cy="54864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63440" y="2798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81635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Advertencia SmartScreen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681728" y="331927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Si Windows muestra "Aplicación desconocida":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Clic en "Más información" → "Ejecutar de todas formas"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481888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Requisitos: Windows 10 / 11 (64-bit) · 500 MB espacio libre en disco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0972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A028">
                    <a:alpha val="80000"/>
                  </a:srgbClr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12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1828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REFERENCIA</a:t>
            </a:r>
            <a:endParaRPr lang="en-US" sz="2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RÁPIDA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320040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Atajos de teclado · Glosario · Umbrales DCMA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ATAJOS DE TECLADO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132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" y="8229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" y="822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Ctrl+Z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810512" y="8229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Deshacer última acción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3990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" y="15087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" y="1508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Ctrl+Y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810512" y="15087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Rehacer acción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0848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Shape 12"/>
          <p:cNvSpPr/>
          <p:nvPr/>
        </p:nvSpPr>
        <p:spPr>
          <a:xfrm>
            <a:off x="347472" y="21945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810512" y="21945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Guardar / exportar JSON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706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Shape 16"/>
          <p:cNvSpPr/>
          <p:nvPr/>
        </p:nvSpPr>
        <p:spPr>
          <a:xfrm>
            <a:off x="347472" y="28803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7472" y="2880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Supr / Del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810512" y="28803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Eliminar tarea seleccionada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4564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347472" y="35661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7472" y="3566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Tab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810512" y="35661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Aumentar sangría (hijo)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41422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Shape 24"/>
          <p:cNvSpPr/>
          <p:nvPr/>
        </p:nvSpPr>
        <p:spPr>
          <a:xfrm>
            <a:off x="347472" y="42519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7472" y="4251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Shift+Tab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810512" y="42519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Quitar sangría (padre)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9160" y="7132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Shape 28"/>
          <p:cNvSpPr/>
          <p:nvPr/>
        </p:nvSpPr>
        <p:spPr>
          <a:xfrm>
            <a:off x="4782312" y="8229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82312" y="822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Alt+↑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45352" y="8229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Mover tarea hacia arriba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09160" y="13990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4" name="Shape 32"/>
          <p:cNvSpPr/>
          <p:nvPr/>
        </p:nvSpPr>
        <p:spPr>
          <a:xfrm>
            <a:off x="4782312" y="15087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782312" y="1508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Alt+↓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6245352" y="15087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Mover tarea hacia abajo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20848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2312" y="21945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82312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Enter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6245352" y="21945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Crear nueva tarea debajo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709160" y="27706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2" name="Shape 40"/>
          <p:cNvSpPr/>
          <p:nvPr/>
        </p:nvSpPr>
        <p:spPr>
          <a:xfrm>
            <a:off x="4782312" y="28803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782312" y="2880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F2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6245352" y="28803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Editar nombre de tarea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09160" y="3456432"/>
            <a:ext cx="411480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312" y="35661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782312" y="3566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Ctrl+G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6245352" y="35661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Ir a tarea por ID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09160" y="4142232"/>
            <a:ext cx="4114800" cy="5943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0" name="Shape 48"/>
          <p:cNvSpPr/>
          <p:nvPr/>
        </p:nvSpPr>
        <p:spPr>
          <a:xfrm>
            <a:off x="4782312" y="4251960"/>
            <a:ext cx="1371600" cy="365760"/>
          </a:xfrm>
          <a:prstGeom prst="rect">
            <a:avLst/>
          </a:prstGeom>
          <a:solidFill>
            <a:srgbClr val="2A2A2A"/>
          </a:solidFill>
          <a:ln w="6350">
            <a:solidFill>
              <a:srgbClr val="FFA02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782312" y="4251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Ctrl+R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6245352" y="425196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Recalcular CPM manualmente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137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UMBRALES DCMA Y GLOSARIO TÉCNICO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566928"/>
            <a:ext cx="8412480" cy="2743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40080"/>
            <a:ext cx="9144000" cy="41148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UMBRALES POR DEFECTO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02336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84048" y="98755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LAG_MAX_DAYS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249424" y="98755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5 días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98755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Lag máximo permitido en relación FS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74320" y="1527048"/>
            <a:ext cx="402336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4048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FLOAT_HIGH_DAYS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249424" y="1554480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44 días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1554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Float muy alto → DCMA D7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093976"/>
            <a:ext cx="402336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84048" y="21214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DUR_HIGH_DAYS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49424" y="2121408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44 días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063240" y="212140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Duración muy larga → DCMA D8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74320" y="2660904"/>
            <a:ext cx="402336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84048" y="26883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NONFS_PCT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249424" y="2688336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10%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063240" y="26883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Máx. de relaciones no-FS → DCMA D5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74320" y="3227832"/>
            <a:ext cx="4023360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84048" y="325526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CONSTRAINT_PCT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249424" y="3255264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5%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325526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Máx. de tareas con restricciones → DCMA D9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3794760"/>
            <a:ext cx="4023360" cy="502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84048" y="3822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CPLI_MIN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249424" y="382219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C85A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0.95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063240" y="382219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Índice mínimo del camino crítico → DCMA D10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0" y="640080"/>
            <a:ext cx="9144000" cy="41148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65760" y="6858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GLOSARIO CPM / EVM / DCMA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663440" y="960120"/>
            <a:ext cx="420624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36592" y="9875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CPM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5559552" y="987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Critical Path Method — Método del Camino Crítico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353312"/>
            <a:ext cx="420624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36592" y="138074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EVM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559552" y="13807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Earned Value Management — Gestión Valor Ganado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663440" y="1746504"/>
            <a:ext cx="420624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36592" y="1773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WBS/EDT</a:t>
            </a:r>
            <a:endParaRPr lang="en-US" sz="800" dirty="0"/>
          </a:p>
        </p:txBody>
      </p:sp>
      <p:sp>
        <p:nvSpPr>
          <p:cNvPr id="41" name="Text 39"/>
          <p:cNvSpPr txBox="1"/>
          <p:nvPr/>
        </p:nvSpPr>
        <p:spPr>
          <a:xfrm>
            <a:off x="5559552" y="177393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Work Breakdown Structure / Estructura de Desglose de Trabajo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4663440" y="2139696"/>
            <a:ext cx="420624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36592" y="21671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BAC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559552" y="21671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Budget At Completion — Presupuesto Total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2532888"/>
            <a:ext cx="420624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36592" y="2560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PV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559552" y="25603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Planned Value — Valor Planificado acumulado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663440" y="2926080"/>
            <a:ext cx="420624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36592" y="29535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EV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559552" y="29535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Earned Value — Trabajo físicamente completado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663440" y="3319272"/>
            <a:ext cx="420624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36592" y="33467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5559552" y="3346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Actual Cost — Costo real a la fecha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663440" y="3712464"/>
            <a:ext cx="420624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36592" y="373989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SPI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5559552" y="37398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Schedule Performance Index (EV/PV)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663440" y="4105656"/>
            <a:ext cx="420624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36592" y="41330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CPI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5559552" y="41330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Cost Performance Index (EV/AC)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4663440" y="4498848"/>
            <a:ext cx="4206240" cy="347472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36592" y="4526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DCMA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559552" y="4526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Defense Contract Management Agency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2286000"/>
            <a:ext cx="9144000" cy="45720"/>
          </a:xfrm>
          <a:prstGeom prst="rect">
            <a:avLst/>
          </a:prstGeom>
          <a:solidFill>
            <a:srgbClr val="FFA02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548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0D0D0D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ECM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12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PROJECT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4871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Gestión Profesional de Proyectos de Construcción e Ingeniería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A028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CPM  ·  EVM  ·  DCMA 14-POINT  ·  GANTT  ·  SUPABASE SYNC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661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github.com/ehchavezm-hub/10-cronograma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Epilogue" pitchFamily="34" charset="0"/>
                <a:ea typeface="Epilogue" pitchFamily="34" charset="-122"/>
                <a:cs typeface="Epilogue" pitchFamily="34" charset="-120"/>
              </a:rPr>
              <a:t>© 2026 E. Chávez  ·  Licencia MIT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oomberg ECM">
  <a:themeElements>
    <a:clrScheme name="Bloomberg ECM">
      <a:dk1>
        <a:srgbClr val="000000"/>
      </a:dk1>
      <a:lt1>
        <a:srgbClr val="FFFFFF"/>
      </a:lt1>
      <a:dk2>
        <a:srgbClr val="CCCCCC"/>
      </a:dk2>
      <a:lt2>
        <a:srgbClr val="1A1A1A"/>
      </a:lt2>
      <a:accent1>
        <a:srgbClr val="FFA028"/>
      </a:accent1>
      <a:accent2>
        <a:srgbClr val="2A2A2A"/>
      </a:accent2>
      <a:accent3>
        <a:srgbClr val="3A3A3A"/>
      </a:accent3>
      <a:accent4>
        <a:srgbClr val="E8E8E8"/>
      </a:accent4>
      <a:accent5>
        <a:srgbClr val="666666"/>
      </a:accent5>
      <a:accent6>
        <a:srgbClr val="999999"/>
      </a:accent6>
      <a:hlink>
        <a:srgbClr val="FFA028"/>
      </a:hlink>
      <a:folHlink>
        <a:srgbClr val="FF7A00"/>
      </a:folHlink>
    </a:clrScheme>
    <a:fontScheme name="Bloomberg ECM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ECM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ECM Project — Guía de Usuario</dc:title>
  <dc:subject>PptxGenJS Presentation</dc:subject>
  <dc:creator>E. Chávez</dc:creator>
  <cp:lastModifiedBy>E. Chávez</cp:lastModifiedBy>
  <cp:revision>1</cp:revision>
  <dcterms:created xsi:type="dcterms:W3CDTF">2026-10-18T16:43:03Z</dcterms:created>
  <dcterms:modified xsi:type="dcterms:W3CDTF">2026-10-18T16:43:03Z</dcterms:modified>
</cp:coreProperties>
</file>