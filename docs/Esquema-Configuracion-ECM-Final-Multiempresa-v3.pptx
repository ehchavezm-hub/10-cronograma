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0ca43a79-30c2-150e-9941-bb2bc298477f}">
          <p14:sldIdLst>
            <p14:sldId id="256"/>
          </p14:sldIdLst>
        </p14:section>
        <p14:section name="Resumen" id="{68dac234-c392-9aa3-8a29-aa9052e0e649}">
          <p14:sldIdLst>
            <p14:sldId id="257"/>
          </p14:sldIdLst>
        </p14:section>
        <p14:section name="Referencias" id="{51d6e6b1-19de-babd-83ac-a12f104ba0c2}">
          <p14:sldIdLst>
            <p14:sldId id="258"/>
            <p14:sldId id="259"/>
            <p14:sldId id="260"/>
          </p14:sldIdLst>
        </p14:section>
        <p14:section name="Decisiones" id="{6d1996f0-0c01-6bcb-2ad6-411be6902686}">
          <p14:sldIdLst>
            <p14:sldId id="261"/>
          </p14:sldIdLst>
        </p14:section>
        <p14:section name="Multiempresa" id="{aa401de0-5bbe-ace9-090a-2a75c87ea160}">
          <p14:sldIdLst>
            <p14:sldId id="262"/>
            <p14:sldId id="263"/>
            <p14:sldId id="264"/>
            <p14:sldId id="265"/>
          </p14:sldIdLst>
        </p14:section>
        <p14:section name="Modelo" id="{fa3e2173-22a1-03bf-e7d7-bf9fe42dd322}">
          <p14:sldIdLst>
            <p14:sldId id="266"/>
            <p14:sldId id="267"/>
            <p14:sldId id="268"/>
            <p14:sldId id="269"/>
            <p14:sldId id="270"/>
            <p14:sldId id="271"/>
          </p14:sldIdLst>
        </p14:section>
        <p14:section name="Áreas y permisos" id="{07d08f87-3fee-493d-9be1-bdb138cd45aa}">
          <p14:sldIdLst>
            <p14:sldId id="272"/>
            <p14:sldId id="273"/>
          </p14:sldIdLst>
        </p14:section>
        <p14:section name="Acceso" id="{cb4f8222-da7e-5b6f-0ff1-934d0deeba33}">
          <p14:sldIdLst>
            <p14:sldId id="274"/>
            <p14:sldId id="275"/>
          </p14:sldIdLst>
        </p14:section>
        <p14:section name="Configuración" id="{553163e4-ffd0-8bcc-545b-e26ad5cb0274}">
          <p14:sldIdLst>
            <p14:sldId id="276"/>
            <p14:sldId id="277"/>
            <p14:sldId id="278"/>
            <p14:sldId id="279"/>
          </p14:sldIdLst>
        </p14:section>
        <p14:section name="Hoja de ruta" id="{9fb8b631-b462-7440-0310-40ed6b703637}">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final multiempresa v3: tres capas de permisos, co-propietario y proyecto DEMO. La versión final multiempresa anterior, la versión final de una empresa y las versiones 1, 2 y 3 se conservan como archivos aparte. No se ha desarrollado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piezas: la empresa, el rol en la empresa, el grupo (proyecto) con su rol y el área. Los permisos de cada capa se suman. Es el mismo patrón de dos capas que usan Revizto, Procore, ACC y P6.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Revizto: roles de cuenta, licencia y proyecto. Procore: plantillas de permisos de empresa y de proyecto con niveles None, Read Only, Standard y Admin por herramienta. ACC: roles a nivel cuenta con acceso por defecto de administrador o miembro del proyecto; permisos por rol, empresa o persona. P6: perfil global y perfiles de proyecto asignados mediante la 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Equivalencia de niveles con Procore: Sin acceso = None; Solo ver = Read Only; Solo avance ≈ Standard limitado; Editar ≈ Standard/Admin. La administración del módulo queda en los niveles de administración, no en el 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está implementado y probado en LPS-GT (migraciones 001–018, función admin-usuarios, pruebas de reglas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decisiones validadas por el usuario el 27/10/2026; las resaltadas corresponden a multiempresa, tres capas y co-propietario.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Opción B (multiempresa en una sola instalación). Los nombres de empresas son ejemplos. La capa Empresa se construye desde la fase 0 para no rehacer la base de datos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Principio de mínimo privilegio para el propietario de la plataforma. Además aplica la Ley 29733 (protección de datos personales): cada empresa firma un acuerdo de tratamiento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de 11 áreas pasa a ser el modelo base que cada empresa recibe al crearse.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código sirve para ambas modalidades porque la capa Empresa existe desde el inicio. Con varias empresas reales hay que pasar a un plan de pago de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grupo (nombre genérico) es el proyecto (como en Revizto). El rol de cada persona se define en cada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Corrección respecto a la versión anterior: "Administrador de grupo" deja de ser un nivel de la empresa y pasa a ser un rol dentro de cada grupo, como el rol de proyecto de Revizto. Así no hay conflicto en tener varios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papeles conviven con la misma cuenta de correo. La restricción de confidencialidad del propietario aplica solo a empresas donde no es miembro.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 al relevo de cada empresa, pero en la capa de plataforma. Se recomienda además un procedimiento de recuperación documentado (por ejemplo, un sobre sellado con instrucciones) por si ambos faltan. Revizto tiene algo similar: el propietario de la cuenta y los administradores de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tomadas de LPS-GT (migración 009): solo el super administrador asigna o retira super administrador, administrador y delegado; el delegado no restablece la clave de administradores.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invitados externos los da de alta el administrador del proyecto (o los invita por enlace). Revizto tiene un rol equivalente: Invitado, que trabaja en los proyectos a los que lo agregan pero no crea proyectos ni agrega miembros.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área define la plantilla de permisos; el cargo (lista aparte) es solo informativo, para el organigrama.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el administrador de grupo puede ajustar la plantilla en su proyecto (por ejemplo, dar Editar a Calidad en un proyecto concreto); el ajuste no cambia la plantilla de los demás proyectos.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LPS-GT usa mínimo 8 caracteres; se propone 10 para ECM. La desactivación de "Confirm email" sale de la observación 65 de LPS-GT. Los datos viven en el servidor, no en la laptop (observación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criterio que LPS-GT (migración 006 y decisiones de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pestañas siguen las de LPS-GT (Usuarios, Listas, Parámetros, Permisos, Auditoría, Respaldo), más Empresa y Grupos. El selector de empresa solo aparece a quien pertenece a más de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LPS-GT tiene puede(p_accion), es_superadmin(), RLS por área y pruebas en supabase/tests. En ECM las políticas anon_all_* deben retirarse.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el DEMO se restaura en cada arranque dentro de la base de datos. Con varias empresas aparecería en todas, contaminaría indicadores y respaldos, y volvería a aparecer al borrarlo. Las cuatro variantes salen de la misma plantilla maestra, versionada con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servidor no hay forma segura de centralizar usuarios. Las variantes A y B del exe siguen en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Nada se desarrolla hasta que se indique empezar. Las fases reutilizan lo probado en LPS-GT (migraciones, función admin-usuarios, pruebas de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indent="0" marL="0">
              <a:buNone/>
              <a:defRPr lang="en-US" sz="4400" b="1" dirty="0">
                <a:solidFill>
                  <a:schemeClr val="bg1"/>
                </a:solidFill>
              </a:defRPr>
            </a:lvl1pPr>
          </a:lstStyle>
          <a:p>
            <a:pPr indent="0" marL="0">
              <a:buNone/>
            </a:pPr>
            <a:r>
              <a:rPr lang="en-US" sz="4400" b="1" dirty="0">
                <a:solidFill>
                  <a:schemeClr val="bg1"/>
                </a:solidFill>
              </a:rPr>
              <a:t>Título</a:t>
            </a:r>
            <a:endParaRPr lang="en-US" sz="4400" dirty="0"/>
          </a:p>
        </p:txBody>
      </p:sp>
      <p:sp>
        <p:nvSpPr>
          <p:cNvPr id="3" name="Text 0"/>
          <p:cNvSpPr/>
          <p:nvPr>
            <p:ph idx="101" type="body" hasCustomPrompt="1"/>
          </p:nvPr>
        </p:nvSpPr>
        <p:spPr>
          <a:xfrm>
            <a:off x="731520" y="3611880"/>
            <a:ext cx="10698480" cy="914400"/>
          </a:xfrm>
          <a:prstGeom prst="rect">
            <a:avLst/>
          </a:prstGeom>
          <a:noFill/>
          <a:ln/>
        </p:spPr>
        <p:txBody>
          <a:bodyPr wrap="square" rtlCol="0"/>
          <a:lstStyle>
            <a:lvl1pPr indent="0" marL="0">
              <a:buNone/>
              <a:defRPr lang="en-US" sz="2000" dirty="0">
                <a:solidFill>
                  <a:schemeClr val="accent1"/>
                </a:solidFill>
              </a:defRPr>
            </a:lvl1pPr>
          </a:lstStyle>
          <a:p>
            <a:pPr indent="0" marL="0">
              <a:buNone/>
            </a:pPr>
            <a:r>
              <a:rPr lang="en-US" sz="2000" dirty="0">
                <a:solidFill>
                  <a:schemeClr val="accent1"/>
                </a:solidFill>
              </a:rPr>
              <a:t>Subtítulo</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600" b="1" dirty="0">
                <a:solidFill>
                  <a:schemeClr val="tx2"/>
                </a:solidFill>
              </a:defRPr>
            </a:lvl1pPr>
          </a:lstStyle>
          <a:p>
            <a:pPr indent="0" marL="0">
              <a:buNone/>
            </a:pPr>
            <a:r>
              <a:rPr lang="en-US" sz="3600" b="1" dirty="0">
                <a:solidFill>
                  <a:schemeClr val="tx2"/>
                </a:solidFill>
              </a:rPr>
              <a:t>Título</a:t>
            </a: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ECM Project · Espacio de Configuración · Esquema funcional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r>
              <a:rPr lang="en-US" sz="3600" b="1" dirty="0">
                <a:solidFill>
                  <a:schemeClr val="bg1"/>
                </a:solidFill>
              </a:rPr>
              <a:t>Título</a:t>
            </a: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3.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3.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nchor="b"/>
          <a:lstStyle/>
          <a:p>
            <a:pPr indent="0" marL="0">
              <a:buNone/>
            </a:pPr>
            <a:r>
              <a:rPr lang="en-US" sz="4400" b="1" dirty="0">
                <a:solidFill>
                  <a:schemeClr val="bg1"/>
                </a:solidFill>
              </a:rPr>
              <a:t>Espacio de Configuración · Esquema final multiempresa</a:t>
            </a:r>
            <a:endParaRPr lang="en-US" sz="4400" dirty="0"/>
          </a:p>
        </p:txBody>
      </p:sp>
      <p:sp>
        <p:nvSpPr>
          <p:cNvPr id="3" name="Text 0"/>
          <p:cNvSpPr/>
          <p:nvPr>
            <p:ph idx="101" type="body" hasCustomPrompt="1"/>
          </p:nvPr>
        </p:nvSpPr>
        <p:spPr>
          <a:xfrm>
            <a:off x="731520" y="3611880"/>
            <a:ext cx="10698480" cy="914400"/>
          </a:xfrm>
          <a:prstGeom prst="rect">
            <a:avLst/>
          </a:prstGeom>
          <a:noFill/>
          <a:ln/>
        </p:spPr>
        <p:txBody>
          <a:bodyPr wrap="square" rtlCol="0" anchor="t"/>
          <a:lstStyle/>
          <a:p>
            <a:pPr indent="0" marL="0">
              <a:buNone/>
            </a:pPr>
            <a:r>
              <a:rPr lang="en-US" sz="2000" dirty="0">
                <a:solidFill>
                  <a:schemeClr val="accent1"/>
                </a:solidFill>
              </a:rPr>
              <a:t>Empresas, usuarios, grupos (proyectos), áreas y permisos para ECM Project</a:t>
            </a:r>
            <a:endParaRPr lang="en-US" sz="2000" dirty="0"/>
          </a:p>
        </p:txBody>
      </p:sp>
      <p:sp>
        <p:nvSpPr>
          <p:cNvPr id="4" name="Configuración círculo"/>
          <p:cNvSpPr/>
          <p:nvPr/>
        </p:nvSpPr>
        <p:spPr>
          <a:xfrm>
            <a:off x="731520" y="914400"/>
            <a:ext cx="914400" cy="914400"/>
          </a:xfrm>
          <a:prstGeom prst="ellipse">
            <a:avLst/>
          </a:prstGeom>
          <a:solidFill>
            <a:schemeClr val="accent1"/>
          </a:solidFill>
          <a:ln w="12700">
            <a:solidFill>
              <a:schemeClr val="accent1"/>
            </a:solidFill>
            <a:prstDash val="solid"/>
          </a:ln>
        </p:spPr>
      </p:sp>
      <p:pic>
        <p:nvPicPr>
          <p:cNvPr id="5" name="Configuración ícono" descr="Configuración">    </p:cNvPr>
          <p:cNvPicPr>
            <a:picLocks noChangeAspect="1"/>
          </p:cNvPicPr>
          <p:nvPr/>
        </p:nvPicPr>
        <p:blipFill>
          <a:blip r:embed="rId1"/>
          <a:stretch>
            <a:fillRect/>
          </a:stretch>
        </p:blipFill>
        <p:spPr>
          <a:xfrm>
            <a:off x="950976" y="1133856"/>
            <a:ext cx="475488" cy="475488"/>
          </a:xfrm>
          <a:prstGeom prst="rect">
            <a:avLst/>
          </a:prstGeom>
        </p:spPr>
      </p:pic>
      <p:sp>
        <p:nvSpPr>
          <p:cNvPr id="6" name="Text 3"/>
          <p:cNvSpPr txBox="1"/>
          <p:nvPr/>
        </p:nvSpPr>
        <p:spPr>
          <a:xfrm>
            <a:off x="731520" y="5760720"/>
            <a:ext cx="10698480" cy="548640"/>
          </a:xfrm>
          <a:prstGeom prst="rect">
            <a:avLst/>
          </a:prstGeom>
          <a:noFill/>
          <a:ln/>
        </p:spPr>
        <p:txBody>
          <a:bodyPr wrap="square" lIns="0" tIns="0" rIns="0" bIns="0" rtlCol="0" anchor="t"/>
          <a:lstStyle/>
          <a:p>
            <a:pPr indent="0" marL="0">
              <a:buNone/>
            </a:pPr>
            <a:r>
              <a:rPr lang="en-US" sz="1400" i="1" dirty="0">
                <a:solidFill>
                  <a:schemeClr val="bg2"/>
                </a:solidFill>
              </a:rPr>
              <a:t>Consolida las versiones anteriores, LPS-GT y la revisión de Revizto, Procore, Autodesk Construction Cloud y Primavera P6, con la opción B (varias empresas), tres capas de permisos y co-propietario · aún sin desarrollo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El esquema en una diapositiva</a:t>
            </a:r>
            <a:endParaRPr lang="en-US" sz="3600" dirty="0"/>
          </a:p>
        </p:txBody>
      </p:sp>
      <p:sp>
        <p:nvSpPr>
          <p:cNvPr id="3" name="Empresa"/>
          <p:cNvSpPr/>
          <p:nvPr/>
        </p:nvSpPr>
        <p:spPr>
          <a:xfrm>
            <a:off x="548640" y="1371600"/>
            <a:ext cx="2633472" cy="365760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Empresa círculo"/>
          <p:cNvSpPr/>
          <p:nvPr/>
        </p:nvSpPr>
        <p:spPr>
          <a:xfrm>
            <a:off x="749808" y="1600200"/>
            <a:ext cx="685800" cy="685800"/>
          </a:xfrm>
          <a:prstGeom prst="ellipse">
            <a:avLst/>
          </a:prstGeom>
          <a:solidFill>
            <a:schemeClr val="tx2"/>
          </a:solidFill>
          <a:ln w="12700">
            <a:solidFill>
              <a:schemeClr val="tx2"/>
            </a:solidFill>
            <a:prstDash val="solid"/>
          </a:ln>
        </p:spPr>
      </p:sp>
      <p:pic>
        <p:nvPicPr>
          <p:cNvPr id="5" name="Empresa ícono" descr="Empresa">    </p:cNvPr>
          <p:cNvPicPr>
            <a:picLocks noChangeAspect="1"/>
          </p:cNvPicPr>
          <p:nvPr/>
        </p:nvPicPr>
        <p:blipFill>
          <a:blip r:embed="rId1"/>
          <a:stretch>
            <a:fillRect/>
          </a:stretch>
        </p:blipFill>
        <p:spPr>
          <a:xfrm>
            <a:off x="914400" y="1764792"/>
            <a:ext cx="356616" cy="356616"/>
          </a:xfrm>
          <a:prstGeom prst="rect">
            <a:avLst/>
          </a:prstGeom>
        </p:spPr>
      </p:pic>
      <p:sp>
        <p:nvSpPr>
          <p:cNvPr id="6" name="Text 3"/>
          <p:cNvSpPr txBox="1"/>
          <p:nvPr/>
        </p:nvSpPr>
        <p:spPr>
          <a:xfrm>
            <a:off x="1527048" y="1600200"/>
            <a:ext cx="1600200" cy="685800"/>
          </a:xfrm>
          <a:prstGeom prst="rect">
            <a:avLst/>
          </a:prstGeom>
          <a:noFill/>
          <a:ln/>
        </p:spPr>
        <p:txBody>
          <a:bodyPr wrap="square" lIns="0" tIns="0" rIns="0" bIns="0" rtlCol="0" anchor="ctr"/>
          <a:lstStyle/>
          <a:p>
            <a:pPr indent="0" marL="0">
              <a:buNone/>
            </a:pPr>
            <a:r>
              <a:rPr lang="en-US" sz="1600" b="1" dirty="0">
                <a:solidFill>
                  <a:schemeClr val="tx2"/>
                </a:solidFill>
              </a:rPr>
              <a:t>Empresa</a:t>
            </a:r>
            <a:endParaRPr lang="en-US" sz="1600" dirty="0"/>
          </a:p>
        </p:txBody>
      </p:sp>
      <p:sp>
        <p:nvSpPr>
          <p:cNvPr id="7" name="Text 4"/>
          <p:cNvSpPr txBox="1"/>
          <p:nvPr/>
        </p:nvSpPr>
        <p:spPr>
          <a:xfrm>
            <a:off x="749808" y="2423160"/>
            <a:ext cx="2286000" cy="640080"/>
          </a:xfrm>
          <a:prstGeom prst="rect">
            <a:avLst/>
          </a:prstGeom>
          <a:noFill/>
          <a:ln/>
        </p:spPr>
        <p:txBody>
          <a:bodyPr wrap="square" lIns="0" tIns="0" rIns="0" bIns="0" rtlCol="0" anchor="t"/>
          <a:lstStyle/>
          <a:p>
            <a:pPr indent="0" marL="0">
              <a:buNone/>
            </a:pPr>
            <a:r>
              <a:rPr lang="en-US" sz="1200" i="1" dirty="0">
                <a:solidFill>
                  <a:schemeClr val="accent5"/>
                </a:solidFill>
              </a:rPr>
              <a:t>Cada empresa es un espacio independiente.</a:t>
            </a:r>
            <a:endParaRPr lang="en-US" sz="1200" dirty="0"/>
          </a:p>
        </p:txBody>
      </p:sp>
      <p:sp>
        <p:nvSpPr>
          <p:cNvPr id="8" name="Text 5"/>
          <p:cNvSpPr txBox="1"/>
          <p:nvPr/>
        </p:nvSpPr>
        <p:spPr>
          <a:xfrm>
            <a:off x="749808" y="310896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Tú: propietario, con un co-propietario</a:t>
            </a:r>
            <a:endParaRPr lang="en-US" sz="1200" dirty="0"/>
          </a:p>
          <a:p>
            <a:pPr marL="342900" indent="-342900">
              <a:spcAft>
                <a:spcPts val="500"/>
              </a:spcAft>
              <a:buSzPct val="100000"/>
              <a:buChar char="•"/>
            </a:pPr>
            <a:r>
              <a:rPr lang="en-US" sz="1200" dirty="0">
                <a:solidFill>
                  <a:schemeClr val="tx1"/>
                </a:solidFill>
              </a:rPr>
              <a:t>Cosapi, Cumbra, JJC… aisladas</a:t>
            </a:r>
            <a:endParaRPr lang="en-US" sz="1200" dirty="0"/>
          </a:p>
          <a:p>
            <a:pPr marL="342900" indent="-342900">
              <a:spcAft>
                <a:spcPts val="500"/>
              </a:spcAft>
              <a:buSzPct val="100000"/>
              <a:buChar char="•"/>
            </a:pPr>
            <a:r>
              <a:rPr lang="en-US" sz="1200" dirty="0">
                <a:solidFill>
                  <a:schemeClr val="tx1"/>
                </a:solidFill>
              </a:rPr>
              <a:t>Cada una con su Super administrador</a:t>
            </a:r>
            <a:endParaRPr lang="en-US" sz="1200" dirty="0"/>
          </a:p>
        </p:txBody>
      </p:sp>
      <p:sp>
        <p:nvSpPr>
          <p:cNvPr id="9" name="Rol en la empresa"/>
          <p:cNvSpPr/>
          <p:nvPr/>
        </p:nvSpPr>
        <p:spPr>
          <a:xfrm>
            <a:off x="3355848" y="1371600"/>
            <a:ext cx="2633472" cy="365760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Rol en la empresa círculo"/>
          <p:cNvSpPr/>
          <p:nvPr/>
        </p:nvSpPr>
        <p:spPr>
          <a:xfrm>
            <a:off x="3557016" y="1600200"/>
            <a:ext cx="685800" cy="685800"/>
          </a:xfrm>
          <a:prstGeom prst="ellipse">
            <a:avLst/>
          </a:prstGeom>
          <a:solidFill>
            <a:schemeClr val="accent1"/>
          </a:solidFill>
          <a:ln w="12700">
            <a:solidFill>
              <a:schemeClr val="accent1"/>
            </a:solidFill>
            <a:prstDash val="solid"/>
          </a:ln>
        </p:spPr>
      </p:sp>
      <p:pic>
        <p:nvPicPr>
          <p:cNvPr id="11" name="Rol en la empresa ícono" descr="Rol en la empresa">    </p:cNvPr>
          <p:cNvPicPr>
            <a:picLocks noChangeAspect="1"/>
          </p:cNvPicPr>
          <p:nvPr/>
        </p:nvPicPr>
        <p:blipFill>
          <a:blip r:embed="rId2"/>
          <a:stretch>
            <a:fillRect/>
          </a:stretch>
        </p:blipFill>
        <p:spPr>
          <a:xfrm>
            <a:off x="3721608" y="1764792"/>
            <a:ext cx="356616" cy="356616"/>
          </a:xfrm>
          <a:prstGeom prst="rect">
            <a:avLst/>
          </a:prstGeom>
        </p:spPr>
      </p:pic>
      <p:sp>
        <p:nvSpPr>
          <p:cNvPr id="12" name="Text 8"/>
          <p:cNvSpPr txBox="1"/>
          <p:nvPr/>
        </p:nvSpPr>
        <p:spPr>
          <a:xfrm>
            <a:off x="4334256" y="1600200"/>
            <a:ext cx="1600200" cy="685800"/>
          </a:xfrm>
          <a:prstGeom prst="rect">
            <a:avLst/>
          </a:prstGeom>
          <a:noFill/>
          <a:ln/>
        </p:spPr>
        <p:txBody>
          <a:bodyPr wrap="square" lIns="0" tIns="0" rIns="0" bIns="0" rtlCol="0" anchor="ctr"/>
          <a:lstStyle/>
          <a:p>
            <a:pPr indent="0" marL="0">
              <a:buNone/>
            </a:pPr>
            <a:r>
              <a:rPr lang="en-US" sz="1600" b="1" dirty="0">
                <a:solidFill>
                  <a:schemeClr val="tx2"/>
                </a:solidFill>
              </a:rPr>
              <a:t>Rol en la empresa</a:t>
            </a:r>
            <a:endParaRPr lang="en-US" sz="1600" dirty="0"/>
          </a:p>
        </p:txBody>
      </p:sp>
      <p:sp>
        <p:nvSpPr>
          <p:cNvPr id="13" name="Text 9"/>
          <p:cNvSpPr txBox="1"/>
          <p:nvPr/>
        </p:nvSpPr>
        <p:spPr>
          <a:xfrm>
            <a:off x="3557016" y="2423160"/>
            <a:ext cx="2286000" cy="640080"/>
          </a:xfrm>
          <a:prstGeom prst="rect">
            <a:avLst/>
          </a:prstGeom>
          <a:noFill/>
          <a:ln/>
        </p:spPr>
        <p:txBody>
          <a:bodyPr wrap="square" lIns="0" tIns="0" rIns="0" bIns="0" rtlCol="0" anchor="t"/>
          <a:lstStyle/>
          <a:p>
            <a:pPr indent="0" marL="0">
              <a:buNone/>
            </a:pPr>
            <a:r>
              <a:rPr lang="en-US" sz="1200" i="1" dirty="0">
                <a:solidFill>
                  <a:schemeClr val="accent5"/>
                </a:solidFill>
              </a:rPr>
              <a:t>Qué administra cada persona en su empresa.</a:t>
            </a:r>
            <a:endParaRPr lang="en-US" sz="1200" dirty="0"/>
          </a:p>
        </p:txBody>
      </p:sp>
      <p:sp>
        <p:nvSpPr>
          <p:cNvPr id="14" name="Text 10"/>
          <p:cNvSpPr txBox="1"/>
          <p:nvPr/>
        </p:nvSpPr>
        <p:spPr>
          <a:xfrm>
            <a:off x="3557016" y="310896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Super administrador</a:t>
            </a:r>
            <a:endParaRPr lang="en-US" sz="1200" dirty="0"/>
          </a:p>
          <a:p>
            <a:pPr marL="342900" indent="-342900">
              <a:spcAft>
                <a:spcPts val="500"/>
              </a:spcAft>
              <a:buSzPct val="100000"/>
              <a:buChar char="•"/>
            </a:pPr>
            <a:r>
              <a:rPr lang="en-US" sz="1200" dirty="0">
                <a:solidFill>
                  <a:schemeClr val="tx1"/>
                </a:solidFill>
              </a:rPr>
              <a:t>Relevo que él designa</a:t>
            </a:r>
            <a:endParaRPr lang="en-US" sz="1200" dirty="0"/>
          </a:p>
          <a:p>
            <a:pPr marL="342900" indent="-342900">
              <a:spcAft>
                <a:spcPts val="500"/>
              </a:spcAft>
              <a:buSzPct val="100000"/>
              <a:buChar char="•"/>
            </a:pPr>
            <a:r>
              <a:rPr lang="en-US" sz="1200" dirty="0">
                <a:solidFill>
                  <a:schemeClr val="tx1"/>
                </a:solidFill>
              </a:rPr>
              <a:t>Miembro</a:t>
            </a:r>
            <a:endParaRPr lang="en-US" sz="1200" dirty="0"/>
          </a:p>
          <a:p>
            <a:pPr marL="342900" indent="-342900">
              <a:spcAft>
                <a:spcPts val="500"/>
              </a:spcAft>
              <a:buSzPct val="100000"/>
              <a:buChar char="•"/>
            </a:pPr>
            <a:r>
              <a:rPr lang="en-US" sz="1200" dirty="0">
                <a:solidFill>
                  <a:schemeClr val="tx1"/>
                </a:solidFill>
              </a:rPr>
              <a:t>Invitado externo</a:t>
            </a:r>
            <a:endParaRPr lang="en-US" sz="1200" dirty="0"/>
          </a:p>
        </p:txBody>
      </p:sp>
      <p:sp>
        <p:nvSpPr>
          <p:cNvPr id="15" name="Grupo = proyecto"/>
          <p:cNvSpPr/>
          <p:nvPr/>
        </p:nvSpPr>
        <p:spPr>
          <a:xfrm>
            <a:off x="6163056" y="1371600"/>
            <a:ext cx="2633472" cy="365760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Grupo = proyecto círculo"/>
          <p:cNvSpPr/>
          <p:nvPr/>
        </p:nvSpPr>
        <p:spPr>
          <a:xfrm>
            <a:off x="6364224" y="1600200"/>
            <a:ext cx="685800" cy="685800"/>
          </a:xfrm>
          <a:prstGeom prst="ellipse">
            <a:avLst/>
          </a:prstGeom>
          <a:solidFill>
            <a:schemeClr val="accent2"/>
          </a:solidFill>
          <a:ln w="12700">
            <a:solidFill>
              <a:schemeClr val="accent2"/>
            </a:solidFill>
            <a:prstDash val="solid"/>
          </a:ln>
        </p:spPr>
      </p:sp>
      <p:pic>
        <p:nvPicPr>
          <p:cNvPr id="17" name="Grupo = proyecto ícono" descr="Grupo = proyecto">    </p:cNvPr>
          <p:cNvPicPr>
            <a:picLocks noChangeAspect="1"/>
          </p:cNvPicPr>
          <p:nvPr/>
        </p:nvPicPr>
        <p:blipFill>
          <a:blip r:embed="rId3"/>
          <a:stretch>
            <a:fillRect/>
          </a:stretch>
        </p:blipFill>
        <p:spPr>
          <a:xfrm>
            <a:off x="6528816" y="1764792"/>
            <a:ext cx="356616" cy="356616"/>
          </a:xfrm>
          <a:prstGeom prst="rect">
            <a:avLst/>
          </a:prstGeom>
        </p:spPr>
      </p:pic>
      <p:sp>
        <p:nvSpPr>
          <p:cNvPr id="18" name="Text 13"/>
          <p:cNvSpPr txBox="1"/>
          <p:nvPr/>
        </p:nvSpPr>
        <p:spPr>
          <a:xfrm>
            <a:off x="7141464" y="1600200"/>
            <a:ext cx="1600200" cy="685800"/>
          </a:xfrm>
          <a:prstGeom prst="rect">
            <a:avLst/>
          </a:prstGeom>
          <a:noFill/>
          <a:ln/>
        </p:spPr>
        <p:txBody>
          <a:bodyPr wrap="square" lIns="0" tIns="0" rIns="0" bIns="0" rtlCol="0" anchor="ctr"/>
          <a:lstStyle/>
          <a:p>
            <a:pPr indent="0" marL="0">
              <a:buNone/>
            </a:pPr>
            <a:r>
              <a:rPr lang="en-US" sz="1600" b="1" dirty="0">
                <a:solidFill>
                  <a:schemeClr val="tx2"/>
                </a:solidFill>
              </a:rPr>
              <a:t>Grupo = proyecto</a:t>
            </a:r>
            <a:endParaRPr lang="en-US" sz="1600" dirty="0"/>
          </a:p>
        </p:txBody>
      </p:sp>
      <p:sp>
        <p:nvSpPr>
          <p:cNvPr id="19" name="Text 14"/>
          <p:cNvSpPr txBox="1"/>
          <p:nvPr/>
        </p:nvSpPr>
        <p:spPr>
          <a:xfrm>
            <a:off x="6364224" y="2423160"/>
            <a:ext cx="2286000" cy="640080"/>
          </a:xfrm>
          <a:prstGeom prst="rect">
            <a:avLst/>
          </a:prstGeom>
          <a:noFill/>
          <a:ln/>
        </p:spPr>
        <p:txBody>
          <a:bodyPr wrap="square" lIns="0" tIns="0" rIns="0" bIns="0" rtlCol="0" anchor="t"/>
          <a:lstStyle/>
          <a:p>
            <a:pPr indent="0" marL="0">
              <a:buNone/>
            </a:pPr>
            <a:r>
              <a:rPr lang="en-US" sz="1200" i="1" dirty="0">
                <a:solidFill>
                  <a:schemeClr val="accent5"/>
                </a:solidFill>
              </a:rPr>
              <a:t>Cada proyecto es un grupo con su propio equipo.</a:t>
            </a:r>
            <a:endParaRPr lang="en-US" sz="1200" dirty="0"/>
          </a:p>
        </p:txBody>
      </p:sp>
      <p:sp>
        <p:nvSpPr>
          <p:cNvPr id="20" name="Text 15"/>
          <p:cNvSpPr txBox="1"/>
          <p:nvPr/>
        </p:nvSpPr>
        <p:spPr>
          <a:xfrm>
            <a:off x="6364224" y="310896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Administrador del grupo: un rol por proyecto</a:t>
            </a:r>
            <a:endParaRPr lang="en-US" sz="1200" dirty="0"/>
          </a:p>
          <a:p>
            <a:pPr marL="342900" indent="-342900">
              <a:spcAft>
                <a:spcPts val="500"/>
              </a:spcAft>
              <a:buSzPct val="100000"/>
              <a:buChar char="•"/>
            </a:pPr>
            <a:r>
              <a:rPr lang="en-US" sz="1200" dirty="0">
                <a:solidFill>
                  <a:schemeClr val="tx1"/>
                </a:solidFill>
              </a:rPr>
              <a:t>Una persona puede estar en varios proyectos</a:t>
            </a:r>
            <a:endParaRPr lang="en-US" sz="1200" dirty="0"/>
          </a:p>
          <a:p>
            <a:pPr marL="342900" indent="-342900">
              <a:spcAft>
                <a:spcPts val="500"/>
              </a:spcAft>
              <a:buSzPct val="100000"/>
              <a:buChar char="•"/>
            </a:pPr>
            <a:r>
              <a:rPr lang="en-US" sz="1200" dirty="0">
                <a:solidFill>
                  <a:schemeClr val="tx1"/>
                </a:solidFill>
              </a:rPr>
              <a:t>Invitados solo donde se les invita</a:t>
            </a:r>
            <a:endParaRPr lang="en-US" sz="1200" dirty="0"/>
          </a:p>
        </p:txBody>
      </p:sp>
      <p:sp>
        <p:nvSpPr>
          <p:cNvPr id="21" name="Área por grupo"/>
          <p:cNvSpPr/>
          <p:nvPr/>
        </p:nvSpPr>
        <p:spPr>
          <a:xfrm>
            <a:off x="8970264" y="1371600"/>
            <a:ext cx="2633472" cy="3657600"/>
          </a:xfrm>
          <a:prstGeom prst="roundRect">
            <a:avLst>
              <a:gd name="adj" fmla="val 41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Área por grupo círculo"/>
          <p:cNvSpPr/>
          <p:nvPr/>
        </p:nvSpPr>
        <p:spPr>
          <a:xfrm>
            <a:off x="9171432" y="1600200"/>
            <a:ext cx="685800" cy="685800"/>
          </a:xfrm>
          <a:prstGeom prst="ellipse">
            <a:avLst/>
          </a:prstGeom>
          <a:solidFill>
            <a:schemeClr val="accent3"/>
          </a:solidFill>
          <a:ln w="12700">
            <a:solidFill>
              <a:schemeClr val="accent3"/>
            </a:solidFill>
            <a:prstDash val="solid"/>
          </a:ln>
        </p:spPr>
      </p:sp>
      <p:pic>
        <p:nvPicPr>
          <p:cNvPr id="23" name="Área por grupo ícono" descr="Área por grupo">    </p:cNvPr>
          <p:cNvPicPr>
            <a:picLocks noChangeAspect="1"/>
          </p:cNvPicPr>
          <p:nvPr/>
        </p:nvPicPr>
        <p:blipFill>
          <a:blip r:embed="rId4"/>
          <a:stretch>
            <a:fillRect/>
          </a:stretch>
        </p:blipFill>
        <p:spPr>
          <a:xfrm>
            <a:off x="9336024" y="1764792"/>
            <a:ext cx="356616" cy="356616"/>
          </a:xfrm>
          <a:prstGeom prst="rect">
            <a:avLst/>
          </a:prstGeom>
        </p:spPr>
      </p:pic>
      <p:sp>
        <p:nvSpPr>
          <p:cNvPr id="24" name="Text 18"/>
          <p:cNvSpPr txBox="1"/>
          <p:nvPr/>
        </p:nvSpPr>
        <p:spPr>
          <a:xfrm>
            <a:off x="9948672" y="1600200"/>
            <a:ext cx="1600200" cy="685800"/>
          </a:xfrm>
          <a:prstGeom prst="rect">
            <a:avLst/>
          </a:prstGeom>
          <a:noFill/>
          <a:ln/>
        </p:spPr>
        <p:txBody>
          <a:bodyPr wrap="square" lIns="0" tIns="0" rIns="0" bIns="0" rtlCol="0" anchor="ctr"/>
          <a:lstStyle/>
          <a:p>
            <a:pPr indent="0" marL="0">
              <a:buNone/>
            </a:pPr>
            <a:r>
              <a:rPr lang="en-US" sz="1600" b="1" dirty="0">
                <a:solidFill>
                  <a:schemeClr val="tx2"/>
                </a:solidFill>
              </a:rPr>
              <a:t>Área por grupo</a:t>
            </a:r>
            <a:endParaRPr lang="en-US" sz="1600" dirty="0"/>
          </a:p>
        </p:txBody>
      </p:sp>
      <p:sp>
        <p:nvSpPr>
          <p:cNvPr id="25" name="Text 19"/>
          <p:cNvSpPr txBox="1"/>
          <p:nvPr/>
        </p:nvSpPr>
        <p:spPr>
          <a:xfrm>
            <a:off x="9171432" y="2423160"/>
            <a:ext cx="2286000" cy="640080"/>
          </a:xfrm>
          <a:prstGeom prst="rect">
            <a:avLst/>
          </a:prstGeom>
          <a:noFill/>
          <a:ln/>
        </p:spPr>
        <p:txBody>
          <a:bodyPr wrap="square" lIns="0" tIns="0" rIns="0" bIns="0" rtlCol="0" anchor="t"/>
          <a:lstStyle/>
          <a:p>
            <a:pPr indent="0" marL="0">
              <a:buNone/>
            </a:pPr>
            <a:r>
              <a:rPr lang="en-US" sz="1200" i="1" dirty="0">
                <a:solidFill>
                  <a:schemeClr val="accent5"/>
                </a:solidFill>
              </a:rPr>
              <a:t>Qué módulos edita en cada proyecto.</a:t>
            </a:r>
            <a:endParaRPr lang="en-US" sz="1200" dirty="0"/>
          </a:p>
        </p:txBody>
      </p:sp>
      <p:sp>
        <p:nvSpPr>
          <p:cNvPr id="26" name="Text 20"/>
          <p:cNvSpPr txBox="1"/>
          <p:nvPr/>
        </p:nvSpPr>
        <p:spPr>
          <a:xfrm>
            <a:off x="9171432" y="310896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11 áreas confirmadas</a:t>
            </a:r>
            <a:endParaRPr lang="en-US" sz="1200" dirty="0"/>
          </a:p>
          <a:p>
            <a:pPr marL="342900" indent="-342900">
              <a:spcAft>
                <a:spcPts val="500"/>
              </a:spcAft>
              <a:buSzPct val="100000"/>
              <a:buChar char="•"/>
            </a:pPr>
            <a:r>
              <a:rPr lang="en-US" sz="1200" dirty="0">
                <a:solidFill>
                  <a:schemeClr val="tx1"/>
                </a:solidFill>
              </a:rPr>
              <a:t>Plantilla de permisos editable</a:t>
            </a:r>
            <a:endParaRPr lang="en-US" sz="1200" dirty="0"/>
          </a:p>
          <a:p>
            <a:pPr marL="342900" indent="-342900">
              <a:spcAft>
                <a:spcPts val="500"/>
              </a:spcAft>
              <a:buSzPct val="100000"/>
              <a:buChar char="•"/>
            </a:pPr>
            <a:r>
              <a:rPr lang="en-US" sz="1200" dirty="0">
                <a:solidFill>
                  <a:schemeClr val="tx1"/>
                </a:solidFill>
              </a:rPr>
              <a:t>4 niveles: Editar · Solo avance · Solo ver · Sin acceso</a:t>
            </a:r>
            <a:endParaRPr lang="en-US" sz="1200" dirty="0"/>
          </a:p>
        </p:txBody>
      </p:sp>
      <p:sp>
        <p:nvSpPr>
          <p:cNvPr id="27" name="Text 21"/>
          <p:cNvSpPr txBox="1"/>
          <p:nvPr/>
        </p:nvSpPr>
        <p:spPr>
          <a:xfrm>
            <a:off x="548640" y="5257800"/>
            <a:ext cx="11064240" cy="411480"/>
          </a:xfrm>
          <a:prstGeom prst="rect">
            <a:avLst/>
          </a:prstGeom>
          <a:noFill/>
          <a:ln/>
        </p:spPr>
        <p:txBody>
          <a:bodyPr wrap="square" lIns="0" tIns="0" rIns="0" bIns="0" rtlCol="0" anchor="t"/>
          <a:lstStyle/>
          <a:p>
            <a:pPr indent="0" marL="0">
              <a:buNone/>
            </a:pPr>
            <a:r>
              <a:rPr lang="en-US" sz="1500" b="1" dirty="0">
                <a:solidFill>
                  <a:schemeClr val="tx2"/>
                </a:solidFill>
              </a:rPr>
              <a:t>Todos ingresan con correo y clave personal. Los permisos de cada capa se suman y se aplican en la base de datos.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Cómo lo resuelven los programas comerciales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3291840"/>
                <a:gridCol w="3657600"/>
                <a:gridCol w="2011680"/>
              </a:tblGrid>
              <a:tr h="384048">
                <a:tc>
                  <a:txBody>
                    <a:bodyPr/>
                    <a:lstStyle/>
                    <a:p>
                      <a:pPr indent="0" marL="0">
                        <a:buNone/>
                      </a:pPr>
                      <a:r>
                        <a:rPr lang="en-US" sz="1300" b="1" dirty="0">
                          <a:solidFill>
                            <a:schemeClr val="bg1"/>
                          </a:solidFill>
                        </a:rPr>
                        <a:t>Programa</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Capa global (toda la app)</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Capa por proyecto</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Externos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731520">
                <a:tc>
                  <a:txBody>
                    <a:bodyPr/>
                    <a:lstStyle/>
                    <a:p>
                      <a:pPr indent="0" marL="0">
                        <a:buNone/>
                      </a:pPr>
                      <a:r>
                        <a:rPr lang="en-US" sz="1300" b="1" dirty="0">
                          <a:solidFill>
                            <a:schemeClr val="tx2"/>
                          </a:solidFill>
                        </a:rPr>
                        <a:t>Revizto</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Cuenta y licencia: Propietario, Administrador, Creador de contenido, Colaborador, Invitado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Rol de proyecto (conjunto de permisos), asignado en cada proyecto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Invitado sin cupo pagado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rPr>
                        <a:t>Procore</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Plantillas de permisos de empresa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Plantillas de proyecto: Ninguno · Solo lectura · Estándar · Administrador por herramienta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Directorio por empresa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rPr>
                        <a:t>Autodesk Construction Cloud</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Administrador de cuenta; roles definidos a nivel cuenta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Administrador o miembro del proyecto; permisos por rol, empresa o persona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Permisos por empresa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rPr>
                        <a:t>Primavera P6</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Perfil de seguridad global (Admin Superuser…)</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Perfil de proyecto vía OBS: lectura en unos proyectos y gestión en otros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731520">
                <a:tc>
                  <a:txBody>
                    <a:bodyPr/>
                    <a:lstStyle/>
                    <a:p>
                      <a:pPr indent="0" marL="0">
                        <a:buNone/>
                      </a:pPr>
                      <a:r>
                        <a:rPr lang="en-US" sz="1200" b="1" dirty="0">
                          <a:solidFill>
                            <a:schemeClr val="bg1"/>
                          </a:solidFill>
                        </a:rPr>
                        <a:t>ECM Project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indent="0" marL="0">
                        <a:buNone/>
                      </a:pPr>
                      <a:r>
                        <a:rPr lang="en-US" sz="1200" b="1" dirty="0">
                          <a:solidFill>
                            <a:schemeClr val="bg1"/>
                          </a:solidFill>
                        </a:rPr>
                        <a:t>Plataforma (propietario, co-propietario) → empresa (Super administrador, Relevo, Miembro)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indent="0" marL="0">
                        <a:buNone/>
                      </a:pPr>
                      <a:r>
                        <a:rPr lang="en-US" sz="1200" b="1" dirty="0">
                          <a:solidFill>
                            <a:schemeClr val="bg1"/>
                          </a:solidFill>
                        </a:rPr>
                        <a:t>Administrador o miembro del grupo, con área y plantilla de 4 niveles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indent="0" marL="0">
                        <a:buNone/>
                      </a:pPr>
                      <a:r>
                        <a:rPr lang="en-US" sz="1200" b="1" dirty="0">
                          <a:solidFill>
                            <a:schemeClr val="bg1"/>
                          </a:solidFill>
                        </a:rPr>
                        <a:t>Invitado externo marcado con su empresa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100" i="1" dirty="0">
                <a:solidFill>
                  <a:schemeClr val="accent5"/>
                </a:solidFill>
              </a:rPr>
              <a:t>Fuentes: centros de ayuda de Revizto, Procore y Oracle (P6); guías de Autodesk y socios. Nombres de roles traducidos.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Cuatro principios que comparten todos</a:t>
            </a:r>
            <a:endParaRPr lang="en-US" sz="3600" dirty="0"/>
          </a:p>
        </p:txBody>
      </p:sp>
      <p:sp>
        <p:nvSpPr>
          <p:cNvPr id="3" name="Dos capas"/>
          <p:cNvSpPr/>
          <p:nvPr/>
        </p:nvSpPr>
        <p:spPr>
          <a:xfrm>
            <a:off x="548640" y="1325880"/>
            <a:ext cx="544068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Dos capas círculo"/>
          <p:cNvSpPr/>
          <p:nvPr/>
        </p:nvSpPr>
        <p:spPr>
          <a:xfrm>
            <a:off x="822960" y="1600200"/>
            <a:ext cx="777240" cy="777240"/>
          </a:xfrm>
          <a:prstGeom prst="ellipse">
            <a:avLst/>
          </a:prstGeom>
          <a:solidFill>
            <a:schemeClr val="accent1"/>
          </a:solidFill>
          <a:ln w="12700">
            <a:solidFill>
              <a:schemeClr val="accent1"/>
            </a:solidFill>
            <a:prstDash val="solid"/>
          </a:ln>
        </p:spPr>
      </p:sp>
      <p:pic>
        <p:nvPicPr>
          <p:cNvPr id="5" name="Dos capas ícono" descr="Dos capas">    </p:cNvPr>
          <p:cNvPicPr>
            <a:picLocks noChangeAspect="1"/>
          </p:cNvPicPr>
          <p:nvPr/>
        </p:nvPicPr>
        <p:blipFill>
          <a:blip r:embed="rId1"/>
          <a:stretch>
            <a:fillRect/>
          </a:stretch>
        </p:blipFill>
        <p:spPr>
          <a:xfrm>
            <a:off x="1009498" y="1786738"/>
            <a:ext cx="404165" cy="404165"/>
          </a:xfrm>
          <a:prstGeom prst="rect">
            <a:avLst/>
          </a:prstGeom>
        </p:spPr>
      </p:pic>
      <p:sp>
        <p:nvSpPr>
          <p:cNvPr id="6" name="Text 3"/>
          <p:cNvSpPr txBox="1"/>
          <p:nvPr/>
        </p:nvSpPr>
        <p:spPr>
          <a:xfrm>
            <a:off x="1828800" y="1581912"/>
            <a:ext cx="3931920" cy="411480"/>
          </a:xfrm>
          <a:prstGeom prst="rect">
            <a:avLst/>
          </a:prstGeom>
          <a:noFill/>
          <a:ln/>
        </p:spPr>
        <p:txBody>
          <a:bodyPr wrap="square" lIns="0" tIns="0" rIns="0" bIns="0" rtlCol="0" anchor="t"/>
          <a:lstStyle/>
          <a:p>
            <a:pPr indent="0" marL="0">
              <a:buNone/>
            </a:pPr>
            <a:r>
              <a:rPr lang="en-US" sz="1900" b="1" dirty="0">
                <a:solidFill>
                  <a:schemeClr val="tx2"/>
                </a:solidFill>
              </a:rPr>
              <a:t>Dos capas</a:t>
            </a:r>
            <a:endParaRPr lang="en-US" sz="1900" dirty="0"/>
          </a:p>
        </p:txBody>
      </p:sp>
      <p:sp>
        <p:nvSpPr>
          <p:cNvPr id="7" name="Text 4"/>
          <p:cNvSpPr txBox="1"/>
          <p:nvPr/>
        </p:nvSpPr>
        <p:spPr>
          <a:xfrm>
            <a:off x="1828800" y="2039112"/>
            <a:ext cx="3931920" cy="822960"/>
          </a:xfrm>
          <a:prstGeom prst="rect">
            <a:avLst/>
          </a:prstGeom>
          <a:noFill/>
          <a:ln/>
        </p:spPr>
        <p:txBody>
          <a:bodyPr wrap="square" lIns="0" tIns="0" rIns="0" bIns="0" rtlCol="0" anchor="t"/>
          <a:lstStyle/>
          <a:p>
            <a:pPr indent="0" marL="0">
              <a:buNone/>
            </a:pPr>
            <a:r>
              <a:rPr lang="en-US" sz="1400" dirty="0">
                <a:solidFill>
                  <a:schemeClr val="tx1"/>
                </a:solidFill>
              </a:rPr>
              <a:t>Una capa global (quién administra) y otra por proyecto (qué hace en cada uno).</a:t>
            </a:r>
            <a:endParaRPr lang="en-US" sz="1400" dirty="0"/>
          </a:p>
        </p:txBody>
      </p:sp>
      <p:sp>
        <p:nvSpPr>
          <p:cNvPr id="8" name="etiqueta En ECM: Nivel + área por grupo"/>
          <p:cNvSpPr/>
          <p:nvPr/>
        </p:nvSpPr>
        <p:spPr>
          <a:xfrm>
            <a:off x="1828800" y="2926080"/>
            <a:ext cx="3931920" cy="365760"/>
          </a:xfrm>
          <a:prstGeom prst="roundRect">
            <a:avLst>
              <a:gd name="adj" fmla="val 17500"/>
            </a:avLst>
          </a:prstGeom>
          <a:solidFill>
            <a:srgbClr val="FFFFFF"/>
          </a:solidFill>
          <a:ln w="12700">
            <a:solidFill>
              <a:srgbClr val="FFFFFF"/>
            </a:solidFill>
            <a:prstDash val="solid"/>
          </a:ln>
        </p:spPr>
      </p:sp>
      <p:sp>
        <p:nvSpPr>
          <p:cNvPr id="9" name="Text 6"/>
          <p:cNvSpPr txBox="1"/>
          <p:nvPr/>
        </p:nvSpPr>
        <p:spPr>
          <a:xfrm>
            <a:off x="1828800" y="2926080"/>
            <a:ext cx="3931920" cy="365760"/>
          </a:xfrm>
          <a:prstGeom prst="rect">
            <a:avLst/>
          </a:prstGeom>
          <a:noFill/>
          <a:ln/>
        </p:spPr>
        <p:txBody>
          <a:bodyPr wrap="square" lIns="0" tIns="0" rIns="0" bIns="0" rtlCol="0" anchor="ctr"/>
          <a:lstStyle/>
          <a:p>
            <a:pPr algn="ctr" indent="0" marL="0">
              <a:buNone/>
            </a:pPr>
            <a:r>
              <a:rPr lang="en-US" sz="1200" b="1" dirty="0">
                <a:solidFill>
                  <a:schemeClr val="tx2"/>
                </a:solidFill>
              </a:rPr>
              <a:t>En ECM: Nivel + área por grupo</a:t>
            </a:r>
            <a:endParaRPr lang="en-US" sz="1200" dirty="0"/>
          </a:p>
        </p:txBody>
      </p:sp>
      <p:sp>
        <p:nvSpPr>
          <p:cNvPr id="10" name="Plantillas, no personas"/>
          <p:cNvSpPr/>
          <p:nvPr/>
        </p:nvSpPr>
        <p:spPr>
          <a:xfrm>
            <a:off x="6172200" y="1325880"/>
            <a:ext cx="544068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Plantillas, no personas círculo"/>
          <p:cNvSpPr/>
          <p:nvPr/>
        </p:nvSpPr>
        <p:spPr>
          <a:xfrm>
            <a:off x="6446520" y="1600200"/>
            <a:ext cx="777240" cy="777240"/>
          </a:xfrm>
          <a:prstGeom prst="ellipse">
            <a:avLst/>
          </a:prstGeom>
          <a:solidFill>
            <a:schemeClr val="accent2"/>
          </a:solidFill>
          <a:ln w="12700">
            <a:solidFill>
              <a:schemeClr val="accent2"/>
            </a:solidFill>
            <a:prstDash val="solid"/>
          </a:ln>
        </p:spPr>
      </p:sp>
      <p:pic>
        <p:nvPicPr>
          <p:cNvPr id="12" name="Plantillas, no personas ícono" descr="Plantillas, no personas">    </p:cNvPr>
          <p:cNvPicPr>
            <a:picLocks noChangeAspect="1"/>
          </p:cNvPicPr>
          <p:nvPr/>
        </p:nvPicPr>
        <p:blipFill>
          <a:blip r:embed="rId2"/>
          <a:stretch>
            <a:fillRect/>
          </a:stretch>
        </p:blipFill>
        <p:spPr>
          <a:xfrm>
            <a:off x="6633058" y="1786738"/>
            <a:ext cx="404165" cy="404165"/>
          </a:xfrm>
          <a:prstGeom prst="rect">
            <a:avLst/>
          </a:prstGeom>
        </p:spPr>
      </p:pic>
      <p:sp>
        <p:nvSpPr>
          <p:cNvPr id="13" name="Text 9"/>
          <p:cNvSpPr txBox="1"/>
          <p:nvPr/>
        </p:nvSpPr>
        <p:spPr>
          <a:xfrm>
            <a:off x="7452360" y="1581912"/>
            <a:ext cx="3931920" cy="411480"/>
          </a:xfrm>
          <a:prstGeom prst="rect">
            <a:avLst/>
          </a:prstGeom>
          <a:noFill/>
          <a:ln/>
        </p:spPr>
        <p:txBody>
          <a:bodyPr wrap="square" lIns="0" tIns="0" rIns="0" bIns="0" rtlCol="0" anchor="t"/>
          <a:lstStyle/>
          <a:p>
            <a:pPr indent="0" marL="0">
              <a:buNone/>
            </a:pPr>
            <a:r>
              <a:rPr lang="en-US" sz="1900" b="1" dirty="0">
                <a:solidFill>
                  <a:schemeClr val="tx2"/>
                </a:solidFill>
              </a:rPr>
              <a:t>Plantillas, no personas</a:t>
            </a:r>
            <a:endParaRPr lang="en-US" sz="1900" dirty="0"/>
          </a:p>
        </p:txBody>
      </p:sp>
      <p:sp>
        <p:nvSpPr>
          <p:cNvPr id="14" name="Text 10"/>
          <p:cNvSpPr txBox="1"/>
          <p:nvPr/>
        </p:nvSpPr>
        <p:spPr>
          <a:xfrm>
            <a:off x="7452360" y="2039112"/>
            <a:ext cx="3931920" cy="822960"/>
          </a:xfrm>
          <a:prstGeom prst="rect">
            <a:avLst/>
          </a:prstGeom>
          <a:noFill/>
          <a:ln/>
        </p:spPr>
        <p:txBody>
          <a:bodyPr wrap="square" lIns="0" tIns="0" rIns="0" bIns="0" rtlCol="0" anchor="t"/>
          <a:lstStyle/>
          <a:p>
            <a:pPr indent="0" marL="0">
              <a:buNone/>
            </a:pPr>
            <a:r>
              <a:rPr lang="en-US" sz="1400" dirty="0">
                <a:solidFill>
                  <a:schemeClr val="tx1"/>
                </a:solidFill>
              </a:rPr>
              <a:t>Los permisos se definen una vez en plantillas y se asignan; no se configuran persona por persona.</a:t>
            </a:r>
            <a:endParaRPr lang="en-US" sz="1400" dirty="0"/>
          </a:p>
        </p:txBody>
      </p:sp>
      <p:sp>
        <p:nvSpPr>
          <p:cNvPr id="15" name="etiqueta En ECM: 11 áreas = 11 plantillas"/>
          <p:cNvSpPr/>
          <p:nvPr/>
        </p:nvSpPr>
        <p:spPr>
          <a:xfrm>
            <a:off x="7452360" y="2926080"/>
            <a:ext cx="3931920" cy="365760"/>
          </a:xfrm>
          <a:prstGeom prst="roundRect">
            <a:avLst>
              <a:gd name="adj" fmla="val 17500"/>
            </a:avLst>
          </a:prstGeom>
          <a:solidFill>
            <a:srgbClr val="FFFFFF"/>
          </a:solidFill>
          <a:ln w="12700">
            <a:solidFill>
              <a:srgbClr val="FFFFFF"/>
            </a:solidFill>
            <a:prstDash val="solid"/>
          </a:ln>
        </p:spPr>
      </p:sp>
      <p:sp>
        <p:nvSpPr>
          <p:cNvPr id="16" name="Text 12"/>
          <p:cNvSpPr txBox="1"/>
          <p:nvPr/>
        </p:nvSpPr>
        <p:spPr>
          <a:xfrm>
            <a:off x="7452360" y="2926080"/>
            <a:ext cx="3931920" cy="365760"/>
          </a:xfrm>
          <a:prstGeom prst="rect">
            <a:avLst/>
          </a:prstGeom>
          <a:noFill/>
          <a:ln/>
        </p:spPr>
        <p:txBody>
          <a:bodyPr wrap="square" lIns="0" tIns="0" rIns="0" bIns="0" rtlCol="0" anchor="ctr"/>
          <a:lstStyle/>
          <a:p>
            <a:pPr algn="ctr" indent="0" marL="0">
              <a:buNone/>
            </a:pPr>
            <a:r>
              <a:rPr lang="en-US" sz="1200" b="1" dirty="0">
                <a:solidFill>
                  <a:schemeClr val="tx2"/>
                </a:solidFill>
              </a:rPr>
              <a:t>En ECM: 11 áreas = 11 plantillas</a:t>
            </a:r>
            <a:endParaRPr lang="en-US" sz="1200" dirty="0"/>
          </a:p>
        </p:txBody>
      </p:sp>
      <p:sp>
        <p:nvSpPr>
          <p:cNvPr id="17" name="Niveles escalonados"/>
          <p:cNvSpPr/>
          <p:nvPr/>
        </p:nvSpPr>
        <p:spPr>
          <a:xfrm>
            <a:off x="548640" y="3657600"/>
            <a:ext cx="544068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Niveles escalonados círculo"/>
          <p:cNvSpPr/>
          <p:nvPr/>
        </p:nvSpPr>
        <p:spPr>
          <a:xfrm>
            <a:off x="822960" y="3931920"/>
            <a:ext cx="777240" cy="777240"/>
          </a:xfrm>
          <a:prstGeom prst="ellipse">
            <a:avLst/>
          </a:prstGeom>
          <a:solidFill>
            <a:schemeClr val="accent3"/>
          </a:solidFill>
          <a:ln w="12700">
            <a:solidFill>
              <a:schemeClr val="accent3"/>
            </a:solidFill>
            <a:prstDash val="solid"/>
          </a:ln>
        </p:spPr>
      </p:sp>
      <p:pic>
        <p:nvPicPr>
          <p:cNvPr id="19" name="Niveles escalonados ícono" descr="Niveles escalonados">    </p:cNvPr>
          <p:cNvPicPr>
            <a:picLocks noChangeAspect="1"/>
          </p:cNvPicPr>
          <p:nvPr/>
        </p:nvPicPr>
        <p:blipFill>
          <a:blip r:embed="rId3"/>
          <a:stretch>
            <a:fillRect/>
          </a:stretch>
        </p:blipFill>
        <p:spPr>
          <a:xfrm>
            <a:off x="1009498" y="4118458"/>
            <a:ext cx="404165" cy="404165"/>
          </a:xfrm>
          <a:prstGeom prst="rect">
            <a:avLst/>
          </a:prstGeom>
        </p:spPr>
      </p:pic>
      <p:sp>
        <p:nvSpPr>
          <p:cNvPr id="20" name="Text 15"/>
          <p:cNvSpPr txBox="1"/>
          <p:nvPr/>
        </p:nvSpPr>
        <p:spPr>
          <a:xfrm>
            <a:off x="1828800" y="3913632"/>
            <a:ext cx="3931920" cy="411480"/>
          </a:xfrm>
          <a:prstGeom prst="rect">
            <a:avLst/>
          </a:prstGeom>
          <a:noFill/>
          <a:ln/>
        </p:spPr>
        <p:txBody>
          <a:bodyPr wrap="square" lIns="0" tIns="0" rIns="0" bIns="0" rtlCol="0" anchor="t"/>
          <a:lstStyle/>
          <a:p>
            <a:pPr indent="0" marL="0">
              <a:buNone/>
            </a:pPr>
            <a:r>
              <a:rPr lang="en-US" sz="1900" b="1" dirty="0">
                <a:solidFill>
                  <a:schemeClr val="tx2"/>
                </a:solidFill>
              </a:rPr>
              <a:t>Niveles escalonados</a:t>
            </a:r>
            <a:endParaRPr lang="en-US" sz="1900" dirty="0"/>
          </a:p>
        </p:txBody>
      </p:sp>
      <p:sp>
        <p:nvSpPr>
          <p:cNvPr id="21" name="Text 16"/>
          <p:cNvSpPr txBox="1"/>
          <p:nvPr/>
        </p:nvSpPr>
        <p:spPr>
          <a:xfrm>
            <a:off x="1828800" y="4370832"/>
            <a:ext cx="3931920" cy="822960"/>
          </a:xfrm>
          <a:prstGeom prst="rect">
            <a:avLst/>
          </a:prstGeom>
          <a:noFill/>
          <a:ln/>
        </p:spPr>
        <p:txBody>
          <a:bodyPr wrap="square" lIns="0" tIns="0" rIns="0" bIns="0" rtlCol="0" anchor="t"/>
          <a:lstStyle/>
          <a:p>
            <a:pPr indent="0" marL="0">
              <a:buNone/>
            </a:pPr>
            <a:r>
              <a:rPr lang="en-US" sz="1400" dirty="0">
                <a:solidFill>
                  <a:schemeClr val="tx1"/>
                </a:solidFill>
              </a:rPr>
              <a:t>Cada módulo tiene pocos niveles: Ninguno, Lectura, Estándar, Administrador (Procore).</a:t>
            </a:r>
            <a:endParaRPr lang="en-US" sz="1400" dirty="0"/>
          </a:p>
        </p:txBody>
      </p:sp>
      <p:sp>
        <p:nvSpPr>
          <p:cNvPr id="22" name="etiqueta En ECM: Sin acceso · Solo ver · Solo avance · Editar"/>
          <p:cNvSpPr/>
          <p:nvPr/>
        </p:nvSpPr>
        <p:spPr>
          <a:xfrm>
            <a:off x="1828800" y="5257800"/>
            <a:ext cx="3931920" cy="365760"/>
          </a:xfrm>
          <a:prstGeom prst="roundRect">
            <a:avLst>
              <a:gd name="adj" fmla="val 17500"/>
            </a:avLst>
          </a:prstGeom>
          <a:solidFill>
            <a:srgbClr val="FFFFFF"/>
          </a:solidFill>
          <a:ln w="12700">
            <a:solidFill>
              <a:srgbClr val="FFFFFF"/>
            </a:solidFill>
            <a:prstDash val="solid"/>
          </a:ln>
        </p:spPr>
      </p:sp>
      <p:sp>
        <p:nvSpPr>
          <p:cNvPr id="23" name="Text 18"/>
          <p:cNvSpPr txBox="1"/>
          <p:nvPr/>
        </p:nvSpPr>
        <p:spPr>
          <a:xfrm>
            <a:off x="1828800" y="5257800"/>
            <a:ext cx="3931920" cy="365760"/>
          </a:xfrm>
          <a:prstGeom prst="rect">
            <a:avLst/>
          </a:prstGeom>
          <a:noFill/>
          <a:ln/>
        </p:spPr>
        <p:txBody>
          <a:bodyPr wrap="square" lIns="0" tIns="0" rIns="0" bIns="0" rtlCol="0" anchor="ctr"/>
          <a:lstStyle/>
          <a:p>
            <a:pPr algn="ctr" indent="0" marL="0">
              <a:buNone/>
            </a:pPr>
            <a:r>
              <a:rPr lang="en-US" sz="1200" b="1" dirty="0">
                <a:solidFill>
                  <a:schemeClr val="tx2"/>
                </a:solidFill>
              </a:rPr>
              <a:t>En ECM: Sin acceso · Solo ver · Solo avance · Editar</a:t>
            </a:r>
            <a:endParaRPr lang="en-US" sz="1200" dirty="0"/>
          </a:p>
        </p:txBody>
      </p:sp>
      <p:sp>
        <p:nvSpPr>
          <p:cNvPr id="24" name="Externos por empresa"/>
          <p:cNvSpPr/>
          <p:nvPr/>
        </p:nvSpPr>
        <p:spPr>
          <a:xfrm>
            <a:off x="6172200" y="3657600"/>
            <a:ext cx="544068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Externos por empresa círculo"/>
          <p:cNvSpPr/>
          <p:nvPr/>
        </p:nvSpPr>
        <p:spPr>
          <a:xfrm>
            <a:off x="6446520" y="3931920"/>
            <a:ext cx="777240" cy="777240"/>
          </a:xfrm>
          <a:prstGeom prst="ellipse">
            <a:avLst/>
          </a:prstGeom>
          <a:solidFill>
            <a:schemeClr val="accent4"/>
          </a:solidFill>
          <a:ln w="12700">
            <a:solidFill>
              <a:schemeClr val="accent4"/>
            </a:solidFill>
            <a:prstDash val="solid"/>
          </a:ln>
        </p:spPr>
      </p:sp>
      <p:pic>
        <p:nvPicPr>
          <p:cNvPr id="26" name="Externos por empresa ícono" descr="Externos por empresa">    </p:cNvPr>
          <p:cNvPicPr>
            <a:picLocks noChangeAspect="1"/>
          </p:cNvPicPr>
          <p:nvPr/>
        </p:nvPicPr>
        <p:blipFill>
          <a:blip r:embed="rId4"/>
          <a:stretch>
            <a:fillRect/>
          </a:stretch>
        </p:blipFill>
        <p:spPr>
          <a:xfrm>
            <a:off x="6633058" y="4118458"/>
            <a:ext cx="404165" cy="404165"/>
          </a:xfrm>
          <a:prstGeom prst="rect">
            <a:avLst/>
          </a:prstGeom>
        </p:spPr>
      </p:pic>
      <p:sp>
        <p:nvSpPr>
          <p:cNvPr id="27" name="Text 21"/>
          <p:cNvSpPr txBox="1"/>
          <p:nvPr/>
        </p:nvSpPr>
        <p:spPr>
          <a:xfrm>
            <a:off x="7452360" y="3913632"/>
            <a:ext cx="3931920" cy="411480"/>
          </a:xfrm>
          <a:prstGeom prst="rect">
            <a:avLst/>
          </a:prstGeom>
          <a:noFill/>
          <a:ln/>
        </p:spPr>
        <p:txBody>
          <a:bodyPr wrap="square" lIns="0" tIns="0" rIns="0" bIns="0" rtlCol="0" anchor="t"/>
          <a:lstStyle/>
          <a:p>
            <a:pPr indent="0" marL="0">
              <a:buNone/>
            </a:pPr>
            <a:r>
              <a:rPr lang="en-US" sz="1900" b="1" dirty="0">
                <a:solidFill>
                  <a:schemeClr val="tx2"/>
                </a:solidFill>
              </a:rPr>
              <a:t>Externos por empresa</a:t>
            </a:r>
            <a:endParaRPr lang="en-US" sz="1900" dirty="0"/>
          </a:p>
        </p:txBody>
      </p:sp>
      <p:sp>
        <p:nvSpPr>
          <p:cNvPr id="28" name="Text 22"/>
          <p:cNvSpPr txBox="1"/>
          <p:nvPr/>
        </p:nvSpPr>
        <p:spPr>
          <a:xfrm>
            <a:off x="7452360" y="4370832"/>
            <a:ext cx="3931920" cy="822960"/>
          </a:xfrm>
          <a:prstGeom prst="rect">
            <a:avLst/>
          </a:prstGeom>
          <a:noFill/>
          <a:ln/>
        </p:spPr>
        <p:txBody>
          <a:bodyPr wrap="square" lIns="0" tIns="0" rIns="0" bIns="0" rtlCol="0" anchor="t"/>
          <a:lstStyle/>
          <a:p>
            <a:pPr indent="0" marL="0">
              <a:buNone/>
            </a:pPr>
            <a:r>
              <a:rPr lang="en-US" sz="1400" dirty="0">
                <a:solidFill>
                  <a:schemeClr val="tx1"/>
                </a:solidFill>
              </a:rPr>
              <a:t>Cliente, supervisión y subcontratas se agrupan por su empresa y ven solo lo suyo.</a:t>
            </a:r>
            <a:endParaRPr lang="en-US" sz="1400" dirty="0"/>
          </a:p>
        </p:txBody>
      </p:sp>
      <p:sp>
        <p:nvSpPr>
          <p:cNvPr id="29" name="etiqueta En ECM: Invitado externo con empresa"/>
          <p:cNvSpPr/>
          <p:nvPr/>
        </p:nvSpPr>
        <p:spPr>
          <a:xfrm>
            <a:off x="7452360" y="5257800"/>
            <a:ext cx="3931920" cy="365760"/>
          </a:xfrm>
          <a:prstGeom prst="roundRect">
            <a:avLst>
              <a:gd name="adj" fmla="val 17500"/>
            </a:avLst>
          </a:prstGeom>
          <a:solidFill>
            <a:srgbClr val="FFFFFF"/>
          </a:solidFill>
          <a:ln w="12700">
            <a:solidFill>
              <a:srgbClr val="FFFFFF"/>
            </a:solidFill>
            <a:prstDash val="solid"/>
          </a:ln>
        </p:spPr>
      </p:sp>
      <p:sp>
        <p:nvSpPr>
          <p:cNvPr id="30" name="Text 24"/>
          <p:cNvSpPr txBox="1"/>
          <p:nvPr/>
        </p:nvSpPr>
        <p:spPr>
          <a:xfrm>
            <a:off x="7452360" y="5257800"/>
            <a:ext cx="3931920" cy="365760"/>
          </a:xfrm>
          <a:prstGeom prst="rect">
            <a:avLst/>
          </a:prstGeom>
          <a:noFill/>
          <a:ln/>
        </p:spPr>
        <p:txBody>
          <a:bodyPr wrap="square" lIns="0" tIns="0" rIns="0" bIns="0" rtlCol="0" anchor="ctr"/>
          <a:lstStyle/>
          <a:p>
            <a:pPr algn="ctr" indent="0" marL="0">
              <a:buNone/>
            </a:pPr>
            <a:r>
              <a:rPr lang="en-US" sz="1200" b="1" dirty="0">
                <a:solidFill>
                  <a:schemeClr val="tx2"/>
                </a:solidFill>
              </a:rPr>
              <a:t>En ECM: Invitado externo con empresa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Lo que LPS-GT ya probó y pasamos a ECM</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6949440"/>
                <a:gridCol w="4114800"/>
              </a:tblGrid>
              <a:tr h="384048">
                <a:tc>
                  <a:txBody>
                    <a:bodyPr/>
                    <a:lstStyle/>
                    <a:p>
                      <a:pPr indent="0" marL="0">
                        <a:buNone/>
                      </a:pPr>
                      <a:r>
                        <a:rPr lang="en-US" sz="1300" b="1" dirty="0">
                          <a:solidFill>
                            <a:schemeClr val="bg1"/>
                          </a:solidFill>
                        </a:rPr>
                        <a:t>Funciona en LPS-GT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En ECM Project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548640">
                <a:tc>
                  <a:txBody>
                    <a:bodyPr/>
                    <a:lstStyle/>
                    <a:p>
                      <a:pPr indent="0" marL="0">
                        <a:buNone/>
                      </a:pPr>
                      <a:r>
                        <a:rPr lang="en-US" sz="1200" dirty="0">
                          <a:solidFill>
                            <a:schemeClr val="tx1"/>
                          </a:solidFill>
                        </a:rPr>
                        <a:t>El primer usuario registrado es el Super administrador principal; nadie puede quitarle el rol ni eliminarlo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Igual en ECM: tú quedas protegido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Administrador delegado con historial de rotación</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Un relevo que tú designas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Alta por el administrador con clave temporal generada y cambio obligatorio al ingresar</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Igual; botón 🔑 para restablecer</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Invitación por enlace: quien se registra queda "Pendiente" hasta que le asignen rol</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Igual, con aviso a los administradores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Matriz rol × acción editable ("nada fijo, todo editable")</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Plantilla área × módulo editable por grupo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Permisos aplicados en la base de datos (RLS), no solo en pantalla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Obligatorio: hoy ECM está abierta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Eliminar solo si no tiene historial; si tiene, se desactiva y su nombre se conserva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Igual: el historial y los reportes no cambian</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Cargo, código corto y organigrama del equipo</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Igual en Usuarios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Decisiones validadas (27/10/2026)</a:t>
            </a:r>
            <a:endParaRPr lang="en-US" sz="3600" dirty="0"/>
          </a:p>
        </p:txBody>
      </p:sp>
      <p:sp>
        <p:nvSpPr>
          <p:cNvPr id="3" name="Grupo = proyecto"/>
          <p:cNvSpPr/>
          <p:nvPr/>
        </p:nvSpPr>
        <p:spPr>
          <a:xfrm>
            <a:off x="548640" y="123444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Grupo = proyecto círculo"/>
          <p:cNvSpPr/>
          <p:nvPr/>
        </p:nvSpPr>
        <p:spPr>
          <a:xfrm>
            <a:off x="731520" y="1435608"/>
            <a:ext cx="502920" cy="502920"/>
          </a:xfrm>
          <a:prstGeom prst="ellipse">
            <a:avLst/>
          </a:prstGeom>
          <a:solidFill>
            <a:schemeClr val="accent2"/>
          </a:solidFill>
          <a:ln w="12700">
            <a:solidFill>
              <a:schemeClr val="accent2"/>
            </a:solidFill>
            <a:prstDash val="solid"/>
          </a:ln>
        </p:spPr>
      </p:sp>
      <p:pic>
        <p:nvPicPr>
          <p:cNvPr id="5" name="Grupo = proyecto ícono" descr="Grupo = proyecto">    </p:cNvPr>
          <p:cNvPicPr>
            <a:picLocks noChangeAspect="1"/>
          </p:cNvPicPr>
          <p:nvPr/>
        </p:nvPicPr>
        <p:blipFill>
          <a:blip r:embed="rId1"/>
          <a:stretch>
            <a:fillRect/>
          </a:stretch>
        </p:blipFill>
        <p:spPr>
          <a:xfrm>
            <a:off x="852221" y="1556309"/>
            <a:ext cx="261518" cy="261518"/>
          </a:xfrm>
          <a:prstGeom prst="rect">
            <a:avLst/>
          </a:prstGeom>
        </p:spPr>
      </p:pic>
      <p:sp>
        <p:nvSpPr>
          <p:cNvPr id="6" name="Text 3"/>
          <p:cNvSpPr txBox="1"/>
          <p:nvPr/>
        </p:nvSpPr>
        <p:spPr>
          <a:xfrm>
            <a:off x="1417320" y="1307592"/>
            <a:ext cx="4434840" cy="329184"/>
          </a:xfrm>
          <a:prstGeom prst="rect">
            <a:avLst/>
          </a:prstGeom>
          <a:noFill/>
          <a:ln/>
        </p:spPr>
        <p:txBody>
          <a:bodyPr wrap="square" lIns="0" tIns="0" rIns="0" bIns="0" rtlCol="0" anchor="t"/>
          <a:lstStyle/>
          <a:p>
            <a:pPr indent="0" marL="0">
              <a:buNone/>
            </a:pPr>
            <a:r>
              <a:rPr lang="en-US" sz="1500" b="1" dirty="0">
                <a:solidFill>
                  <a:schemeClr val="tx2"/>
                </a:solidFill>
              </a:rPr>
              <a:t>Grupo = proyecto</a:t>
            </a:r>
            <a:endParaRPr lang="en-US" sz="1500" dirty="0"/>
          </a:p>
        </p:txBody>
      </p:sp>
      <p:sp>
        <p:nvSpPr>
          <p:cNvPr id="7" name="Text 4"/>
          <p:cNvSpPr txBox="1"/>
          <p:nvPr/>
        </p:nvSpPr>
        <p:spPr>
          <a:xfrm>
            <a:off x="1417320" y="1636776"/>
            <a:ext cx="4434840" cy="438912"/>
          </a:xfrm>
          <a:prstGeom prst="rect">
            <a:avLst/>
          </a:prstGeom>
          <a:noFill/>
          <a:ln/>
        </p:spPr>
        <p:txBody>
          <a:bodyPr wrap="square" lIns="0" tIns="0" rIns="0" bIns="0" rtlCol="0" anchor="t"/>
          <a:lstStyle/>
          <a:p>
            <a:pPr indent="0" marL="0">
              <a:buNone/>
            </a:pPr>
            <a:r>
              <a:rPr lang="en-US" sz="1200" dirty="0">
                <a:solidFill>
                  <a:schemeClr val="tx1"/>
                </a:solidFill>
              </a:rPr>
              <a:t>"Grupo" es el nombre genérico; en tu rubro, cada grupo es un proyecto.</a:t>
            </a:r>
            <a:endParaRPr lang="en-US" sz="1200" dirty="0"/>
          </a:p>
        </p:txBody>
      </p:sp>
      <p:sp>
        <p:nvSpPr>
          <p:cNvPr id="8" name="Relevo (delegado)"/>
          <p:cNvSpPr/>
          <p:nvPr/>
        </p:nvSpPr>
        <p:spPr>
          <a:xfrm>
            <a:off x="6172200" y="123444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Relevo (delegado) círculo"/>
          <p:cNvSpPr/>
          <p:nvPr/>
        </p:nvSpPr>
        <p:spPr>
          <a:xfrm>
            <a:off x="6355080" y="1435608"/>
            <a:ext cx="502920" cy="502920"/>
          </a:xfrm>
          <a:prstGeom prst="ellipse">
            <a:avLst/>
          </a:prstGeom>
          <a:solidFill>
            <a:schemeClr val="accent2"/>
          </a:solidFill>
          <a:ln w="12700">
            <a:solidFill>
              <a:schemeClr val="accent2"/>
            </a:solidFill>
            <a:prstDash val="solid"/>
          </a:ln>
        </p:spPr>
      </p:sp>
      <p:pic>
        <p:nvPicPr>
          <p:cNvPr id="10" name="Relevo (delegado) ícono" descr="Relevo (delegado)">    </p:cNvPr>
          <p:cNvPicPr>
            <a:picLocks noChangeAspect="1"/>
          </p:cNvPicPr>
          <p:nvPr/>
        </p:nvPicPr>
        <p:blipFill>
          <a:blip r:embed="rId2"/>
          <a:stretch>
            <a:fillRect/>
          </a:stretch>
        </p:blipFill>
        <p:spPr>
          <a:xfrm>
            <a:off x="6475781" y="1556309"/>
            <a:ext cx="261518" cy="261518"/>
          </a:xfrm>
          <a:prstGeom prst="rect">
            <a:avLst/>
          </a:prstGeom>
        </p:spPr>
      </p:pic>
      <p:sp>
        <p:nvSpPr>
          <p:cNvPr id="11" name="Text 7"/>
          <p:cNvSpPr txBox="1"/>
          <p:nvPr/>
        </p:nvSpPr>
        <p:spPr>
          <a:xfrm>
            <a:off x="7040880" y="1307592"/>
            <a:ext cx="4434840" cy="329184"/>
          </a:xfrm>
          <a:prstGeom prst="rect">
            <a:avLst/>
          </a:prstGeom>
          <a:noFill/>
          <a:ln/>
        </p:spPr>
        <p:txBody>
          <a:bodyPr wrap="square" lIns="0" tIns="0" rIns="0" bIns="0" rtlCol="0" anchor="t"/>
          <a:lstStyle/>
          <a:p>
            <a:pPr indent="0" marL="0">
              <a:buNone/>
            </a:pPr>
            <a:r>
              <a:rPr lang="en-US" sz="1500" b="1" dirty="0">
                <a:solidFill>
                  <a:schemeClr val="tx2"/>
                </a:solidFill>
              </a:rPr>
              <a:t>Relevo (delegado)</a:t>
            </a:r>
            <a:endParaRPr lang="en-US" sz="1500" dirty="0"/>
          </a:p>
        </p:txBody>
      </p:sp>
      <p:sp>
        <p:nvSpPr>
          <p:cNvPr id="12" name="Text 8"/>
          <p:cNvSpPr txBox="1"/>
          <p:nvPr/>
        </p:nvSpPr>
        <p:spPr>
          <a:xfrm>
            <a:off x="7040880" y="1636776"/>
            <a:ext cx="4434840" cy="438912"/>
          </a:xfrm>
          <a:prstGeom prst="rect">
            <a:avLst/>
          </a:prstGeom>
          <a:noFill/>
          <a:ln/>
        </p:spPr>
        <p:txBody>
          <a:bodyPr wrap="square" lIns="0" tIns="0" rIns="0" bIns="0" rtlCol="0" anchor="t"/>
          <a:lstStyle/>
          <a:p>
            <a:pPr indent="0" marL="0">
              <a:buNone/>
            </a:pPr>
            <a:r>
              <a:rPr lang="en-US" sz="1200" dirty="0">
                <a:solidFill>
                  <a:schemeClr val="tx1"/>
                </a:solidFill>
              </a:rPr>
              <a:t>Lo designa el Super administrador de cada empresa (en la tuya, tú).</a:t>
            </a:r>
            <a:endParaRPr lang="en-US" sz="1200" dirty="0"/>
          </a:p>
        </p:txBody>
      </p:sp>
      <p:sp>
        <p:nvSpPr>
          <p:cNvPr id="13" name="Varios grupos por persona"/>
          <p:cNvSpPr/>
          <p:nvPr/>
        </p:nvSpPr>
        <p:spPr>
          <a:xfrm>
            <a:off x="548640" y="224028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Varios grupos por persona círculo"/>
          <p:cNvSpPr/>
          <p:nvPr/>
        </p:nvSpPr>
        <p:spPr>
          <a:xfrm>
            <a:off x="731520" y="2441448"/>
            <a:ext cx="502920" cy="502920"/>
          </a:xfrm>
          <a:prstGeom prst="ellipse">
            <a:avLst/>
          </a:prstGeom>
          <a:solidFill>
            <a:schemeClr val="accent2"/>
          </a:solidFill>
          <a:ln w="12700">
            <a:solidFill>
              <a:schemeClr val="accent2"/>
            </a:solidFill>
            <a:prstDash val="solid"/>
          </a:ln>
        </p:spPr>
      </p:sp>
      <p:pic>
        <p:nvPicPr>
          <p:cNvPr id="15" name="Varios grupos por persona ícono" descr="Varios grupos por persona">    </p:cNvPr>
          <p:cNvPicPr>
            <a:picLocks noChangeAspect="1"/>
          </p:cNvPicPr>
          <p:nvPr/>
        </p:nvPicPr>
        <p:blipFill>
          <a:blip r:embed="rId3"/>
          <a:stretch>
            <a:fillRect/>
          </a:stretch>
        </p:blipFill>
        <p:spPr>
          <a:xfrm>
            <a:off x="852221" y="2562149"/>
            <a:ext cx="261518" cy="261518"/>
          </a:xfrm>
          <a:prstGeom prst="rect">
            <a:avLst/>
          </a:prstGeom>
        </p:spPr>
      </p:pic>
      <p:sp>
        <p:nvSpPr>
          <p:cNvPr id="16" name="Text 11"/>
          <p:cNvSpPr txBox="1"/>
          <p:nvPr/>
        </p:nvSpPr>
        <p:spPr>
          <a:xfrm>
            <a:off x="1417320" y="2313432"/>
            <a:ext cx="4434840" cy="329184"/>
          </a:xfrm>
          <a:prstGeom prst="rect">
            <a:avLst/>
          </a:prstGeom>
          <a:noFill/>
          <a:ln/>
        </p:spPr>
        <p:txBody>
          <a:bodyPr wrap="square" lIns="0" tIns="0" rIns="0" bIns="0" rtlCol="0" anchor="t"/>
          <a:lstStyle/>
          <a:p>
            <a:pPr indent="0" marL="0">
              <a:buNone/>
            </a:pPr>
            <a:r>
              <a:rPr lang="en-US" sz="1500" b="1" dirty="0">
                <a:solidFill>
                  <a:schemeClr val="tx2"/>
                </a:solidFill>
              </a:rPr>
              <a:t>Varios grupos por persona</a:t>
            </a:r>
            <a:endParaRPr lang="en-US" sz="1500" dirty="0"/>
          </a:p>
        </p:txBody>
      </p:sp>
      <p:sp>
        <p:nvSpPr>
          <p:cNvPr id="17" name="Text 12"/>
          <p:cNvSpPr txBox="1"/>
          <p:nvPr/>
        </p:nvSpPr>
        <p:spPr>
          <a:xfrm>
            <a:off x="1417320" y="2642616"/>
            <a:ext cx="4434840" cy="438912"/>
          </a:xfrm>
          <a:prstGeom prst="rect">
            <a:avLst/>
          </a:prstGeom>
          <a:noFill/>
          <a:ln/>
        </p:spPr>
        <p:txBody>
          <a:bodyPr wrap="square" lIns="0" tIns="0" rIns="0" bIns="0" rtlCol="0" anchor="t"/>
          <a:lstStyle/>
          <a:p>
            <a:pPr indent="0" marL="0">
              <a:buNone/>
            </a:pPr>
            <a:r>
              <a:rPr lang="en-US" sz="1200" dirty="0">
                <a:solidFill>
                  <a:schemeClr val="tx1"/>
                </a:solidFill>
              </a:rPr>
              <a:t>Sí: una persona puede estar en varios proyectos, con un área en cada uno.</a:t>
            </a:r>
            <a:endParaRPr lang="en-US" sz="1200" dirty="0"/>
          </a:p>
        </p:txBody>
      </p:sp>
      <p:sp>
        <p:nvSpPr>
          <p:cNvPr id="18" name="Invitados externos"/>
          <p:cNvSpPr/>
          <p:nvPr/>
        </p:nvSpPr>
        <p:spPr>
          <a:xfrm>
            <a:off x="6172200" y="224028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nvitados externos círculo"/>
          <p:cNvSpPr/>
          <p:nvPr/>
        </p:nvSpPr>
        <p:spPr>
          <a:xfrm>
            <a:off x="6355080" y="2441448"/>
            <a:ext cx="502920" cy="502920"/>
          </a:xfrm>
          <a:prstGeom prst="ellipse">
            <a:avLst/>
          </a:prstGeom>
          <a:solidFill>
            <a:schemeClr val="accent2"/>
          </a:solidFill>
          <a:ln w="12700">
            <a:solidFill>
              <a:schemeClr val="accent2"/>
            </a:solidFill>
            <a:prstDash val="solid"/>
          </a:ln>
        </p:spPr>
      </p:sp>
      <p:pic>
        <p:nvPicPr>
          <p:cNvPr id="20" name="Invitados externos ícono" descr="Invitados externos">    </p:cNvPr>
          <p:cNvPicPr>
            <a:picLocks noChangeAspect="1"/>
          </p:cNvPicPr>
          <p:nvPr/>
        </p:nvPicPr>
        <p:blipFill>
          <a:blip r:embed="rId4"/>
          <a:stretch>
            <a:fillRect/>
          </a:stretch>
        </p:blipFill>
        <p:spPr>
          <a:xfrm>
            <a:off x="6475781" y="2562149"/>
            <a:ext cx="261518" cy="261518"/>
          </a:xfrm>
          <a:prstGeom prst="rect">
            <a:avLst/>
          </a:prstGeom>
        </p:spPr>
      </p:pic>
      <p:sp>
        <p:nvSpPr>
          <p:cNvPr id="21" name="Text 15"/>
          <p:cNvSpPr txBox="1"/>
          <p:nvPr/>
        </p:nvSpPr>
        <p:spPr>
          <a:xfrm>
            <a:off x="7040880" y="2313432"/>
            <a:ext cx="4434840" cy="329184"/>
          </a:xfrm>
          <a:prstGeom prst="rect">
            <a:avLst/>
          </a:prstGeom>
          <a:noFill/>
          <a:ln/>
        </p:spPr>
        <p:txBody>
          <a:bodyPr wrap="square" lIns="0" tIns="0" rIns="0" bIns="0" rtlCol="0" anchor="t"/>
          <a:lstStyle/>
          <a:p>
            <a:pPr indent="0" marL="0">
              <a:buNone/>
            </a:pPr>
            <a:r>
              <a:rPr lang="en-US" sz="1500" b="1" dirty="0">
                <a:solidFill>
                  <a:schemeClr val="tx2"/>
                </a:solidFill>
              </a:rPr>
              <a:t>Invitados externos</a:t>
            </a:r>
            <a:endParaRPr lang="en-US" sz="1500" dirty="0"/>
          </a:p>
        </p:txBody>
      </p:sp>
      <p:sp>
        <p:nvSpPr>
          <p:cNvPr id="22" name="Text 16"/>
          <p:cNvSpPr txBox="1"/>
          <p:nvPr/>
        </p:nvSpPr>
        <p:spPr>
          <a:xfrm>
            <a:off x="7040880" y="2642616"/>
            <a:ext cx="4434840" cy="438912"/>
          </a:xfrm>
          <a:prstGeom prst="rect">
            <a:avLst/>
          </a:prstGeom>
          <a:noFill/>
          <a:ln/>
        </p:spPr>
        <p:txBody>
          <a:bodyPr wrap="square" lIns="0" tIns="0" rIns="0" bIns="0" rtlCol="0" anchor="t"/>
          <a:lstStyle/>
          <a:p>
            <a:pPr indent="0" marL="0">
              <a:buNone/>
            </a:pPr>
            <a:r>
              <a:rPr lang="en-US" sz="1200" dirty="0">
                <a:solidFill>
                  <a:schemeClr val="tx1"/>
                </a:solidFill>
              </a:rPr>
              <a:t>Sí: cliente o supervisión, solo en los proyectos a los que se les invite.</a:t>
            </a:r>
            <a:endParaRPr lang="en-US" sz="1200" dirty="0"/>
          </a:p>
        </p:txBody>
      </p:sp>
      <p:sp>
        <p:nvSpPr>
          <p:cNvPr id="23" name="Apps independientes"/>
          <p:cNvSpPr/>
          <p:nvPr/>
        </p:nvSpPr>
        <p:spPr>
          <a:xfrm>
            <a:off x="548640" y="324612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Apps independientes círculo"/>
          <p:cNvSpPr/>
          <p:nvPr/>
        </p:nvSpPr>
        <p:spPr>
          <a:xfrm>
            <a:off x="731520" y="3447288"/>
            <a:ext cx="502920" cy="502920"/>
          </a:xfrm>
          <a:prstGeom prst="ellipse">
            <a:avLst/>
          </a:prstGeom>
          <a:solidFill>
            <a:schemeClr val="accent2"/>
          </a:solidFill>
          <a:ln w="12700">
            <a:solidFill>
              <a:schemeClr val="accent2"/>
            </a:solidFill>
            <a:prstDash val="solid"/>
          </a:ln>
        </p:spPr>
      </p:sp>
      <p:pic>
        <p:nvPicPr>
          <p:cNvPr id="25" name="Apps independientes ícono" descr="Apps independientes">    </p:cNvPr>
          <p:cNvPicPr>
            <a:picLocks noChangeAspect="1"/>
          </p:cNvPicPr>
          <p:nvPr/>
        </p:nvPicPr>
        <p:blipFill>
          <a:blip r:embed="rId5"/>
          <a:stretch>
            <a:fillRect/>
          </a:stretch>
        </p:blipFill>
        <p:spPr>
          <a:xfrm>
            <a:off x="852221" y="3567989"/>
            <a:ext cx="261518" cy="261518"/>
          </a:xfrm>
          <a:prstGeom prst="rect">
            <a:avLst/>
          </a:prstGeom>
        </p:spPr>
      </p:pic>
      <p:sp>
        <p:nvSpPr>
          <p:cNvPr id="26" name="Text 19"/>
          <p:cNvSpPr txBox="1"/>
          <p:nvPr/>
        </p:nvSpPr>
        <p:spPr>
          <a:xfrm>
            <a:off x="1417320" y="3319272"/>
            <a:ext cx="4434840" cy="329184"/>
          </a:xfrm>
          <a:prstGeom prst="rect">
            <a:avLst/>
          </a:prstGeom>
          <a:noFill/>
          <a:ln/>
        </p:spPr>
        <p:txBody>
          <a:bodyPr wrap="square" lIns="0" tIns="0" rIns="0" bIns="0" rtlCol="0" anchor="t"/>
          <a:lstStyle/>
          <a:p>
            <a:pPr indent="0" marL="0">
              <a:buNone/>
            </a:pPr>
            <a:r>
              <a:rPr lang="en-US" sz="1500" b="1" dirty="0">
                <a:solidFill>
                  <a:schemeClr val="tx2"/>
                </a:solidFill>
              </a:rPr>
              <a:t>Apps independientes</a:t>
            </a:r>
            <a:endParaRPr lang="en-US" sz="1500" dirty="0"/>
          </a:p>
        </p:txBody>
      </p:sp>
      <p:sp>
        <p:nvSpPr>
          <p:cNvPr id="27" name="Text 20"/>
          <p:cNvSpPr txBox="1"/>
          <p:nvPr/>
        </p:nvSpPr>
        <p:spPr>
          <a:xfrm>
            <a:off x="1417320" y="3648456"/>
            <a:ext cx="4434840" cy="438912"/>
          </a:xfrm>
          <a:prstGeom prst="rect">
            <a:avLst/>
          </a:prstGeom>
          <a:noFill/>
          <a:ln/>
        </p:spPr>
        <p:txBody>
          <a:bodyPr wrap="square" lIns="0" tIns="0" rIns="0" bIns="0" rtlCol="0" anchor="t"/>
          <a:lstStyle/>
          <a:p>
            <a:pPr indent="0" marL="0">
              <a:buNone/>
            </a:pPr>
            <a:r>
              <a:rPr lang="en-US" sz="1200" dirty="0">
                <a:solidFill>
                  <a:schemeClr val="tx1"/>
                </a:solidFill>
              </a:rPr>
              <a:t>ECM Project y LPS-GT son totalmente independientes: cuentas y bases separadas.</a:t>
            </a:r>
            <a:endParaRPr lang="en-US" sz="1200" dirty="0"/>
          </a:p>
        </p:txBody>
      </p:sp>
      <p:sp>
        <p:nvSpPr>
          <p:cNvPr id="28" name="11 áreas y plantilla"/>
          <p:cNvSpPr/>
          <p:nvPr/>
        </p:nvSpPr>
        <p:spPr>
          <a:xfrm>
            <a:off x="6172200" y="3246120"/>
            <a:ext cx="5440680" cy="896112"/>
          </a:xfrm>
          <a:prstGeom prst="roundRect">
            <a:avLst>
              <a:gd name="adj" fmla="val 1224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11 áreas y plantilla círculo"/>
          <p:cNvSpPr/>
          <p:nvPr/>
        </p:nvSpPr>
        <p:spPr>
          <a:xfrm>
            <a:off x="6355080" y="3447288"/>
            <a:ext cx="502920" cy="502920"/>
          </a:xfrm>
          <a:prstGeom prst="ellipse">
            <a:avLst/>
          </a:prstGeom>
          <a:solidFill>
            <a:schemeClr val="accent2"/>
          </a:solidFill>
          <a:ln w="12700">
            <a:solidFill>
              <a:schemeClr val="accent2"/>
            </a:solidFill>
            <a:prstDash val="solid"/>
          </a:ln>
        </p:spPr>
      </p:sp>
      <p:pic>
        <p:nvPicPr>
          <p:cNvPr id="30" name="11 áreas y plantilla ícono" descr="11 áreas y plantilla">    </p:cNvPr>
          <p:cNvPicPr>
            <a:picLocks noChangeAspect="1"/>
          </p:cNvPicPr>
          <p:nvPr/>
        </p:nvPicPr>
        <p:blipFill>
          <a:blip r:embed="rId6"/>
          <a:stretch>
            <a:fillRect/>
          </a:stretch>
        </p:blipFill>
        <p:spPr>
          <a:xfrm>
            <a:off x="6475781" y="3567989"/>
            <a:ext cx="261518" cy="261518"/>
          </a:xfrm>
          <a:prstGeom prst="rect">
            <a:avLst/>
          </a:prstGeom>
        </p:spPr>
      </p:pic>
      <p:sp>
        <p:nvSpPr>
          <p:cNvPr id="31" name="Text 23"/>
          <p:cNvSpPr txBox="1"/>
          <p:nvPr/>
        </p:nvSpPr>
        <p:spPr>
          <a:xfrm>
            <a:off x="7040880" y="3319272"/>
            <a:ext cx="4434840" cy="329184"/>
          </a:xfrm>
          <a:prstGeom prst="rect">
            <a:avLst/>
          </a:prstGeom>
          <a:noFill/>
          <a:ln/>
        </p:spPr>
        <p:txBody>
          <a:bodyPr wrap="square" lIns="0" tIns="0" rIns="0" bIns="0" rtlCol="0" anchor="t"/>
          <a:lstStyle/>
          <a:p>
            <a:pPr indent="0" marL="0">
              <a:buNone/>
            </a:pPr>
            <a:r>
              <a:rPr lang="en-US" sz="1500" b="1" dirty="0">
                <a:solidFill>
                  <a:schemeClr val="tx2"/>
                </a:solidFill>
              </a:rPr>
              <a:t>11 áreas y plantilla</a:t>
            </a:r>
            <a:endParaRPr lang="en-US" sz="1500" dirty="0"/>
          </a:p>
        </p:txBody>
      </p:sp>
      <p:sp>
        <p:nvSpPr>
          <p:cNvPr id="32" name="Text 24"/>
          <p:cNvSpPr txBox="1"/>
          <p:nvPr/>
        </p:nvSpPr>
        <p:spPr>
          <a:xfrm>
            <a:off x="7040880" y="3648456"/>
            <a:ext cx="4434840" cy="438912"/>
          </a:xfrm>
          <a:prstGeom prst="rect">
            <a:avLst/>
          </a:prstGeom>
          <a:noFill/>
          <a:ln/>
        </p:spPr>
        <p:txBody>
          <a:bodyPr wrap="square" lIns="0" tIns="0" rIns="0" bIns="0" rtlCol="0" anchor="t"/>
          <a:lstStyle/>
          <a:p>
            <a:pPr indent="0" marL="0">
              <a:buNone/>
            </a:pPr>
            <a:r>
              <a:rPr lang="en-US" sz="1200" dirty="0">
                <a:solidFill>
                  <a:schemeClr val="tx1"/>
                </a:solidFill>
              </a:rPr>
              <a:t>Confirmadas; pasan a ser la plantilla inicial de cada empresa.</a:t>
            </a:r>
            <a:endParaRPr lang="en-US" sz="1200" dirty="0"/>
          </a:p>
        </p:txBody>
      </p:sp>
      <p:sp>
        <p:nvSpPr>
          <p:cNvPr id="33" name="Varias empresas (opción B)"/>
          <p:cNvSpPr/>
          <p:nvPr/>
        </p:nvSpPr>
        <p:spPr>
          <a:xfrm>
            <a:off x="548640" y="4251960"/>
            <a:ext cx="5440680" cy="896112"/>
          </a:xfrm>
          <a:prstGeom prst="roundRect">
            <a:avLst>
              <a:gd name="adj" fmla="val 12245"/>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34" name="Varias empresas (opción B) círculo"/>
          <p:cNvSpPr/>
          <p:nvPr/>
        </p:nvSpPr>
        <p:spPr>
          <a:xfrm>
            <a:off x="731520" y="4453128"/>
            <a:ext cx="502920" cy="502920"/>
          </a:xfrm>
          <a:prstGeom prst="ellipse">
            <a:avLst/>
          </a:prstGeom>
          <a:solidFill>
            <a:schemeClr val="accent2"/>
          </a:solidFill>
          <a:ln w="12700">
            <a:solidFill>
              <a:schemeClr val="accent2"/>
            </a:solidFill>
            <a:prstDash val="solid"/>
          </a:ln>
        </p:spPr>
      </p:sp>
      <p:pic>
        <p:nvPicPr>
          <p:cNvPr id="35" name="Varias empresas (opción B) ícono" descr="Varias empresas (opción B)">    </p:cNvPr>
          <p:cNvPicPr>
            <a:picLocks noChangeAspect="1"/>
          </p:cNvPicPr>
          <p:nvPr/>
        </p:nvPicPr>
        <p:blipFill>
          <a:blip r:embed="rId7"/>
          <a:stretch>
            <a:fillRect/>
          </a:stretch>
        </p:blipFill>
        <p:spPr>
          <a:xfrm>
            <a:off x="852221" y="4573829"/>
            <a:ext cx="261518" cy="261518"/>
          </a:xfrm>
          <a:prstGeom prst="rect">
            <a:avLst/>
          </a:prstGeom>
        </p:spPr>
      </p:pic>
      <p:sp>
        <p:nvSpPr>
          <p:cNvPr id="36" name="Text 27"/>
          <p:cNvSpPr txBox="1"/>
          <p:nvPr/>
        </p:nvSpPr>
        <p:spPr>
          <a:xfrm>
            <a:off x="1417320" y="4325112"/>
            <a:ext cx="4434840" cy="329184"/>
          </a:xfrm>
          <a:prstGeom prst="rect">
            <a:avLst/>
          </a:prstGeom>
          <a:noFill/>
          <a:ln/>
        </p:spPr>
        <p:txBody>
          <a:bodyPr wrap="square" lIns="0" tIns="0" rIns="0" bIns="0" rtlCol="0" anchor="t"/>
          <a:lstStyle/>
          <a:p>
            <a:pPr indent="0" marL="0">
              <a:buNone/>
            </a:pPr>
            <a:r>
              <a:rPr lang="en-US" sz="1500" b="1" dirty="0">
                <a:solidFill>
                  <a:schemeClr val="tx2"/>
                </a:solidFill>
              </a:rPr>
              <a:t>Varias empresas (opción B)</a:t>
            </a:r>
            <a:endParaRPr lang="en-US" sz="1500" dirty="0"/>
          </a:p>
        </p:txBody>
      </p:sp>
      <p:sp>
        <p:nvSpPr>
          <p:cNvPr id="37" name="Text 28"/>
          <p:cNvSpPr txBox="1"/>
          <p:nvPr/>
        </p:nvSpPr>
        <p:spPr>
          <a:xfrm>
            <a:off x="1417320" y="4654296"/>
            <a:ext cx="4434840" cy="438912"/>
          </a:xfrm>
          <a:prstGeom prst="rect">
            <a:avLst/>
          </a:prstGeom>
          <a:noFill/>
          <a:ln/>
        </p:spPr>
        <p:txBody>
          <a:bodyPr wrap="square" lIns="0" tIns="0" rIns="0" bIns="0" rtlCol="0" anchor="t"/>
          <a:lstStyle/>
          <a:p>
            <a:pPr indent="0" marL="0">
              <a:buNone/>
            </a:pPr>
            <a:r>
              <a:rPr lang="en-US" sz="1200" dirty="0">
                <a:solidFill>
                  <a:schemeClr val="tx1"/>
                </a:solidFill>
              </a:rPr>
              <a:t>Una plataforma con empresas totalmente independientes (Cosapi, Cumbra, JJC…).</a:t>
            </a:r>
            <a:endParaRPr lang="en-US" sz="1200" dirty="0"/>
          </a:p>
        </p:txBody>
      </p:sp>
      <p:sp>
        <p:nvSpPr>
          <p:cNvPr id="38" name="Pensado a futuro"/>
          <p:cNvSpPr/>
          <p:nvPr/>
        </p:nvSpPr>
        <p:spPr>
          <a:xfrm>
            <a:off x="6172200" y="4251960"/>
            <a:ext cx="5440680" cy="896112"/>
          </a:xfrm>
          <a:prstGeom prst="roundRect">
            <a:avLst>
              <a:gd name="adj" fmla="val 12245"/>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39" name="Pensado a futuro círculo"/>
          <p:cNvSpPr/>
          <p:nvPr/>
        </p:nvSpPr>
        <p:spPr>
          <a:xfrm>
            <a:off x="6355080" y="4453128"/>
            <a:ext cx="502920" cy="502920"/>
          </a:xfrm>
          <a:prstGeom prst="ellipse">
            <a:avLst/>
          </a:prstGeom>
          <a:solidFill>
            <a:schemeClr val="accent2"/>
          </a:solidFill>
          <a:ln w="12700">
            <a:solidFill>
              <a:schemeClr val="accent2"/>
            </a:solidFill>
            <a:prstDash val="solid"/>
          </a:ln>
        </p:spPr>
      </p:sp>
      <p:pic>
        <p:nvPicPr>
          <p:cNvPr id="40" name="Pensado a futuro ícono" descr="Pensado a futuro">    </p:cNvPr>
          <p:cNvPicPr>
            <a:picLocks noChangeAspect="1"/>
          </p:cNvPicPr>
          <p:nvPr/>
        </p:nvPicPr>
        <p:blipFill>
          <a:blip r:embed="rId8"/>
          <a:stretch>
            <a:fillRect/>
          </a:stretch>
        </p:blipFill>
        <p:spPr>
          <a:xfrm>
            <a:off x="6475781" y="4573829"/>
            <a:ext cx="261518" cy="261518"/>
          </a:xfrm>
          <a:prstGeom prst="rect">
            <a:avLst/>
          </a:prstGeom>
        </p:spPr>
      </p:pic>
      <p:sp>
        <p:nvSpPr>
          <p:cNvPr id="41" name="Text 31"/>
          <p:cNvSpPr txBox="1"/>
          <p:nvPr/>
        </p:nvSpPr>
        <p:spPr>
          <a:xfrm>
            <a:off x="7040880" y="4325112"/>
            <a:ext cx="4434840" cy="329184"/>
          </a:xfrm>
          <a:prstGeom prst="rect">
            <a:avLst/>
          </a:prstGeom>
          <a:noFill/>
          <a:ln/>
        </p:spPr>
        <p:txBody>
          <a:bodyPr wrap="square" lIns="0" tIns="0" rIns="0" bIns="0" rtlCol="0" anchor="t"/>
          <a:lstStyle/>
          <a:p>
            <a:pPr indent="0" marL="0">
              <a:buNone/>
            </a:pPr>
            <a:r>
              <a:rPr lang="en-US" sz="1500" b="1" dirty="0">
                <a:solidFill>
                  <a:schemeClr val="tx2"/>
                </a:solidFill>
              </a:rPr>
              <a:t>Pensado a futuro</a:t>
            </a:r>
            <a:endParaRPr lang="en-US" sz="1500" dirty="0"/>
          </a:p>
        </p:txBody>
      </p:sp>
      <p:sp>
        <p:nvSpPr>
          <p:cNvPr id="42" name="Text 32"/>
          <p:cNvSpPr txBox="1"/>
          <p:nvPr/>
        </p:nvSpPr>
        <p:spPr>
          <a:xfrm>
            <a:off x="7040880" y="4654296"/>
            <a:ext cx="4434840" cy="438912"/>
          </a:xfrm>
          <a:prstGeom prst="rect">
            <a:avLst/>
          </a:prstGeom>
          <a:noFill/>
          <a:ln/>
        </p:spPr>
        <p:txBody>
          <a:bodyPr wrap="square" lIns="0" tIns="0" rIns="0" bIns="0" rtlCol="0" anchor="t"/>
          <a:lstStyle/>
          <a:p>
            <a:pPr indent="0" marL="0">
              <a:buNone/>
            </a:pPr>
            <a:r>
              <a:rPr lang="en-US" sz="1200" dirty="0">
                <a:solidFill>
                  <a:schemeClr val="tx1"/>
                </a:solidFill>
              </a:rPr>
              <a:t>La capa empresa se construye desde el inicio; instalación dedicada opcional.</a:t>
            </a:r>
            <a:endParaRPr lang="en-US" sz="1200" dirty="0"/>
          </a:p>
        </p:txBody>
      </p:sp>
      <p:sp>
        <p:nvSpPr>
          <p:cNvPr id="43" name="Tres capas de permisos"/>
          <p:cNvSpPr/>
          <p:nvPr/>
        </p:nvSpPr>
        <p:spPr>
          <a:xfrm>
            <a:off x="548640" y="5257800"/>
            <a:ext cx="5440680" cy="896112"/>
          </a:xfrm>
          <a:prstGeom prst="roundRect">
            <a:avLst>
              <a:gd name="adj" fmla="val 12245"/>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44" name="Tres capas de permisos círculo"/>
          <p:cNvSpPr/>
          <p:nvPr/>
        </p:nvSpPr>
        <p:spPr>
          <a:xfrm>
            <a:off x="731520" y="5458968"/>
            <a:ext cx="502920" cy="502920"/>
          </a:xfrm>
          <a:prstGeom prst="ellipse">
            <a:avLst/>
          </a:prstGeom>
          <a:solidFill>
            <a:schemeClr val="accent2"/>
          </a:solidFill>
          <a:ln w="12700">
            <a:solidFill>
              <a:schemeClr val="accent2"/>
            </a:solidFill>
            <a:prstDash val="solid"/>
          </a:ln>
        </p:spPr>
      </p:sp>
      <p:pic>
        <p:nvPicPr>
          <p:cNvPr id="45" name="Tres capas de permisos ícono" descr="Tres capas de permisos">    </p:cNvPr>
          <p:cNvPicPr>
            <a:picLocks noChangeAspect="1"/>
          </p:cNvPicPr>
          <p:nvPr/>
        </p:nvPicPr>
        <p:blipFill>
          <a:blip r:embed="rId9"/>
          <a:stretch>
            <a:fillRect/>
          </a:stretch>
        </p:blipFill>
        <p:spPr>
          <a:xfrm>
            <a:off x="852221" y="5579669"/>
            <a:ext cx="261518" cy="261518"/>
          </a:xfrm>
          <a:prstGeom prst="rect">
            <a:avLst/>
          </a:prstGeom>
        </p:spPr>
      </p:pic>
      <p:sp>
        <p:nvSpPr>
          <p:cNvPr id="46" name="Text 35"/>
          <p:cNvSpPr txBox="1"/>
          <p:nvPr/>
        </p:nvSpPr>
        <p:spPr>
          <a:xfrm>
            <a:off x="1417320" y="5330952"/>
            <a:ext cx="4434840" cy="329184"/>
          </a:xfrm>
          <a:prstGeom prst="rect">
            <a:avLst/>
          </a:prstGeom>
          <a:noFill/>
          <a:ln/>
        </p:spPr>
        <p:txBody>
          <a:bodyPr wrap="square" lIns="0" tIns="0" rIns="0" bIns="0" rtlCol="0" anchor="t"/>
          <a:lstStyle/>
          <a:p>
            <a:pPr indent="0" marL="0">
              <a:buNone/>
            </a:pPr>
            <a:r>
              <a:rPr lang="en-US" sz="1500" b="1" dirty="0">
                <a:solidFill>
                  <a:schemeClr val="tx2"/>
                </a:solidFill>
              </a:rPr>
              <a:t>Tres capas de permisos</a:t>
            </a:r>
            <a:endParaRPr lang="en-US" sz="1500" dirty="0"/>
          </a:p>
        </p:txBody>
      </p:sp>
      <p:sp>
        <p:nvSpPr>
          <p:cNvPr id="47" name="Text 36"/>
          <p:cNvSpPr txBox="1"/>
          <p:nvPr/>
        </p:nvSpPr>
        <p:spPr>
          <a:xfrm>
            <a:off x="1417320" y="5660136"/>
            <a:ext cx="4434840" cy="438912"/>
          </a:xfrm>
          <a:prstGeom prst="rect">
            <a:avLst/>
          </a:prstGeom>
          <a:noFill/>
          <a:ln/>
        </p:spPr>
        <p:txBody>
          <a:bodyPr wrap="square" lIns="0" tIns="0" rIns="0" bIns="0" rtlCol="0" anchor="t"/>
          <a:lstStyle/>
          <a:p>
            <a:pPr indent="0" marL="0">
              <a:buNone/>
            </a:pPr>
            <a:r>
              <a:rPr lang="en-US" sz="1200" dirty="0">
                <a:solidFill>
                  <a:schemeClr val="tx1"/>
                </a:solidFill>
              </a:rPr>
              <a:t>Plataforma, empresa y grupo; una persona puede tener un rol en cada una.</a:t>
            </a:r>
            <a:endParaRPr lang="en-US" sz="1200" dirty="0"/>
          </a:p>
        </p:txBody>
      </p:sp>
      <p:sp>
        <p:nvSpPr>
          <p:cNvPr id="48" name="Co-propietario"/>
          <p:cNvSpPr/>
          <p:nvPr/>
        </p:nvSpPr>
        <p:spPr>
          <a:xfrm>
            <a:off x="6172200" y="5257800"/>
            <a:ext cx="5440680" cy="896112"/>
          </a:xfrm>
          <a:prstGeom prst="roundRect">
            <a:avLst>
              <a:gd name="adj" fmla="val 12245"/>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49" name="Co-propietario círculo"/>
          <p:cNvSpPr/>
          <p:nvPr/>
        </p:nvSpPr>
        <p:spPr>
          <a:xfrm>
            <a:off x="6355080" y="5458968"/>
            <a:ext cx="502920" cy="502920"/>
          </a:xfrm>
          <a:prstGeom prst="ellipse">
            <a:avLst/>
          </a:prstGeom>
          <a:solidFill>
            <a:schemeClr val="accent2"/>
          </a:solidFill>
          <a:ln w="12700">
            <a:solidFill>
              <a:schemeClr val="accent2"/>
            </a:solidFill>
            <a:prstDash val="solid"/>
          </a:ln>
        </p:spPr>
      </p:sp>
      <p:pic>
        <p:nvPicPr>
          <p:cNvPr id="50" name="Co-propietario ícono" descr="Co-propietario">    </p:cNvPr>
          <p:cNvPicPr>
            <a:picLocks noChangeAspect="1"/>
          </p:cNvPicPr>
          <p:nvPr/>
        </p:nvPicPr>
        <p:blipFill>
          <a:blip r:embed="rId10"/>
          <a:stretch>
            <a:fillRect/>
          </a:stretch>
        </p:blipFill>
        <p:spPr>
          <a:xfrm>
            <a:off x="6475781" y="5579669"/>
            <a:ext cx="261518" cy="261518"/>
          </a:xfrm>
          <a:prstGeom prst="rect">
            <a:avLst/>
          </a:prstGeom>
        </p:spPr>
      </p:pic>
      <p:sp>
        <p:nvSpPr>
          <p:cNvPr id="51" name="Text 39"/>
          <p:cNvSpPr txBox="1"/>
          <p:nvPr/>
        </p:nvSpPr>
        <p:spPr>
          <a:xfrm>
            <a:off x="7040880" y="5330952"/>
            <a:ext cx="4434840" cy="329184"/>
          </a:xfrm>
          <a:prstGeom prst="rect">
            <a:avLst/>
          </a:prstGeom>
          <a:noFill/>
          <a:ln/>
        </p:spPr>
        <p:txBody>
          <a:bodyPr wrap="square" lIns="0" tIns="0" rIns="0" bIns="0" rtlCol="0" anchor="t"/>
          <a:lstStyle/>
          <a:p>
            <a:pPr indent="0" marL="0">
              <a:buNone/>
            </a:pPr>
            <a:r>
              <a:rPr lang="en-US" sz="1500" b="1" dirty="0">
                <a:solidFill>
                  <a:schemeClr val="tx2"/>
                </a:solidFill>
              </a:rPr>
              <a:t>Co-propietario</a:t>
            </a:r>
            <a:endParaRPr lang="en-US" sz="1500" dirty="0"/>
          </a:p>
        </p:txBody>
      </p:sp>
      <p:sp>
        <p:nvSpPr>
          <p:cNvPr id="52" name="Text 40"/>
          <p:cNvSpPr txBox="1"/>
          <p:nvPr/>
        </p:nvSpPr>
        <p:spPr>
          <a:xfrm>
            <a:off x="7040880" y="5660136"/>
            <a:ext cx="4434840" cy="438912"/>
          </a:xfrm>
          <a:prstGeom prst="rect">
            <a:avLst/>
          </a:prstGeom>
          <a:noFill/>
          <a:ln/>
        </p:spPr>
        <p:txBody>
          <a:bodyPr wrap="square" lIns="0" tIns="0" rIns="0" bIns="0" rtlCol="0" anchor="t"/>
          <a:lstStyle/>
          <a:p>
            <a:pPr indent="0" marL="0">
              <a:buNone/>
            </a:pPr>
            <a:r>
              <a:rPr lang="en-US" sz="1200" dirty="0">
                <a:solidFill>
                  <a:schemeClr val="tx1"/>
                </a:solidFill>
              </a:rPr>
              <a:t>Respaldo de la plataforma en tu ausencia; solo tú lo designas.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Una plataforma, varias empresas independientes</a:t>
            </a:r>
            <a:endParaRPr lang="en-US" sz="3600" dirty="0"/>
          </a:p>
        </p:txBody>
      </p:sp>
      <p:sp>
        <p:nvSpPr>
          <p:cNvPr id="3" name="Plataforma"/>
          <p:cNvSpPr/>
          <p:nvPr/>
        </p:nvSpPr>
        <p:spPr>
          <a:xfrm>
            <a:off x="4087368" y="1280160"/>
            <a:ext cx="4023360" cy="822960"/>
          </a:xfrm>
          <a:prstGeom prst="roundRect">
            <a:avLst>
              <a:gd name="adj" fmla="val 13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pic>
        <p:nvPicPr>
          <p:cNvPr id="4" name="Plataforma ícono" descr="Plataforma">    </p:cNvPr>
          <p:cNvPicPr>
            <a:picLocks noChangeAspect="1"/>
          </p:cNvPicPr>
          <p:nvPr/>
        </p:nvPicPr>
        <p:blipFill>
          <a:blip r:embed="rId1"/>
          <a:stretch>
            <a:fillRect/>
          </a:stretch>
        </p:blipFill>
        <p:spPr>
          <a:xfrm>
            <a:off x="4270248" y="1499616"/>
            <a:ext cx="384048" cy="384048"/>
          </a:xfrm>
          <a:prstGeom prst="rect">
            <a:avLst/>
          </a:prstGeom>
        </p:spPr>
      </p:pic>
      <p:sp>
        <p:nvSpPr>
          <p:cNvPr id="5" name="Text 2"/>
          <p:cNvSpPr txBox="1"/>
          <p:nvPr/>
        </p:nvSpPr>
        <p:spPr>
          <a:xfrm>
            <a:off x="4800600" y="1353312"/>
            <a:ext cx="3200400" cy="676656"/>
          </a:xfrm>
          <a:prstGeom prst="rect">
            <a:avLst/>
          </a:prstGeom>
          <a:noFill/>
          <a:ln/>
        </p:spPr>
        <p:txBody>
          <a:bodyPr wrap="square" lIns="0" tIns="0" rIns="0" bIns="0" rtlCol="0" anchor="ctr"/>
          <a:lstStyle/>
          <a:p>
            <a:pPr indent="0" marL="0">
              <a:buNone/>
            </a:pPr>
            <a:r>
              <a:rPr lang="en-US" sz="1400" b="1" dirty="0">
                <a:solidFill>
                  <a:schemeClr val="bg1"/>
                </a:solidFill>
              </a:rPr>
              <a:t>Plataforma ECM Project</a:t>
            </a:r>
            <a:endParaRPr lang="en-US" sz="1400" dirty="0"/>
          </a:p>
          <a:p>
            <a:pPr indent="0" marL="0">
              <a:buNone/>
            </a:pPr>
            <a:r>
              <a:rPr lang="en-US" sz="1100" dirty="0">
                <a:solidFill>
                  <a:schemeClr val="bg1"/>
                </a:solidFill>
              </a:rPr>
              <a:t>Tú (propietario) + co-propietario</a:t>
            </a:r>
            <a:endParaRPr lang="en-US" sz="1400" dirty="0"/>
          </a:p>
        </p:txBody>
      </p:sp>
      <p:sp>
        <p:nvSpPr>
          <p:cNvPr id="6" name="Shape 3"/>
          <p:cNvSpPr/>
          <p:nvPr/>
        </p:nvSpPr>
        <p:spPr>
          <a:xfrm>
            <a:off x="6099048" y="2103120"/>
            <a:ext cx="91" cy="274320"/>
          </a:xfrm>
          <a:prstGeom prst="line">
            <a:avLst/>
          </a:prstGeom>
          <a:noFill/>
          <a:ln w="19050">
            <a:solidFill>
              <a:srgbClr val="D5DCE5"/>
            </a:solidFill>
            <a:prstDash val="solid"/>
          </a:ln>
        </p:spPr>
      </p:sp>
      <p:sp>
        <p:nvSpPr>
          <p:cNvPr id="7" name="Shape 4"/>
          <p:cNvSpPr/>
          <p:nvPr/>
        </p:nvSpPr>
        <p:spPr>
          <a:xfrm>
            <a:off x="2308860" y="2377440"/>
            <a:ext cx="7498080" cy="91"/>
          </a:xfrm>
          <a:prstGeom prst="line">
            <a:avLst/>
          </a:prstGeom>
          <a:noFill/>
          <a:ln w="19050">
            <a:solidFill>
              <a:srgbClr val="D5DCE5"/>
            </a:solidFill>
            <a:prstDash val="solid"/>
          </a:ln>
        </p:spPr>
      </p:sp>
      <p:sp>
        <p:nvSpPr>
          <p:cNvPr id="8" name="Shape 5"/>
          <p:cNvSpPr/>
          <p:nvPr/>
        </p:nvSpPr>
        <p:spPr>
          <a:xfrm>
            <a:off x="2308860" y="2377440"/>
            <a:ext cx="91" cy="228600"/>
          </a:xfrm>
          <a:prstGeom prst="line">
            <a:avLst/>
          </a:prstGeom>
          <a:noFill/>
          <a:ln w="19050">
            <a:solidFill>
              <a:srgbClr val="D5DCE5"/>
            </a:solidFill>
            <a:prstDash val="solid"/>
          </a:ln>
        </p:spPr>
      </p:sp>
      <p:sp>
        <p:nvSpPr>
          <p:cNvPr id="9" name="Empresa A"/>
          <p:cNvSpPr/>
          <p:nvPr/>
        </p:nvSpPr>
        <p:spPr>
          <a:xfrm>
            <a:off x="548640" y="2606040"/>
            <a:ext cx="3520440" cy="777240"/>
          </a:xfrm>
          <a:prstGeom prst="roundRect">
            <a:avLst>
              <a:gd name="adj" fmla="val 14118"/>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pic>
        <p:nvPicPr>
          <p:cNvPr id="10" name="Empresa A ícono" descr="Empresa A">    </p:cNvPr>
          <p:cNvPicPr>
            <a:picLocks noChangeAspect="1"/>
          </p:cNvPicPr>
          <p:nvPr/>
        </p:nvPicPr>
        <p:blipFill>
          <a:blip r:embed="rId2"/>
          <a:stretch>
            <a:fillRect/>
          </a:stretch>
        </p:blipFill>
        <p:spPr>
          <a:xfrm>
            <a:off x="731520" y="2802636"/>
            <a:ext cx="384048" cy="384048"/>
          </a:xfrm>
          <a:prstGeom prst="rect">
            <a:avLst/>
          </a:prstGeom>
        </p:spPr>
      </p:pic>
      <p:sp>
        <p:nvSpPr>
          <p:cNvPr id="11" name="Text 7"/>
          <p:cNvSpPr txBox="1"/>
          <p:nvPr/>
        </p:nvSpPr>
        <p:spPr>
          <a:xfrm>
            <a:off x="1261872" y="2679192"/>
            <a:ext cx="2697480" cy="630936"/>
          </a:xfrm>
          <a:prstGeom prst="rect">
            <a:avLst/>
          </a:prstGeom>
          <a:noFill/>
          <a:ln/>
        </p:spPr>
        <p:txBody>
          <a:bodyPr wrap="square" lIns="0" tIns="0" rIns="0" bIns="0" rtlCol="0" anchor="ctr"/>
          <a:lstStyle/>
          <a:p>
            <a:pPr indent="0" marL="0">
              <a:buNone/>
            </a:pPr>
            <a:r>
              <a:rPr lang="en-US" sz="1400" b="1" dirty="0">
                <a:solidFill>
                  <a:schemeClr val="bg1"/>
                </a:solidFill>
              </a:rPr>
              <a:t>Empresa A</a:t>
            </a:r>
            <a:endParaRPr lang="en-US" sz="1400" dirty="0"/>
          </a:p>
          <a:p>
            <a:pPr indent="0" marL="0">
              <a:buNone/>
            </a:pPr>
            <a:r>
              <a:rPr lang="en-US" sz="1100" dirty="0">
                <a:solidFill>
                  <a:schemeClr val="bg1"/>
                </a:solidFill>
              </a:rPr>
              <a:t>p. ej. Cosapi</a:t>
            </a:r>
            <a:endParaRPr lang="en-US" sz="1400" dirty="0"/>
          </a:p>
        </p:txBody>
      </p:sp>
      <p:sp>
        <p:nvSpPr>
          <p:cNvPr id="12" name="Empresa A contenido"/>
          <p:cNvSpPr/>
          <p:nvPr/>
        </p:nvSpPr>
        <p:spPr>
          <a:xfrm>
            <a:off x="548640" y="352044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9"/>
          <p:cNvSpPr txBox="1"/>
          <p:nvPr/>
        </p:nvSpPr>
        <p:spPr>
          <a:xfrm>
            <a:off x="777240" y="3657600"/>
            <a:ext cx="310896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Su Super administrador y su relevo</a:t>
            </a:r>
            <a:endParaRPr lang="en-US" sz="1300" dirty="0"/>
          </a:p>
          <a:p>
            <a:pPr marL="342900" indent="-342900">
              <a:spcAft>
                <a:spcPts val="500"/>
              </a:spcAft>
              <a:buSzPct val="100000"/>
              <a:buChar char="•"/>
            </a:pPr>
            <a:r>
              <a:rPr lang="en-US" sz="1300" dirty="0">
                <a:solidFill>
                  <a:schemeClr val="tx1"/>
                </a:solidFill>
              </a:rPr>
              <a:t>Sus proyectos (grupos) y miembros</a:t>
            </a:r>
            <a:endParaRPr lang="en-US" sz="1300" dirty="0"/>
          </a:p>
          <a:p>
            <a:pPr marL="342900" indent="-342900">
              <a:spcAft>
                <a:spcPts val="500"/>
              </a:spcAft>
              <a:buSzPct val="100000"/>
              <a:buChar char="•"/>
            </a:pPr>
            <a:r>
              <a:rPr lang="en-US" sz="1300" dirty="0">
                <a:solidFill>
                  <a:schemeClr val="tx1"/>
                </a:solidFill>
              </a:rPr>
              <a:t>Sus áreas, plantilla y cargos</a:t>
            </a:r>
            <a:endParaRPr lang="en-US" sz="1300" dirty="0"/>
          </a:p>
          <a:p>
            <a:pPr marL="342900" indent="-342900">
              <a:spcAft>
                <a:spcPts val="500"/>
              </a:spcAft>
              <a:buSzPct val="100000"/>
              <a:buChar char="•"/>
            </a:pPr>
            <a:r>
              <a:rPr lang="en-US" sz="1300" dirty="0">
                <a:solidFill>
                  <a:schemeClr val="tx1"/>
                </a:solidFill>
              </a:rPr>
              <a:t>Sus invitados externos</a:t>
            </a:r>
            <a:endParaRPr lang="en-US" sz="1300" dirty="0"/>
          </a:p>
          <a:p>
            <a:pPr marL="342900" indent="-342900">
              <a:spcAft>
                <a:spcPts val="500"/>
              </a:spcAft>
              <a:buSzPct val="100000"/>
              <a:buChar char="•"/>
            </a:pPr>
            <a:r>
              <a:rPr lang="en-US" sz="1300" dirty="0">
                <a:solidFill>
                  <a:schemeClr val="tx1"/>
                </a:solidFill>
              </a:rPr>
              <a:t>Sus respaldos y su auditoría</a:t>
            </a:r>
            <a:endParaRPr lang="en-US" sz="1300" dirty="0"/>
          </a:p>
        </p:txBody>
      </p:sp>
      <p:sp>
        <p:nvSpPr>
          <p:cNvPr id="14" name="Shape 10"/>
          <p:cNvSpPr/>
          <p:nvPr/>
        </p:nvSpPr>
        <p:spPr>
          <a:xfrm>
            <a:off x="6057900" y="2377440"/>
            <a:ext cx="91" cy="228600"/>
          </a:xfrm>
          <a:prstGeom prst="line">
            <a:avLst/>
          </a:prstGeom>
          <a:noFill/>
          <a:ln w="19050">
            <a:solidFill>
              <a:srgbClr val="D5DCE5"/>
            </a:solidFill>
            <a:prstDash val="solid"/>
          </a:ln>
        </p:spPr>
      </p:sp>
      <p:sp>
        <p:nvSpPr>
          <p:cNvPr id="15" name="Empresa B"/>
          <p:cNvSpPr/>
          <p:nvPr/>
        </p:nvSpPr>
        <p:spPr>
          <a:xfrm>
            <a:off x="4297680" y="2606040"/>
            <a:ext cx="3520440" cy="777240"/>
          </a:xfrm>
          <a:prstGeom prst="roundRect">
            <a:avLst>
              <a:gd name="adj" fmla="val 14118"/>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pic>
        <p:nvPicPr>
          <p:cNvPr id="16" name="Empresa B ícono" descr="Empresa B">    </p:cNvPr>
          <p:cNvPicPr>
            <a:picLocks noChangeAspect="1"/>
          </p:cNvPicPr>
          <p:nvPr/>
        </p:nvPicPr>
        <p:blipFill>
          <a:blip r:embed="rId3"/>
          <a:stretch>
            <a:fillRect/>
          </a:stretch>
        </p:blipFill>
        <p:spPr>
          <a:xfrm>
            <a:off x="4480560" y="2802636"/>
            <a:ext cx="384048" cy="384048"/>
          </a:xfrm>
          <a:prstGeom prst="rect">
            <a:avLst/>
          </a:prstGeom>
        </p:spPr>
      </p:pic>
      <p:sp>
        <p:nvSpPr>
          <p:cNvPr id="17" name="Text 12"/>
          <p:cNvSpPr txBox="1"/>
          <p:nvPr/>
        </p:nvSpPr>
        <p:spPr>
          <a:xfrm>
            <a:off x="5010912" y="2679192"/>
            <a:ext cx="2697480" cy="630936"/>
          </a:xfrm>
          <a:prstGeom prst="rect">
            <a:avLst/>
          </a:prstGeom>
          <a:noFill/>
          <a:ln/>
        </p:spPr>
        <p:txBody>
          <a:bodyPr wrap="square" lIns="0" tIns="0" rIns="0" bIns="0" rtlCol="0" anchor="ctr"/>
          <a:lstStyle/>
          <a:p>
            <a:pPr indent="0" marL="0">
              <a:buNone/>
            </a:pPr>
            <a:r>
              <a:rPr lang="en-US" sz="1400" b="1" dirty="0">
                <a:solidFill>
                  <a:schemeClr val="bg1"/>
                </a:solidFill>
              </a:rPr>
              <a:t>Empresa B</a:t>
            </a:r>
            <a:endParaRPr lang="en-US" sz="1400" dirty="0"/>
          </a:p>
          <a:p>
            <a:pPr indent="0" marL="0">
              <a:buNone/>
            </a:pPr>
            <a:r>
              <a:rPr lang="en-US" sz="1100" dirty="0">
                <a:solidFill>
                  <a:schemeClr val="bg1"/>
                </a:solidFill>
              </a:rPr>
              <a:t>p. ej. Cumbra</a:t>
            </a:r>
            <a:endParaRPr lang="en-US" sz="1400" dirty="0"/>
          </a:p>
        </p:txBody>
      </p:sp>
      <p:sp>
        <p:nvSpPr>
          <p:cNvPr id="18" name="Empresa B contenido"/>
          <p:cNvSpPr/>
          <p:nvPr/>
        </p:nvSpPr>
        <p:spPr>
          <a:xfrm>
            <a:off x="4297680" y="352044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4526280" y="3657600"/>
            <a:ext cx="310896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Su Super administrador y su relevo</a:t>
            </a:r>
            <a:endParaRPr lang="en-US" sz="1300" dirty="0"/>
          </a:p>
          <a:p>
            <a:pPr marL="342900" indent="-342900">
              <a:spcAft>
                <a:spcPts val="500"/>
              </a:spcAft>
              <a:buSzPct val="100000"/>
              <a:buChar char="•"/>
            </a:pPr>
            <a:r>
              <a:rPr lang="en-US" sz="1300" dirty="0">
                <a:solidFill>
                  <a:schemeClr val="tx1"/>
                </a:solidFill>
              </a:rPr>
              <a:t>Sus proyectos (grupos) y miembros</a:t>
            </a:r>
            <a:endParaRPr lang="en-US" sz="1300" dirty="0"/>
          </a:p>
          <a:p>
            <a:pPr marL="342900" indent="-342900">
              <a:spcAft>
                <a:spcPts val="500"/>
              </a:spcAft>
              <a:buSzPct val="100000"/>
              <a:buChar char="•"/>
            </a:pPr>
            <a:r>
              <a:rPr lang="en-US" sz="1300" dirty="0">
                <a:solidFill>
                  <a:schemeClr val="tx1"/>
                </a:solidFill>
              </a:rPr>
              <a:t>Sus áreas, plantilla y cargos</a:t>
            </a:r>
            <a:endParaRPr lang="en-US" sz="1300" dirty="0"/>
          </a:p>
          <a:p>
            <a:pPr marL="342900" indent="-342900">
              <a:spcAft>
                <a:spcPts val="500"/>
              </a:spcAft>
              <a:buSzPct val="100000"/>
              <a:buChar char="•"/>
            </a:pPr>
            <a:r>
              <a:rPr lang="en-US" sz="1300" dirty="0">
                <a:solidFill>
                  <a:schemeClr val="tx1"/>
                </a:solidFill>
              </a:rPr>
              <a:t>Sus invitados externos</a:t>
            </a:r>
            <a:endParaRPr lang="en-US" sz="1300" dirty="0"/>
          </a:p>
          <a:p>
            <a:pPr marL="342900" indent="-342900">
              <a:spcAft>
                <a:spcPts val="500"/>
              </a:spcAft>
              <a:buSzPct val="100000"/>
              <a:buChar char="•"/>
            </a:pPr>
            <a:r>
              <a:rPr lang="en-US" sz="1300" dirty="0">
                <a:solidFill>
                  <a:schemeClr val="tx1"/>
                </a:solidFill>
              </a:rPr>
              <a:t>Sus respaldos y su auditoría</a:t>
            </a:r>
            <a:endParaRPr lang="en-US" sz="1300" dirty="0"/>
          </a:p>
        </p:txBody>
      </p:sp>
      <p:sp>
        <p:nvSpPr>
          <p:cNvPr id="20" name="Shape 15"/>
          <p:cNvSpPr/>
          <p:nvPr/>
        </p:nvSpPr>
        <p:spPr>
          <a:xfrm>
            <a:off x="9806940" y="2377440"/>
            <a:ext cx="91" cy="228600"/>
          </a:xfrm>
          <a:prstGeom prst="line">
            <a:avLst/>
          </a:prstGeom>
          <a:noFill/>
          <a:ln w="19050">
            <a:solidFill>
              <a:srgbClr val="D5DCE5"/>
            </a:solidFill>
            <a:prstDash val="solid"/>
          </a:ln>
        </p:spPr>
      </p:sp>
      <p:sp>
        <p:nvSpPr>
          <p:cNvPr id="21" name="Empresa C"/>
          <p:cNvSpPr/>
          <p:nvPr/>
        </p:nvSpPr>
        <p:spPr>
          <a:xfrm>
            <a:off x="8046720" y="2606040"/>
            <a:ext cx="3520440" cy="777240"/>
          </a:xfrm>
          <a:prstGeom prst="roundRect">
            <a:avLst>
              <a:gd name="adj" fmla="val 14118"/>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pic>
        <p:nvPicPr>
          <p:cNvPr id="22" name="Empresa C ícono" descr="Empresa C">    </p:cNvPr>
          <p:cNvPicPr>
            <a:picLocks noChangeAspect="1"/>
          </p:cNvPicPr>
          <p:nvPr/>
        </p:nvPicPr>
        <p:blipFill>
          <a:blip r:embed="rId4"/>
          <a:stretch>
            <a:fillRect/>
          </a:stretch>
        </p:blipFill>
        <p:spPr>
          <a:xfrm>
            <a:off x="8229600" y="2802636"/>
            <a:ext cx="384048" cy="384048"/>
          </a:xfrm>
          <a:prstGeom prst="rect">
            <a:avLst/>
          </a:prstGeom>
        </p:spPr>
      </p:pic>
      <p:sp>
        <p:nvSpPr>
          <p:cNvPr id="23" name="Text 17"/>
          <p:cNvSpPr txBox="1"/>
          <p:nvPr/>
        </p:nvSpPr>
        <p:spPr>
          <a:xfrm>
            <a:off x="8759952" y="2679192"/>
            <a:ext cx="2697480" cy="630936"/>
          </a:xfrm>
          <a:prstGeom prst="rect">
            <a:avLst/>
          </a:prstGeom>
          <a:noFill/>
          <a:ln/>
        </p:spPr>
        <p:txBody>
          <a:bodyPr wrap="square" lIns="0" tIns="0" rIns="0" bIns="0" rtlCol="0" anchor="ctr"/>
          <a:lstStyle/>
          <a:p>
            <a:pPr indent="0" marL="0">
              <a:buNone/>
            </a:pPr>
            <a:r>
              <a:rPr lang="en-US" sz="1400" b="1" dirty="0">
                <a:solidFill>
                  <a:schemeClr val="bg1"/>
                </a:solidFill>
              </a:rPr>
              <a:t>Empresa C</a:t>
            </a:r>
            <a:endParaRPr lang="en-US" sz="1400" dirty="0"/>
          </a:p>
          <a:p>
            <a:pPr indent="0" marL="0">
              <a:buNone/>
            </a:pPr>
            <a:r>
              <a:rPr lang="en-US" sz="1100" dirty="0">
                <a:solidFill>
                  <a:schemeClr val="bg1"/>
                </a:solidFill>
              </a:rPr>
              <a:t>p. ej. JJC</a:t>
            </a:r>
            <a:endParaRPr lang="en-US" sz="1400" dirty="0"/>
          </a:p>
        </p:txBody>
      </p:sp>
      <p:sp>
        <p:nvSpPr>
          <p:cNvPr id="24" name="Empresa C contenido"/>
          <p:cNvSpPr/>
          <p:nvPr/>
        </p:nvSpPr>
        <p:spPr>
          <a:xfrm>
            <a:off x="8046720" y="3520440"/>
            <a:ext cx="352044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19"/>
          <p:cNvSpPr txBox="1"/>
          <p:nvPr/>
        </p:nvSpPr>
        <p:spPr>
          <a:xfrm>
            <a:off x="8275320" y="3657600"/>
            <a:ext cx="310896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Su Super administrador y su relevo</a:t>
            </a:r>
            <a:endParaRPr lang="en-US" sz="1300" dirty="0"/>
          </a:p>
          <a:p>
            <a:pPr marL="342900" indent="-342900">
              <a:spcAft>
                <a:spcPts val="500"/>
              </a:spcAft>
              <a:buSzPct val="100000"/>
              <a:buChar char="•"/>
            </a:pPr>
            <a:r>
              <a:rPr lang="en-US" sz="1300" dirty="0">
                <a:solidFill>
                  <a:schemeClr val="tx1"/>
                </a:solidFill>
              </a:rPr>
              <a:t>Sus proyectos (grupos) y miembros</a:t>
            </a:r>
            <a:endParaRPr lang="en-US" sz="1300" dirty="0"/>
          </a:p>
          <a:p>
            <a:pPr marL="342900" indent="-342900">
              <a:spcAft>
                <a:spcPts val="500"/>
              </a:spcAft>
              <a:buSzPct val="100000"/>
              <a:buChar char="•"/>
            </a:pPr>
            <a:r>
              <a:rPr lang="en-US" sz="1300" dirty="0">
                <a:solidFill>
                  <a:schemeClr val="tx1"/>
                </a:solidFill>
              </a:rPr>
              <a:t>Sus áreas, plantilla y cargos</a:t>
            </a:r>
            <a:endParaRPr lang="en-US" sz="1300" dirty="0"/>
          </a:p>
          <a:p>
            <a:pPr marL="342900" indent="-342900">
              <a:spcAft>
                <a:spcPts val="500"/>
              </a:spcAft>
              <a:buSzPct val="100000"/>
              <a:buChar char="•"/>
            </a:pPr>
            <a:r>
              <a:rPr lang="en-US" sz="1300" dirty="0">
                <a:solidFill>
                  <a:schemeClr val="tx1"/>
                </a:solidFill>
              </a:rPr>
              <a:t>Sus invitados externos</a:t>
            </a:r>
            <a:endParaRPr lang="en-US" sz="1300" dirty="0"/>
          </a:p>
          <a:p>
            <a:pPr marL="342900" indent="-342900">
              <a:spcAft>
                <a:spcPts val="500"/>
              </a:spcAft>
              <a:buSzPct val="100000"/>
              <a:buChar char="•"/>
            </a:pPr>
            <a:r>
              <a:rPr lang="en-US" sz="1300" dirty="0">
                <a:solidFill>
                  <a:schemeClr val="tx1"/>
                </a:solidFill>
              </a:rPr>
              <a:t>Sus respaldos y su auditoría</a:t>
            </a:r>
            <a:endParaRPr lang="en-US" sz="1300" dirty="0"/>
          </a:p>
        </p:txBody>
      </p:sp>
      <p:sp>
        <p:nvSpPr>
          <p:cNvPr id="26" name="Text 20"/>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300" i="1" dirty="0">
                <a:solidFill>
                  <a:schemeClr val="accent5"/>
                </a:solidFill>
              </a:rPr>
              <a:t>Cada empresa es un espacio cerrado: no ve ni sabe que existen las demás. Es el modelo de cuentas de Revizto, Procore y Autodesk.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Confidencialidad entre empresas</a:t>
            </a:r>
            <a:endParaRPr lang="en-US" sz="3600" dirty="0"/>
          </a:p>
        </p:txBody>
      </p:sp>
      <p:sp>
        <p:nvSpPr>
          <p:cNvPr id="3" name="Propietario de la plataforma"/>
          <p:cNvSpPr/>
          <p:nvPr/>
        </p:nvSpPr>
        <p:spPr>
          <a:xfrm>
            <a:off x="548640" y="1371600"/>
            <a:ext cx="5440680" cy="4160520"/>
          </a:xfrm>
          <a:prstGeom prst="roundRect">
            <a:avLst>
              <a:gd name="adj" fmla="val 26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ropietario círculo"/>
          <p:cNvSpPr/>
          <p:nvPr/>
        </p:nvSpPr>
        <p:spPr>
          <a:xfrm>
            <a:off x="822960" y="1645920"/>
            <a:ext cx="731520" cy="731520"/>
          </a:xfrm>
          <a:prstGeom prst="ellipse">
            <a:avLst/>
          </a:prstGeom>
          <a:solidFill>
            <a:schemeClr val="tx2"/>
          </a:solidFill>
          <a:ln w="12700">
            <a:solidFill>
              <a:schemeClr val="tx2"/>
            </a:solidFill>
            <a:prstDash val="solid"/>
          </a:ln>
        </p:spPr>
      </p:sp>
      <p:pic>
        <p:nvPicPr>
          <p:cNvPr id="5" name="Propietario ícono" descr="Propietario">    </p:cNvPr>
          <p:cNvPicPr>
            <a:picLocks noChangeAspect="1"/>
          </p:cNvPicPr>
          <p:nvPr/>
        </p:nvPicPr>
        <p:blipFill>
          <a:blip r:embed="rId1"/>
          <a:stretch>
            <a:fillRect/>
          </a:stretch>
        </p:blipFill>
        <p:spPr>
          <a:xfrm>
            <a:off x="998525" y="1821485"/>
            <a:ext cx="380390" cy="380390"/>
          </a:xfrm>
          <a:prstGeom prst="rect">
            <a:avLst/>
          </a:prstGeom>
        </p:spPr>
      </p:pic>
      <p:sp>
        <p:nvSpPr>
          <p:cNvPr id="6" name="Text 3"/>
          <p:cNvSpPr txBox="1"/>
          <p:nvPr/>
        </p:nvSpPr>
        <p:spPr>
          <a:xfrm>
            <a:off x="1737360" y="1691640"/>
            <a:ext cx="4114800" cy="640080"/>
          </a:xfrm>
          <a:prstGeom prst="rect">
            <a:avLst/>
          </a:prstGeom>
          <a:noFill/>
          <a:ln/>
        </p:spPr>
        <p:txBody>
          <a:bodyPr wrap="square" lIns="0" tIns="0" rIns="0" bIns="0" rtlCol="0" anchor="ctr"/>
          <a:lstStyle/>
          <a:p>
            <a:pPr indent="0" marL="0">
              <a:buNone/>
            </a:pPr>
            <a:r>
              <a:rPr lang="en-US" sz="1800" b="1" dirty="0">
                <a:solidFill>
                  <a:schemeClr val="tx2"/>
                </a:solidFill>
              </a:rPr>
              <a:t>Tú y tu co-propietario, en la plataforma</a:t>
            </a:r>
            <a:endParaRPr lang="en-US" sz="1800" dirty="0"/>
          </a:p>
        </p:txBody>
      </p:sp>
      <p:sp>
        <p:nvSpPr>
          <p:cNvPr id="7" name="Text 4"/>
          <p:cNvSpPr txBox="1"/>
          <p:nvPr/>
        </p:nvSpPr>
        <p:spPr>
          <a:xfrm>
            <a:off x="868680" y="2560320"/>
            <a:ext cx="365760" cy="457200"/>
          </a:xfrm>
          <a:prstGeom prst="rect">
            <a:avLst/>
          </a:prstGeom>
          <a:noFill/>
          <a:ln/>
        </p:spPr>
        <p:txBody>
          <a:bodyPr wrap="square" lIns="0" tIns="0" rIns="0" bIns="0" rtlCol="0" anchor="ctr"/>
          <a:lstStyle/>
          <a:p>
            <a:pPr indent="0" marL="0">
              <a:buNone/>
            </a:pPr>
            <a:r>
              <a:rPr lang="en-US" sz="1800" b="1" dirty="0">
                <a:solidFill>
                  <a:schemeClr val="accent2"/>
                </a:solidFill>
              </a:rPr>
              <a:t>✔</a:t>
            </a:r>
            <a:endParaRPr lang="en-US" sz="1800" dirty="0"/>
          </a:p>
        </p:txBody>
      </p:sp>
      <p:sp>
        <p:nvSpPr>
          <p:cNvPr id="8" name="Text 5"/>
          <p:cNvSpPr txBox="1"/>
          <p:nvPr/>
        </p:nvSpPr>
        <p:spPr>
          <a:xfrm>
            <a:off x="1325880" y="2560320"/>
            <a:ext cx="4480560" cy="457200"/>
          </a:xfrm>
          <a:prstGeom prst="rect">
            <a:avLst/>
          </a:prstGeom>
          <a:noFill/>
          <a:ln/>
        </p:spPr>
        <p:txBody>
          <a:bodyPr wrap="square" lIns="0" tIns="0" rIns="0" bIns="0" rtlCol="0" anchor="ctr"/>
          <a:lstStyle/>
          <a:p>
            <a:pPr indent="0" marL="0">
              <a:buNone/>
            </a:pPr>
            <a:r>
              <a:rPr lang="en-US" sz="1400" dirty="0">
                <a:solidFill>
                  <a:schemeClr val="tx1"/>
                </a:solidFill>
              </a:rPr>
              <a:t>Dan de alta empresas y designan a su primer Super administrador</a:t>
            </a:r>
            <a:endParaRPr lang="en-US" sz="1400" dirty="0"/>
          </a:p>
        </p:txBody>
      </p:sp>
      <p:sp>
        <p:nvSpPr>
          <p:cNvPr id="9" name="Text 6"/>
          <p:cNvSpPr txBox="1"/>
          <p:nvPr/>
        </p:nvSpPr>
        <p:spPr>
          <a:xfrm>
            <a:off x="868680" y="3127248"/>
            <a:ext cx="365760" cy="457200"/>
          </a:xfrm>
          <a:prstGeom prst="rect">
            <a:avLst/>
          </a:prstGeom>
          <a:noFill/>
          <a:ln/>
        </p:spPr>
        <p:txBody>
          <a:bodyPr wrap="square" lIns="0" tIns="0" rIns="0" bIns="0" rtlCol="0" anchor="ctr"/>
          <a:lstStyle/>
          <a:p>
            <a:pPr indent="0" marL="0">
              <a:buNone/>
            </a:pPr>
            <a:r>
              <a:rPr lang="en-US" sz="1800" b="1" dirty="0">
                <a:solidFill>
                  <a:schemeClr val="accent2"/>
                </a:solidFill>
              </a:rPr>
              <a:t>✔</a:t>
            </a:r>
            <a:endParaRPr lang="en-US" sz="1800" dirty="0"/>
          </a:p>
        </p:txBody>
      </p:sp>
      <p:sp>
        <p:nvSpPr>
          <p:cNvPr id="10" name="Text 7"/>
          <p:cNvSpPr txBox="1"/>
          <p:nvPr/>
        </p:nvSpPr>
        <p:spPr>
          <a:xfrm>
            <a:off x="1325880" y="3127248"/>
            <a:ext cx="4480560" cy="457200"/>
          </a:xfrm>
          <a:prstGeom prst="rect">
            <a:avLst/>
          </a:prstGeom>
          <a:noFill/>
          <a:ln/>
        </p:spPr>
        <p:txBody>
          <a:bodyPr wrap="square" lIns="0" tIns="0" rIns="0" bIns="0" rtlCol="0" anchor="ctr"/>
          <a:lstStyle/>
          <a:p>
            <a:pPr indent="0" marL="0">
              <a:buNone/>
            </a:pPr>
            <a:r>
              <a:rPr lang="en-US" sz="1400" dirty="0">
                <a:solidFill>
                  <a:schemeClr val="tx1"/>
                </a:solidFill>
              </a:rPr>
              <a:t>Ven datos generales: usuarios, proyectos, espacio usado</a:t>
            </a:r>
            <a:endParaRPr lang="en-US" sz="1400" dirty="0"/>
          </a:p>
        </p:txBody>
      </p:sp>
      <p:sp>
        <p:nvSpPr>
          <p:cNvPr id="11" name="Text 8"/>
          <p:cNvSpPr txBox="1"/>
          <p:nvPr/>
        </p:nvSpPr>
        <p:spPr>
          <a:xfrm>
            <a:off x="868680" y="3694176"/>
            <a:ext cx="365760" cy="457200"/>
          </a:xfrm>
          <a:prstGeom prst="rect">
            <a:avLst/>
          </a:prstGeom>
          <a:noFill/>
          <a:ln/>
        </p:spPr>
        <p:txBody>
          <a:bodyPr wrap="square" lIns="0" tIns="0" rIns="0" bIns="0" rtlCol="0" anchor="ctr"/>
          <a:lstStyle/>
          <a:p>
            <a:pPr indent="0" marL="0">
              <a:buNone/>
            </a:pPr>
            <a:r>
              <a:rPr lang="en-US" sz="1800" b="1" dirty="0">
                <a:solidFill>
                  <a:schemeClr val="accent2"/>
                </a:solidFill>
              </a:rPr>
              <a:t>✔</a:t>
            </a:r>
            <a:endParaRPr lang="en-US" sz="1800" dirty="0"/>
          </a:p>
        </p:txBody>
      </p:sp>
      <p:sp>
        <p:nvSpPr>
          <p:cNvPr id="12" name="Text 9"/>
          <p:cNvSpPr txBox="1"/>
          <p:nvPr/>
        </p:nvSpPr>
        <p:spPr>
          <a:xfrm>
            <a:off x="1325880" y="3694176"/>
            <a:ext cx="4480560" cy="457200"/>
          </a:xfrm>
          <a:prstGeom prst="rect">
            <a:avLst/>
          </a:prstGeom>
          <a:noFill/>
          <a:ln/>
        </p:spPr>
        <p:txBody>
          <a:bodyPr wrap="square" lIns="0" tIns="0" rIns="0" bIns="0" rtlCol="0" anchor="ctr"/>
          <a:lstStyle/>
          <a:p>
            <a:pPr indent="0" marL="0">
              <a:buNone/>
            </a:pPr>
            <a:r>
              <a:rPr lang="en-US" sz="1400" dirty="0">
                <a:solidFill>
                  <a:schemeClr val="tx1"/>
                </a:solidFill>
              </a:rPr>
              <a:t>Publican las versiones nuevas para todas a la vez</a:t>
            </a:r>
            <a:endParaRPr lang="en-US" sz="1400" dirty="0"/>
          </a:p>
        </p:txBody>
      </p:sp>
      <p:sp>
        <p:nvSpPr>
          <p:cNvPr id="13" name="Text 10"/>
          <p:cNvSpPr txBox="1"/>
          <p:nvPr/>
        </p:nvSpPr>
        <p:spPr>
          <a:xfrm>
            <a:off x="868680" y="4261104"/>
            <a:ext cx="365760" cy="457200"/>
          </a:xfrm>
          <a:prstGeom prst="rect">
            <a:avLst/>
          </a:prstGeom>
          <a:noFill/>
          <a:ln/>
        </p:spPr>
        <p:txBody>
          <a:bodyPr wrap="square" lIns="0" tIns="0" rIns="0" bIns="0" rtlCol="0" anchor="ctr"/>
          <a:lstStyle/>
          <a:p>
            <a:pPr indent="0" marL="0">
              <a:buNone/>
            </a:pPr>
            <a:r>
              <a:rPr lang="en-US" sz="1800" b="1" dirty="0">
                <a:solidFill>
                  <a:schemeClr val="accent4"/>
                </a:solidFill>
              </a:rPr>
              <a:t>✖</a:t>
            </a:r>
            <a:endParaRPr lang="en-US" sz="1800" dirty="0"/>
          </a:p>
        </p:txBody>
      </p:sp>
      <p:sp>
        <p:nvSpPr>
          <p:cNvPr id="14" name="Text 11"/>
          <p:cNvSpPr txBox="1"/>
          <p:nvPr/>
        </p:nvSpPr>
        <p:spPr>
          <a:xfrm>
            <a:off x="1325880" y="4261104"/>
            <a:ext cx="4480560" cy="457200"/>
          </a:xfrm>
          <a:prstGeom prst="rect">
            <a:avLst/>
          </a:prstGeom>
          <a:noFill/>
          <a:ln/>
        </p:spPr>
        <p:txBody>
          <a:bodyPr wrap="square" lIns="0" tIns="0" rIns="0" bIns="0" rtlCol="0" anchor="ctr"/>
          <a:lstStyle/>
          <a:p>
            <a:pPr indent="0" marL="0">
              <a:buNone/>
            </a:pPr>
            <a:r>
              <a:rPr lang="en-US" sz="1400" dirty="0">
                <a:solidFill>
                  <a:schemeClr val="tx1"/>
                </a:solidFill>
              </a:rPr>
              <a:t>No ven proyectos ni costos de empresas donde no son miembros</a:t>
            </a:r>
            <a:endParaRPr lang="en-US" sz="1400" dirty="0"/>
          </a:p>
        </p:txBody>
      </p:sp>
      <p:sp>
        <p:nvSpPr>
          <p:cNvPr id="15" name="Text 12"/>
          <p:cNvSpPr txBox="1"/>
          <p:nvPr/>
        </p:nvSpPr>
        <p:spPr>
          <a:xfrm>
            <a:off x="868680" y="4828032"/>
            <a:ext cx="365760" cy="457200"/>
          </a:xfrm>
          <a:prstGeom prst="rect">
            <a:avLst/>
          </a:prstGeom>
          <a:noFill/>
          <a:ln/>
        </p:spPr>
        <p:txBody>
          <a:bodyPr wrap="square" lIns="0" tIns="0" rIns="0" bIns="0" rtlCol="0" anchor="ctr"/>
          <a:lstStyle/>
          <a:p>
            <a:pPr indent="0" marL="0">
              <a:buNone/>
            </a:pPr>
            <a:r>
              <a:rPr lang="en-US" sz="1800" b="1" dirty="0">
                <a:solidFill>
                  <a:schemeClr val="accent4"/>
                </a:solidFill>
              </a:rPr>
              <a:t>✖</a:t>
            </a:r>
            <a:endParaRPr lang="en-US" sz="1800" dirty="0"/>
          </a:p>
        </p:txBody>
      </p:sp>
      <p:sp>
        <p:nvSpPr>
          <p:cNvPr id="16" name="Text 13"/>
          <p:cNvSpPr txBox="1"/>
          <p:nvPr/>
        </p:nvSpPr>
        <p:spPr>
          <a:xfrm>
            <a:off x="1325880" y="4828032"/>
            <a:ext cx="4480560" cy="457200"/>
          </a:xfrm>
          <a:prstGeom prst="rect">
            <a:avLst/>
          </a:prstGeom>
          <a:noFill/>
          <a:ln/>
        </p:spPr>
        <p:txBody>
          <a:bodyPr wrap="square" lIns="0" tIns="0" rIns="0" bIns="0" rtlCol="0" anchor="ctr"/>
          <a:lstStyle/>
          <a:p>
            <a:pPr indent="0" marL="0">
              <a:buNone/>
            </a:pPr>
            <a:r>
              <a:rPr lang="en-US" sz="1400" dirty="0">
                <a:solidFill>
                  <a:schemeClr val="tx1"/>
                </a:solidFill>
              </a:rPr>
              <a:t>No cambian permisos dentro de una empresa ajena</a:t>
            </a:r>
            <a:endParaRPr lang="en-US" sz="1400" dirty="0"/>
          </a:p>
        </p:txBody>
      </p:sp>
      <p:sp>
        <p:nvSpPr>
          <p:cNvPr id="17" name="Aislamiento en la base de datos"/>
          <p:cNvSpPr/>
          <p:nvPr/>
        </p:nvSpPr>
        <p:spPr>
          <a:xfrm>
            <a:off x="6172200" y="137160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Aislamiento en la base de datos círculo"/>
          <p:cNvSpPr/>
          <p:nvPr/>
        </p:nvSpPr>
        <p:spPr>
          <a:xfrm>
            <a:off x="6355080" y="1645920"/>
            <a:ext cx="731520" cy="731520"/>
          </a:xfrm>
          <a:prstGeom prst="ellipse">
            <a:avLst/>
          </a:prstGeom>
          <a:solidFill>
            <a:schemeClr val="accent3"/>
          </a:solidFill>
          <a:ln w="12700">
            <a:solidFill>
              <a:schemeClr val="accent3"/>
            </a:solidFill>
            <a:prstDash val="solid"/>
          </a:ln>
        </p:spPr>
      </p:sp>
      <p:pic>
        <p:nvPicPr>
          <p:cNvPr id="19" name="Aislamiento en la base de datos ícono" descr="Aislamiento en la base de datos">    </p:cNvPr>
          <p:cNvPicPr>
            <a:picLocks noChangeAspect="1"/>
          </p:cNvPicPr>
          <p:nvPr/>
        </p:nvPicPr>
        <p:blipFill>
          <a:blip r:embed="rId2"/>
          <a:stretch>
            <a:fillRect/>
          </a:stretch>
        </p:blipFill>
        <p:spPr>
          <a:xfrm>
            <a:off x="6530645" y="1821485"/>
            <a:ext cx="380390" cy="380390"/>
          </a:xfrm>
          <a:prstGeom prst="rect">
            <a:avLst/>
          </a:prstGeom>
        </p:spPr>
      </p:pic>
      <p:sp>
        <p:nvSpPr>
          <p:cNvPr id="20" name="Text 16"/>
          <p:cNvSpPr txBox="1"/>
          <p:nvPr/>
        </p:nvSpPr>
        <p:spPr>
          <a:xfrm>
            <a:off x="7269480" y="1508760"/>
            <a:ext cx="4206240" cy="365760"/>
          </a:xfrm>
          <a:prstGeom prst="rect">
            <a:avLst/>
          </a:prstGeom>
          <a:noFill/>
          <a:ln/>
        </p:spPr>
        <p:txBody>
          <a:bodyPr wrap="square" lIns="0" tIns="0" rIns="0" bIns="0" rtlCol="0" anchor="t"/>
          <a:lstStyle/>
          <a:p>
            <a:pPr indent="0" marL="0">
              <a:buNone/>
            </a:pPr>
            <a:r>
              <a:rPr lang="en-US" sz="1600" b="1" dirty="0">
                <a:solidFill>
                  <a:schemeClr val="tx2"/>
                </a:solidFill>
              </a:rPr>
              <a:t>Aislamiento en la base de datos</a:t>
            </a:r>
            <a:endParaRPr lang="en-US" sz="1600" dirty="0"/>
          </a:p>
        </p:txBody>
      </p:sp>
      <p:sp>
        <p:nvSpPr>
          <p:cNvPr id="21" name="Text 17"/>
          <p:cNvSpPr txBox="1"/>
          <p:nvPr/>
        </p:nvSpPr>
        <p:spPr>
          <a:xfrm>
            <a:off x="7269480" y="1874520"/>
            <a:ext cx="4206240" cy="731520"/>
          </a:xfrm>
          <a:prstGeom prst="rect">
            <a:avLst/>
          </a:prstGeom>
          <a:noFill/>
          <a:ln/>
        </p:spPr>
        <p:txBody>
          <a:bodyPr wrap="square" lIns="0" tIns="0" rIns="0" bIns="0" rtlCol="0" anchor="t"/>
          <a:lstStyle/>
          <a:p>
            <a:pPr indent="0" marL="0">
              <a:buNone/>
            </a:pPr>
            <a:r>
              <a:rPr lang="en-US" sz="1300" dirty="0">
                <a:solidFill>
                  <a:schemeClr val="tx1"/>
                </a:solidFill>
              </a:rPr>
              <a:t>Cada dato lleva su empresa; las reglas impiden cruzar datos aunque se manipule el navegador.</a:t>
            </a:r>
            <a:endParaRPr lang="en-US" sz="1300" dirty="0"/>
          </a:p>
        </p:txBody>
      </p:sp>
      <p:sp>
        <p:nvSpPr>
          <p:cNvPr id="22" name="Acceso de soporte autorizado"/>
          <p:cNvSpPr/>
          <p:nvPr/>
        </p:nvSpPr>
        <p:spPr>
          <a:xfrm>
            <a:off x="6172200" y="278892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Acceso de soporte autorizado círculo"/>
          <p:cNvSpPr/>
          <p:nvPr/>
        </p:nvSpPr>
        <p:spPr>
          <a:xfrm>
            <a:off x="6355080" y="3063240"/>
            <a:ext cx="731520" cy="731520"/>
          </a:xfrm>
          <a:prstGeom prst="ellipse">
            <a:avLst/>
          </a:prstGeom>
          <a:solidFill>
            <a:schemeClr val="accent1"/>
          </a:solidFill>
          <a:ln w="12700">
            <a:solidFill>
              <a:schemeClr val="accent1"/>
            </a:solidFill>
            <a:prstDash val="solid"/>
          </a:ln>
        </p:spPr>
      </p:sp>
      <p:pic>
        <p:nvPicPr>
          <p:cNvPr id="24" name="Acceso de soporte autorizado ícono" descr="Acceso de soporte autorizado">    </p:cNvPr>
          <p:cNvPicPr>
            <a:picLocks noChangeAspect="1"/>
          </p:cNvPicPr>
          <p:nvPr/>
        </p:nvPicPr>
        <p:blipFill>
          <a:blip r:embed="rId3"/>
          <a:stretch>
            <a:fillRect/>
          </a:stretch>
        </p:blipFill>
        <p:spPr>
          <a:xfrm>
            <a:off x="6530645" y="3238805"/>
            <a:ext cx="380390" cy="380390"/>
          </a:xfrm>
          <a:prstGeom prst="rect">
            <a:avLst/>
          </a:prstGeom>
        </p:spPr>
      </p:pic>
      <p:sp>
        <p:nvSpPr>
          <p:cNvPr id="25" name="Text 20"/>
          <p:cNvSpPr txBox="1"/>
          <p:nvPr/>
        </p:nvSpPr>
        <p:spPr>
          <a:xfrm>
            <a:off x="7269480" y="2926080"/>
            <a:ext cx="4206240" cy="365760"/>
          </a:xfrm>
          <a:prstGeom prst="rect">
            <a:avLst/>
          </a:prstGeom>
          <a:noFill/>
          <a:ln/>
        </p:spPr>
        <p:txBody>
          <a:bodyPr wrap="square" lIns="0" tIns="0" rIns="0" bIns="0" rtlCol="0" anchor="t"/>
          <a:lstStyle/>
          <a:p>
            <a:pPr indent="0" marL="0">
              <a:buNone/>
            </a:pPr>
            <a:r>
              <a:rPr lang="en-US" sz="1600" b="1" dirty="0">
                <a:solidFill>
                  <a:schemeClr val="tx2"/>
                </a:solidFill>
              </a:rPr>
              <a:t>Acceso de soporte autorizado</a:t>
            </a:r>
            <a:endParaRPr lang="en-US" sz="1600" dirty="0"/>
          </a:p>
        </p:txBody>
      </p:sp>
      <p:sp>
        <p:nvSpPr>
          <p:cNvPr id="26" name="Text 21"/>
          <p:cNvSpPr txBox="1"/>
          <p:nvPr/>
        </p:nvSpPr>
        <p:spPr>
          <a:xfrm>
            <a:off x="7269480" y="3291840"/>
            <a:ext cx="4206240" cy="731520"/>
          </a:xfrm>
          <a:prstGeom prst="rect">
            <a:avLst/>
          </a:prstGeom>
          <a:noFill/>
          <a:ln/>
        </p:spPr>
        <p:txBody>
          <a:bodyPr wrap="square" lIns="0" tIns="0" rIns="0" bIns="0" rtlCol="0" anchor="t"/>
          <a:lstStyle/>
          <a:p>
            <a:pPr indent="0" marL="0">
              <a:buNone/>
            </a:pPr>
            <a:r>
              <a:rPr lang="en-US" sz="1300" dirty="0">
                <a:solidFill>
                  <a:schemeClr val="tx1"/>
                </a:solidFill>
              </a:rPr>
              <a:t>Solo si la empresa te lo concede, por tiempo limitado, y queda en su auditoría.</a:t>
            </a:r>
            <a:endParaRPr lang="en-US" sz="1300" dirty="0"/>
          </a:p>
        </p:txBody>
      </p:sp>
      <p:sp>
        <p:nvSpPr>
          <p:cNvPr id="27" name="Una persona, varias empresas"/>
          <p:cNvSpPr/>
          <p:nvPr/>
        </p:nvSpPr>
        <p:spPr>
          <a:xfrm>
            <a:off x="6172200" y="420624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Una persona, varias empresas círculo"/>
          <p:cNvSpPr/>
          <p:nvPr/>
        </p:nvSpPr>
        <p:spPr>
          <a:xfrm>
            <a:off x="6355080" y="4480560"/>
            <a:ext cx="731520" cy="731520"/>
          </a:xfrm>
          <a:prstGeom prst="ellipse">
            <a:avLst/>
          </a:prstGeom>
          <a:solidFill>
            <a:schemeClr val="accent2"/>
          </a:solidFill>
          <a:ln w="12700">
            <a:solidFill>
              <a:schemeClr val="accent2"/>
            </a:solidFill>
            <a:prstDash val="solid"/>
          </a:ln>
        </p:spPr>
      </p:sp>
      <p:pic>
        <p:nvPicPr>
          <p:cNvPr id="29" name="Una persona, varias empresas ícono" descr="Una persona, varias empresas">    </p:cNvPr>
          <p:cNvPicPr>
            <a:picLocks noChangeAspect="1"/>
          </p:cNvPicPr>
          <p:nvPr/>
        </p:nvPicPr>
        <p:blipFill>
          <a:blip r:embed="rId4"/>
          <a:stretch>
            <a:fillRect/>
          </a:stretch>
        </p:blipFill>
        <p:spPr>
          <a:xfrm>
            <a:off x="6530645" y="4656125"/>
            <a:ext cx="380390" cy="380390"/>
          </a:xfrm>
          <a:prstGeom prst="rect">
            <a:avLst/>
          </a:prstGeom>
        </p:spPr>
      </p:pic>
      <p:sp>
        <p:nvSpPr>
          <p:cNvPr id="30" name="Text 24"/>
          <p:cNvSpPr txBox="1"/>
          <p:nvPr/>
        </p:nvSpPr>
        <p:spPr>
          <a:xfrm>
            <a:off x="7269480" y="4343400"/>
            <a:ext cx="4206240" cy="365760"/>
          </a:xfrm>
          <a:prstGeom prst="rect">
            <a:avLst/>
          </a:prstGeom>
          <a:noFill/>
          <a:ln/>
        </p:spPr>
        <p:txBody>
          <a:bodyPr wrap="square" lIns="0" tIns="0" rIns="0" bIns="0" rtlCol="0" anchor="t"/>
          <a:lstStyle/>
          <a:p>
            <a:pPr indent="0" marL="0">
              <a:buNone/>
            </a:pPr>
            <a:r>
              <a:rPr lang="en-US" sz="1600" b="1" dirty="0">
                <a:solidFill>
                  <a:schemeClr val="tx2"/>
                </a:solidFill>
              </a:rPr>
              <a:t>Una persona, varias empresas</a:t>
            </a:r>
            <a:endParaRPr lang="en-US" sz="1600" dirty="0"/>
          </a:p>
        </p:txBody>
      </p:sp>
      <p:sp>
        <p:nvSpPr>
          <p:cNvPr id="31" name="Text 25"/>
          <p:cNvSpPr txBox="1"/>
          <p:nvPr/>
        </p:nvSpPr>
        <p:spPr>
          <a:xfrm>
            <a:off x="7269480" y="4709160"/>
            <a:ext cx="4206240" cy="731520"/>
          </a:xfrm>
          <a:prstGeom prst="rect">
            <a:avLst/>
          </a:prstGeom>
          <a:noFill/>
          <a:ln/>
        </p:spPr>
        <p:txBody>
          <a:bodyPr wrap="square" lIns="0" tIns="0" rIns="0" bIns="0" rtlCol="0" anchor="t"/>
          <a:lstStyle/>
          <a:p>
            <a:pPr indent="0" marL="0">
              <a:buNone/>
            </a:pPr>
            <a:r>
              <a:rPr lang="en-US" sz="1300" dirty="0">
                <a:solidFill>
                  <a:schemeClr val="tx1"/>
                </a:solidFill>
              </a:rPr>
              <a:t>Un consultor invitado por dos empresas elige con un selector en cuál trabaja; nunca ve ambas a la vez.</a:t>
            </a:r>
            <a:endParaRPr lang="en-US" sz="1300" dirty="0"/>
          </a:p>
        </p:txBody>
      </p:sp>
      <p:sp>
        <p:nvSpPr>
          <p:cNvPr id="32" name="Text 26"/>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500" b="1" dirty="0">
                <a:solidFill>
                  <a:schemeClr val="tx2"/>
                </a:solidFill>
              </a:rPr>
              <a:t>En tu propia empresa ves todo como Super administrador: los permisos de cada capa se suman.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Qué es común y qué es de cada empresa</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212080"/>
                <a:gridCol w="2926080"/>
                <a:gridCol w="2926080"/>
              </a:tblGrid>
              <a:tr h="411480">
                <a:tc>
                  <a:txBody>
                    <a:bodyPr/>
                    <a:lstStyle/>
                    <a:p>
                      <a:pPr indent="0" marL="0">
                        <a:buNone/>
                      </a:pPr>
                      <a:r>
                        <a:rPr lang="en-US" sz="1300" b="1" dirty="0">
                          <a:solidFill>
                            <a:schemeClr val="bg1"/>
                          </a:solidFill>
                        </a:rPr>
                        <a:t>Elemento</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Plataforma (común)</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Cada empresa (propio)</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rPr>
                        <a:t>Código y versiones de la app</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Plantilla inicial: 11 áreas y permisos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Modelo base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Copia propia y editable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Políticas mínimas de seguridad (clave, sesión)</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Mínimo obligatorio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Puede endurecerlas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Usuarios, niveles y relevo</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Proyectos, cronogramas, costos y reportes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Cargos, calendarios y listas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Invitados externos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Respaldos, exportación y auditoría</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Resumen técnico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Logo y nombre en reportes</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i="1" dirty="0">
                <a:solidFill>
                  <a:schemeClr val="accent5"/>
                </a:solidFill>
              </a:rPr>
              <a:t>Si una empresa se va, se lleva todos sus datos (exportación completa) y se borran de la plataforma.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Alta de una empresa nueva</a:t>
            </a:r>
            <a:endParaRPr lang="en-US" sz="3600" dirty="0"/>
          </a:p>
        </p:txBody>
      </p:sp>
      <p:sp>
        <p:nvSpPr>
          <p:cNvPr id="3" name="Creas la empresa círculo"/>
          <p:cNvSpPr/>
          <p:nvPr/>
        </p:nvSpPr>
        <p:spPr>
          <a:xfrm>
            <a:off x="1115568" y="1554480"/>
            <a:ext cx="914400" cy="914400"/>
          </a:xfrm>
          <a:prstGeom prst="ellipse">
            <a:avLst/>
          </a:prstGeom>
          <a:solidFill>
            <a:schemeClr val="tx2"/>
          </a:solidFill>
          <a:ln w="12700">
            <a:solidFill>
              <a:schemeClr val="tx2"/>
            </a:solidFill>
            <a:prstDash val="solid"/>
          </a:ln>
        </p:spPr>
      </p:sp>
      <p:pic>
        <p:nvPicPr>
          <p:cNvPr id="4" name="Creas la empresa ícono" descr="Creas la empresa">    </p:cNvPr>
          <p:cNvPicPr>
            <a:picLocks noChangeAspect="1"/>
          </p:cNvPicPr>
          <p:nvPr/>
        </p:nvPicPr>
        <p:blipFill>
          <a:blip r:embed="rId1"/>
          <a:stretch>
            <a:fillRect/>
          </a:stretch>
        </p:blipFill>
        <p:spPr>
          <a:xfrm>
            <a:off x="1335024" y="1773936"/>
            <a:ext cx="475488" cy="475488"/>
          </a:xfrm>
          <a:prstGeom prst="rect">
            <a:avLst/>
          </a:prstGeom>
        </p:spPr>
      </p:pic>
      <p:sp>
        <p:nvSpPr>
          <p:cNvPr id="5" name="flecha 1"/>
          <p:cNvSpPr/>
          <p:nvPr/>
        </p:nvSpPr>
        <p:spPr>
          <a:xfrm>
            <a:off x="2240280" y="1856232"/>
            <a:ext cx="457200" cy="310896"/>
          </a:xfrm>
          <a:prstGeom prst="rightArrow">
            <a:avLst/>
          </a:prstGeom>
          <a:solidFill>
            <a:srgbClr val="D5DCE5"/>
          </a:solidFill>
          <a:ln w="12700">
            <a:solidFill>
              <a:srgbClr val="D5DCE5"/>
            </a:solidFill>
            <a:prstDash val="solid"/>
          </a:ln>
        </p:spPr>
      </p:sp>
      <p:sp>
        <p:nvSpPr>
          <p:cNvPr id="6" name="Text 3"/>
          <p:cNvSpPr txBox="1"/>
          <p:nvPr/>
        </p:nvSpPr>
        <p:spPr>
          <a:xfrm>
            <a:off x="548640" y="2606040"/>
            <a:ext cx="2057400" cy="365760"/>
          </a:xfrm>
          <a:prstGeom prst="rect">
            <a:avLst/>
          </a:prstGeom>
          <a:noFill/>
          <a:ln/>
        </p:spPr>
        <p:txBody>
          <a:bodyPr wrap="square" lIns="0" tIns="0" rIns="0" bIns="0" rtlCol="0" anchor="t"/>
          <a:lstStyle/>
          <a:p>
            <a:pPr algn="ctr" indent="0" marL="0">
              <a:buNone/>
            </a:pPr>
            <a:r>
              <a:rPr lang="en-US" sz="1400" b="1" dirty="0">
                <a:solidFill>
                  <a:schemeClr val="tx2"/>
                </a:solidFill>
              </a:rPr>
              <a:t>1. Tú</a:t>
            </a:r>
            <a:endParaRPr lang="en-US" sz="1400" dirty="0"/>
          </a:p>
        </p:txBody>
      </p:sp>
      <p:sp>
        <p:nvSpPr>
          <p:cNvPr id="7" name="Text 4"/>
          <p:cNvSpPr txBox="1"/>
          <p:nvPr/>
        </p:nvSpPr>
        <p:spPr>
          <a:xfrm>
            <a:off x="548640" y="2971800"/>
            <a:ext cx="2057400" cy="640080"/>
          </a:xfrm>
          <a:prstGeom prst="rect">
            <a:avLst/>
          </a:prstGeom>
          <a:noFill/>
          <a:ln/>
        </p:spPr>
        <p:txBody>
          <a:bodyPr wrap="square" lIns="0" tIns="0" rIns="0" bIns="0" rtlCol="0" anchor="t"/>
          <a:lstStyle/>
          <a:p>
            <a:pPr algn="ctr" indent="0" marL="0">
              <a:buNone/>
            </a:pPr>
            <a:r>
              <a:rPr lang="en-US" sz="1400" dirty="0">
                <a:solidFill>
                  <a:schemeClr val="tx1"/>
                </a:solidFill>
              </a:rPr>
              <a:t>Creas la empresa</a:t>
            </a:r>
            <a:endParaRPr lang="en-US" sz="1400" dirty="0"/>
          </a:p>
        </p:txBody>
      </p:sp>
      <p:sp>
        <p:nvSpPr>
          <p:cNvPr id="8" name="Designas a su Super administrador círculo"/>
          <p:cNvSpPr/>
          <p:nvPr/>
        </p:nvSpPr>
        <p:spPr>
          <a:xfrm>
            <a:off x="3383280" y="1554480"/>
            <a:ext cx="914400" cy="914400"/>
          </a:xfrm>
          <a:prstGeom prst="ellipse">
            <a:avLst/>
          </a:prstGeom>
          <a:solidFill>
            <a:schemeClr val="accent1"/>
          </a:solidFill>
          <a:ln w="12700">
            <a:solidFill>
              <a:schemeClr val="accent1"/>
            </a:solidFill>
            <a:prstDash val="solid"/>
          </a:ln>
        </p:spPr>
      </p:sp>
      <p:pic>
        <p:nvPicPr>
          <p:cNvPr id="9" name="Designas a su Super administrador ícono" descr="Designas a su Super administrador">    </p:cNvPr>
          <p:cNvPicPr>
            <a:picLocks noChangeAspect="1"/>
          </p:cNvPicPr>
          <p:nvPr/>
        </p:nvPicPr>
        <p:blipFill>
          <a:blip r:embed="rId2"/>
          <a:stretch>
            <a:fillRect/>
          </a:stretch>
        </p:blipFill>
        <p:spPr>
          <a:xfrm>
            <a:off x="3602736" y="1773936"/>
            <a:ext cx="475488" cy="475488"/>
          </a:xfrm>
          <a:prstGeom prst="rect">
            <a:avLst/>
          </a:prstGeom>
        </p:spPr>
      </p:pic>
      <p:sp>
        <p:nvSpPr>
          <p:cNvPr id="10" name="flecha 2"/>
          <p:cNvSpPr/>
          <p:nvPr/>
        </p:nvSpPr>
        <p:spPr>
          <a:xfrm>
            <a:off x="4507992" y="1856232"/>
            <a:ext cx="457200" cy="310896"/>
          </a:xfrm>
          <a:prstGeom prst="rightArrow">
            <a:avLst/>
          </a:prstGeom>
          <a:solidFill>
            <a:srgbClr val="D5DCE5"/>
          </a:solidFill>
          <a:ln w="12700">
            <a:solidFill>
              <a:srgbClr val="D5DCE5"/>
            </a:solidFill>
            <a:prstDash val="solid"/>
          </a:ln>
        </p:spPr>
      </p:sp>
      <p:sp>
        <p:nvSpPr>
          <p:cNvPr id="11" name="Text 7"/>
          <p:cNvSpPr txBox="1"/>
          <p:nvPr/>
        </p:nvSpPr>
        <p:spPr>
          <a:xfrm>
            <a:off x="2816352" y="2606040"/>
            <a:ext cx="2057400" cy="365760"/>
          </a:xfrm>
          <a:prstGeom prst="rect">
            <a:avLst/>
          </a:prstGeom>
          <a:noFill/>
          <a:ln/>
        </p:spPr>
        <p:txBody>
          <a:bodyPr wrap="square" lIns="0" tIns="0" rIns="0" bIns="0" rtlCol="0" anchor="t"/>
          <a:lstStyle/>
          <a:p>
            <a:pPr algn="ctr" indent="0" marL="0">
              <a:buNone/>
            </a:pPr>
            <a:r>
              <a:rPr lang="en-US" sz="1400" b="1" dirty="0">
                <a:solidFill>
                  <a:schemeClr val="tx2"/>
                </a:solidFill>
              </a:rPr>
              <a:t>2. Tú</a:t>
            </a:r>
            <a:endParaRPr lang="en-US" sz="1400" dirty="0"/>
          </a:p>
        </p:txBody>
      </p:sp>
      <p:sp>
        <p:nvSpPr>
          <p:cNvPr id="12" name="Text 8"/>
          <p:cNvSpPr txBox="1"/>
          <p:nvPr/>
        </p:nvSpPr>
        <p:spPr>
          <a:xfrm>
            <a:off x="2816352" y="2971800"/>
            <a:ext cx="2057400" cy="640080"/>
          </a:xfrm>
          <a:prstGeom prst="rect">
            <a:avLst/>
          </a:prstGeom>
          <a:noFill/>
          <a:ln/>
        </p:spPr>
        <p:txBody>
          <a:bodyPr wrap="square" lIns="0" tIns="0" rIns="0" bIns="0" rtlCol="0" anchor="t"/>
          <a:lstStyle/>
          <a:p>
            <a:pPr algn="ctr" indent="0" marL="0">
              <a:buNone/>
            </a:pPr>
            <a:r>
              <a:rPr lang="en-US" sz="1400" dirty="0">
                <a:solidFill>
                  <a:schemeClr val="tx1"/>
                </a:solidFill>
              </a:rPr>
              <a:t>Designas a su Super administrador</a:t>
            </a:r>
            <a:endParaRPr lang="en-US" sz="1400" dirty="0"/>
          </a:p>
        </p:txBody>
      </p:sp>
      <p:sp>
        <p:nvSpPr>
          <p:cNvPr id="13" name="Copia la plantilla de 11 áreas círculo"/>
          <p:cNvSpPr/>
          <p:nvPr/>
        </p:nvSpPr>
        <p:spPr>
          <a:xfrm>
            <a:off x="5650992" y="1554480"/>
            <a:ext cx="914400" cy="914400"/>
          </a:xfrm>
          <a:prstGeom prst="ellipse">
            <a:avLst/>
          </a:prstGeom>
          <a:solidFill>
            <a:schemeClr val="accent1"/>
          </a:solidFill>
          <a:ln w="12700">
            <a:solidFill>
              <a:schemeClr val="accent1"/>
            </a:solidFill>
            <a:prstDash val="solid"/>
          </a:ln>
        </p:spPr>
      </p:sp>
      <p:pic>
        <p:nvPicPr>
          <p:cNvPr id="14" name="Copia la plantilla de 11 áreas ícono" descr="Copia la plantilla de 11 áreas">    </p:cNvPr>
          <p:cNvPicPr>
            <a:picLocks noChangeAspect="1"/>
          </p:cNvPicPr>
          <p:nvPr/>
        </p:nvPicPr>
        <p:blipFill>
          <a:blip r:embed="rId3"/>
          <a:stretch>
            <a:fillRect/>
          </a:stretch>
        </p:blipFill>
        <p:spPr>
          <a:xfrm>
            <a:off x="5870448" y="1773936"/>
            <a:ext cx="475488" cy="475488"/>
          </a:xfrm>
          <a:prstGeom prst="rect">
            <a:avLst/>
          </a:prstGeom>
        </p:spPr>
      </p:pic>
      <p:sp>
        <p:nvSpPr>
          <p:cNvPr id="15" name="flecha 3"/>
          <p:cNvSpPr/>
          <p:nvPr/>
        </p:nvSpPr>
        <p:spPr>
          <a:xfrm>
            <a:off x="6775704" y="1856232"/>
            <a:ext cx="457200" cy="310896"/>
          </a:xfrm>
          <a:prstGeom prst="rightArrow">
            <a:avLst/>
          </a:prstGeom>
          <a:solidFill>
            <a:srgbClr val="D5DCE5"/>
          </a:solidFill>
          <a:ln w="12700">
            <a:solidFill>
              <a:srgbClr val="D5DCE5"/>
            </a:solidFill>
            <a:prstDash val="solid"/>
          </a:ln>
        </p:spPr>
      </p:sp>
      <p:sp>
        <p:nvSpPr>
          <p:cNvPr id="16" name="Text 11"/>
          <p:cNvSpPr txBox="1"/>
          <p:nvPr/>
        </p:nvSpPr>
        <p:spPr>
          <a:xfrm>
            <a:off x="5084064" y="2606040"/>
            <a:ext cx="2057400" cy="365760"/>
          </a:xfrm>
          <a:prstGeom prst="rect">
            <a:avLst/>
          </a:prstGeom>
          <a:noFill/>
          <a:ln/>
        </p:spPr>
        <p:txBody>
          <a:bodyPr wrap="square" lIns="0" tIns="0" rIns="0" bIns="0" rtlCol="0" anchor="t"/>
          <a:lstStyle/>
          <a:p>
            <a:pPr algn="ctr" indent="0" marL="0">
              <a:buNone/>
            </a:pPr>
            <a:r>
              <a:rPr lang="en-US" sz="1400" b="1" dirty="0">
                <a:solidFill>
                  <a:schemeClr val="tx2"/>
                </a:solidFill>
              </a:rPr>
              <a:t>3. Sistema</a:t>
            </a:r>
            <a:endParaRPr lang="en-US" sz="1400" dirty="0"/>
          </a:p>
        </p:txBody>
      </p:sp>
      <p:sp>
        <p:nvSpPr>
          <p:cNvPr id="17" name="Text 12"/>
          <p:cNvSpPr txBox="1"/>
          <p:nvPr/>
        </p:nvSpPr>
        <p:spPr>
          <a:xfrm>
            <a:off x="5084064" y="2971800"/>
            <a:ext cx="2057400" cy="640080"/>
          </a:xfrm>
          <a:prstGeom prst="rect">
            <a:avLst/>
          </a:prstGeom>
          <a:noFill/>
          <a:ln/>
        </p:spPr>
        <p:txBody>
          <a:bodyPr wrap="square" lIns="0" tIns="0" rIns="0" bIns="0" rtlCol="0" anchor="t"/>
          <a:lstStyle/>
          <a:p>
            <a:pPr algn="ctr" indent="0" marL="0">
              <a:buNone/>
            </a:pPr>
            <a:r>
              <a:rPr lang="en-US" sz="1400" dirty="0">
                <a:solidFill>
                  <a:schemeClr val="tx1"/>
                </a:solidFill>
              </a:rPr>
              <a:t>Copia la plantilla de 11 áreas</a:t>
            </a:r>
            <a:endParaRPr lang="en-US" sz="1400" dirty="0"/>
          </a:p>
        </p:txBody>
      </p:sp>
      <p:sp>
        <p:nvSpPr>
          <p:cNvPr id="18" name="Nombra su relevo y crea usuarios círculo"/>
          <p:cNvSpPr/>
          <p:nvPr/>
        </p:nvSpPr>
        <p:spPr>
          <a:xfrm>
            <a:off x="7918704" y="1554480"/>
            <a:ext cx="914400" cy="914400"/>
          </a:xfrm>
          <a:prstGeom prst="ellipse">
            <a:avLst/>
          </a:prstGeom>
          <a:solidFill>
            <a:schemeClr val="accent2"/>
          </a:solidFill>
          <a:ln w="12700">
            <a:solidFill>
              <a:schemeClr val="accent2"/>
            </a:solidFill>
            <a:prstDash val="solid"/>
          </a:ln>
        </p:spPr>
      </p:sp>
      <p:pic>
        <p:nvPicPr>
          <p:cNvPr id="19" name="Nombra su relevo y crea usuarios ícono" descr="Nombra su relevo y crea usuarios">    </p:cNvPr>
          <p:cNvPicPr>
            <a:picLocks noChangeAspect="1"/>
          </p:cNvPicPr>
          <p:nvPr/>
        </p:nvPicPr>
        <p:blipFill>
          <a:blip r:embed="rId4"/>
          <a:stretch>
            <a:fillRect/>
          </a:stretch>
        </p:blipFill>
        <p:spPr>
          <a:xfrm>
            <a:off x="8138160" y="1773936"/>
            <a:ext cx="475488" cy="475488"/>
          </a:xfrm>
          <a:prstGeom prst="rect">
            <a:avLst/>
          </a:prstGeom>
        </p:spPr>
      </p:pic>
      <p:sp>
        <p:nvSpPr>
          <p:cNvPr id="20" name="flecha 4"/>
          <p:cNvSpPr/>
          <p:nvPr/>
        </p:nvSpPr>
        <p:spPr>
          <a:xfrm>
            <a:off x="9043416" y="1856232"/>
            <a:ext cx="457200" cy="310896"/>
          </a:xfrm>
          <a:prstGeom prst="rightArrow">
            <a:avLst/>
          </a:prstGeom>
          <a:solidFill>
            <a:srgbClr val="D5DCE5"/>
          </a:solidFill>
          <a:ln w="12700">
            <a:solidFill>
              <a:srgbClr val="D5DCE5"/>
            </a:solidFill>
            <a:prstDash val="solid"/>
          </a:ln>
        </p:spPr>
      </p:sp>
      <p:sp>
        <p:nvSpPr>
          <p:cNvPr id="21" name="Text 15"/>
          <p:cNvSpPr txBox="1"/>
          <p:nvPr/>
        </p:nvSpPr>
        <p:spPr>
          <a:xfrm>
            <a:off x="7351776" y="2606040"/>
            <a:ext cx="2057400" cy="365760"/>
          </a:xfrm>
          <a:prstGeom prst="rect">
            <a:avLst/>
          </a:prstGeom>
          <a:noFill/>
          <a:ln/>
        </p:spPr>
        <p:txBody>
          <a:bodyPr wrap="square" lIns="0" tIns="0" rIns="0" bIns="0" rtlCol="0" anchor="t"/>
          <a:lstStyle/>
          <a:p>
            <a:pPr algn="ctr" indent="0" marL="0">
              <a:buNone/>
            </a:pPr>
            <a:r>
              <a:rPr lang="en-US" sz="1400" b="1" dirty="0">
                <a:solidFill>
                  <a:schemeClr val="tx2"/>
                </a:solidFill>
              </a:rPr>
              <a:t>4. Su Super admin</a:t>
            </a:r>
            <a:endParaRPr lang="en-US" sz="1400" dirty="0"/>
          </a:p>
        </p:txBody>
      </p:sp>
      <p:sp>
        <p:nvSpPr>
          <p:cNvPr id="22" name="Text 16"/>
          <p:cNvSpPr txBox="1"/>
          <p:nvPr/>
        </p:nvSpPr>
        <p:spPr>
          <a:xfrm>
            <a:off x="7351776" y="2971800"/>
            <a:ext cx="2057400" cy="640080"/>
          </a:xfrm>
          <a:prstGeom prst="rect">
            <a:avLst/>
          </a:prstGeom>
          <a:noFill/>
          <a:ln/>
        </p:spPr>
        <p:txBody>
          <a:bodyPr wrap="square" lIns="0" tIns="0" rIns="0" bIns="0" rtlCol="0" anchor="t"/>
          <a:lstStyle/>
          <a:p>
            <a:pPr algn="ctr" indent="0" marL="0">
              <a:buNone/>
            </a:pPr>
            <a:r>
              <a:rPr lang="en-US" sz="1400" dirty="0">
                <a:solidFill>
                  <a:schemeClr val="tx1"/>
                </a:solidFill>
              </a:rPr>
              <a:t>Nombra su relevo y crea usuarios</a:t>
            </a:r>
            <a:endParaRPr lang="en-US" sz="1400" dirty="0"/>
          </a:p>
        </p:txBody>
      </p:sp>
      <p:sp>
        <p:nvSpPr>
          <p:cNvPr id="23" name="Crea proyectos y administradores círculo"/>
          <p:cNvSpPr/>
          <p:nvPr/>
        </p:nvSpPr>
        <p:spPr>
          <a:xfrm>
            <a:off x="10186416" y="1554480"/>
            <a:ext cx="914400" cy="914400"/>
          </a:xfrm>
          <a:prstGeom prst="ellipse">
            <a:avLst/>
          </a:prstGeom>
          <a:solidFill>
            <a:schemeClr val="accent3"/>
          </a:solidFill>
          <a:ln w="12700">
            <a:solidFill>
              <a:schemeClr val="accent3"/>
            </a:solidFill>
            <a:prstDash val="solid"/>
          </a:ln>
        </p:spPr>
      </p:sp>
      <p:pic>
        <p:nvPicPr>
          <p:cNvPr id="24" name="Crea proyectos y administradores ícono" descr="Crea proyectos y administradores">    </p:cNvPr>
          <p:cNvPicPr>
            <a:picLocks noChangeAspect="1"/>
          </p:cNvPicPr>
          <p:nvPr/>
        </p:nvPicPr>
        <p:blipFill>
          <a:blip r:embed="rId5"/>
          <a:stretch>
            <a:fillRect/>
          </a:stretch>
        </p:blipFill>
        <p:spPr>
          <a:xfrm>
            <a:off x="10405872" y="1773936"/>
            <a:ext cx="475488" cy="475488"/>
          </a:xfrm>
          <a:prstGeom prst="rect">
            <a:avLst/>
          </a:prstGeom>
        </p:spPr>
      </p:pic>
      <p:sp>
        <p:nvSpPr>
          <p:cNvPr id="25" name="Text 18"/>
          <p:cNvSpPr txBox="1"/>
          <p:nvPr/>
        </p:nvSpPr>
        <p:spPr>
          <a:xfrm>
            <a:off x="9619488" y="2606040"/>
            <a:ext cx="2057400" cy="365760"/>
          </a:xfrm>
          <a:prstGeom prst="rect">
            <a:avLst/>
          </a:prstGeom>
          <a:noFill/>
          <a:ln/>
        </p:spPr>
        <p:txBody>
          <a:bodyPr wrap="square" lIns="0" tIns="0" rIns="0" bIns="0" rtlCol="0" anchor="t"/>
          <a:lstStyle/>
          <a:p>
            <a:pPr algn="ctr" indent="0" marL="0">
              <a:buNone/>
            </a:pPr>
            <a:r>
              <a:rPr lang="en-US" sz="1400" b="1" dirty="0">
                <a:solidFill>
                  <a:schemeClr val="tx2"/>
                </a:solidFill>
              </a:rPr>
              <a:t>5. Su Super admin</a:t>
            </a:r>
            <a:endParaRPr lang="en-US" sz="1400" dirty="0"/>
          </a:p>
        </p:txBody>
      </p:sp>
      <p:sp>
        <p:nvSpPr>
          <p:cNvPr id="26" name="Text 19"/>
          <p:cNvSpPr txBox="1"/>
          <p:nvPr/>
        </p:nvSpPr>
        <p:spPr>
          <a:xfrm>
            <a:off x="9619488" y="2971800"/>
            <a:ext cx="2057400" cy="640080"/>
          </a:xfrm>
          <a:prstGeom prst="rect">
            <a:avLst/>
          </a:prstGeom>
          <a:noFill/>
          <a:ln/>
        </p:spPr>
        <p:txBody>
          <a:bodyPr wrap="square" lIns="0" tIns="0" rIns="0" bIns="0" rtlCol="0" anchor="t"/>
          <a:lstStyle/>
          <a:p>
            <a:pPr algn="ctr" indent="0" marL="0">
              <a:buNone/>
            </a:pPr>
            <a:r>
              <a:rPr lang="en-US" sz="1400" dirty="0">
                <a:solidFill>
                  <a:schemeClr val="tx1"/>
                </a:solidFill>
              </a:rPr>
              <a:t>Crea proyectos y administradores</a:t>
            </a:r>
            <a:endParaRPr lang="en-US" sz="1400" dirty="0"/>
          </a:p>
        </p:txBody>
      </p:sp>
      <p:sp>
        <p:nvSpPr>
          <p:cNvPr id="27" name="Opción B"/>
          <p:cNvSpPr/>
          <p:nvPr/>
        </p:nvSpPr>
        <p:spPr>
          <a:xfrm>
            <a:off x="548640" y="3977640"/>
            <a:ext cx="54406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Text 21"/>
          <p:cNvSpPr txBox="1"/>
          <p:nvPr/>
        </p:nvSpPr>
        <p:spPr>
          <a:xfrm>
            <a:off x="822960" y="4160520"/>
            <a:ext cx="4937760" cy="1737360"/>
          </a:xfrm>
          <a:prstGeom prst="rect">
            <a:avLst/>
          </a:prstGeom>
          <a:noFill/>
          <a:ln/>
        </p:spPr>
        <p:txBody>
          <a:bodyPr wrap="square" lIns="0" tIns="0" rIns="0" bIns="0" rtlCol="0" anchor="t"/>
          <a:lstStyle/>
          <a:p>
            <a:pPr indent="0" marL="0">
              <a:buNone/>
            </a:pPr>
            <a:r>
              <a:rPr lang="en-US" sz="1700" b="1" dirty="0">
                <a:solidFill>
                  <a:schemeClr val="tx2"/>
                </a:solidFill>
              </a:rPr>
              <a:t>Estándar: plataforma compartida</a:t>
            </a:r>
            <a:endParaRPr lang="en-US" sz="1400" dirty="0"/>
          </a:p>
          <a:p>
            <a:pPr indent="0" marL="0">
              <a:buNone/>
            </a:pPr>
            <a:r>
              <a:rPr lang="en-US" sz="1400" dirty="0">
                <a:solidFill>
                  <a:schemeClr val="tx1"/>
                </a:solidFill>
              </a:rPr>
              <a:t>Una sola app y una sola base de datos, con cada empresa aislada. Una versión que mantener; costo repartido.</a:t>
            </a:r>
            <a:endParaRPr lang="en-US" sz="1400" dirty="0"/>
          </a:p>
        </p:txBody>
      </p:sp>
      <p:sp>
        <p:nvSpPr>
          <p:cNvPr id="29" name="Opción dedicada"/>
          <p:cNvSpPr/>
          <p:nvPr/>
        </p:nvSpPr>
        <p:spPr>
          <a:xfrm>
            <a:off x="6172200" y="3977640"/>
            <a:ext cx="5440680" cy="1463040"/>
          </a:xfrm>
          <a:prstGeom prst="roundRect">
            <a:avLst>
              <a:gd name="adj" fmla="val 75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30" name="Text 23"/>
          <p:cNvSpPr txBox="1"/>
          <p:nvPr/>
        </p:nvSpPr>
        <p:spPr>
          <a:xfrm>
            <a:off x="6446520" y="4160520"/>
            <a:ext cx="4937760" cy="1737360"/>
          </a:xfrm>
          <a:prstGeom prst="rect">
            <a:avLst/>
          </a:prstGeom>
          <a:noFill/>
          <a:ln/>
        </p:spPr>
        <p:txBody>
          <a:bodyPr wrap="square" lIns="0" tIns="0" rIns="0" bIns="0" rtlCol="0" anchor="t"/>
          <a:lstStyle/>
          <a:p>
            <a:pPr indent="0" marL="0">
              <a:buNone/>
            </a:pPr>
            <a:r>
              <a:rPr lang="en-US" sz="1700" b="1" dirty="0">
                <a:solidFill>
                  <a:schemeClr val="accent1"/>
                </a:solidFill>
              </a:rPr>
              <a:t>Opcional: instalación dedicada</a:t>
            </a:r>
            <a:endParaRPr lang="en-US" sz="1400" dirty="0"/>
          </a:p>
          <a:p>
            <a:pPr indent="0" marL="0">
              <a:buNone/>
            </a:pPr>
            <a:r>
              <a:rPr lang="en-US" sz="1400" dirty="0">
                <a:solidFill>
                  <a:schemeClr val="bg1"/>
                </a:solidFill>
              </a:rPr>
              <a:t>Para la empresa que lo exija por contrato: el mismo código, con su propia base de datos o en su nube.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Dentro de cada empresa: grupos (proyectos) y miembros</a:t>
            </a:r>
            <a:endParaRPr lang="en-US" sz="3600" dirty="0"/>
          </a:p>
        </p:txBody>
      </p:sp>
      <p:sp>
        <p:nvSpPr>
          <p:cNvPr id="3" name="Super administrador"/>
          <p:cNvSpPr/>
          <p:nvPr/>
        </p:nvSpPr>
        <p:spPr>
          <a:xfrm>
            <a:off x="2743200" y="1325880"/>
            <a:ext cx="3291840" cy="822960"/>
          </a:xfrm>
          <a:prstGeom prst="roundRect">
            <a:avLst>
              <a:gd name="adj" fmla="val 13333"/>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pic>
        <p:nvPicPr>
          <p:cNvPr id="4" name="Super administrador ícono" descr="Super administrador">    </p:cNvPr>
          <p:cNvPicPr>
            <a:picLocks noChangeAspect="1"/>
          </p:cNvPicPr>
          <p:nvPr/>
        </p:nvPicPr>
        <p:blipFill>
          <a:blip r:embed="rId1"/>
          <a:stretch>
            <a:fillRect/>
          </a:stretch>
        </p:blipFill>
        <p:spPr>
          <a:xfrm>
            <a:off x="2926080" y="1545336"/>
            <a:ext cx="384048" cy="384048"/>
          </a:xfrm>
          <a:prstGeom prst="rect">
            <a:avLst/>
          </a:prstGeom>
        </p:spPr>
      </p:pic>
      <p:sp>
        <p:nvSpPr>
          <p:cNvPr id="5" name="Text 2"/>
          <p:cNvSpPr txBox="1"/>
          <p:nvPr/>
        </p:nvSpPr>
        <p:spPr>
          <a:xfrm>
            <a:off x="3456432" y="1399032"/>
            <a:ext cx="2468880" cy="676656"/>
          </a:xfrm>
          <a:prstGeom prst="rect">
            <a:avLst/>
          </a:prstGeom>
          <a:noFill/>
          <a:ln/>
        </p:spPr>
        <p:txBody>
          <a:bodyPr wrap="square" lIns="0" tIns="0" rIns="0" bIns="0" rtlCol="0" anchor="ctr"/>
          <a:lstStyle/>
          <a:p>
            <a:pPr indent="0" marL="0">
              <a:buNone/>
            </a:pPr>
            <a:r>
              <a:rPr lang="en-US" sz="1400" b="1" dirty="0">
                <a:solidFill>
                  <a:schemeClr val="bg1"/>
                </a:solidFill>
              </a:rPr>
              <a:t>Super administrador</a:t>
            </a:r>
            <a:endParaRPr lang="en-US" sz="1400" dirty="0"/>
          </a:p>
          <a:p>
            <a:pPr indent="0" marL="0">
              <a:buNone/>
            </a:pPr>
            <a:r>
              <a:rPr lang="en-US" sz="1100" dirty="0">
                <a:solidFill>
                  <a:schemeClr val="bg1"/>
                </a:solidFill>
              </a:rPr>
              <a:t>de la empresa · protegido</a:t>
            </a:r>
            <a:endParaRPr lang="en-US" sz="1400" dirty="0"/>
          </a:p>
        </p:txBody>
      </p:sp>
      <p:sp>
        <p:nvSpPr>
          <p:cNvPr id="6" name="Delegado"/>
          <p:cNvSpPr/>
          <p:nvPr/>
        </p:nvSpPr>
        <p:spPr>
          <a:xfrm>
            <a:off x="6309360" y="1325880"/>
            <a:ext cx="3108960" cy="822960"/>
          </a:xfrm>
          <a:prstGeom prst="roundRect">
            <a:avLst>
              <a:gd name="adj" fmla="val 13333"/>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pic>
        <p:nvPicPr>
          <p:cNvPr id="7" name="Delegado ícono" descr="Delegado">    </p:cNvPr>
          <p:cNvPicPr>
            <a:picLocks noChangeAspect="1"/>
          </p:cNvPicPr>
          <p:nvPr/>
        </p:nvPicPr>
        <p:blipFill>
          <a:blip r:embed="rId2"/>
          <a:stretch>
            <a:fillRect/>
          </a:stretch>
        </p:blipFill>
        <p:spPr>
          <a:xfrm>
            <a:off x="6492240" y="1545336"/>
            <a:ext cx="384048" cy="384048"/>
          </a:xfrm>
          <a:prstGeom prst="rect">
            <a:avLst/>
          </a:prstGeom>
        </p:spPr>
      </p:pic>
      <p:sp>
        <p:nvSpPr>
          <p:cNvPr id="8" name="Text 4"/>
          <p:cNvSpPr txBox="1"/>
          <p:nvPr/>
        </p:nvSpPr>
        <p:spPr>
          <a:xfrm>
            <a:off x="7022592" y="1399032"/>
            <a:ext cx="2286000" cy="676656"/>
          </a:xfrm>
          <a:prstGeom prst="rect">
            <a:avLst/>
          </a:prstGeom>
          <a:noFill/>
          <a:ln/>
        </p:spPr>
        <p:txBody>
          <a:bodyPr wrap="square" lIns="0" tIns="0" rIns="0" bIns="0" rtlCol="0" anchor="ctr"/>
          <a:lstStyle/>
          <a:p>
            <a:pPr indent="0" marL="0">
              <a:buNone/>
            </a:pPr>
            <a:r>
              <a:rPr lang="en-US" sz="1400" b="1" dirty="0">
                <a:solidFill>
                  <a:schemeClr val="bg1"/>
                </a:solidFill>
              </a:rPr>
              <a:t>Relevo (delegado)</a:t>
            </a:r>
            <a:endParaRPr lang="en-US" sz="1400" dirty="0"/>
          </a:p>
          <a:p>
            <a:pPr indent="0" marL="0">
              <a:buNone/>
            </a:pPr>
            <a:r>
              <a:rPr lang="en-US" sz="1100" dirty="0">
                <a:solidFill>
                  <a:schemeClr val="bg1"/>
                </a:solidFill>
              </a:rPr>
              <a:t>lo designa el Super administrador</a:t>
            </a:r>
            <a:endParaRPr lang="en-US" sz="1400" dirty="0"/>
          </a:p>
        </p:txBody>
      </p:sp>
      <p:sp>
        <p:nvSpPr>
          <p:cNvPr id="9" name="Shape 5"/>
          <p:cNvSpPr/>
          <p:nvPr/>
        </p:nvSpPr>
        <p:spPr>
          <a:xfrm>
            <a:off x="4389120" y="2148840"/>
            <a:ext cx="91" cy="320040"/>
          </a:xfrm>
          <a:prstGeom prst="line">
            <a:avLst/>
          </a:prstGeom>
          <a:noFill/>
          <a:ln w="19050">
            <a:solidFill>
              <a:srgbClr val="D5DCE5"/>
            </a:solidFill>
            <a:prstDash val="solid"/>
          </a:ln>
        </p:spPr>
      </p:sp>
      <p:sp>
        <p:nvSpPr>
          <p:cNvPr id="10" name="Shape 6"/>
          <p:cNvSpPr/>
          <p:nvPr/>
        </p:nvSpPr>
        <p:spPr>
          <a:xfrm>
            <a:off x="7863840" y="2148840"/>
            <a:ext cx="91" cy="320040"/>
          </a:xfrm>
          <a:prstGeom prst="line">
            <a:avLst/>
          </a:prstGeom>
          <a:noFill/>
          <a:ln w="19050">
            <a:solidFill>
              <a:srgbClr val="D5DCE5"/>
            </a:solidFill>
            <a:prstDash val="solid"/>
          </a:ln>
        </p:spPr>
      </p:sp>
      <p:sp>
        <p:nvSpPr>
          <p:cNvPr id="11" name="Shape 7"/>
          <p:cNvSpPr/>
          <p:nvPr/>
        </p:nvSpPr>
        <p:spPr>
          <a:xfrm>
            <a:off x="2308860" y="2468880"/>
            <a:ext cx="7498080" cy="91"/>
          </a:xfrm>
          <a:prstGeom prst="line">
            <a:avLst/>
          </a:prstGeom>
          <a:noFill/>
          <a:ln w="19050">
            <a:solidFill>
              <a:srgbClr val="D5DCE5"/>
            </a:solidFill>
            <a:prstDash val="solid"/>
          </a:ln>
        </p:spPr>
      </p:sp>
      <p:sp>
        <p:nvSpPr>
          <p:cNvPr id="12" name="Shape 8"/>
          <p:cNvSpPr/>
          <p:nvPr/>
        </p:nvSpPr>
        <p:spPr>
          <a:xfrm>
            <a:off x="2308860" y="2468880"/>
            <a:ext cx="91" cy="228600"/>
          </a:xfrm>
          <a:prstGeom prst="line">
            <a:avLst/>
          </a:prstGeom>
          <a:noFill/>
          <a:ln w="19050">
            <a:solidFill>
              <a:srgbClr val="D5DCE5"/>
            </a:solidFill>
            <a:prstDash val="solid"/>
          </a:ln>
        </p:spPr>
      </p:sp>
      <p:sp>
        <p:nvSpPr>
          <p:cNvPr id="13" name="Grupo: Proyecto A"/>
          <p:cNvSpPr/>
          <p:nvPr/>
        </p:nvSpPr>
        <p:spPr>
          <a:xfrm>
            <a:off x="548640" y="2697480"/>
            <a:ext cx="3520440" cy="777240"/>
          </a:xfrm>
          <a:prstGeom prst="roundRect">
            <a:avLst>
              <a:gd name="adj" fmla="val 14118"/>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713232" y="2770632"/>
            <a:ext cx="3246120" cy="630936"/>
          </a:xfrm>
          <a:prstGeom prst="rect">
            <a:avLst/>
          </a:prstGeom>
          <a:noFill/>
          <a:ln/>
        </p:spPr>
        <p:txBody>
          <a:bodyPr wrap="square" lIns="0" tIns="0" rIns="0" bIns="0" rtlCol="0" anchor="ctr"/>
          <a:lstStyle/>
          <a:p>
            <a:pPr indent="0" marL="0">
              <a:buNone/>
            </a:pPr>
            <a:r>
              <a:rPr lang="en-US" sz="1400" b="1" dirty="0">
                <a:solidFill>
                  <a:schemeClr val="bg1"/>
                </a:solidFill>
              </a:rPr>
              <a:t>Grupo: Proyecto A</a:t>
            </a:r>
            <a:endParaRPr lang="en-US" sz="1400" dirty="0"/>
          </a:p>
          <a:p>
            <a:pPr indent="0" marL="0">
              <a:buNone/>
            </a:pPr>
            <a:r>
              <a:rPr lang="en-US" sz="1100" dirty="0">
                <a:solidFill>
                  <a:schemeClr val="bg1"/>
                </a:solidFill>
              </a:rPr>
              <a:t>p. ej. Edificio Las Palmas</a:t>
            </a:r>
            <a:endParaRPr lang="en-US" sz="1400" dirty="0"/>
          </a:p>
        </p:txBody>
      </p:sp>
      <p:sp>
        <p:nvSpPr>
          <p:cNvPr id="15" name="Grupo: Proyecto A Administrador de grupo"/>
          <p:cNvSpPr/>
          <p:nvPr/>
        </p:nvSpPr>
        <p:spPr>
          <a:xfrm>
            <a:off x="777240" y="3657600"/>
            <a:ext cx="3063240" cy="475488"/>
          </a:xfrm>
          <a:prstGeom prst="roundRect">
            <a:avLst>
              <a:gd name="adj" fmla="val 13462"/>
            </a:avLst>
          </a:prstGeom>
          <a:solidFill>
            <a:srgbClr val="EEF2F6"/>
          </a:solidFill>
          <a:ln w="12700">
            <a:solidFill>
              <a:srgbClr val="EEF2F6"/>
            </a:solidFill>
            <a:prstDash val="solid"/>
          </a:ln>
        </p:spPr>
      </p:sp>
      <p:sp>
        <p:nvSpPr>
          <p:cNvPr id="16" name="Text 12"/>
          <p:cNvSpPr txBox="1"/>
          <p:nvPr/>
        </p:nvSpPr>
        <p:spPr>
          <a:xfrm>
            <a:off x="914400" y="3657600"/>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J. Pérez  </a:t>
            </a:r>
            <a:pPr indent="0" marL="0">
              <a:buNone/>
            </a:pPr>
            <a:r>
              <a:rPr lang="en-US" sz="1200" dirty="0">
                <a:solidFill>
                  <a:schemeClr val="tx1"/>
                </a:solidFill>
              </a:rPr>
              <a:t>Administrador de grupo</a:t>
            </a:r>
            <a:endParaRPr lang="en-US" sz="1200" dirty="0"/>
          </a:p>
        </p:txBody>
      </p:sp>
      <p:sp>
        <p:nvSpPr>
          <p:cNvPr id="17" name="Grupo: Proyecto A Planificación"/>
          <p:cNvSpPr/>
          <p:nvPr/>
        </p:nvSpPr>
        <p:spPr>
          <a:xfrm>
            <a:off x="777240" y="4224528"/>
            <a:ext cx="3063240" cy="475488"/>
          </a:xfrm>
          <a:prstGeom prst="roundRect">
            <a:avLst>
              <a:gd name="adj" fmla="val 13462"/>
            </a:avLst>
          </a:prstGeom>
          <a:solidFill>
            <a:srgbClr val="F6E3C1"/>
          </a:solidFill>
          <a:ln w="12700">
            <a:solidFill>
              <a:srgbClr val="F6E3C1"/>
            </a:solidFill>
            <a:prstDash val="solid"/>
          </a:ln>
        </p:spPr>
      </p:sp>
      <p:sp>
        <p:nvSpPr>
          <p:cNvPr id="18" name="Text 14"/>
          <p:cNvSpPr txBox="1"/>
          <p:nvPr/>
        </p:nvSpPr>
        <p:spPr>
          <a:xfrm>
            <a:off x="914400" y="4224528"/>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M. Rojas  </a:t>
            </a:r>
            <a:pPr indent="0" marL="0">
              <a:buNone/>
            </a:pPr>
            <a:r>
              <a:rPr lang="en-US" sz="1200" dirty="0">
                <a:solidFill>
                  <a:schemeClr val="tx1"/>
                </a:solidFill>
              </a:rPr>
              <a:t>Planificación</a:t>
            </a:r>
            <a:endParaRPr lang="en-US" sz="1200" dirty="0"/>
          </a:p>
        </p:txBody>
      </p:sp>
      <p:sp>
        <p:nvSpPr>
          <p:cNvPr id="19" name="Grupo: Proyecto A Costos"/>
          <p:cNvSpPr/>
          <p:nvPr/>
        </p:nvSpPr>
        <p:spPr>
          <a:xfrm>
            <a:off x="777240" y="4791456"/>
            <a:ext cx="3063240" cy="475488"/>
          </a:xfrm>
          <a:prstGeom prst="roundRect">
            <a:avLst>
              <a:gd name="adj" fmla="val 13462"/>
            </a:avLst>
          </a:prstGeom>
          <a:solidFill>
            <a:srgbClr val="EEF2F6"/>
          </a:solidFill>
          <a:ln w="12700">
            <a:solidFill>
              <a:srgbClr val="EEF2F6"/>
            </a:solidFill>
            <a:prstDash val="solid"/>
          </a:ln>
        </p:spPr>
      </p:sp>
      <p:sp>
        <p:nvSpPr>
          <p:cNvPr id="20" name="Text 16"/>
          <p:cNvSpPr txBox="1"/>
          <p:nvPr/>
        </p:nvSpPr>
        <p:spPr>
          <a:xfrm>
            <a:off x="914400" y="4791456"/>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L. Soto  </a:t>
            </a:r>
            <a:pPr indent="0" marL="0">
              <a:buNone/>
            </a:pPr>
            <a:r>
              <a:rPr lang="en-US" sz="1200" dirty="0">
                <a:solidFill>
                  <a:schemeClr val="tx1"/>
                </a:solidFill>
              </a:rPr>
              <a:t>Costos</a:t>
            </a:r>
            <a:endParaRPr lang="en-US" sz="1200" dirty="0"/>
          </a:p>
        </p:txBody>
      </p:sp>
      <p:sp>
        <p:nvSpPr>
          <p:cNvPr id="21" name="Grupo: Proyecto A Invitado externo"/>
          <p:cNvSpPr/>
          <p:nvPr/>
        </p:nvSpPr>
        <p:spPr>
          <a:xfrm>
            <a:off x="777240" y="5358384"/>
            <a:ext cx="3063240" cy="475488"/>
          </a:xfrm>
          <a:prstGeom prst="roundRect">
            <a:avLst>
              <a:gd name="adj" fmla="val 13462"/>
            </a:avLst>
          </a:prstGeom>
          <a:solidFill>
            <a:srgbClr val="EEF2F6"/>
          </a:solidFill>
          <a:ln w="12700">
            <a:solidFill>
              <a:srgbClr val="EEF2F6"/>
            </a:solidFill>
            <a:prstDash val="solid"/>
          </a:ln>
        </p:spPr>
      </p:sp>
      <p:sp>
        <p:nvSpPr>
          <p:cNvPr id="22" name="Text 18"/>
          <p:cNvSpPr txBox="1"/>
          <p:nvPr/>
        </p:nvSpPr>
        <p:spPr>
          <a:xfrm>
            <a:off x="914400" y="5358384"/>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Cliente  </a:t>
            </a:r>
            <a:pPr indent="0" marL="0">
              <a:buNone/>
            </a:pPr>
            <a:r>
              <a:rPr lang="en-US" sz="1200" dirty="0">
                <a:solidFill>
                  <a:schemeClr val="tx1"/>
                </a:solidFill>
              </a:rPr>
              <a:t>Invitado externo</a:t>
            </a:r>
            <a:endParaRPr lang="en-US" sz="1200" dirty="0"/>
          </a:p>
        </p:txBody>
      </p:sp>
      <p:sp>
        <p:nvSpPr>
          <p:cNvPr id="23" name="Shape 19"/>
          <p:cNvSpPr/>
          <p:nvPr/>
        </p:nvSpPr>
        <p:spPr>
          <a:xfrm>
            <a:off x="6057900" y="2468880"/>
            <a:ext cx="91" cy="228600"/>
          </a:xfrm>
          <a:prstGeom prst="line">
            <a:avLst/>
          </a:prstGeom>
          <a:noFill/>
          <a:ln w="19050">
            <a:solidFill>
              <a:srgbClr val="D5DCE5"/>
            </a:solidFill>
            <a:prstDash val="solid"/>
          </a:ln>
        </p:spPr>
      </p:sp>
      <p:sp>
        <p:nvSpPr>
          <p:cNvPr id="24" name="Grupo: Proyecto B"/>
          <p:cNvSpPr/>
          <p:nvPr/>
        </p:nvSpPr>
        <p:spPr>
          <a:xfrm>
            <a:off x="4297680" y="2697480"/>
            <a:ext cx="3520440" cy="777240"/>
          </a:xfrm>
          <a:prstGeom prst="roundRect">
            <a:avLst>
              <a:gd name="adj" fmla="val 14118"/>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25" name="Text 21"/>
          <p:cNvSpPr txBox="1"/>
          <p:nvPr/>
        </p:nvSpPr>
        <p:spPr>
          <a:xfrm>
            <a:off x="4462272" y="2770632"/>
            <a:ext cx="3246120" cy="630936"/>
          </a:xfrm>
          <a:prstGeom prst="rect">
            <a:avLst/>
          </a:prstGeom>
          <a:noFill/>
          <a:ln/>
        </p:spPr>
        <p:txBody>
          <a:bodyPr wrap="square" lIns="0" tIns="0" rIns="0" bIns="0" rtlCol="0" anchor="ctr"/>
          <a:lstStyle/>
          <a:p>
            <a:pPr indent="0" marL="0">
              <a:buNone/>
            </a:pPr>
            <a:r>
              <a:rPr lang="en-US" sz="1400" b="1" dirty="0">
                <a:solidFill>
                  <a:schemeClr val="bg1"/>
                </a:solidFill>
              </a:rPr>
              <a:t>Grupo: Proyecto B</a:t>
            </a:r>
            <a:endParaRPr lang="en-US" sz="1400" dirty="0"/>
          </a:p>
          <a:p>
            <a:pPr indent="0" marL="0">
              <a:buNone/>
            </a:pPr>
            <a:r>
              <a:rPr lang="en-US" sz="1100" dirty="0">
                <a:solidFill>
                  <a:schemeClr val="bg1"/>
                </a:solidFill>
              </a:rPr>
              <a:t>p. ej. Planta Minera</a:t>
            </a:r>
            <a:endParaRPr lang="en-US" sz="1400" dirty="0"/>
          </a:p>
        </p:txBody>
      </p:sp>
      <p:sp>
        <p:nvSpPr>
          <p:cNvPr id="26" name="Grupo: Proyecto B Administrador de grupo"/>
          <p:cNvSpPr/>
          <p:nvPr/>
        </p:nvSpPr>
        <p:spPr>
          <a:xfrm>
            <a:off x="4526280" y="3657600"/>
            <a:ext cx="3063240" cy="475488"/>
          </a:xfrm>
          <a:prstGeom prst="roundRect">
            <a:avLst>
              <a:gd name="adj" fmla="val 13462"/>
            </a:avLst>
          </a:prstGeom>
          <a:solidFill>
            <a:srgbClr val="EEF2F6"/>
          </a:solidFill>
          <a:ln w="12700">
            <a:solidFill>
              <a:srgbClr val="EEF2F6"/>
            </a:solidFill>
            <a:prstDash val="solid"/>
          </a:ln>
        </p:spPr>
      </p:sp>
      <p:sp>
        <p:nvSpPr>
          <p:cNvPr id="27" name="Text 23"/>
          <p:cNvSpPr txBox="1"/>
          <p:nvPr/>
        </p:nvSpPr>
        <p:spPr>
          <a:xfrm>
            <a:off x="4663440" y="3657600"/>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A. Ruiz  </a:t>
            </a:r>
            <a:pPr indent="0" marL="0">
              <a:buNone/>
            </a:pPr>
            <a:r>
              <a:rPr lang="en-US" sz="1200" dirty="0">
                <a:solidFill>
                  <a:schemeClr val="tx1"/>
                </a:solidFill>
              </a:rPr>
              <a:t>Administrador de grupo</a:t>
            </a:r>
            <a:endParaRPr lang="en-US" sz="1200" dirty="0"/>
          </a:p>
        </p:txBody>
      </p:sp>
      <p:sp>
        <p:nvSpPr>
          <p:cNvPr id="28" name="Grupo: Proyecto B Planificación"/>
          <p:cNvSpPr/>
          <p:nvPr/>
        </p:nvSpPr>
        <p:spPr>
          <a:xfrm>
            <a:off x="4526280" y="4224528"/>
            <a:ext cx="3063240" cy="475488"/>
          </a:xfrm>
          <a:prstGeom prst="roundRect">
            <a:avLst>
              <a:gd name="adj" fmla="val 13462"/>
            </a:avLst>
          </a:prstGeom>
          <a:solidFill>
            <a:srgbClr val="F6E3C1"/>
          </a:solidFill>
          <a:ln w="12700">
            <a:solidFill>
              <a:srgbClr val="F6E3C1"/>
            </a:solidFill>
            <a:prstDash val="solid"/>
          </a:ln>
        </p:spPr>
      </p:sp>
      <p:sp>
        <p:nvSpPr>
          <p:cNvPr id="29" name="Text 25"/>
          <p:cNvSpPr txBox="1"/>
          <p:nvPr/>
        </p:nvSpPr>
        <p:spPr>
          <a:xfrm>
            <a:off x="4663440" y="4224528"/>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M. Rojas  </a:t>
            </a:r>
            <a:pPr indent="0" marL="0">
              <a:buNone/>
            </a:pPr>
            <a:r>
              <a:rPr lang="en-US" sz="1200" dirty="0">
                <a:solidFill>
                  <a:schemeClr val="tx1"/>
                </a:solidFill>
              </a:rPr>
              <a:t>Planificación</a:t>
            </a:r>
            <a:endParaRPr lang="en-US" sz="1200" dirty="0"/>
          </a:p>
        </p:txBody>
      </p:sp>
      <p:sp>
        <p:nvSpPr>
          <p:cNvPr id="30" name="Grupo: Proyecto B Administración de Obra"/>
          <p:cNvSpPr/>
          <p:nvPr/>
        </p:nvSpPr>
        <p:spPr>
          <a:xfrm>
            <a:off x="4526280" y="4791456"/>
            <a:ext cx="3063240" cy="475488"/>
          </a:xfrm>
          <a:prstGeom prst="roundRect">
            <a:avLst>
              <a:gd name="adj" fmla="val 13462"/>
            </a:avLst>
          </a:prstGeom>
          <a:solidFill>
            <a:srgbClr val="EEF2F6"/>
          </a:solidFill>
          <a:ln w="12700">
            <a:solidFill>
              <a:srgbClr val="EEF2F6"/>
            </a:solidFill>
            <a:prstDash val="solid"/>
          </a:ln>
        </p:spPr>
      </p:sp>
      <p:sp>
        <p:nvSpPr>
          <p:cNvPr id="31" name="Text 27"/>
          <p:cNvSpPr txBox="1"/>
          <p:nvPr/>
        </p:nvSpPr>
        <p:spPr>
          <a:xfrm>
            <a:off x="4663440" y="4791456"/>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C. Díaz  </a:t>
            </a:r>
            <a:pPr indent="0" marL="0">
              <a:buNone/>
            </a:pPr>
            <a:r>
              <a:rPr lang="en-US" sz="1200" dirty="0">
                <a:solidFill>
                  <a:schemeClr val="tx1"/>
                </a:solidFill>
              </a:rPr>
              <a:t>Administración de Obra</a:t>
            </a:r>
            <a:endParaRPr lang="en-US" sz="1200" dirty="0"/>
          </a:p>
        </p:txBody>
      </p:sp>
      <p:sp>
        <p:nvSpPr>
          <p:cNvPr id="32" name="Grupo: Proyecto B Seguridad"/>
          <p:cNvSpPr/>
          <p:nvPr/>
        </p:nvSpPr>
        <p:spPr>
          <a:xfrm>
            <a:off x="4526280" y="5358384"/>
            <a:ext cx="3063240" cy="475488"/>
          </a:xfrm>
          <a:prstGeom prst="roundRect">
            <a:avLst>
              <a:gd name="adj" fmla="val 13462"/>
            </a:avLst>
          </a:prstGeom>
          <a:solidFill>
            <a:srgbClr val="EEF2F6"/>
          </a:solidFill>
          <a:ln w="12700">
            <a:solidFill>
              <a:srgbClr val="EEF2F6"/>
            </a:solidFill>
            <a:prstDash val="solid"/>
          </a:ln>
        </p:spPr>
      </p:sp>
      <p:sp>
        <p:nvSpPr>
          <p:cNvPr id="33" name="Text 29"/>
          <p:cNvSpPr txBox="1"/>
          <p:nvPr/>
        </p:nvSpPr>
        <p:spPr>
          <a:xfrm>
            <a:off x="4663440" y="5358384"/>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R. Vega  </a:t>
            </a:r>
            <a:pPr indent="0" marL="0">
              <a:buNone/>
            </a:pPr>
            <a:r>
              <a:rPr lang="en-US" sz="1200" dirty="0">
                <a:solidFill>
                  <a:schemeClr val="tx1"/>
                </a:solidFill>
              </a:rPr>
              <a:t>Seguridad</a:t>
            </a:r>
            <a:endParaRPr lang="en-US" sz="1200" dirty="0"/>
          </a:p>
        </p:txBody>
      </p:sp>
      <p:sp>
        <p:nvSpPr>
          <p:cNvPr id="34" name="Shape 30"/>
          <p:cNvSpPr/>
          <p:nvPr/>
        </p:nvSpPr>
        <p:spPr>
          <a:xfrm>
            <a:off x="9806940" y="2468880"/>
            <a:ext cx="91" cy="228600"/>
          </a:xfrm>
          <a:prstGeom prst="line">
            <a:avLst/>
          </a:prstGeom>
          <a:noFill/>
          <a:ln w="19050">
            <a:solidFill>
              <a:srgbClr val="D5DCE5"/>
            </a:solidFill>
            <a:prstDash val="solid"/>
          </a:ln>
        </p:spPr>
      </p:sp>
      <p:sp>
        <p:nvSpPr>
          <p:cNvPr id="35" name="Grupo: Proyecto C"/>
          <p:cNvSpPr/>
          <p:nvPr/>
        </p:nvSpPr>
        <p:spPr>
          <a:xfrm>
            <a:off x="8046720" y="2697480"/>
            <a:ext cx="3520440" cy="777240"/>
          </a:xfrm>
          <a:prstGeom prst="roundRect">
            <a:avLst>
              <a:gd name="adj" fmla="val 14118"/>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36" name="Text 32"/>
          <p:cNvSpPr txBox="1"/>
          <p:nvPr/>
        </p:nvSpPr>
        <p:spPr>
          <a:xfrm>
            <a:off x="8211312" y="2770632"/>
            <a:ext cx="3246120" cy="630936"/>
          </a:xfrm>
          <a:prstGeom prst="rect">
            <a:avLst/>
          </a:prstGeom>
          <a:noFill/>
          <a:ln/>
        </p:spPr>
        <p:txBody>
          <a:bodyPr wrap="square" lIns="0" tIns="0" rIns="0" bIns="0" rtlCol="0" anchor="ctr"/>
          <a:lstStyle/>
          <a:p>
            <a:pPr indent="0" marL="0">
              <a:buNone/>
            </a:pPr>
            <a:r>
              <a:rPr lang="en-US" sz="1400" b="1" dirty="0">
                <a:solidFill>
                  <a:schemeClr val="bg1"/>
                </a:solidFill>
              </a:rPr>
              <a:t>Grupo: Proyecto C</a:t>
            </a:r>
            <a:endParaRPr lang="en-US" sz="1400" dirty="0"/>
          </a:p>
          <a:p>
            <a:pPr indent="0" marL="0">
              <a:buNone/>
            </a:pPr>
            <a:r>
              <a:rPr lang="en-US" sz="1100" dirty="0">
                <a:solidFill>
                  <a:schemeClr val="bg1"/>
                </a:solidFill>
              </a:rPr>
              <a:t>p. ej. Oficina Técnica (interno)</a:t>
            </a:r>
            <a:endParaRPr lang="en-US" sz="1400" dirty="0"/>
          </a:p>
        </p:txBody>
      </p:sp>
      <p:sp>
        <p:nvSpPr>
          <p:cNvPr id="37" name="Grupo: Proyecto C Administrador de grupo"/>
          <p:cNvSpPr/>
          <p:nvPr/>
        </p:nvSpPr>
        <p:spPr>
          <a:xfrm>
            <a:off x="8275320" y="3657600"/>
            <a:ext cx="3063240" cy="475488"/>
          </a:xfrm>
          <a:prstGeom prst="roundRect">
            <a:avLst>
              <a:gd name="adj" fmla="val 13462"/>
            </a:avLst>
          </a:prstGeom>
          <a:solidFill>
            <a:srgbClr val="EEF2F6"/>
          </a:solidFill>
          <a:ln w="12700">
            <a:solidFill>
              <a:srgbClr val="EEF2F6"/>
            </a:solidFill>
            <a:prstDash val="solid"/>
          </a:ln>
        </p:spPr>
      </p:sp>
      <p:sp>
        <p:nvSpPr>
          <p:cNvPr id="38" name="Text 34"/>
          <p:cNvSpPr txBox="1"/>
          <p:nvPr/>
        </p:nvSpPr>
        <p:spPr>
          <a:xfrm>
            <a:off x="8412480" y="3657600"/>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E. Chávez  </a:t>
            </a:r>
            <a:pPr indent="0" marL="0">
              <a:buNone/>
            </a:pPr>
            <a:r>
              <a:rPr lang="en-US" sz="1200" dirty="0">
                <a:solidFill>
                  <a:schemeClr val="tx1"/>
                </a:solidFill>
              </a:rPr>
              <a:t>Administrador de grupo</a:t>
            </a:r>
            <a:endParaRPr lang="en-US" sz="1200" dirty="0"/>
          </a:p>
        </p:txBody>
      </p:sp>
      <p:sp>
        <p:nvSpPr>
          <p:cNvPr id="39" name="Grupo: Proyecto C Oficina Técnica"/>
          <p:cNvSpPr/>
          <p:nvPr/>
        </p:nvSpPr>
        <p:spPr>
          <a:xfrm>
            <a:off x="8275320" y="4224528"/>
            <a:ext cx="3063240" cy="475488"/>
          </a:xfrm>
          <a:prstGeom prst="roundRect">
            <a:avLst>
              <a:gd name="adj" fmla="val 13462"/>
            </a:avLst>
          </a:prstGeom>
          <a:solidFill>
            <a:srgbClr val="EEF2F6"/>
          </a:solidFill>
          <a:ln w="12700">
            <a:solidFill>
              <a:srgbClr val="EEF2F6"/>
            </a:solidFill>
            <a:prstDash val="solid"/>
          </a:ln>
        </p:spPr>
      </p:sp>
      <p:sp>
        <p:nvSpPr>
          <p:cNvPr id="40" name="Text 36"/>
          <p:cNvSpPr txBox="1"/>
          <p:nvPr/>
        </p:nvSpPr>
        <p:spPr>
          <a:xfrm>
            <a:off x="8412480" y="4224528"/>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P. Luna  </a:t>
            </a:r>
            <a:pPr indent="0" marL="0">
              <a:buNone/>
            </a:pPr>
            <a:r>
              <a:rPr lang="en-US" sz="1200" dirty="0">
                <a:solidFill>
                  <a:schemeClr val="tx1"/>
                </a:solidFill>
              </a:rPr>
              <a:t>Oficina Técnica</a:t>
            </a:r>
            <a:endParaRPr lang="en-US" sz="1200" dirty="0"/>
          </a:p>
        </p:txBody>
      </p:sp>
      <p:sp>
        <p:nvSpPr>
          <p:cNvPr id="41" name="Grupo: Proyecto C Ingeniería"/>
          <p:cNvSpPr/>
          <p:nvPr/>
        </p:nvSpPr>
        <p:spPr>
          <a:xfrm>
            <a:off x="8275320" y="4791456"/>
            <a:ext cx="3063240" cy="475488"/>
          </a:xfrm>
          <a:prstGeom prst="roundRect">
            <a:avLst>
              <a:gd name="adj" fmla="val 13462"/>
            </a:avLst>
          </a:prstGeom>
          <a:solidFill>
            <a:srgbClr val="EEF2F6"/>
          </a:solidFill>
          <a:ln w="12700">
            <a:solidFill>
              <a:srgbClr val="EEF2F6"/>
            </a:solidFill>
            <a:prstDash val="solid"/>
          </a:ln>
        </p:spPr>
      </p:sp>
      <p:sp>
        <p:nvSpPr>
          <p:cNvPr id="42" name="Text 38"/>
          <p:cNvSpPr txBox="1"/>
          <p:nvPr/>
        </p:nvSpPr>
        <p:spPr>
          <a:xfrm>
            <a:off x="8412480" y="4791456"/>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S. Mora  </a:t>
            </a:r>
            <a:pPr indent="0" marL="0">
              <a:buNone/>
            </a:pPr>
            <a:r>
              <a:rPr lang="en-US" sz="1200" dirty="0">
                <a:solidFill>
                  <a:schemeClr val="tx1"/>
                </a:solidFill>
              </a:rPr>
              <a:t>Ingeniería</a:t>
            </a:r>
            <a:endParaRPr lang="en-US" sz="1200" dirty="0"/>
          </a:p>
        </p:txBody>
      </p:sp>
      <p:sp>
        <p:nvSpPr>
          <p:cNvPr id="43" name="Grupo: Proyecto C Almacén"/>
          <p:cNvSpPr/>
          <p:nvPr/>
        </p:nvSpPr>
        <p:spPr>
          <a:xfrm>
            <a:off x="8275320" y="5358384"/>
            <a:ext cx="3063240" cy="475488"/>
          </a:xfrm>
          <a:prstGeom prst="roundRect">
            <a:avLst>
              <a:gd name="adj" fmla="val 13462"/>
            </a:avLst>
          </a:prstGeom>
          <a:solidFill>
            <a:srgbClr val="EEF2F6"/>
          </a:solidFill>
          <a:ln w="12700">
            <a:solidFill>
              <a:srgbClr val="EEF2F6"/>
            </a:solidFill>
            <a:prstDash val="solid"/>
          </a:ln>
        </p:spPr>
      </p:sp>
      <p:sp>
        <p:nvSpPr>
          <p:cNvPr id="44" name="Text 40"/>
          <p:cNvSpPr txBox="1"/>
          <p:nvPr/>
        </p:nvSpPr>
        <p:spPr>
          <a:xfrm>
            <a:off x="8412480" y="5358384"/>
            <a:ext cx="2834640" cy="475488"/>
          </a:xfrm>
          <a:prstGeom prst="rect">
            <a:avLst/>
          </a:prstGeom>
          <a:noFill/>
          <a:ln/>
        </p:spPr>
        <p:txBody>
          <a:bodyPr wrap="square" lIns="0" tIns="0" rIns="0" bIns="0" rtlCol="0" anchor="ctr"/>
          <a:lstStyle/>
          <a:p>
            <a:pPr indent="0" marL="0">
              <a:buNone/>
            </a:pPr>
            <a:r>
              <a:rPr lang="en-US" sz="1200" b="1" dirty="0">
                <a:solidFill>
                  <a:schemeClr val="tx2"/>
                </a:solidFill>
              </a:rPr>
              <a:t>T. Gil  </a:t>
            </a:r>
            <a:pPr indent="0" marL="0">
              <a:buNone/>
            </a:pPr>
            <a:r>
              <a:rPr lang="en-US" sz="1200" dirty="0">
                <a:solidFill>
                  <a:schemeClr val="tx1"/>
                </a:solidFill>
              </a:rPr>
              <a:t>Almacén</a:t>
            </a:r>
            <a:endParaRPr lang="en-US" sz="1200" dirty="0"/>
          </a:p>
        </p:txBody>
      </p:sp>
      <p:sp>
        <p:nvSpPr>
          <p:cNvPr id="45" name="Text 4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M. Rojas (resaltado) está en dos proyectos; podría tener otra área en cada uno. Los administradores de grupo solo ven su proyecto.</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Tres capas de permisos independientes</a:t>
            </a:r>
            <a:endParaRPr lang="en-US" sz="3600" dirty="0"/>
          </a:p>
        </p:txBody>
      </p:sp>
      <p:sp>
        <p:nvSpPr>
          <p:cNvPr id="3" name="Plataforma"/>
          <p:cNvSpPr/>
          <p:nvPr/>
        </p:nvSpPr>
        <p:spPr>
          <a:xfrm>
            <a:off x="548640" y="132588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lataforma círculo"/>
          <p:cNvSpPr/>
          <p:nvPr/>
        </p:nvSpPr>
        <p:spPr>
          <a:xfrm>
            <a:off x="777240" y="1554480"/>
            <a:ext cx="731520" cy="731520"/>
          </a:xfrm>
          <a:prstGeom prst="ellipse">
            <a:avLst/>
          </a:prstGeom>
          <a:solidFill>
            <a:schemeClr val="tx2"/>
          </a:solidFill>
          <a:ln w="12700">
            <a:solidFill>
              <a:schemeClr val="tx2"/>
            </a:solidFill>
            <a:prstDash val="solid"/>
          </a:ln>
        </p:spPr>
      </p:sp>
      <p:pic>
        <p:nvPicPr>
          <p:cNvPr id="5" name="Plataforma ícono" descr="Plataforma">    </p:cNvPr>
          <p:cNvPicPr>
            <a:picLocks noChangeAspect="1"/>
          </p:cNvPicPr>
          <p:nvPr/>
        </p:nvPicPr>
        <p:blipFill>
          <a:blip r:embed="rId1"/>
          <a:stretch>
            <a:fillRect/>
          </a:stretch>
        </p:blipFill>
        <p:spPr>
          <a:xfrm>
            <a:off x="952805" y="1730045"/>
            <a:ext cx="380390" cy="380390"/>
          </a:xfrm>
          <a:prstGeom prst="rect">
            <a:avLst/>
          </a:prstGeom>
        </p:spPr>
      </p:pic>
      <p:sp>
        <p:nvSpPr>
          <p:cNvPr id="6" name="Text 3"/>
          <p:cNvSpPr txBox="1"/>
          <p:nvPr/>
        </p:nvSpPr>
        <p:spPr>
          <a:xfrm>
            <a:off x="1645920" y="1554480"/>
            <a:ext cx="2286000" cy="411480"/>
          </a:xfrm>
          <a:prstGeom prst="rect">
            <a:avLst/>
          </a:prstGeom>
          <a:noFill/>
          <a:ln/>
        </p:spPr>
        <p:txBody>
          <a:bodyPr wrap="square" lIns="0" tIns="0" rIns="0" bIns="0" rtlCol="0" anchor="t"/>
          <a:lstStyle/>
          <a:p>
            <a:pPr indent="0" marL="0">
              <a:buNone/>
            </a:pPr>
            <a:r>
              <a:rPr lang="en-US" sz="1900" b="1" dirty="0">
                <a:solidFill>
                  <a:schemeClr val="tx2"/>
                </a:solidFill>
              </a:rPr>
              <a:t>Plataforma</a:t>
            </a:r>
            <a:endParaRPr lang="en-US" sz="1900" dirty="0"/>
          </a:p>
        </p:txBody>
      </p:sp>
      <p:sp>
        <p:nvSpPr>
          <p:cNvPr id="7" name="Text 4"/>
          <p:cNvSpPr txBox="1"/>
          <p:nvPr/>
        </p:nvSpPr>
        <p:spPr>
          <a:xfrm>
            <a:off x="1645920" y="1965960"/>
            <a:ext cx="2286000" cy="365760"/>
          </a:xfrm>
          <a:prstGeom prst="rect">
            <a:avLst/>
          </a:prstGeom>
          <a:noFill/>
          <a:ln/>
        </p:spPr>
        <p:txBody>
          <a:bodyPr wrap="square" lIns="0" tIns="0" rIns="0" bIns="0" rtlCol="0" anchor="t"/>
          <a:lstStyle/>
          <a:p>
            <a:pPr indent="0" marL="0">
              <a:buNone/>
            </a:pPr>
            <a:r>
              <a:rPr lang="en-US" sz="1200" i="1" dirty="0">
                <a:solidFill>
                  <a:schemeClr val="accent5"/>
                </a:solidFill>
              </a:rPr>
              <a:t>Opcional · muy pocas personas</a:t>
            </a:r>
            <a:endParaRPr lang="en-US" sz="1200" dirty="0"/>
          </a:p>
        </p:txBody>
      </p:sp>
      <p:sp>
        <p:nvSpPr>
          <p:cNvPr id="8" name="etiqueta Propietario"/>
          <p:cNvSpPr/>
          <p:nvPr/>
        </p:nvSpPr>
        <p:spPr>
          <a:xfrm>
            <a:off x="868680" y="2560320"/>
            <a:ext cx="2880360" cy="365760"/>
          </a:xfrm>
          <a:prstGeom prst="roundRect">
            <a:avLst>
              <a:gd name="adj" fmla="val 17500"/>
            </a:avLst>
          </a:prstGeom>
          <a:solidFill>
            <a:srgbClr val="17243A"/>
          </a:solidFill>
          <a:ln w="12700">
            <a:solidFill>
              <a:srgbClr val="17243A"/>
            </a:solidFill>
            <a:prstDash val="solid"/>
          </a:ln>
        </p:spPr>
      </p:sp>
      <p:sp>
        <p:nvSpPr>
          <p:cNvPr id="9" name="Text 6"/>
          <p:cNvSpPr txBox="1"/>
          <p:nvPr/>
        </p:nvSpPr>
        <p:spPr>
          <a:xfrm>
            <a:off x="868680" y="25603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Propietario</a:t>
            </a:r>
            <a:endParaRPr lang="en-US" sz="1200" dirty="0"/>
          </a:p>
        </p:txBody>
      </p:sp>
      <p:sp>
        <p:nvSpPr>
          <p:cNvPr id="10" name="etiqueta Co-propietario"/>
          <p:cNvSpPr/>
          <p:nvPr/>
        </p:nvSpPr>
        <p:spPr>
          <a:xfrm>
            <a:off x="868680" y="3017520"/>
            <a:ext cx="2880360" cy="365760"/>
          </a:xfrm>
          <a:prstGeom prst="roundRect">
            <a:avLst>
              <a:gd name="adj" fmla="val 17500"/>
            </a:avLst>
          </a:prstGeom>
          <a:solidFill>
            <a:srgbClr val="5B6B80"/>
          </a:solidFill>
          <a:ln w="12700">
            <a:solidFill>
              <a:srgbClr val="5B6B80"/>
            </a:solidFill>
            <a:prstDash val="solid"/>
          </a:ln>
        </p:spPr>
      </p:sp>
      <p:sp>
        <p:nvSpPr>
          <p:cNvPr id="11" name="Text 8"/>
          <p:cNvSpPr txBox="1"/>
          <p:nvPr/>
        </p:nvSpPr>
        <p:spPr>
          <a:xfrm>
            <a:off x="868680" y="30175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Co-propietario</a:t>
            </a:r>
            <a:endParaRPr lang="en-US" sz="1200" dirty="0"/>
          </a:p>
        </p:txBody>
      </p:sp>
      <p:sp>
        <p:nvSpPr>
          <p:cNvPr id="12" name="Empresa"/>
          <p:cNvSpPr/>
          <p:nvPr/>
        </p:nvSpPr>
        <p:spPr>
          <a:xfrm>
            <a:off x="4297680" y="132588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Empresa círculo"/>
          <p:cNvSpPr/>
          <p:nvPr/>
        </p:nvSpPr>
        <p:spPr>
          <a:xfrm>
            <a:off x="4526280" y="1554480"/>
            <a:ext cx="731520" cy="731520"/>
          </a:xfrm>
          <a:prstGeom prst="ellipse">
            <a:avLst/>
          </a:prstGeom>
          <a:solidFill>
            <a:schemeClr val="accent1"/>
          </a:solidFill>
          <a:ln w="12700">
            <a:solidFill>
              <a:schemeClr val="accent1"/>
            </a:solidFill>
            <a:prstDash val="solid"/>
          </a:ln>
        </p:spPr>
      </p:sp>
      <p:pic>
        <p:nvPicPr>
          <p:cNvPr id="14" name="Empresa ícono" descr="Empresa">    </p:cNvPr>
          <p:cNvPicPr>
            <a:picLocks noChangeAspect="1"/>
          </p:cNvPicPr>
          <p:nvPr/>
        </p:nvPicPr>
        <p:blipFill>
          <a:blip r:embed="rId2"/>
          <a:stretch>
            <a:fillRect/>
          </a:stretch>
        </p:blipFill>
        <p:spPr>
          <a:xfrm>
            <a:off x="4701845" y="1730045"/>
            <a:ext cx="380390" cy="380390"/>
          </a:xfrm>
          <a:prstGeom prst="rect">
            <a:avLst/>
          </a:prstGeom>
        </p:spPr>
      </p:pic>
      <p:sp>
        <p:nvSpPr>
          <p:cNvPr id="15" name="Text 11"/>
          <p:cNvSpPr txBox="1"/>
          <p:nvPr/>
        </p:nvSpPr>
        <p:spPr>
          <a:xfrm>
            <a:off x="5394960" y="1554480"/>
            <a:ext cx="2286000" cy="411480"/>
          </a:xfrm>
          <a:prstGeom prst="rect">
            <a:avLst/>
          </a:prstGeom>
          <a:noFill/>
          <a:ln/>
        </p:spPr>
        <p:txBody>
          <a:bodyPr wrap="square" lIns="0" tIns="0" rIns="0" bIns="0" rtlCol="0" anchor="t"/>
          <a:lstStyle/>
          <a:p>
            <a:pPr indent="0" marL="0">
              <a:buNone/>
            </a:pPr>
            <a:r>
              <a:rPr lang="en-US" sz="1900" b="1" dirty="0">
                <a:solidFill>
                  <a:schemeClr val="tx2"/>
                </a:solidFill>
              </a:rPr>
              <a:t>Empresa</a:t>
            </a:r>
            <a:endParaRPr lang="en-US" sz="1900" dirty="0"/>
          </a:p>
        </p:txBody>
      </p:sp>
      <p:sp>
        <p:nvSpPr>
          <p:cNvPr id="16" name="Text 12"/>
          <p:cNvSpPr txBox="1"/>
          <p:nvPr/>
        </p:nvSpPr>
        <p:spPr>
          <a:xfrm>
            <a:off x="5394960" y="1965960"/>
            <a:ext cx="2286000" cy="365760"/>
          </a:xfrm>
          <a:prstGeom prst="rect">
            <a:avLst/>
          </a:prstGeom>
          <a:noFill/>
          <a:ln/>
        </p:spPr>
        <p:txBody>
          <a:bodyPr wrap="square" lIns="0" tIns="0" rIns="0" bIns="0" rtlCol="0" anchor="t"/>
          <a:lstStyle/>
          <a:p>
            <a:pPr indent="0" marL="0">
              <a:buNone/>
            </a:pPr>
            <a:r>
              <a:rPr lang="en-US" sz="1200" i="1" dirty="0">
                <a:solidFill>
                  <a:schemeClr val="accent5"/>
                </a:solidFill>
              </a:rPr>
              <a:t>Un rol por persona en cada empresa</a:t>
            </a:r>
            <a:endParaRPr lang="en-US" sz="1200" dirty="0"/>
          </a:p>
        </p:txBody>
      </p:sp>
      <p:sp>
        <p:nvSpPr>
          <p:cNvPr id="17" name="etiqueta Super administrador"/>
          <p:cNvSpPr/>
          <p:nvPr/>
        </p:nvSpPr>
        <p:spPr>
          <a:xfrm>
            <a:off x="4617720" y="2560320"/>
            <a:ext cx="2880360" cy="365760"/>
          </a:xfrm>
          <a:prstGeom prst="roundRect">
            <a:avLst>
              <a:gd name="adj" fmla="val 17500"/>
            </a:avLst>
          </a:prstGeom>
          <a:solidFill>
            <a:srgbClr val="E8A33D"/>
          </a:solidFill>
          <a:ln w="12700">
            <a:solidFill>
              <a:srgbClr val="E8A33D"/>
            </a:solidFill>
            <a:prstDash val="solid"/>
          </a:ln>
        </p:spPr>
      </p:sp>
      <p:sp>
        <p:nvSpPr>
          <p:cNvPr id="18" name="Text 14"/>
          <p:cNvSpPr txBox="1"/>
          <p:nvPr/>
        </p:nvSpPr>
        <p:spPr>
          <a:xfrm>
            <a:off x="4617720" y="25603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Super administrador</a:t>
            </a:r>
            <a:endParaRPr lang="en-US" sz="1200" dirty="0"/>
          </a:p>
        </p:txBody>
      </p:sp>
      <p:sp>
        <p:nvSpPr>
          <p:cNvPr id="19" name="etiqueta Relevo"/>
          <p:cNvSpPr/>
          <p:nvPr/>
        </p:nvSpPr>
        <p:spPr>
          <a:xfrm>
            <a:off x="4617720" y="3017520"/>
            <a:ext cx="2880360" cy="365760"/>
          </a:xfrm>
          <a:prstGeom prst="roundRect">
            <a:avLst>
              <a:gd name="adj" fmla="val 17500"/>
            </a:avLst>
          </a:prstGeom>
          <a:solidFill>
            <a:srgbClr val="E8A33D"/>
          </a:solidFill>
          <a:ln w="12700">
            <a:solidFill>
              <a:srgbClr val="E8A33D"/>
            </a:solidFill>
            <a:prstDash val="solid"/>
          </a:ln>
        </p:spPr>
      </p:sp>
      <p:sp>
        <p:nvSpPr>
          <p:cNvPr id="20" name="Text 16"/>
          <p:cNvSpPr txBox="1"/>
          <p:nvPr/>
        </p:nvSpPr>
        <p:spPr>
          <a:xfrm>
            <a:off x="4617720" y="30175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Relevo</a:t>
            </a:r>
            <a:endParaRPr lang="en-US" sz="1200" dirty="0"/>
          </a:p>
        </p:txBody>
      </p:sp>
      <p:sp>
        <p:nvSpPr>
          <p:cNvPr id="21" name="etiqueta Miembro"/>
          <p:cNvSpPr/>
          <p:nvPr/>
        </p:nvSpPr>
        <p:spPr>
          <a:xfrm>
            <a:off x="4617720" y="3474720"/>
            <a:ext cx="2880360" cy="365760"/>
          </a:xfrm>
          <a:prstGeom prst="roundRect">
            <a:avLst>
              <a:gd name="adj" fmla="val 17500"/>
            </a:avLst>
          </a:prstGeom>
          <a:solidFill>
            <a:srgbClr val="3D6FA8"/>
          </a:solidFill>
          <a:ln w="12700">
            <a:solidFill>
              <a:srgbClr val="3D6FA8"/>
            </a:solidFill>
            <a:prstDash val="solid"/>
          </a:ln>
        </p:spPr>
      </p:sp>
      <p:sp>
        <p:nvSpPr>
          <p:cNvPr id="22" name="Text 18"/>
          <p:cNvSpPr txBox="1"/>
          <p:nvPr/>
        </p:nvSpPr>
        <p:spPr>
          <a:xfrm>
            <a:off x="4617720" y="34747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Miembro</a:t>
            </a:r>
            <a:endParaRPr lang="en-US" sz="1200" dirty="0"/>
          </a:p>
        </p:txBody>
      </p:sp>
      <p:sp>
        <p:nvSpPr>
          <p:cNvPr id="23" name="etiqueta Invitado externo"/>
          <p:cNvSpPr/>
          <p:nvPr/>
        </p:nvSpPr>
        <p:spPr>
          <a:xfrm>
            <a:off x="4617720" y="3931920"/>
            <a:ext cx="2880360" cy="365760"/>
          </a:xfrm>
          <a:prstGeom prst="roundRect">
            <a:avLst>
              <a:gd name="adj" fmla="val 17500"/>
            </a:avLst>
          </a:prstGeom>
          <a:solidFill>
            <a:srgbClr val="5B6B80"/>
          </a:solidFill>
          <a:ln w="12700">
            <a:solidFill>
              <a:srgbClr val="5B6B80"/>
            </a:solidFill>
            <a:prstDash val="solid"/>
          </a:ln>
        </p:spPr>
      </p:sp>
      <p:sp>
        <p:nvSpPr>
          <p:cNvPr id="24" name="Text 20"/>
          <p:cNvSpPr txBox="1"/>
          <p:nvPr/>
        </p:nvSpPr>
        <p:spPr>
          <a:xfrm>
            <a:off x="4617720" y="39319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Invitado externo</a:t>
            </a:r>
            <a:endParaRPr lang="en-US" sz="1200" dirty="0"/>
          </a:p>
        </p:txBody>
      </p:sp>
      <p:sp>
        <p:nvSpPr>
          <p:cNvPr id="25" name="etiqueta Pendiente"/>
          <p:cNvSpPr/>
          <p:nvPr/>
        </p:nvSpPr>
        <p:spPr>
          <a:xfrm>
            <a:off x="4617720" y="4389120"/>
            <a:ext cx="2880360" cy="365760"/>
          </a:xfrm>
          <a:prstGeom prst="roundRect">
            <a:avLst>
              <a:gd name="adj" fmla="val 17500"/>
            </a:avLst>
          </a:prstGeom>
          <a:solidFill>
            <a:srgbClr val="D5DCE5"/>
          </a:solidFill>
          <a:ln w="12700">
            <a:solidFill>
              <a:srgbClr val="D5DCE5"/>
            </a:solidFill>
            <a:prstDash val="solid"/>
          </a:ln>
        </p:spPr>
      </p:sp>
      <p:sp>
        <p:nvSpPr>
          <p:cNvPr id="26" name="Text 22"/>
          <p:cNvSpPr txBox="1"/>
          <p:nvPr/>
        </p:nvSpPr>
        <p:spPr>
          <a:xfrm>
            <a:off x="4617720" y="4389120"/>
            <a:ext cx="2880360" cy="365760"/>
          </a:xfrm>
          <a:prstGeom prst="rect">
            <a:avLst/>
          </a:prstGeom>
          <a:noFill/>
          <a:ln/>
        </p:spPr>
        <p:txBody>
          <a:bodyPr wrap="square" lIns="0" tIns="0" rIns="0" bIns="0" rtlCol="0" anchor="ctr"/>
          <a:lstStyle/>
          <a:p>
            <a:pPr algn="ctr" indent="0" marL="0">
              <a:buNone/>
            </a:pPr>
            <a:r>
              <a:rPr lang="en-US" sz="1200" b="1" dirty="0">
                <a:solidFill>
                  <a:schemeClr val="tx2"/>
                </a:solidFill>
              </a:rPr>
              <a:t>Pendiente</a:t>
            </a:r>
            <a:endParaRPr lang="en-US" sz="1200" dirty="0"/>
          </a:p>
        </p:txBody>
      </p:sp>
      <p:sp>
        <p:nvSpPr>
          <p:cNvPr id="27" name="Grupo (proyecto)"/>
          <p:cNvSpPr/>
          <p:nvPr/>
        </p:nvSpPr>
        <p:spPr>
          <a:xfrm>
            <a:off x="8046720" y="132588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Grupo (proyecto) círculo"/>
          <p:cNvSpPr/>
          <p:nvPr/>
        </p:nvSpPr>
        <p:spPr>
          <a:xfrm>
            <a:off x="8275320" y="1554480"/>
            <a:ext cx="731520" cy="731520"/>
          </a:xfrm>
          <a:prstGeom prst="ellipse">
            <a:avLst/>
          </a:prstGeom>
          <a:solidFill>
            <a:schemeClr val="accent2"/>
          </a:solidFill>
          <a:ln w="12700">
            <a:solidFill>
              <a:schemeClr val="accent2"/>
            </a:solidFill>
            <a:prstDash val="solid"/>
          </a:ln>
        </p:spPr>
      </p:sp>
      <p:pic>
        <p:nvPicPr>
          <p:cNvPr id="29" name="Grupo (proyecto) ícono" descr="Grupo (proyecto)">    </p:cNvPr>
          <p:cNvPicPr>
            <a:picLocks noChangeAspect="1"/>
          </p:cNvPicPr>
          <p:nvPr/>
        </p:nvPicPr>
        <p:blipFill>
          <a:blip r:embed="rId3"/>
          <a:stretch>
            <a:fillRect/>
          </a:stretch>
        </p:blipFill>
        <p:spPr>
          <a:xfrm>
            <a:off x="8450885" y="1730045"/>
            <a:ext cx="380390" cy="380390"/>
          </a:xfrm>
          <a:prstGeom prst="rect">
            <a:avLst/>
          </a:prstGeom>
        </p:spPr>
      </p:pic>
      <p:sp>
        <p:nvSpPr>
          <p:cNvPr id="30" name="Text 25"/>
          <p:cNvSpPr txBox="1"/>
          <p:nvPr/>
        </p:nvSpPr>
        <p:spPr>
          <a:xfrm>
            <a:off x="9144000" y="1554480"/>
            <a:ext cx="2286000" cy="411480"/>
          </a:xfrm>
          <a:prstGeom prst="rect">
            <a:avLst/>
          </a:prstGeom>
          <a:noFill/>
          <a:ln/>
        </p:spPr>
        <p:txBody>
          <a:bodyPr wrap="square" lIns="0" tIns="0" rIns="0" bIns="0" rtlCol="0" anchor="t"/>
          <a:lstStyle/>
          <a:p>
            <a:pPr indent="0" marL="0">
              <a:buNone/>
            </a:pPr>
            <a:r>
              <a:rPr lang="en-US" sz="1900" b="1" dirty="0">
                <a:solidFill>
                  <a:schemeClr val="tx2"/>
                </a:solidFill>
              </a:rPr>
              <a:t>Grupo (proyecto)</a:t>
            </a:r>
            <a:endParaRPr lang="en-US" sz="1900" dirty="0"/>
          </a:p>
        </p:txBody>
      </p:sp>
      <p:sp>
        <p:nvSpPr>
          <p:cNvPr id="31" name="Text 26"/>
          <p:cNvSpPr txBox="1"/>
          <p:nvPr/>
        </p:nvSpPr>
        <p:spPr>
          <a:xfrm>
            <a:off x="9144000" y="1965960"/>
            <a:ext cx="2286000" cy="365760"/>
          </a:xfrm>
          <a:prstGeom prst="rect">
            <a:avLst/>
          </a:prstGeom>
          <a:noFill/>
          <a:ln/>
        </p:spPr>
        <p:txBody>
          <a:bodyPr wrap="square" lIns="0" tIns="0" rIns="0" bIns="0" rtlCol="0" anchor="t"/>
          <a:lstStyle/>
          <a:p>
            <a:pPr indent="0" marL="0">
              <a:buNone/>
            </a:pPr>
            <a:r>
              <a:rPr lang="en-US" sz="1200" i="1" dirty="0">
                <a:solidFill>
                  <a:schemeClr val="accent5"/>
                </a:solidFill>
              </a:rPr>
              <a:t>Un rol y un área en cada proyecto</a:t>
            </a:r>
            <a:endParaRPr lang="en-US" sz="1200" dirty="0"/>
          </a:p>
        </p:txBody>
      </p:sp>
      <p:sp>
        <p:nvSpPr>
          <p:cNvPr id="32" name="etiqueta Administrador del grupo"/>
          <p:cNvSpPr/>
          <p:nvPr/>
        </p:nvSpPr>
        <p:spPr>
          <a:xfrm>
            <a:off x="8366760" y="2560320"/>
            <a:ext cx="2880360" cy="365760"/>
          </a:xfrm>
          <a:prstGeom prst="roundRect">
            <a:avLst>
              <a:gd name="adj" fmla="val 17500"/>
            </a:avLst>
          </a:prstGeom>
          <a:solidFill>
            <a:srgbClr val="2A8C82"/>
          </a:solidFill>
          <a:ln w="12700">
            <a:solidFill>
              <a:srgbClr val="2A8C82"/>
            </a:solidFill>
            <a:prstDash val="solid"/>
          </a:ln>
        </p:spPr>
      </p:sp>
      <p:sp>
        <p:nvSpPr>
          <p:cNvPr id="33" name="Text 28"/>
          <p:cNvSpPr txBox="1"/>
          <p:nvPr/>
        </p:nvSpPr>
        <p:spPr>
          <a:xfrm>
            <a:off x="8366760" y="25603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Administrador del grupo</a:t>
            </a:r>
            <a:endParaRPr lang="en-US" sz="1200" dirty="0"/>
          </a:p>
        </p:txBody>
      </p:sp>
      <p:sp>
        <p:nvSpPr>
          <p:cNvPr id="34" name="etiqueta Miembro + área"/>
          <p:cNvSpPr/>
          <p:nvPr/>
        </p:nvSpPr>
        <p:spPr>
          <a:xfrm>
            <a:off x="8366760" y="3017520"/>
            <a:ext cx="2880360" cy="365760"/>
          </a:xfrm>
          <a:prstGeom prst="roundRect">
            <a:avLst>
              <a:gd name="adj" fmla="val 17500"/>
            </a:avLst>
          </a:prstGeom>
          <a:solidFill>
            <a:srgbClr val="3D6FA8"/>
          </a:solidFill>
          <a:ln w="12700">
            <a:solidFill>
              <a:srgbClr val="3D6FA8"/>
            </a:solidFill>
            <a:prstDash val="solid"/>
          </a:ln>
        </p:spPr>
      </p:sp>
      <p:sp>
        <p:nvSpPr>
          <p:cNvPr id="35" name="Text 30"/>
          <p:cNvSpPr txBox="1"/>
          <p:nvPr/>
        </p:nvSpPr>
        <p:spPr>
          <a:xfrm>
            <a:off x="8366760" y="3017520"/>
            <a:ext cx="2880360" cy="365760"/>
          </a:xfrm>
          <a:prstGeom prst="rect">
            <a:avLst/>
          </a:prstGeom>
          <a:noFill/>
          <a:ln/>
        </p:spPr>
        <p:txBody>
          <a:bodyPr wrap="square" lIns="0" tIns="0" rIns="0" bIns="0" rtlCol="0" anchor="ctr"/>
          <a:lstStyle/>
          <a:p>
            <a:pPr algn="ctr" indent="0" marL="0">
              <a:buNone/>
            </a:pPr>
            <a:r>
              <a:rPr lang="en-US" sz="1200" b="1" dirty="0">
                <a:solidFill>
                  <a:schemeClr val="bg1"/>
                </a:solidFill>
              </a:rPr>
              <a:t>Miembro + área</a:t>
            </a:r>
            <a:endParaRPr lang="en-US" sz="1200" dirty="0"/>
          </a:p>
        </p:txBody>
      </p:sp>
      <p:sp>
        <p:nvSpPr>
          <p:cNvPr id="36" name="Regla"/>
          <p:cNvSpPr/>
          <p:nvPr/>
        </p:nvSpPr>
        <p:spPr>
          <a:xfrm>
            <a:off x="548640" y="5074920"/>
            <a:ext cx="11064240" cy="1097280"/>
          </a:xfrm>
          <a:prstGeom prst="roundRect">
            <a:avLst>
              <a:gd name="adj" fmla="val 10000"/>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37" name="Text 32"/>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1400" b="1" dirty="0">
                <a:solidFill>
                  <a:schemeClr val="tx2"/>
                </a:solidFill>
              </a:rPr>
              <a:t>Los permisos se suman. </a:t>
            </a:r>
            <a:pPr indent="0" marL="0">
              <a:buNone/>
            </a:pPr>
            <a:r>
              <a:rPr lang="en-US" sz="1400" dirty="0">
                <a:solidFill>
                  <a:schemeClr val="tx1"/>
                </a:solidFill>
              </a:rPr>
              <a:t>Una persona puede tener un rol en cada capa a la vez: por ejemplo, ser propietario de la plataforma, Super administrador de su empresa y administrador de un proyecto. Cada capa decide solo sobre lo suyo.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Tu caso: Elmer Chávez con tres sombreros</a:t>
            </a:r>
            <a:endParaRPr lang="en-US" sz="3600" dirty="0"/>
          </a:p>
        </p:txBody>
      </p:sp>
      <p:sp>
        <p:nvSpPr>
          <p:cNvPr id="3" name="Propietario de la plataforma"/>
          <p:cNvSpPr/>
          <p:nvPr/>
        </p:nvSpPr>
        <p:spPr>
          <a:xfrm>
            <a:off x="548640" y="1325880"/>
            <a:ext cx="3520440" cy="2834640"/>
          </a:xfrm>
          <a:prstGeom prst="roundRect">
            <a:avLst>
              <a:gd name="adj" fmla="val 38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ropietario de la plataforma círculo"/>
          <p:cNvSpPr/>
          <p:nvPr/>
        </p:nvSpPr>
        <p:spPr>
          <a:xfrm>
            <a:off x="777240" y="1554480"/>
            <a:ext cx="731520" cy="731520"/>
          </a:xfrm>
          <a:prstGeom prst="ellipse">
            <a:avLst/>
          </a:prstGeom>
          <a:solidFill>
            <a:schemeClr val="tx2"/>
          </a:solidFill>
          <a:ln w="12700">
            <a:solidFill>
              <a:schemeClr val="tx2"/>
            </a:solidFill>
            <a:prstDash val="solid"/>
          </a:ln>
        </p:spPr>
      </p:sp>
      <p:pic>
        <p:nvPicPr>
          <p:cNvPr id="5" name="Propietario de la plataforma ícono" descr="Propietario de la plataforma">    </p:cNvPr>
          <p:cNvPicPr>
            <a:picLocks noChangeAspect="1"/>
          </p:cNvPicPr>
          <p:nvPr/>
        </p:nvPicPr>
        <p:blipFill>
          <a:blip r:embed="rId1"/>
          <a:stretch>
            <a:fillRect/>
          </a:stretch>
        </p:blipFill>
        <p:spPr>
          <a:xfrm>
            <a:off x="952805" y="1730045"/>
            <a:ext cx="380390" cy="380390"/>
          </a:xfrm>
          <a:prstGeom prst="rect">
            <a:avLst/>
          </a:prstGeom>
        </p:spPr>
      </p:pic>
      <p:sp>
        <p:nvSpPr>
          <p:cNvPr id="6" name="Text 3"/>
          <p:cNvSpPr txBox="1"/>
          <p:nvPr/>
        </p:nvSpPr>
        <p:spPr>
          <a:xfrm>
            <a:off x="1645920" y="1508760"/>
            <a:ext cx="2286000" cy="548640"/>
          </a:xfrm>
          <a:prstGeom prst="rect">
            <a:avLst/>
          </a:prstGeom>
          <a:noFill/>
          <a:ln/>
        </p:spPr>
        <p:txBody>
          <a:bodyPr wrap="square" lIns="0" tIns="0" rIns="0" bIns="0" rtlCol="0" anchor="ctr"/>
          <a:lstStyle/>
          <a:p>
            <a:pPr indent="0" marL="0">
              <a:buNone/>
            </a:pPr>
            <a:r>
              <a:rPr lang="en-US" sz="1600" b="1" dirty="0">
                <a:solidFill>
                  <a:schemeClr val="tx2"/>
                </a:solidFill>
              </a:rPr>
              <a:t>Propietario de la plataforma</a:t>
            </a:r>
            <a:endParaRPr lang="en-US" sz="1600" dirty="0"/>
          </a:p>
        </p:txBody>
      </p:sp>
      <p:sp>
        <p:nvSpPr>
          <p:cNvPr id="7" name="etiqueta Consola de plataforma"/>
          <p:cNvSpPr/>
          <p:nvPr/>
        </p:nvSpPr>
        <p:spPr>
          <a:xfrm>
            <a:off x="1645920" y="2103120"/>
            <a:ext cx="2240280" cy="329184"/>
          </a:xfrm>
          <a:prstGeom prst="roundRect">
            <a:avLst>
              <a:gd name="adj" fmla="val 19444"/>
            </a:avLst>
          </a:prstGeom>
          <a:solidFill>
            <a:srgbClr val="FFFFFF"/>
          </a:solidFill>
          <a:ln w="12700">
            <a:solidFill>
              <a:srgbClr val="FFFFFF"/>
            </a:solidFill>
            <a:prstDash val="solid"/>
          </a:ln>
        </p:spPr>
      </p:sp>
      <p:sp>
        <p:nvSpPr>
          <p:cNvPr id="8" name="Text 5"/>
          <p:cNvSpPr txBox="1"/>
          <p:nvPr/>
        </p:nvSpPr>
        <p:spPr>
          <a:xfrm>
            <a:off x="1645920" y="2103120"/>
            <a:ext cx="2240280" cy="329184"/>
          </a:xfrm>
          <a:prstGeom prst="rect">
            <a:avLst/>
          </a:prstGeom>
          <a:noFill/>
          <a:ln/>
        </p:spPr>
        <p:txBody>
          <a:bodyPr wrap="square" lIns="0" tIns="0" rIns="0" bIns="0" rtlCol="0" anchor="ctr"/>
          <a:lstStyle/>
          <a:p>
            <a:pPr algn="ctr" indent="0" marL="0">
              <a:buNone/>
            </a:pPr>
            <a:r>
              <a:rPr lang="en-US" sz="1100" b="1" dirty="0">
                <a:solidFill>
                  <a:schemeClr val="tx2"/>
                </a:solidFill>
              </a:rPr>
              <a:t>Consola de plataforma</a:t>
            </a:r>
            <a:endParaRPr lang="en-US" sz="1100" dirty="0"/>
          </a:p>
        </p:txBody>
      </p:sp>
      <p:sp>
        <p:nvSpPr>
          <p:cNvPr id="9" name="Text 6"/>
          <p:cNvSpPr txBox="1"/>
          <p:nvPr/>
        </p:nvSpPr>
        <p:spPr>
          <a:xfrm>
            <a:off x="822960" y="26974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Creas empresas y designas a sus Super administradores</a:t>
            </a:r>
            <a:endParaRPr lang="en-US" sz="1300" dirty="0"/>
          </a:p>
          <a:p>
            <a:pPr marL="342900" indent="-342900">
              <a:spcAft>
                <a:spcPts val="600"/>
              </a:spcAft>
              <a:buSzPct val="100000"/>
              <a:buChar char="•"/>
            </a:pPr>
            <a:r>
              <a:rPr lang="en-US" sz="1300" dirty="0">
                <a:solidFill>
                  <a:schemeClr val="tx1"/>
                </a:solidFill>
              </a:rPr>
              <a:t>Designas a tu co-propietario</a:t>
            </a:r>
            <a:endParaRPr lang="en-US" sz="1300" dirty="0"/>
          </a:p>
          <a:p>
            <a:pPr marL="342900" indent="-342900">
              <a:spcAft>
                <a:spcPts val="600"/>
              </a:spcAft>
              <a:buSzPct val="100000"/>
              <a:buChar char="•"/>
            </a:pPr>
            <a:r>
              <a:rPr lang="en-US" sz="1300" dirty="0">
                <a:solidFill>
                  <a:schemeClr val="tx1"/>
                </a:solidFill>
              </a:rPr>
              <a:t>No ves proyectos de otras empresas</a:t>
            </a:r>
            <a:endParaRPr lang="en-US" sz="1300" dirty="0"/>
          </a:p>
        </p:txBody>
      </p:sp>
      <p:sp>
        <p:nvSpPr>
          <p:cNvPr id="10" name="Super administrador"/>
          <p:cNvSpPr/>
          <p:nvPr/>
        </p:nvSpPr>
        <p:spPr>
          <a:xfrm>
            <a:off x="4297680" y="1325880"/>
            <a:ext cx="3520440" cy="2834640"/>
          </a:xfrm>
          <a:prstGeom prst="roundRect">
            <a:avLst>
              <a:gd name="adj" fmla="val 38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uper administrador círculo"/>
          <p:cNvSpPr/>
          <p:nvPr/>
        </p:nvSpPr>
        <p:spPr>
          <a:xfrm>
            <a:off x="4526280" y="1554480"/>
            <a:ext cx="731520" cy="731520"/>
          </a:xfrm>
          <a:prstGeom prst="ellipse">
            <a:avLst/>
          </a:prstGeom>
          <a:solidFill>
            <a:schemeClr val="accent1"/>
          </a:solidFill>
          <a:ln w="12700">
            <a:solidFill>
              <a:schemeClr val="accent1"/>
            </a:solidFill>
            <a:prstDash val="solid"/>
          </a:ln>
        </p:spPr>
      </p:sp>
      <p:pic>
        <p:nvPicPr>
          <p:cNvPr id="12" name="Super administrador ícono" descr="Super administrador">    </p:cNvPr>
          <p:cNvPicPr>
            <a:picLocks noChangeAspect="1"/>
          </p:cNvPicPr>
          <p:nvPr/>
        </p:nvPicPr>
        <p:blipFill>
          <a:blip r:embed="rId2"/>
          <a:stretch>
            <a:fillRect/>
          </a:stretch>
        </p:blipFill>
        <p:spPr>
          <a:xfrm>
            <a:off x="4701845" y="1730045"/>
            <a:ext cx="380390" cy="380390"/>
          </a:xfrm>
          <a:prstGeom prst="rect">
            <a:avLst/>
          </a:prstGeom>
        </p:spPr>
      </p:pic>
      <p:sp>
        <p:nvSpPr>
          <p:cNvPr id="13" name="Text 9"/>
          <p:cNvSpPr txBox="1"/>
          <p:nvPr/>
        </p:nvSpPr>
        <p:spPr>
          <a:xfrm>
            <a:off x="5394960" y="1508760"/>
            <a:ext cx="2286000" cy="548640"/>
          </a:xfrm>
          <a:prstGeom prst="rect">
            <a:avLst/>
          </a:prstGeom>
          <a:noFill/>
          <a:ln/>
        </p:spPr>
        <p:txBody>
          <a:bodyPr wrap="square" lIns="0" tIns="0" rIns="0" bIns="0" rtlCol="0" anchor="ctr"/>
          <a:lstStyle/>
          <a:p>
            <a:pPr indent="0" marL="0">
              <a:buNone/>
            </a:pPr>
            <a:r>
              <a:rPr lang="en-US" sz="1600" b="1" dirty="0">
                <a:solidFill>
                  <a:schemeClr val="tx2"/>
                </a:solidFill>
              </a:rPr>
              <a:t>Super administrador</a:t>
            </a:r>
            <a:endParaRPr lang="en-US" sz="1600" dirty="0"/>
          </a:p>
        </p:txBody>
      </p:sp>
      <p:sp>
        <p:nvSpPr>
          <p:cNvPr id="14" name="etiqueta Tu empresa"/>
          <p:cNvSpPr/>
          <p:nvPr/>
        </p:nvSpPr>
        <p:spPr>
          <a:xfrm>
            <a:off x="5394960" y="2103120"/>
            <a:ext cx="2240280" cy="329184"/>
          </a:xfrm>
          <a:prstGeom prst="roundRect">
            <a:avLst>
              <a:gd name="adj" fmla="val 19444"/>
            </a:avLst>
          </a:prstGeom>
          <a:solidFill>
            <a:srgbClr val="FFFFFF"/>
          </a:solidFill>
          <a:ln w="12700">
            <a:solidFill>
              <a:srgbClr val="FFFFFF"/>
            </a:solidFill>
            <a:prstDash val="solid"/>
          </a:ln>
        </p:spPr>
      </p:sp>
      <p:sp>
        <p:nvSpPr>
          <p:cNvPr id="15" name="Text 11"/>
          <p:cNvSpPr txBox="1"/>
          <p:nvPr/>
        </p:nvSpPr>
        <p:spPr>
          <a:xfrm>
            <a:off x="5394960" y="2103120"/>
            <a:ext cx="2240280" cy="329184"/>
          </a:xfrm>
          <a:prstGeom prst="rect">
            <a:avLst/>
          </a:prstGeom>
          <a:noFill/>
          <a:ln/>
        </p:spPr>
        <p:txBody>
          <a:bodyPr wrap="square" lIns="0" tIns="0" rIns="0" bIns="0" rtlCol="0" anchor="ctr"/>
          <a:lstStyle/>
          <a:p>
            <a:pPr algn="ctr" indent="0" marL="0">
              <a:buNone/>
            </a:pPr>
            <a:r>
              <a:rPr lang="en-US" sz="1100" b="1" dirty="0">
                <a:solidFill>
                  <a:schemeClr val="tx2"/>
                </a:solidFill>
              </a:rPr>
              <a:t>Tu empresa</a:t>
            </a:r>
            <a:endParaRPr lang="en-US" sz="1100" dirty="0"/>
          </a:p>
        </p:txBody>
      </p:sp>
      <p:sp>
        <p:nvSpPr>
          <p:cNvPr id="16" name="Text 12"/>
          <p:cNvSpPr txBox="1"/>
          <p:nvPr/>
        </p:nvSpPr>
        <p:spPr>
          <a:xfrm>
            <a:off x="4572000" y="26974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Ves y administras todos sus proyectos</a:t>
            </a:r>
            <a:endParaRPr lang="en-US" sz="1300" dirty="0"/>
          </a:p>
          <a:p>
            <a:pPr marL="342900" indent="-342900">
              <a:spcAft>
                <a:spcPts val="600"/>
              </a:spcAft>
              <a:buSzPct val="100000"/>
              <a:buChar char="•"/>
            </a:pPr>
            <a:r>
              <a:rPr lang="en-US" sz="1300" dirty="0">
                <a:solidFill>
                  <a:schemeClr val="tx1"/>
                </a:solidFill>
              </a:rPr>
              <a:t>Designas a tu relevo</a:t>
            </a:r>
            <a:endParaRPr lang="en-US" sz="1300" dirty="0"/>
          </a:p>
          <a:p>
            <a:pPr marL="342900" indent="-342900">
              <a:spcAft>
                <a:spcPts val="600"/>
              </a:spcAft>
              <a:buSzPct val="100000"/>
              <a:buChar char="•"/>
            </a:pPr>
            <a:r>
              <a:rPr lang="en-US" sz="1300" dirty="0">
                <a:solidFill>
                  <a:schemeClr val="tx1"/>
                </a:solidFill>
              </a:rPr>
              <a:t>Plantilla de permisos, usuarios y auditoría</a:t>
            </a:r>
            <a:endParaRPr lang="en-US" sz="1300" dirty="0"/>
          </a:p>
        </p:txBody>
      </p:sp>
      <p:sp>
        <p:nvSpPr>
          <p:cNvPr id="17" name="Administrador del grupo"/>
          <p:cNvSpPr/>
          <p:nvPr/>
        </p:nvSpPr>
        <p:spPr>
          <a:xfrm>
            <a:off x="8046720" y="1325880"/>
            <a:ext cx="3520440" cy="2834640"/>
          </a:xfrm>
          <a:prstGeom prst="roundRect">
            <a:avLst>
              <a:gd name="adj" fmla="val 38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Administrador del grupo círculo"/>
          <p:cNvSpPr/>
          <p:nvPr/>
        </p:nvSpPr>
        <p:spPr>
          <a:xfrm>
            <a:off x="8275320" y="1554480"/>
            <a:ext cx="731520" cy="731520"/>
          </a:xfrm>
          <a:prstGeom prst="ellipse">
            <a:avLst/>
          </a:prstGeom>
          <a:solidFill>
            <a:schemeClr val="accent2"/>
          </a:solidFill>
          <a:ln w="12700">
            <a:solidFill>
              <a:schemeClr val="accent2"/>
            </a:solidFill>
            <a:prstDash val="solid"/>
          </a:ln>
        </p:spPr>
      </p:sp>
      <p:pic>
        <p:nvPicPr>
          <p:cNvPr id="19" name="Administrador del grupo ícono" descr="Administrador del grupo">    </p:cNvPr>
          <p:cNvPicPr>
            <a:picLocks noChangeAspect="1"/>
          </p:cNvPicPr>
          <p:nvPr/>
        </p:nvPicPr>
        <p:blipFill>
          <a:blip r:embed="rId3"/>
          <a:stretch>
            <a:fillRect/>
          </a:stretch>
        </p:blipFill>
        <p:spPr>
          <a:xfrm>
            <a:off x="8450885" y="1730045"/>
            <a:ext cx="380390" cy="380390"/>
          </a:xfrm>
          <a:prstGeom prst="rect">
            <a:avLst/>
          </a:prstGeom>
        </p:spPr>
      </p:pic>
      <p:sp>
        <p:nvSpPr>
          <p:cNvPr id="20" name="Text 15"/>
          <p:cNvSpPr txBox="1"/>
          <p:nvPr/>
        </p:nvSpPr>
        <p:spPr>
          <a:xfrm>
            <a:off x="9144000" y="1508760"/>
            <a:ext cx="2286000" cy="548640"/>
          </a:xfrm>
          <a:prstGeom prst="rect">
            <a:avLst/>
          </a:prstGeom>
          <a:noFill/>
          <a:ln/>
        </p:spPr>
        <p:txBody>
          <a:bodyPr wrap="square" lIns="0" tIns="0" rIns="0" bIns="0" rtlCol="0" anchor="ctr"/>
          <a:lstStyle/>
          <a:p>
            <a:pPr indent="0" marL="0">
              <a:buNone/>
            </a:pPr>
            <a:r>
              <a:rPr lang="en-US" sz="1600" b="1" dirty="0">
                <a:solidFill>
                  <a:schemeClr val="tx2"/>
                </a:solidFill>
              </a:rPr>
              <a:t>Administrador del grupo</a:t>
            </a:r>
            <a:endParaRPr lang="en-US" sz="1600" dirty="0"/>
          </a:p>
        </p:txBody>
      </p:sp>
      <p:sp>
        <p:nvSpPr>
          <p:cNvPr id="21" name="etiqueta Proyecto C (ejemplo)"/>
          <p:cNvSpPr/>
          <p:nvPr/>
        </p:nvSpPr>
        <p:spPr>
          <a:xfrm>
            <a:off x="9144000" y="2103120"/>
            <a:ext cx="2240280" cy="329184"/>
          </a:xfrm>
          <a:prstGeom prst="roundRect">
            <a:avLst>
              <a:gd name="adj" fmla="val 19444"/>
            </a:avLst>
          </a:prstGeom>
          <a:solidFill>
            <a:srgbClr val="FFFFFF"/>
          </a:solidFill>
          <a:ln w="12700">
            <a:solidFill>
              <a:srgbClr val="FFFFFF"/>
            </a:solidFill>
            <a:prstDash val="solid"/>
          </a:ln>
        </p:spPr>
      </p:sp>
      <p:sp>
        <p:nvSpPr>
          <p:cNvPr id="22" name="Text 17"/>
          <p:cNvSpPr txBox="1"/>
          <p:nvPr/>
        </p:nvSpPr>
        <p:spPr>
          <a:xfrm>
            <a:off x="9144000" y="2103120"/>
            <a:ext cx="2240280" cy="329184"/>
          </a:xfrm>
          <a:prstGeom prst="rect">
            <a:avLst/>
          </a:prstGeom>
          <a:noFill/>
          <a:ln/>
        </p:spPr>
        <p:txBody>
          <a:bodyPr wrap="square" lIns="0" tIns="0" rIns="0" bIns="0" rtlCol="0" anchor="ctr"/>
          <a:lstStyle/>
          <a:p>
            <a:pPr algn="ctr" indent="0" marL="0">
              <a:buNone/>
            </a:pPr>
            <a:r>
              <a:rPr lang="en-US" sz="1100" b="1" dirty="0">
                <a:solidFill>
                  <a:schemeClr val="tx2"/>
                </a:solidFill>
              </a:rPr>
              <a:t>Proyecto C (ejemplo)</a:t>
            </a:r>
            <a:endParaRPr lang="en-US" sz="1100" dirty="0"/>
          </a:p>
        </p:txBody>
      </p:sp>
      <p:sp>
        <p:nvSpPr>
          <p:cNvPr id="23" name="Text 18"/>
          <p:cNvSpPr txBox="1"/>
          <p:nvPr/>
        </p:nvSpPr>
        <p:spPr>
          <a:xfrm>
            <a:off x="8321040" y="26974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Gestionas ese proyecto y su equipo</a:t>
            </a:r>
            <a:endParaRPr lang="en-US" sz="1300" dirty="0"/>
          </a:p>
          <a:p>
            <a:pPr marL="342900" indent="-342900">
              <a:spcAft>
                <a:spcPts val="600"/>
              </a:spcAft>
              <a:buSzPct val="100000"/>
              <a:buChar char="•"/>
            </a:pPr>
            <a:r>
              <a:rPr lang="en-US" sz="1300" dirty="0">
                <a:solidFill>
                  <a:schemeClr val="tx1"/>
                </a:solidFill>
              </a:rPr>
              <a:t>Apareces como su responsable</a:t>
            </a:r>
            <a:endParaRPr lang="en-US" sz="1300" dirty="0"/>
          </a:p>
          <a:p>
            <a:pPr marL="342900" indent="-342900">
              <a:spcAft>
                <a:spcPts val="600"/>
              </a:spcAft>
              <a:buSzPct val="100000"/>
              <a:buChar char="•"/>
            </a:pPr>
            <a:r>
              <a:rPr lang="en-US" sz="1300" dirty="0">
                <a:solidFill>
                  <a:schemeClr val="tx1"/>
                </a:solidFill>
              </a:rPr>
              <a:t>Mismo trabajo diario que cualquier administrador</a:t>
            </a:r>
            <a:endParaRPr lang="en-US" sz="1300" dirty="0"/>
          </a:p>
        </p:txBody>
      </p:sp>
      <p:sp>
        <p:nvSpPr>
          <p:cNvPr id="24" name="Consola"/>
          <p:cNvSpPr/>
          <p:nvPr/>
        </p:nvSpPr>
        <p:spPr>
          <a:xfrm>
            <a:off x="548640" y="4434840"/>
            <a:ext cx="1106424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25" name="Consola de plataforma círculo"/>
          <p:cNvSpPr/>
          <p:nvPr/>
        </p:nvSpPr>
        <p:spPr>
          <a:xfrm>
            <a:off x="777240" y="4663440"/>
            <a:ext cx="731520" cy="731520"/>
          </a:xfrm>
          <a:prstGeom prst="ellipse">
            <a:avLst/>
          </a:prstGeom>
          <a:solidFill>
            <a:schemeClr val="accent1"/>
          </a:solidFill>
          <a:ln w="12700">
            <a:solidFill>
              <a:schemeClr val="accent1"/>
            </a:solidFill>
            <a:prstDash val="solid"/>
          </a:ln>
        </p:spPr>
      </p:sp>
      <p:pic>
        <p:nvPicPr>
          <p:cNvPr id="26" name="Consola de plataforma ícono" descr="Consola de plataforma">    </p:cNvPr>
          <p:cNvPicPr>
            <a:picLocks noChangeAspect="1"/>
          </p:cNvPicPr>
          <p:nvPr/>
        </p:nvPicPr>
        <p:blipFill>
          <a:blip r:embed="rId4"/>
          <a:stretch>
            <a:fillRect/>
          </a:stretch>
        </p:blipFill>
        <p:spPr>
          <a:xfrm>
            <a:off x="952805" y="4839005"/>
            <a:ext cx="380390" cy="380390"/>
          </a:xfrm>
          <a:prstGeom prst="rect">
            <a:avLst/>
          </a:prstGeom>
        </p:spPr>
      </p:pic>
      <p:sp>
        <p:nvSpPr>
          <p:cNvPr id="27" name="Text 21"/>
          <p:cNvSpPr txBox="1"/>
          <p:nvPr/>
        </p:nvSpPr>
        <p:spPr>
          <a:xfrm>
            <a:off x="1737360" y="4526280"/>
            <a:ext cx="9692640" cy="1005840"/>
          </a:xfrm>
          <a:prstGeom prst="rect">
            <a:avLst/>
          </a:prstGeom>
          <a:noFill/>
          <a:ln/>
        </p:spPr>
        <p:txBody>
          <a:bodyPr wrap="square" lIns="0" tIns="0" rIns="0" bIns="0" rtlCol="0" anchor="ctr"/>
          <a:lstStyle/>
          <a:p>
            <a:pPr indent="0" marL="0">
              <a:buNone/>
            </a:pPr>
            <a:r>
              <a:rPr lang="en-US" sz="1400" b="1" dirty="0">
                <a:solidFill>
                  <a:schemeClr val="accent1"/>
                </a:solidFill>
              </a:rPr>
              <a:t>Consola de plataforma aparte: </a:t>
            </a:r>
            <a:pPr indent="0" marL="0">
              <a:buNone/>
            </a:pPr>
            <a:r>
              <a:rPr lang="en-US" sz="1400" dirty="0">
                <a:solidFill>
                  <a:schemeClr val="bg1"/>
                </a:solidFill>
              </a:rPr>
              <a:t>tu trabajo diario es dentro de tu empresa y tus proyectos. Para administrar la plataforma entras a una consola separada que pide una verificación adicional (código o volver a ingresar la clave).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Co-propietario: continuidad si no estás</a:t>
            </a:r>
            <a:endParaRPr lang="en-US" sz="3600" dirty="0"/>
          </a:p>
        </p:txBody>
      </p:sp>
      <p:sp>
        <p:nvSpPr>
          <p:cNvPr id="3" name="Ficha co-propietario"/>
          <p:cNvSpPr/>
          <p:nvPr/>
        </p:nvSpPr>
        <p:spPr>
          <a:xfrm>
            <a:off x="548640" y="1325880"/>
            <a:ext cx="3931920" cy="4846320"/>
          </a:xfrm>
          <a:prstGeom prst="roundRect">
            <a:avLst>
              <a:gd name="adj" fmla="val 2791"/>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Co-propietario círculo"/>
          <p:cNvSpPr/>
          <p:nvPr/>
        </p:nvSpPr>
        <p:spPr>
          <a:xfrm>
            <a:off x="2011680" y="1600200"/>
            <a:ext cx="1005840" cy="1005840"/>
          </a:xfrm>
          <a:prstGeom prst="ellipse">
            <a:avLst/>
          </a:prstGeom>
          <a:solidFill>
            <a:schemeClr val="accent5"/>
          </a:solidFill>
          <a:ln w="12700">
            <a:solidFill>
              <a:schemeClr val="accent5"/>
            </a:solidFill>
            <a:prstDash val="solid"/>
          </a:ln>
        </p:spPr>
      </p:sp>
      <p:pic>
        <p:nvPicPr>
          <p:cNvPr id="5" name="Co-propietario ícono" descr="Co-propietario">    </p:cNvPr>
          <p:cNvPicPr>
            <a:picLocks noChangeAspect="1"/>
          </p:cNvPicPr>
          <p:nvPr/>
        </p:nvPicPr>
        <p:blipFill>
          <a:blip r:embed="rId1"/>
          <a:stretch>
            <a:fillRect/>
          </a:stretch>
        </p:blipFill>
        <p:spPr>
          <a:xfrm>
            <a:off x="2253082" y="1841602"/>
            <a:ext cx="523037" cy="523037"/>
          </a:xfrm>
          <a:prstGeom prst="rect">
            <a:avLst/>
          </a:prstGeom>
        </p:spPr>
      </p:pic>
      <p:sp>
        <p:nvSpPr>
          <p:cNvPr id="6" name="Text 3"/>
          <p:cNvSpPr txBox="1"/>
          <p:nvPr/>
        </p:nvSpPr>
        <p:spPr>
          <a:xfrm>
            <a:off x="822960" y="2743200"/>
            <a:ext cx="3383280" cy="411480"/>
          </a:xfrm>
          <a:prstGeom prst="rect">
            <a:avLst/>
          </a:prstGeom>
          <a:noFill/>
          <a:ln/>
        </p:spPr>
        <p:txBody>
          <a:bodyPr wrap="square" lIns="0" tIns="0" rIns="0" bIns="0" rtlCol="0" anchor="t"/>
          <a:lstStyle/>
          <a:p>
            <a:pPr algn="ctr" indent="0" marL="0">
              <a:buNone/>
            </a:pPr>
            <a:r>
              <a:rPr lang="en-US" sz="2000" b="1" dirty="0">
                <a:solidFill>
                  <a:schemeClr val="bg1"/>
                </a:solidFill>
              </a:rPr>
              <a:t>Co-propietario</a:t>
            </a:r>
            <a:endParaRPr lang="en-US" sz="2000" dirty="0"/>
          </a:p>
        </p:txBody>
      </p:sp>
      <p:sp>
        <p:nvSpPr>
          <p:cNvPr id="7" name="Text 4"/>
          <p:cNvSpPr txBox="1"/>
          <p:nvPr/>
        </p:nvSpPr>
        <p:spPr>
          <a:xfrm>
            <a:off x="822960" y="3154680"/>
            <a:ext cx="3383280" cy="365760"/>
          </a:xfrm>
          <a:prstGeom prst="rect">
            <a:avLst/>
          </a:prstGeom>
          <a:noFill/>
          <a:ln/>
        </p:spPr>
        <p:txBody>
          <a:bodyPr wrap="square" lIns="0" tIns="0" rIns="0" bIns="0" rtlCol="0" anchor="t"/>
          <a:lstStyle/>
          <a:p>
            <a:pPr algn="ctr" indent="0" marL="0">
              <a:buNone/>
            </a:pPr>
            <a:r>
              <a:rPr lang="en-US" sz="1300" dirty="0">
                <a:solidFill>
                  <a:schemeClr val="bg2"/>
                </a:solidFill>
              </a:rPr>
              <a:t>Persona de tu confianza que tú designas</a:t>
            </a:r>
            <a:endParaRPr lang="en-US" sz="1300" dirty="0"/>
          </a:p>
        </p:txBody>
      </p:sp>
      <p:sp>
        <p:nvSpPr>
          <p:cNvPr id="8" name="etiqueta Mismos poderes en la plataforma"/>
          <p:cNvSpPr/>
          <p:nvPr/>
        </p:nvSpPr>
        <p:spPr>
          <a:xfrm>
            <a:off x="1097280" y="3703320"/>
            <a:ext cx="2834640" cy="384048"/>
          </a:xfrm>
          <a:prstGeom prst="roundRect">
            <a:avLst>
              <a:gd name="adj" fmla="val 16667"/>
            </a:avLst>
          </a:prstGeom>
          <a:solidFill>
            <a:srgbClr val="E8A33D"/>
          </a:solidFill>
          <a:ln w="12700">
            <a:solidFill>
              <a:srgbClr val="E8A33D"/>
            </a:solidFill>
            <a:prstDash val="solid"/>
          </a:ln>
        </p:spPr>
      </p:sp>
      <p:sp>
        <p:nvSpPr>
          <p:cNvPr id="9" name="Text 6"/>
          <p:cNvSpPr txBox="1"/>
          <p:nvPr/>
        </p:nvSpPr>
        <p:spPr>
          <a:xfrm>
            <a:off x="1097280" y="3703320"/>
            <a:ext cx="2834640" cy="384048"/>
          </a:xfrm>
          <a:prstGeom prst="rect">
            <a:avLst/>
          </a:prstGeom>
          <a:noFill/>
          <a:ln/>
        </p:spPr>
        <p:txBody>
          <a:bodyPr wrap="square" lIns="0" tIns="0" rIns="0" bIns="0" rtlCol="0" anchor="ctr"/>
          <a:lstStyle/>
          <a:p>
            <a:pPr algn="ctr" indent="0" marL="0">
              <a:buNone/>
            </a:pPr>
            <a:r>
              <a:rPr lang="en-US" sz="1200" b="1" dirty="0">
                <a:solidFill>
                  <a:schemeClr val="tx2"/>
                </a:solidFill>
              </a:rPr>
              <a:t>Mismos poderes en la plataforma</a:t>
            </a:r>
            <a:endParaRPr lang="en-US" sz="1200" dirty="0"/>
          </a:p>
        </p:txBody>
      </p:sp>
      <p:sp>
        <p:nvSpPr>
          <p:cNvPr id="10" name="etiqueta Verificación adicional obligatoria"/>
          <p:cNvSpPr/>
          <p:nvPr/>
        </p:nvSpPr>
        <p:spPr>
          <a:xfrm>
            <a:off x="1097280" y="4206240"/>
            <a:ext cx="2834640" cy="384048"/>
          </a:xfrm>
          <a:prstGeom prst="roundRect">
            <a:avLst>
              <a:gd name="adj" fmla="val 16667"/>
            </a:avLst>
          </a:prstGeom>
          <a:solidFill>
            <a:srgbClr val="EEF2F6"/>
          </a:solidFill>
          <a:ln w="12700">
            <a:solidFill>
              <a:srgbClr val="EEF2F6"/>
            </a:solidFill>
            <a:prstDash val="solid"/>
          </a:ln>
        </p:spPr>
      </p:sp>
      <p:sp>
        <p:nvSpPr>
          <p:cNvPr id="11" name="Text 8"/>
          <p:cNvSpPr txBox="1"/>
          <p:nvPr/>
        </p:nvSpPr>
        <p:spPr>
          <a:xfrm>
            <a:off x="1097280" y="4206240"/>
            <a:ext cx="2834640" cy="384048"/>
          </a:xfrm>
          <a:prstGeom prst="rect">
            <a:avLst/>
          </a:prstGeom>
          <a:noFill/>
          <a:ln/>
        </p:spPr>
        <p:txBody>
          <a:bodyPr wrap="square" lIns="0" tIns="0" rIns="0" bIns="0" rtlCol="0" anchor="ctr"/>
          <a:lstStyle/>
          <a:p>
            <a:pPr algn="ctr" indent="0" marL="0">
              <a:buNone/>
            </a:pPr>
            <a:r>
              <a:rPr lang="en-US" sz="1200" b="1" dirty="0">
                <a:solidFill>
                  <a:schemeClr val="tx2"/>
                </a:solidFill>
              </a:rPr>
              <a:t>Verificación adicional obligatoria</a:t>
            </a:r>
            <a:endParaRPr lang="en-US" sz="1200" dirty="0"/>
          </a:p>
        </p:txBody>
      </p:sp>
      <p:sp>
        <p:nvSpPr>
          <p:cNvPr id="12" name="etiqueta Todo lo que hace te llega por aviso"/>
          <p:cNvSpPr/>
          <p:nvPr/>
        </p:nvSpPr>
        <p:spPr>
          <a:xfrm>
            <a:off x="1097280" y="4709160"/>
            <a:ext cx="2834640" cy="384048"/>
          </a:xfrm>
          <a:prstGeom prst="roundRect">
            <a:avLst>
              <a:gd name="adj" fmla="val 16667"/>
            </a:avLst>
          </a:prstGeom>
          <a:solidFill>
            <a:srgbClr val="EEF2F6"/>
          </a:solidFill>
          <a:ln w="12700">
            <a:solidFill>
              <a:srgbClr val="EEF2F6"/>
            </a:solidFill>
            <a:prstDash val="solid"/>
          </a:ln>
        </p:spPr>
      </p:sp>
      <p:sp>
        <p:nvSpPr>
          <p:cNvPr id="13" name="Text 10"/>
          <p:cNvSpPr txBox="1"/>
          <p:nvPr/>
        </p:nvSpPr>
        <p:spPr>
          <a:xfrm>
            <a:off x="1097280" y="4709160"/>
            <a:ext cx="2834640" cy="384048"/>
          </a:xfrm>
          <a:prstGeom prst="rect">
            <a:avLst/>
          </a:prstGeom>
          <a:noFill/>
          <a:ln/>
        </p:spPr>
        <p:txBody>
          <a:bodyPr wrap="square" lIns="0" tIns="0" rIns="0" bIns="0" rtlCol="0" anchor="ctr"/>
          <a:lstStyle/>
          <a:p>
            <a:pPr algn="ctr" indent="0" marL="0">
              <a:buNone/>
            </a:pPr>
            <a:r>
              <a:rPr lang="en-US" sz="1200" b="1" dirty="0">
                <a:solidFill>
                  <a:schemeClr val="tx2"/>
                </a:solidFill>
              </a:rPr>
              <a:t>Todo lo que hace te llega por aviso</a:t>
            </a:r>
            <a:endParaRPr lang="en-US" sz="1200" dirty="0"/>
          </a:p>
        </p:txBody>
      </p:sp>
      <p:sp>
        <p:nvSpPr>
          <p:cNvPr id="14" name="Puede círculo"/>
          <p:cNvSpPr/>
          <p:nvPr/>
        </p:nvSpPr>
        <p:spPr>
          <a:xfrm>
            <a:off x="4800600" y="1435608"/>
            <a:ext cx="685800" cy="685800"/>
          </a:xfrm>
          <a:prstGeom prst="ellipse">
            <a:avLst/>
          </a:prstGeom>
          <a:solidFill>
            <a:schemeClr val="accent2"/>
          </a:solidFill>
          <a:ln w="12700">
            <a:solidFill>
              <a:schemeClr val="accent2"/>
            </a:solidFill>
            <a:prstDash val="solid"/>
          </a:ln>
        </p:spPr>
      </p:sp>
      <p:pic>
        <p:nvPicPr>
          <p:cNvPr id="15" name="Puede ícono" descr="Puede">    </p:cNvPr>
          <p:cNvPicPr>
            <a:picLocks noChangeAspect="1"/>
          </p:cNvPicPr>
          <p:nvPr/>
        </p:nvPicPr>
        <p:blipFill>
          <a:blip r:embed="rId2"/>
          <a:stretch>
            <a:fillRect/>
          </a:stretch>
        </p:blipFill>
        <p:spPr>
          <a:xfrm>
            <a:off x="4965192" y="1600200"/>
            <a:ext cx="356616" cy="356616"/>
          </a:xfrm>
          <a:prstGeom prst="rect">
            <a:avLst/>
          </a:prstGeom>
        </p:spPr>
      </p:pic>
      <p:sp>
        <p:nvSpPr>
          <p:cNvPr id="16" name="Text 12"/>
          <p:cNvSpPr txBox="1"/>
          <p:nvPr/>
        </p:nvSpPr>
        <p:spPr>
          <a:xfrm>
            <a:off x="5669280" y="1325880"/>
            <a:ext cx="5943600" cy="384048"/>
          </a:xfrm>
          <a:prstGeom prst="rect">
            <a:avLst/>
          </a:prstGeom>
          <a:noFill/>
          <a:ln/>
        </p:spPr>
        <p:txBody>
          <a:bodyPr wrap="square" lIns="0" tIns="0" rIns="0" bIns="0" rtlCol="0" anchor="t"/>
          <a:lstStyle/>
          <a:p>
            <a:pPr indent="0" marL="0">
              <a:buNone/>
            </a:pPr>
            <a:r>
              <a:rPr lang="en-US" sz="1700" b="1" dirty="0">
                <a:solidFill>
                  <a:schemeClr val="tx2"/>
                </a:solidFill>
              </a:rPr>
              <a:t>Puede</a:t>
            </a:r>
            <a:endParaRPr lang="en-US" sz="1700" dirty="0"/>
          </a:p>
        </p:txBody>
      </p:sp>
      <p:sp>
        <p:nvSpPr>
          <p:cNvPr id="17" name="Text 13"/>
          <p:cNvSpPr txBox="1"/>
          <p:nvPr/>
        </p:nvSpPr>
        <p:spPr>
          <a:xfrm>
            <a:off x="5669280" y="1737360"/>
            <a:ext cx="5943600" cy="731520"/>
          </a:xfrm>
          <a:prstGeom prst="rect">
            <a:avLst/>
          </a:prstGeom>
          <a:noFill/>
          <a:ln/>
        </p:spPr>
        <p:txBody>
          <a:bodyPr wrap="square" lIns="0" tIns="0" rIns="0" bIns="0" rtlCol="0" anchor="t"/>
          <a:lstStyle/>
          <a:p>
            <a:pPr indent="0" marL="0">
              <a:buNone/>
            </a:pPr>
            <a:r>
              <a:rPr lang="en-US" sz="1400" dirty="0">
                <a:solidFill>
                  <a:schemeClr val="tx1"/>
                </a:solidFill>
              </a:rPr>
              <a:t>Crear y suspender empresas, designar sus Super administradores, publicar versiones y atender soporte autorizado.</a:t>
            </a:r>
            <a:endParaRPr lang="en-US" sz="1400" dirty="0"/>
          </a:p>
        </p:txBody>
      </p:sp>
      <p:sp>
        <p:nvSpPr>
          <p:cNvPr id="18" name="No puede círculo"/>
          <p:cNvSpPr/>
          <p:nvPr/>
        </p:nvSpPr>
        <p:spPr>
          <a:xfrm>
            <a:off x="4800600" y="2651760"/>
            <a:ext cx="685800" cy="685800"/>
          </a:xfrm>
          <a:prstGeom prst="ellipse">
            <a:avLst/>
          </a:prstGeom>
          <a:solidFill>
            <a:schemeClr val="accent4"/>
          </a:solidFill>
          <a:ln w="12700">
            <a:solidFill>
              <a:schemeClr val="accent4"/>
            </a:solidFill>
            <a:prstDash val="solid"/>
          </a:ln>
        </p:spPr>
      </p:sp>
      <p:pic>
        <p:nvPicPr>
          <p:cNvPr id="19" name="No puede ícono" descr="No puede">    </p:cNvPr>
          <p:cNvPicPr>
            <a:picLocks noChangeAspect="1"/>
          </p:cNvPicPr>
          <p:nvPr/>
        </p:nvPicPr>
        <p:blipFill>
          <a:blip r:embed="rId3"/>
          <a:stretch>
            <a:fillRect/>
          </a:stretch>
        </p:blipFill>
        <p:spPr>
          <a:xfrm>
            <a:off x="4965192" y="2816352"/>
            <a:ext cx="356616" cy="356616"/>
          </a:xfrm>
          <a:prstGeom prst="rect">
            <a:avLst/>
          </a:prstGeom>
        </p:spPr>
      </p:pic>
      <p:sp>
        <p:nvSpPr>
          <p:cNvPr id="20" name="Text 15"/>
          <p:cNvSpPr txBox="1"/>
          <p:nvPr/>
        </p:nvSpPr>
        <p:spPr>
          <a:xfrm>
            <a:off x="5669280" y="2542032"/>
            <a:ext cx="5943600" cy="384048"/>
          </a:xfrm>
          <a:prstGeom prst="rect">
            <a:avLst/>
          </a:prstGeom>
          <a:noFill/>
          <a:ln/>
        </p:spPr>
        <p:txBody>
          <a:bodyPr wrap="square" lIns="0" tIns="0" rIns="0" bIns="0" rtlCol="0" anchor="t"/>
          <a:lstStyle/>
          <a:p>
            <a:pPr indent="0" marL="0">
              <a:buNone/>
            </a:pPr>
            <a:r>
              <a:rPr lang="en-US" sz="1700" b="1" dirty="0">
                <a:solidFill>
                  <a:schemeClr val="tx2"/>
                </a:solidFill>
              </a:rPr>
              <a:t>No puede</a:t>
            </a:r>
            <a:endParaRPr lang="en-US" sz="1700" dirty="0"/>
          </a:p>
        </p:txBody>
      </p:sp>
      <p:sp>
        <p:nvSpPr>
          <p:cNvPr id="21" name="Text 16"/>
          <p:cNvSpPr txBox="1"/>
          <p:nvPr/>
        </p:nvSpPr>
        <p:spPr>
          <a:xfrm>
            <a:off x="5669280" y="2953512"/>
            <a:ext cx="5943600" cy="731520"/>
          </a:xfrm>
          <a:prstGeom prst="rect">
            <a:avLst/>
          </a:prstGeom>
          <a:noFill/>
          <a:ln/>
        </p:spPr>
        <p:txBody>
          <a:bodyPr wrap="square" lIns="0" tIns="0" rIns="0" bIns="0" rtlCol="0" anchor="t"/>
          <a:lstStyle/>
          <a:p>
            <a:pPr indent="0" marL="0">
              <a:buNone/>
            </a:pPr>
            <a:r>
              <a:rPr lang="en-US" sz="1400" dirty="0">
                <a:solidFill>
                  <a:schemeClr val="tx1"/>
                </a:solidFill>
              </a:rPr>
              <a:t>Quitarte la propiedad, retirarte el acceso ni designar a otro co-propietario. Solo tú lo nombras o lo cambias.</a:t>
            </a:r>
            <a:endParaRPr lang="en-US" sz="1400" dirty="0"/>
          </a:p>
        </p:txBody>
      </p:sp>
      <p:sp>
        <p:nvSpPr>
          <p:cNvPr id="22" name="Confidencialidad círculo"/>
          <p:cNvSpPr/>
          <p:nvPr/>
        </p:nvSpPr>
        <p:spPr>
          <a:xfrm>
            <a:off x="4800600" y="3867912"/>
            <a:ext cx="685800" cy="685800"/>
          </a:xfrm>
          <a:prstGeom prst="ellipse">
            <a:avLst/>
          </a:prstGeom>
          <a:solidFill>
            <a:schemeClr val="accent3"/>
          </a:solidFill>
          <a:ln w="12700">
            <a:solidFill>
              <a:schemeClr val="accent3"/>
            </a:solidFill>
            <a:prstDash val="solid"/>
          </a:ln>
        </p:spPr>
      </p:sp>
      <p:pic>
        <p:nvPicPr>
          <p:cNvPr id="23" name="Confidencialidad ícono" descr="Confidencialidad">    </p:cNvPr>
          <p:cNvPicPr>
            <a:picLocks noChangeAspect="1"/>
          </p:cNvPicPr>
          <p:nvPr/>
        </p:nvPicPr>
        <p:blipFill>
          <a:blip r:embed="rId4"/>
          <a:stretch>
            <a:fillRect/>
          </a:stretch>
        </p:blipFill>
        <p:spPr>
          <a:xfrm>
            <a:off x="4965192" y="4032504"/>
            <a:ext cx="356616" cy="356616"/>
          </a:xfrm>
          <a:prstGeom prst="rect">
            <a:avLst/>
          </a:prstGeom>
        </p:spPr>
      </p:pic>
      <p:sp>
        <p:nvSpPr>
          <p:cNvPr id="24" name="Text 18"/>
          <p:cNvSpPr txBox="1"/>
          <p:nvPr/>
        </p:nvSpPr>
        <p:spPr>
          <a:xfrm>
            <a:off x="5669280" y="3758184"/>
            <a:ext cx="5943600" cy="384048"/>
          </a:xfrm>
          <a:prstGeom prst="rect">
            <a:avLst/>
          </a:prstGeom>
          <a:noFill/>
          <a:ln/>
        </p:spPr>
        <p:txBody>
          <a:bodyPr wrap="square" lIns="0" tIns="0" rIns="0" bIns="0" rtlCol="0" anchor="t"/>
          <a:lstStyle/>
          <a:p>
            <a:pPr indent="0" marL="0">
              <a:buNone/>
            </a:pPr>
            <a:r>
              <a:rPr lang="en-US" sz="1700" b="1" dirty="0">
                <a:solidFill>
                  <a:schemeClr val="tx2"/>
                </a:solidFill>
              </a:rPr>
              <a:t>Confidencialidad</a:t>
            </a:r>
            <a:endParaRPr lang="en-US" sz="1700" dirty="0"/>
          </a:p>
        </p:txBody>
      </p:sp>
      <p:sp>
        <p:nvSpPr>
          <p:cNvPr id="25" name="Text 19"/>
          <p:cNvSpPr txBox="1"/>
          <p:nvPr/>
        </p:nvSpPr>
        <p:spPr>
          <a:xfrm>
            <a:off x="5669280" y="4169664"/>
            <a:ext cx="5943600" cy="731520"/>
          </a:xfrm>
          <a:prstGeom prst="rect">
            <a:avLst/>
          </a:prstGeom>
          <a:noFill/>
          <a:ln/>
        </p:spPr>
        <p:txBody>
          <a:bodyPr wrap="square" lIns="0" tIns="0" rIns="0" bIns="0" rtlCol="0" anchor="t"/>
          <a:lstStyle/>
          <a:p>
            <a:pPr indent="0" marL="0">
              <a:buNone/>
            </a:pPr>
            <a:r>
              <a:rPr lang="en-US" sz="1400" dirty="0">
                <a:solidFill>
                  <a:schemeClr val="tx1"/>
                </a:solidFill>
              </a:rPr>
              <a:t>Igual que tú: no ve proyectos de ninguna empresa salvo soporte autorizado o que sea miembro de ella.</a:t>
            </a:r>
            <a:endParaRPr lang="en-US" sz="1400" dirty="0"/>
          </a:p>
        </p:txBody>
      </p:sp>
      <p:sp>
        <p:nvSpPr>
          <p:cNvPr id="26" name="Si pierdes el acceso círculo"/>
          <p:cNvSpPr/>
          <p:nvPr/>
        </p:nvSpPr>
        <p:spPr>
          <a:xfrm>
            <a:off x="4800600" y="5084064"/>
            <a:ext cx="685800" cy="685800"/>
          </a:xfrm>
          <a:prstGeom prst="ellipse">
            <a:avLst/>
          </a:prstGeom>
          <a:solidFill>
            <a:schemeClr val="accent1"/>
          </a:solidFill>
          <a:ln w="12700">
            <a:solidFill>
              <a:schemeClr val="accent1"/>
            </a:solidFill>
            <a:prstDash val="solid"/>
          </a:ln>
        </p:spPr>
      </p:sp>
      <p:pic>
        <p:nvPicPr>
          <p:cNvPr id="27" name="Si pierdes el acceso ícono" descr="Si pierdes el acceso">    </p:cNvPr>
          <p:cNvPicPr>
            <a:picLocks noChangeAspect="1"/>
          </p:cNvPicPr>
          <p:nvPr/>
        </p:nvPicPr>
        <p:blipFill>
          <a:blip r:embed="rId5"/>
          <a:stretch>
            <a:fillRect/>
          </a:stretch>
        </p:blipFill>
        <p:spPr>
          <a:xfrm>
            <a:off x="4965192" y="5248656"/>
            <a:ext cx="356616" cy="356616"/>
          </a:xfrm>
          <a:prstGeom prst="rect">
            <a:avLst/>
          </a:prstGeom>
        </p:spPr>
      </p:pic>
      <p:sp>
        <p:nvSpPr>
          <p:cNvPr id="28" name="Text 21"/>
          <p:cNvSpPr txBox="1"/>
          <p:nvPr/>
        </p:nvSpPr>
        <p:spPr>
          <a:xfrm>
            <a:off x="5669280" y="4974336"/>
            <a:ext cx="5943600" cy="384048"/>
          </a:xfrm>
          <a:prstGeom prst="rect">
            <a:avLst/>
          </a:prstGeom>
          <a:noFill/>
          <a:ln/>
        </p:spPr>
        <p:txBody>
          <a:bodyPr wrap="square" lIns="0" tIns="0" rIns="0" bIns="0" rtlCol="0" anchor="t"/>
          <a:lstStyle/>
          <a:p>
            <a:pPr indent="0" marL="0">
              <a:buNone/>
            </a:pPr>
            <a:r>
              <a:rPr lang="en-US" sz="1700" b="1" dirty="0">
                <a:solidFill>
                  <a:schemeClr val="tx2"/>
                </a:solidFill>
              </a:rPr>
              <a:t>Si pierdes el acceso</a:t>
            </a:r>
            <a:endParaRPr lang="en-US" sz="1700" dirty="0"/>
          </a:p>
        </p:txBody>
      </p:sp>
      <p:sp>
        <p:nvSpPr>
          <p:cNvPr id="29" name="Text 22"/>
          <p:cNvSpPr txBox="1"/>
          <p:nvPr/>
        </p:nvSpPr>
        <p:spPr>
          <a:xfrm>
            <a:off x="5669280" y="5385816"/>
            <a:ext cx="5943600" cy="731520"/>
          </a:xfrm>
          <a:prstGeom prst="rect">
            <a:avLst/>
          </a:prstGeom>
          <a:noFill/>
          <a:ln/>
        </p:spPr>
        <p:txBody>
          <a:bodyPr wrap="square" lIns="0" tIns="0" rIns="0" bIns="0" rtlCol="0" anchor="t"/>
          <a:lstStyle/>
          <a:p>
            <a:pPr indent="0" marL="0">
              <a:buNone/>
            </a:pPr>
            <a:r>
              <a:rPr lang="en-US" sz="1400" dirty="0">
                <a:solidFill>
                  <a:schemeClr val="tx1"/>
                </a:solidFill>
              </a:rPr>
              <a:t>Puede restablecer tu cuenta de propietario; queda en la auditoría y te avisa en tu correo de respaldo.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Qué puede hacer cada rol, por capa</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71800"/>
                <a:gridCol w="1143000"/>
                <a:gridCol w="1188720"/>
                <a:gridCol w="1188720"/>
                <a:gridCol w="1097280"/>
                <a:gridCol w="1234440"/>
                <a:gridCol w="1097280"/>
                <a:gridCol w="1143000"/>
              </a:tblGrid>
              <a:tr h="292608">
                <a:tc>
                  <a:txBody>
                    <a:bodyPr/>
                    <a:lstStyle/>
                    <a:p>
                      <a:pPr indent="0" marL="0">
                        <a:buNone/>
                      </a:pP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gridSpan="2">
                  <a:txBody>
                    <a:bodyPr/>
                    <a:lstStyle/>
                    <a:p>
                      <a:pPr algn="ctr" indent="0" marL="0">
                        <a:buNone/>
                      </a:pPr>
                      <a:r>
                        <a:rPr lang="en-US" sz="1100" b="1" dirty="0">
                          <a:solidFill>
                            <a:schemeClr val="bg1"/>
                          </a:solidFill>
                        </a:rPr>
                        <a:t>Plataforma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7243A"/>
                    </a:solidFill>
                  </a:tcPr>
                </a:tc>
                <a:tc hMerge="1">
                  <a:tcPr/>
                </a:tc>
                <a:tc gridSpan="2">
                  <a:txBody>
                    <a:bodyPr/>
                    <a:lstStyle/>
                    <a:p>
                      <a:pPr algn="ctr" indent="0" marL="0">
                        <a:buNone/>
                      </a:pPr>
                      <a:r>
                        <a:rPr lang="en-US" sz="1100" b="1" dirty="0">
                          <a:solidFill>
                            <a:schemeClr val="bg1"/>
                          </a:solidFill>
                        </a:rPr>
                        <a:t>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A4A63"/>
                    </a:solidFill>
                  </a:tcPr>
                </a:tc>
                <a:tc hMerge="1">
                  <a:tcPr/>
                </a:tc>
                <a:tc gridSpan="2">
                  <a:txBody>
                    <a:bodyPr/>
                    <a:lstStyle/>
                    <a:p>
                      <a:pPr algn="ctr" indent="0" marL="0">
                        <a:buNone/>
                      </a:pPr>
                      <a:r>
                        <a:rPr lang="en-US" sz="1100" b="1" dirty="0">
                          <a:solidFill>
                            <a:schemeClr val="bg1"/>
                          </a:solidFill>
                        </a:rPr>
                        <a:t>Grupo (proyecto)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476178"/>
                    </a:solidFill>
                  </a:tcPr>
                </a:tc>
                <a:tc hMerge="1">
                  <a:tcPr/>
                </a:tc>
                <a:tc>
                  <a:txBody>
                    <a:bodyPr/>
                    <a:lstStyle/>
                    <a:p>
                      <a:pPr algn="ctr" indent="0" marL="0">
                        <a:buNone/>
                      </a:pPr>
                      <a:r>
                        <a:rPr lang="en-US" sz="1100" b="1" dirty="0">
                          <a:solidFill>
                            <a:schemeClr val="bg1"/>
                          </a:solidFill>
                        </a:rPr>
                        <a:t>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A4A63"/>
                    </a:solidFill>
                  </a:tcPr>
                </a:tc>
              </a:tr>
              <a:tr h="457200">
                <a:tc>
                  <a:txBody>
                    <a:bodyPr/>
                    <a:lstStyle/>
                    <a:p>
                      <a:pPr indent="0" marL="0">
                        <a:buNone/>
                      </a:pPr>
                      <a:r>
                        <a:rPr lang="en-US" sz="1200" b="1" dirty="0">
                          <a:solidFill>
                            <a:schemeClr val="bg1"/>
                          </a:solidFill>
                        </a:rPr>
                        <a:t>Acción</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Propietario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7243A"/>
                    </a:solidFill>
                  </a:tcPr>
                </a:tc>
                <a:tc>
                  <a:txBody>
                    <a:bodyPr/>
                    <a:lstStyle/>
                    <a:p>
                      <a:pPr algn="ctr" indent="0" marL="0">
                        <a:buNone/>
                      </a:pPr>
                      <a:r>
                        <a:rPr lang="en-US" sz="1000" b="1" dirty="0">
                          <a:solidFill>
                            <a:schemeClr val="bg1"/>
                          </a:solidFill>
                        </a:rPr>
                        <a:t>Co-propietario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7243A"/>
                    </a:solidFill>
                  </a:tcPr>
                </a:tc>
                <a:tc>
                  <a:txBody>
                    <a:bodyPr/>
                    <a:lstStyle/>
                    <a:p>
                      <a:pPr algn="ctr" indent="0" marL="0">
                        <a:buNone/>
                      </a:pPr>
                      <a:r>
                        <a:rPr lang="en-US" sz="1000" b="1" dirty="0">
                          <a:solidFill>
                            <a:schemeClr val="bg1"/>
                          </a:solidFill>
                        </a:rPr>
                        <a:t>Super administrador</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A4A63"/>
                    </a:solidFill>
                  </a:tcPr>
                </a:tc>
                <a:tc>
                  <a:txBody>
                    <a:bodyPr/>
                    <a:lstStyle/>
                    <a:p>
                      <a:pPr algn="ctr" indent="0" marL="0">
                        <a:buNone/>
                      </a:pPr>
                      <a:r>
                        <a:rPr lang="en-US" sz="1000" b="1" dirty="0">
                          <a:solidFill>
                            <a:schemeClr val="bg1"/>
                          </a:solidFill>
                        </a:rPr>
                        <a:t>Relevo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A4A63"/>
                    </a:solidFill>
                  </a:tcPr>
                </a:tc>
                <a:tc>
                  <a:txBody>
                    <a:bodyPr/>
                    <a:lstStyle/>
                    <a:p>
                      <a:pPr algn="ctr" indent="0" marL="0">
                        <a:buNone/>
                      </a:pPr>
                      <a:r>
                        <a:rPr lang="en-US" sz="1000" b="1" dirty="0">
                          <a:solidFill>
                            <a:schemeClr val="bg1"/>
                          </a:solidFill>
                        </a:rPr>
                        <a:t>Administrador del grupo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476178"/>
                    </a:solidFill>
                  </a:tcPr>
                </a:tc>
                <a:tc>
                  <a:txBody>
                    <a:bodyPr/>
                    <a:lstStyle/>
                    <a:p>
                      <a:pPr algn="ctr" indent="0" marL="0">
                        <a:buNone/>
                      </a:pPr>
                      <a:r>
                        <a:rPr lang="en-US" sz="1000" b="1" dirty="0">
                          <a:solidFill>
                            <a:schemeClr val="bg1"/>
                          </a:solidFill>
                        </a:rPr>
                        <a:t>Miembro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476178"/>
                    </a:solidFill>
                  </a:tcPr>
                </a:tc>
                <a:tc>
                  <a:txBody>
                    <a:bodyPr/>
                    <a:lstStyle/>
                    <a:p>
                      <a:pPr algn="ctr" indent="0" marL="0">
                        <a:buNone/>
                      </a:pPr>
                      <a:r>
                        <a:rPr lang="en-US" sz="1000" b="1" dirty="0">
                          <a:solidFill>
                            <a:schemeClr val="bg1"/>
                          </a:solidFill>
                        </a:rPr>
                        <a:t>Invitado externo</a:t>
                      </a:r>
                      <a:endParaRPr lang="en-US" sz="10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A4A63"/>
                    </a:solidFill>
                  </a:tcPr>
                </a:tc>
              </a:tr>
              <a:tr h="420624">
                <a:tc>
                  <a:txBody>
                    <a:bodyPr/>
                    <a:lstStyle/>
                    <a:p>
                      <a:pPr indent="0" marL="0">
                        <a:buNone/>
                      </a:pPr>
                      <a:r>
                        <a:rPr lang="en-US" sz="1100" b="1" dirty="0">
                          <a:solidFill>
                            <a:schemeClr val="tx1"/>
                          </a:solidFill>
                        </a:rPr>
                        <a:t>Crear empresas y designar su Super administrador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Designar o cambiar al co-propietario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Crear, cerrar o eliminar proyectos (grupos)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Designar al relevo de la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Crear usuarios, invitar y aprobar pendientes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Restablecer clave (🔑)</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Super admin.</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Super admin.</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Menos admin.</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La suya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La suya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Ajustar la plantilla de permisos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rPr>
                        <a:t>✔</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Ver proyectos y datos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Con soporte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Con soporte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Invitado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Seguridad y auditoría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Plataforma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Plataforma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Auditoría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Su grupo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Los roles de capas distintas se suman. Nadie puede quitarle el rol al propietario ni al Super administrador principal de una empresa. Todo cambio queda en la auditoría.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Invitados externos: cliente y supervisión</a:t>
            </a:r>
            <a:endParaRPr lang="en-US" sz="3600" dirty="0"/>
          </a:p>
        </p:txBody>
      </p:sp>
      <p:sp>
        <p:nvSpPr>
          <p:cNvPr id="3" name="Ficha invitado"/>
          <p:cNvSpPr/>
          <p:nvPr/>
        </p:nvSpPr>
        <p:spPr>
          <a:xfrm>
            <a:off x="548640" y="1371600"/>
            <a:ext cx="3840480" cy="4480560"/>
          </a:xfrm>
          <a:prstGeom prst="roundRect">
            <a:avLst>
              <a:gd name="adj" fmla="val 2857"/>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Invitado externo círculo"/>
          <p:cNvSpPr/>
          <p:nvPr/>
        </p:nvSpPr>
        <p:spPr>
          <a:xfrm>
            <a:off x="1965960" y="1645920"/>
            <a:ext cx="1005840" cy="1005840"/>
          </a:xfrm>
          <a:prstGeom prst="ellipse">
            <a:avLst/>
          </a:prstGeom>
          <a:solidFill>
            <a:schemeClr val="accent5"/>
          </a:solidFill>
          <a:ln w="12700">
            <a:solidFill>
              <a:schemeClr val="accent5"/>
            </a:solidFill>
            <a:prstDash val="solid"/>
          </a:ln>
        </p:spPr>
      </p:sp>
      <p:pic>
        <p:nvPicPr>
          <p:cNvPr id="5" name="Invitado externo ícono" descr="Invitado externo">    </p:cNvPr>
          <p:cNvPicPr>
            <a:picLocks noChangeAspect="1"/>
          </p:cNvPicPr>
          <p:nvPr/>
        </p:nvPicPr>
        <p:blipFill>
          <a:blip r:embed="rId1"/>
          <a:stretch>
            <a:fillRect/>
          </a:stretch>
        </p:blipFill>
        <p:spPr>
          <a:xfrm>
            <a:off x="2207362" y="1887322"/>
            <a:ext cx="523037" cy="523037"/>
          </a:xfrm>
          <a:prstGeom prst="rect">
            <a:avLst/>
          </a:prstGeom>
        </p:spPr>
      </p:pic>
      <p:sp>
        <p:nvSpPr>
          <p:cNvPr id="6" name="Text 3"/>
          <p:cNvSpPr txBox="1"/>
          <p:nvPr/>
        </p:nvSpPr>
        <p:spPr>
          <a:xfrm>
            <a:off x="822960" y="2788920"/>
            <a:ext cx="3291840" cy="411480"/>
          </a:xfrm>
          <a:prstGeom prst="rect">
            <a:avLst/>
          </a:prstGeom>
          <a:noFill/>
          <a:ln/>
        </p:spPr>
        <p:txBody>
          <a:bodyPr wrap="square" lIns="0" tIns="0" rIns="0" bIns="0" rtlCol="0" anchor="t"/>
          <a:lstStyle/>
          <a:p>
            <a:pPr algn="ctr" indent="0" marL="0">
              <a:buNone/>
            </a:pPr>
            <a:r>
              <a:rPr lang="en-US" sz="2000" b="1" dirty="0">
                <a:solidFill>
                  <a:schemeClr val="bg1"/>
                </a:solidFill>
              </a:rPr>
              <a:t>Invitado externo</a:t>
            </a:r>
            <a:endParaRPr lang="en-US" sz="2000" dirty="0"/>
          </a:p>
        </p:txBody>
      </p:sp>
      <p:sp>
        <p:nvSpPr>
          <p:cNvPr id="7" name="Text 4"/>
          <p:cNvSpPr txBox="1"/>
          <p:nvPr/>
        </p:nvSpPr>
        <p:spPr>
          <a:xfrm>
            <a:off x="822960" y="3200400"/>
            <a:ext cx="3291840" cy="320040"/>
          </a:xfrm>
          <a:prstGeom prst="rect">
            <a:avLst/>
          </a:prstGeom>
          <a:noFill/>
          <a:ln/>
        </p:spPr>
        <p:txBody>
          <a:bodyPr wrap="square" lIns="0" tIns="0" rIns="0" bIns="0" rtlCol="0" anchor="t"/>
          <a:lstStyle/>
          <a:p>
            <a:pPr algn="ctr" indent="0" marL="0">
              <a:buNone/>
            </a:pPr>
            <a:r>
              <a:rPr lang="en-US" sz="1300" dirty="0">
                <a:solidFill>
                  <a:schemeClr val="bg2"/>
                </a:solidFill>
              </a:rPr>
              <a:t>Ejemplo: supervisor@consultora.pe</a:t>
            </a:r>
            <a:endParaRPr lang="en-US" sz="1300" dirty="0"/>
          </a:p>
        </p:txBody>
      </p:sp>
      <p:sp>
        <p:nvSpPr>
          <p:cNvPr id="8" name="etiqueta Empresa: Consultora XYZ"/>
          <p:cNvSpPr/>
          <p:nvPr/>
        </p:nvSpPr>
        <p:spPr>
          <a:xfrm>
            <a:off x="1051560" y="3749040"/>
            <a:ext cx="2834640" cy="411480"/>
          </a:xfrm>
          <a:prstGeom prst="roundRect">
            <a:avLst>
              <a:gd name="adj" fmla="val 15556"/>
            </a:avLst>
          </a:prstGeom>
          <a:solidFill>
            <a:srgbClr val="E8A33D"/>
          </a:solidFill>
          <a:ln w="12700">
            <a:solidFill>
              <a:srgbClr val="E8A33D"/>
            </a:solidFill>
            <a:prstDash val="solid"/>
          </a:ln>
        </p:spPr>
      </p:sp>
      <p:sp>
        <p:nvSpPr>
          <p:cNvPr id="9" name="Text 6"/>
          <p:cNvSpPr txBox="1"/>
          <p:nvPr/>
        </p:nvSpPr>
        <p:spPr>
          <a:xfrm>
            <a:off x="1051560" y="3749040"/>
            <a:ext cx="2834640" cy="411480"/>
          </a:xfrm>
          <a:prstGeom prst="rect">
            <a:avLst/>
          </a:prstGeom>
          <a:noFill/>
          <a:ln/>
        </p:spPr>
        <p:txBody>
          <a:bodyPr wrap="square" lIns="0" tIns="0" rIns="0" bIns="0" rtlCol="0" anchor="ctr"/>
          <a:lstStyle/>
          <a:p>
            <a:pPr algn="ctr" indent="0" marL="0">
              <a:buNone/>
            </a:pPr>
            <a:r>
              <a:rPr lang="en-US" sz="1200" b="1" dirty="0">
                <a:solidFill>
                  <a:schemeClr val="tx2"/>
                </a:solidFill>
              </a:rPr>
              <a:t>Empresa: Consultora XYZ</a:t>
            </a:r>
            <a:endParaRPr lang="en-US" sz="1200" dirty="0"/>
          </a:p>
        </p:txBody>
      </p:sp>
      <p:sp>
        <p:nvSpPr>
          <p:cNvPr id="10" name="etiqueta Proyecto A · Solo ver"/>
          <p:cNvSpPr/>
          <p:nvPr/>
        </p:nvSpPr>
        <p:spPr>
          <a:xfrm>
            <a:off x="1051560" y="4297680"/>
            <a:ext cx="2834640" cy="411480"/>
          </a:xfrm>
          <a:prstGeom prst="roundRect">
            <a:avLst>
              <a:gd name="adj" fmla="val 15556"/>
            </a:avLst>
          </a:prstGeom>
          <a:solidFill>
            <a:srgbClr val="EEF2F6"/>
          </a:solidFill>
          <a:ln w="12700">
            <a:solidFill>
              <a:srgbClr val="EEF2F6"/>
            </a:solidFill>
            <a:prstDash val="solid"/>
          </a:ln>
        </p:spPr>
      </p:sp>
      <p:sp>
        <p:nvSpPr>
          <p:cNvPr id="11" name="Text 8"/>
          <p:cNvSpPr txBox="1"/>
          <p:nvPr/>
        </p:nvSpPr>
        <p:spPr>
          <a:xfrm>
            <a:off x="1051560" y="4297680"/>
            <a:ext cx="2834640" cy="411480"/>
          </a:xfrm>
          <a:prstGeom prst="rect">
            <a:avLst/>
          </a:prstGeom>
          <a:noFill/>
          <a:ln/>
        </p:spPr>
        <p:txBody>
          <a:bodyPr wrap="square" lIns="0" tIns="0" rIns="0" bIns="0" rtlCol="0" anchor="ctr"/>
          <a:lstStyle/>
          <a:p>
            <a:pPr algn="ctr" indent="0" marL="0">
              <a:buNone/>
            </a:pPr>
            <a:r>
              <a:rPr lang="en-US" sz="1200" b="1" dirty="0">
                <a:solidFill>
                  <a:schemeClr val="tx2"/>
                </a:solidFill>
              </a:rPr>
              <a:t>Proyecto A · Solo ver</a:t>
            </a:r>
            <a:endParaRPr lang="en-US" sz="1200" dirty="0"/>
          </a:p>
        </p:txBody>
      </p:sp>
      <p:sp>
        <p:nvSpPr>
          <p:cNvPr id="12" name="etiqueta Acceso hasta: 31/03/2027"/>
          <p:cNvSpPr/>
          <p:nvPr/>
        </p:nvSpPr>
        <p:spPr>
          <a:xfrm>
            <a:off x="1051560" y="4846320"/>
            <a:ext cx="2834640" cy="411480"/>
          </a:xfrm>
          <a:prstGeom prst="roundRect">
            <a:avLst>
              <a:gd name="adj" fmla="val 15556"/>
            </a:avLst>
          </a:prstGeom>
          <a:solidFill>
            <a:srgbClr val="EEF2F6"/>
          </a:solidFill>
          <a:ln w="12700">
            <a:solidFill>
              <a:srgbClr val="EEF2F6"/>
            </a:solidFill>
            <a:prstDash val="solid"/>
          </a:ln>
        </p:spPr>
      </p:sp>
      <p:sp>
        <p:nvSpPr>
          <p:cNvPr id="13" name="Text 10"/>
          <p:cNvSpPr txBox="1"/>
          <p:nvPr/>
        </p:nvSpPr>
        <p:spPr>
          <a:xfrm>
            <a:off x="1051560" y="4846320"/>
            <a:ext cx="2834640" cy="411480"/>
          </a:xfrm>
          <a:prstGeom prst="rect">
            <a:avLst/>
          </a:prstGeom>
          <a:noFill/>
          <a:ln/>
        </p:spPr>
        <p:txBody>
          <a:bodyPr wrap="square" lIns="0" tIns="0" rIns="0" bIns="0" rtlCol="0" anchor="ctr"/>
          <a:lstStyle/>
          <a:p>
            <a:pPr algn="ctr" indent="0" marL="0">
              <a:buNone/>
            </a:pPr>
            <a:r>
              <a:rPr lang="en-US" sz="1200" b="1" dirty="0">
                <a:solidFill>
                  <a:schemeClr val="tx2"/>
                </a:solidFill>
              </a:rPr>
              <a:t>Acceso hasta: 31/03/2027</a:t>
            </a:r>
            <a:endParaRPr lang="en-US" sz="1200" dirty="0"/>
          </a:p>
        </p:txBody>
      </p:sp>
      <p:sp>
        <p:nvSpPr>
          <p:cNvPr id="14" name="Solo los proyectos a los que se le invita círculo"/>
          <p:cNvSpPr/>
          <p:nvPr/>
        </p:nvSpPr>
        <p:spPr>
          <a:xfrm>
            <a:off x="4754880" y="1463040"/>
            <a:ext cx="685800" cy="685800"/>
          </a:xfrm>
          <a:prstGeom prst="ellipse">
            <a:avLst/>
          </a:prstGeom>
          <a:solidFill>
            <a:schemeClr val="accent2"/>
          </a:solidFill>
          <a:ln w="12700">
            <a:solidFill>
              <a:schemeClr val="accent2"/>
            </a:solidFill>
            <a:prstDash val="solid"/>
          </a:ln>
        </p:spPr>
      </p:sp>
      <p:pic>
        <p:nvPicPr>
          <p:cNvPr id="15" name="Solo los proyectos a los que se le invita ícono" descr="Solo los proyectos a los que se le invita">    </p:cNvPr>
          <p:cNvPicPr>
            <a:picLocks noChangeAspect="1"/>
          </p:cNvPicPr>
          <p:nvPr/>
        </p:nvPicPr>
        <p:blipFill>
          <a:blip r:embed="rId2"/>
          <a:stretch>
            <a:fillRect/>
          </a:stretch>
        </p:blipFill>
        <p:spPr>
          <a:xfrm>
            <a:off x="4919472" y="1627632"/>
            <a:ext cx="356616" cy="356616"/>
          </a:xfrm>
          <a:prstGeom prst="rect">
            <a:avLst/>
          </a:prstGeom>
        </p:spPr>
      </p:pic>
      <p:sp>
        <p:nvSpPr>
          <p:cNvPr id="16" name="Text 12"/>
          <p:cNvSpPr txBox="1"/>
          <p:nvPr/>
        </p:nvSpPr>
        <p:spPr>
          <a:xfrm>
            <a:off x="5623560" y="1371600"/>
            <a:ext cx="5943600" cy="384048"/>
          </a:xfrm>
          <a:prstGeom prst="rect">
            <a:avLst/>
          </a:prstGeom>
          <a:noFill/>
          <a:ln/>
        </p:spPr>
        <p:txBody>
          <a:bodyPr wrap="square" lIns="0" tIns="0" rIns="0" bIns="0" rtlCol="0" anchor="t"/>
          <a:lstStyle/>
          <a:p>
            <a:pPr indent="0" marL="0">
              <a:buNone/>
            </a:pPr>
            <a:r>
              <a:rPr lang="en-US" sz="1700" b="1" dirty="0">
                <a:solidFill>
                  <a:schemeClr val="tx2"/>
                </a:solidFill>
              </a:rPr>
              <a:t>Solo los proyectos a los que se le invita</a:t>
            </a:r>
            <a:endParaRPr lang="en-US" sz="1700" dirty="0"/>
          </a:p>
        </p:txBody>
      </p:sp>
      <p:sp>
        <p:nvSpPr>
          <p:cNvPr id="17" name="Text 13"/>
          <p:cNvSpPr txBox="1"/>
          <p:nvPr/>
        </p:nvSpPr>
        <p:spPr>
          <a:xfrm>
            <a:off x="5623560" y="1783080"/>
            <a:ext cx="5943600" cy="640080"/>
          </a:xfrm>
          <a:prstGeom prst="rect">
            <a:avLst/>
          </a:prstGeom>
          <a:noFill/>
          <a:ln/>
        </p:spPr>
        <p:txBody>
          <a:bodyPr wrap="square" lIns="0" tIns="0" rIns="0" bIns="0" rtlCol="0" anchor="t"/>
          <a:lstStyle/>
          <a:p>
            <a:pPr indent="0" marL="0">
              <a:buNone/>
            </a:pPr>
            <a:r>
              <a:rPr lang="en-US" sz="1400" dirty="0">
                <a:solidFill>
                  <a:schemeClr val="tx1"/>
                </a:solidFill>
              </a:rPr>
              <a:t>No ve otros proyectos, ni la lista de usuarios, ni Configuración.</a:t>
            </a:r>
            <a:endParaRPr lang="en-US" sz="1400" dirty="0"/>
          </a:p>
        </p:txBody>
      </p:sp>
      <p:sp>
        <p:nvSpPr>
          <p:cNvPr id="18" name="Permisos de consulta círculo"/>
          <p:cNvSpPr/>
          <p:nvPr/>
        </p:nvSpPr>
        <p:spPr>
          <a:xfrm>
            <a:off x="4754880" y="2606040"/>
            <a:ext cx="685800" cy="685800"/>
          </a:xfrm>
          <a:prstGeom prst="ellipse">
            <a:avLst/>
          </a:prstGeom>
          <a:solidFill>
            <a:schemeClr val="accent3"/>
          </a:solidFill>
          <a:ln w="12700">
            <a:solidFill>
              <a:schemeClr val="accent3"/>
            </a:solidFill>
            <a:prstDash val="solid"/>
          </a:ln>
        </p:spPr>
      </p:sp>
      <p:pic>
        <p:nvPicPr>
          <p:cNvPr id="19" name="Permisos de consulta ícono" descr="Permisos de consulta">    </p:cNvPr>
          <p:cNvPicPr>
            <a:picLocks noChangeAspect="1"/>
          </p:cNvPicPr>
          <p:nvPr/>
        </p:nvPicPr>
        <p:blipFill>
          <a:blip r:embed="rId3"/>
          <a:stretch>
            <a:fillRect/>
          </a:stretch>
        </p:blipFill>
        <p:spPr>
          <a:xfrm>
            <a:off x="4919472" y="2770632"/>
            <a:ext cx="356616" cy="356616"/>
          </a:xfrm>
          <a:prstGeom prst="rect">
            <a:avLst/>
          </a:prstGeom>
        </p:spPr>
      </p:pic>
      <p:sp>
        <p:nvSpPr>
          <p:cNvPr id="20" name="Text 15"/>
          <p:cNvSpPr txBox="1"/>
          <p:nvPr/>
        </p:nvSpPr>
        <p:spPr>
          <a:xfrm>
            <a:off x="5623560" y="2514600"/>
            <a:ext cx="5943600" cy="384048"/>
          </a:xfrm>
          <a:prstGeom prst="rect">
            <a:avLst/>
          </a:prstGeom>
          <a:noFill/>
          <a:ln/>
        </p:spPr>
        <p:txBody>
          <a:bodyPr wrap="square" lIns="0" tIns="0" rIns="0" bIns="0" rtlCol="0" anchor="t"/>
          <a:lstStyle/>
          <a:p>
            <a:pPr indent="0" marL="0">
              <a:buNone/>
            </a:pPr>
            <a:r>
              <a:rPr lang="en-US" sz="1700" b="1" dirty="0">
                <a:solidFill>
                  <a:schemeClr val="tx2"/>
                </a:solidFill>
              </a:rPr>
              <a:t>Permisos de consulta</a:t>
            </a:r>
            <a:endParaRPr lang="en-US" sz="1700" dirty="0"/>
          </a:p>
        </p:txBody>
      </p:sp>
      <p:sp>
        <p:nvSpPr>
          <p:cNvPr id="21" name="Text 16"/>
          <p:cNvSpPr txBox="1"/>
          <p:nvPr/>
        </p:nvSpPr>
        <p:spPr>
          <a:xfrm>
            <a:off x="5623560" y="2926080"/>
            <a:ext cx="5943600" cy="640080"/>
          </a:xfrm>
          <a:prstGeom prst="rect">
            <a:avLst/>
          </a:prstGeom>
          <a:noFill/>
          <a:ln/>
        </p:spPr>
        <p:txBody>
          <a:bodyPr wrap="square" lIns="0" tIns="0" rIns="0" bIns="0" rtlCol="0" anchor="t"/>
          <a:lstStyle/>
          <a:p>
            <a:pPr indent="0" marL="0">
              <a:buNone/>
            </a:pPr>
            <a:r>
              <a:rPr lang="en-US" sz="1400" dirty="0">
                <a:solidFill>
                  <a:schemeClr val="tx1"/>
                </a:solidFill>
              </a:rPr>
              <a:t>Por defecto, "Solo ver" en todos los módulos e imprimir reportes. El administrador del proyecto puede ampliarlo.</a:t>
            </a:r>
            <a:endParaRPr lang="en-US" sz="1400" dirty="0"/>
          </a:p>
        </p:txBody>
      </p:sp>
      <p:sp>
        <p:nvSpPr>
          <p:cNvPr id="22" name="Acceso con fecha de vencimiento círculo"/>
          <p:cNvSpPr/>
          <p:nvPr/>
        </p:nvSpPr>
        <p:spPr>
          <a:xfrm>
            <a:off x="4754880" y="3749040"/>
            <a:ext cx="685800" cy="685800"/>
          </a:xfrm>
          <a:prstGeom prst="ellipse">
            <a:avLst/>
          </a:prstGeom>
          <a:solidFill>
            <a:schemeClr val="accent2"/>
          </a:solidFill>
          <a:ln w="12700">
            <a:solidFill>
              <a:schemeClr val="accent2"/>
            </a:solidFill>
            <a:prstDash val="solid"/>
          </a:ln>
        </p:spPr>
      </p:sp>
      <p:pic>
        <p:nvPicPr>
          <p:cNvPr id="23" name="Acceso con fecha de vencimiento ícono" descr="Acceso con fecha de vencimiento">    </p:cNvPr>
          <p:cNvPicPr>
            <a:picLocks noChangeAspect="1"/>
          </p:cNvPicPr>
          <p:nvPr/>
        </p:nvPicPr>
        <p:blipFill>
          <a:blip r:embed="rId4"/>
          <a:stretch>
            <a:fillRect/>
          </a:stretch>
        </p:blipFill>
        <p:spPr>
          <a:xfrm>
            <a:off x="4919472" y="3913632"/>
            <a:ext cx="356616" cy="356616"/>
          </a:xfrm>
          <a:prstGeom prst="rect">
            <a:avLst/>
          </a:prstGeom>
        </p:spPr>
      </p:pic>
      <p:sp>
        <p:nvSpPr>
          <p:cNvPr id="24" name="Text 18"/>
          <p:cNvSpPr txBox="1"/>
          <p:nvPr/>
        </p:nvSpPr>
        <p:spPr>
          <a:xfrm>
            <a:off x="5623560" y="3657600"/>
            <a:ext cx="5943600" cy="384048"/>
          </a:xfrm>
          <a:prstGeom prst="rect">
            <a:avLst/>
          </a:prstGeom>
          <a:noFill/>
          <a:ln/>
        </p:spPr>
        <p:txBody>
          <a:bodyPr wrap="square" lIns="0" tIns="0" rIns="0" bIns="0" rtlCol="0" anchor="t"/>
          <a:lstStyle/>
          <a:p>
            <a:pPr indent="0" marL="0">
              <a:buNone/>
            </a:pPr>
            <a:r>
              <a:rPr lang="en-US" sz="1700" b="1" dirty="0">
                <a:solidFill>
                  <a:schemeClr val="tx2"/>
                </a:solidFill>
              </a:rPr>
              <a:t>Acceso con fecha de vencimiento</a:t>
            </a:r>
            <a:endParaRPr lang="en-US" sz="1700" dirty="0"/>
          </a:p>
        </p:txBody>
      </p:sp>
      <p:sp>
        <p:nvSpPr>
          <p:cNvPr id="25" name="Text 19"/>
          <p:cNvSpPr txBox="1"/>
          <p:nvPr/>
        </p:nvSpPr>
        <p:spPr>
          <a:xfrm>
            <a:off x="5623560" y="4069080"/>
            <a:ext cx="5943600" cy="640080"/>
          </a:xfrm>
          <a:prstGeom prst="rect">
            <a:avLst/>
          </a:prstGeom>
          <a:noFill/>
          <a:ln/>
        </p:spPr>
        <p:txBody>
          <a:bodyPr wrap="square" lIns="0" tIns="0" rIns="0" bIns="0" rtlCol="0" anchor="t"/>
          <a:lstStyle/>
          <a:p>
            <a:pPr indent="0" marL="0">
              <a:buNone/>
            </a:pPr>
            <a:r>
              <a:rPr lang="en-US" sz="1400" dirty="0">
                <a:solidFill>
                  <a:schemeClr val="tx1"/>
                </a:solidFill>
              </a:rPr>
              <a:t>Opcional: al vencer, queda desactivado sin perder lo que registró.</a:t>
            </a:r>
            <a:endParaRPr lang="en-US" sz="1400" dirty="0"/>
          </a:p>
        </p:txBody>
      </p:sp>
      <p:sp>
        <p:nvSpPr>
          <p:cNvPr id="26" name="Marcado como externo círculo"/>
          <p:cNvSpPr/>
          <p:nvPr/>
        </p:nvSpPr>
        <p:spPr>
          <a:xfrm>
            <a:off x="4754880" y="4892040"/>
            <a:ext cx="685800" cy="685800"/>
          </a:xfrm>
          <a:prstGeom prst="ellipse">
            <a:avLst/>
          </a:prstGeom>
          <a:solidFill>
            <a:schemeClr val="accent3"/>
          </a:solidFill>
          <a:ln w="12700">
            <a:solidFill>
              <a:schemeClr val="accent3"/>
            </a:solidFill>
            <a:prstDash val="solid"/>
          </a:ln>
        </p:spPr>
      </p:sp>
      <p:pic>
        <p:nvPicPr>
          <p:cNvPr id="27" name="Marcado como externo ícono" descr="Marcado como externo">    </p:cNvPr>
          <p:cNvPicPr>
            <a:picLocks noChangeAspect="1"/>
          </p:cNvPicPr>
          <p:nvPr/>
        </p:nvPicPr>
        <p:blipFill>
          <a:blip r:embed="rId5"/>
          <a:stretch>
            <a:fillRect/>
          </a:stretch>
        </p:blipFill>
        <p:spPr>
          <a:xfrm>
            <a:off x="4919472" y="5056632"/>
            <a:ext cx="356616" cy="356616"/>
          </a:xfrm>
          <a:prstGeom prst="rect">
            <a:avLst/>
          </a:prstGeom>
        </p:spPr>
      </p:pic>
      <p:sp>
        <p:nvSpPr>
          <p:cNvPr id="28" name="Text 21"/>
          <p:cNvSpPr txBox="1"/>
          <p:nvPr/>
        </p:nvSpPr>
        <p:spPr>
          <a:xfrm>
            <a:off x="5623560" y="4800600"/>
            <a:ext cx="5943600" cy="384048"/>
          </a:xfrm>
          <a:prstGeom prst="rect">
            <a:avLst/>
          </a:prstGeom>
          <a:noFill/>
          <a:ln/>
        </p:spPr>
        <p:txBody>
          <a:bodyPr wrap="square" lIns="0" tIns="0" rIns="0" bIns="0" rtlCol="0" anchor="t"/>
          <a:lstStyle/>
          <a:p>
            <a:pPr indent="0" marL="0">
              <a:buNone/>
            </a:pPr>
            <a:r>
              <a:rPr lang="en-US" sz="1700" b="1" dirty="0">
                <a:solidFill>
                  <a:schemeClr val="tx2"/>
                </a:solidFill>
              </a:rPr>
              <a:t>Marcado como externo</a:t>
            </a:r>
            <a:endParaRPr lang="en-US" sz="1700" dirty="0"/>
          </a:p>
        </p:txBody>
      </p:sp>
      <p:sp>
        <p:nvSpPr>
          <p:cNvPr id="29" name="Text 22"/>
          <p:cNvSpPr txBox="1"/>
          <p:nvPr/>
        </p:nvSpPr>
        <p:spPr>
          <a:xfrm>
            <a:off x="5623560" y="5212080"/>
            <a:ext cx="5943600" cy="640080"/>
          </a:xfrm>
          <a:prstGeom prst="rect">
            <a:avLst/>
          </a:prstGeom>
          <a:noFill/>
          <a:ln/>
        </p:spPr>
        <p:txBody>
          <a:bodyPr wrap="square" lIns="0" tIns="0" rIns="0" bIns="0" rtlCol="0" anchor="t"/>
          <a:lstStyle/>
          <a:p>
            <a:pPr indent="0" marL="0">
              <a:buNone/>
            </a:pPr>
            <a:r>
              <a:rPr lang="en-US" sz="1400" dirty="0">
                <a:solidFill>
                  <a:schemeClr val="tx1"/>
                </a:solidFill>
              </a:rPr>
              <a:t>Con el nombre de su empresa, para distinguirlo en listas, comentarios y auditoría.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Once áreas: la plantilla de permisos de cada miembro</a:t>
            </a:r>
            <a:endParaRPr lang="en-US" sz="3600" dirty="0"/>
          </a:p>
        </p:txBody>
      </p:sp>
      <p:sp>
        <p:nvSpPr>
          <p:cNvPr id="3" name="Oficina Técnica"/>
          <p:cNvSpPr/>
          <p:nvPr/>
        </p:nvSpPr>
        <p:spPr>
          <a:xfrm>
            <a:off x="548640" y="1325880"/>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Oficina Técnica círculo"/>
          <p:cNvSpPr/>
          <p:nvPr/>
        </p:nvSpPr>
        <p:spPr>
          <a:xfrm>
            <a:off x="731520" y="1527048"/>
            <a:ext cx="548640" cy="548640"/>
          </a:xfrm>
          <a:prstGeom prst="ellipse">
            <a:avLst/>
          </a:prstGeom>
          <a:solidFill>
            <a:schemeClr val="accent3"/>
          </a:solidFill>
          <a:ln w="12700">
            <a:solidFill>
              <a:schemeClr val="accent3"/>
            </a:solidFill>
            <a:prstDash val="solid"/>
          </a:ln>
        </p:spPr>
      </p:sp>
      <p:pic>
        <p:nvPicPr>
          <p:cNvPr id="5" name="Oficina Técnica ícono" descr="Oficina Técnica">    </p:cNvPr>
          <p:cNvPicPr>
            <a:picLocks noChangeAspect="1"/>
          </p:cNvPicPr>
          <p:nvPr/>
        </p:nvPicPr>
        <p:blipFill>
          <a:blip r:embed="rId1"/>
          <a:stretch>
            <a:fillRect/>
          </a:stretch>
        </p:blipFill>
        <p:spPr>
          <a:xfrm>
            <a:off x="863194" y="1658722"/>
            <a:ext cx="285293" cy="285293"/>
          </a:xfrm>
          <a:prstGeom prst="rect">
            <a:avLst/>
          </a:prstGeom>
        </p:spPr>
      </p:pic>
      <p:sp>
        <p:nvSpPr>
          <p:cNvPr id="6" name="Text 3"/>
          <p:cNvSpPr txBox="1"/>
          <p:nvPr/>
        </p:nvSpPr>
        <p:spPr>
          <a:xfrm>
            <a:off x="1417320" y="1490472"/>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Oficina Técnica</a:t>
            </a:r>
            <a:endParaRPr lang="en-US" sz="1400" dirty="0"/>
          </a:p>
        </p:txBody>
      </p:sp>
      <p:sp>
        <p:nvSpPr>
          <p:cNvPr id="7" name="Text 4"/>
          <p:cNvSpPr txBox="1"/>
          <p:nvPr/>
        </p:nvSpPr>
        <p:spPr>
          <a:xfrm>
            <a:off x="731520" y="2148840"/>
            <a:ext cx="2331720" cy="548640"/>
          </a:xfrm>
          <a:prstGeom prst="rect">
            <a:avLst/>
          </a:prstGeom>
          <a:noFill/>
          <a:ln/>
        </p:spPr>
        <p:txBody>
          <a:bodyPr wrap="square" lIns="0" tIns="0" rIns="0" bIns="0" rtlCol="0" anchor="t"/>
          <a:lstStyle/>
          <a:p>
            <a:pPr indent="0" marL="0">
              <a:buNone/>
            </a:pPr>
            <a:r>
              <a:rPr lang="en-US" sz="1100" dirty="0">
                <a:solidFill>
                  <a:schemeClr val="tx1"/>
                </a:solidFill>
              </a:rPr>
              <a:t>Metrados, expedientes y cronograma con Planificación.</a:t>
            </a:r>
            <a:endParaRPr lang="en-US" sz="1100" dirty="0"/>
          </a:p>
        </p:txBody>
      </p:sp>
      <p:sp>
        <p:nvSpPr>
          <p:cNvPr id="8" name="Planificación"/>
          <p:cNvSpPr/>
          <p:nvPr/>
        </p:nvSpPr>
        <p:spPr>
          <a:xfrm>
            <a:off x="3355848" y="1325880"/>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Planificación círculo"/>
          <p:cNvSpPr/>
          <p:nvPr/>
        </p:nvSpPr>
        <p:spPr>
          <a:xfrm>
            <a:off x="3538728" y="1527048"/>
            <a:ext cx="548640" cy="548640"/>
          </a:xfrm>
          <a:prstGeom prst="ellipse">
            <a:avLst/>
          </a:prstGeom>
          <a:solidFill>
            <a:schemeClr val="accent2"/>
          </a:solidFill>
          <a:ln w="12700">
            <a:solidFill>
              <a:schemeClr val="accent2"/>
            </a:solidFill>
            <a:prstDash val="solid"/>
          </a:ln>
        </p:spPr>
      </p:sp>
      <p:pic>
        <p:nvPicPr>
          <p:cNvPr id="10" name="Planificación ícono" descr="Planificación">    </p:cNvPr>
          <p:cNvPicPr>
            <a:picLocks noChangeAspect="1"/>
          </p:cNvPicPr>
          <p:nvPr/>
        </p:nvPicPr>
        <p:blipFill>
          <a:blip r:embed="rId2"/>
          <a:stretch>
            <a:fillRect/>
          </a:stretch>
        </p:blipFill>
        <p:spPr>
          <a:xfrm>
            <a:off x="3670402" y="1658722"/>
            <a:ext cx="285293" cy="285293"/>
          </a:xfrm>
          <a:prstGeom prst="rect">
            <a:avLst/>
          </a:prstGeom>
        </p:spPr>
      </p:pic>
      <p:sp>
        <p:nvSpPr>
          <p:cNvPr id="11" name="Text 7"/>
          <p:cNvSpPr txBox="1"/>
          <p:nvPr/>
        </p:nvSpPr>
        <p:spPr>
          <a:xfrm>
            <a:off x="4224528" y="1490472"/>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Planificación</a:t>
            </a:r>
            <a:endParaRPr lang="en-US" sz="1400" dirty="0"/>
          </a:p>
        </p:txBody>
      </p:sp>
      <p:sp>
        <p:nvSpPr>
          <p:cNvPr id="12" name="Text 8"/>
          <p:cNvSpPr txBox="1"/>
          <p:nvPr/>
        </p:nvSpPr>
        <p:spPr>
          <a:xfrm>
            <a:off x="3538728" y="2148840"/>
            <a:ext cx="2331720" cy="548640"/>
          </a:xfrm>
          <a:prstGeom prst="rect">
            <a:avLst/>
          </a:prstGeom>
          <a:noFill/>
          <a:ln/>
        </p:spPr>
        <p:txBody>
          <a:bodyPr wrap="square" lIns="0" tIns="0" rIns="0" bIns="0" rtlCol="0" anchor="t"/>
          <a:lstStyle/>
          <a:p>
            <a:pPr indent="0" marL="0">
              <a:buNone/>
            </a:pPr>
            <a:r>
              <a:rPr lang="en-US" sz="1100" dirty="0">
                <a:solidFill>
                  <a:schemeClr val="tx1"/>
                </a:solidFill>
              </a:rPr>
              <a:t>Dueña del cronograma, líneas base y análisis.</a:t>
            </a:r>
            <a:endParaRPr lang="en-US" sz="1100" dirty="0"/>
          </a:p>
        </p:txBody>
      </p:sp>
      <p:sp>
        <p:nvSpPr>
          <p:cNvPr id="13" name="Costos"/>
          <p:cNvSpPr/>
          <p:nvPr/>
        </p:nvSpPr>
        <p:spPr>
          <a:xfrm>
            <a:off x="6163056" y="1325880"/>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ostos círculo"/>
          <p:cNvSpPr/>
          <p:nvPr/>
        </p:nvSpPr>
        <p:spPr>
          <a:xfrm>
            <a:off x="6345936" y="1527048"/>
            <a:ext cx="548640" cy="548640"/>
          </a:xfrm>
          <a:prstGeom prst="ellipse">
            <a:avLst/>
          </a:prstGeom>
          <a:solidFill>
            <a:schemeClr val="accent1"/>
          </a:solidFill>
          <a:ln w="12700">
            <a:solidFill>
              <a:schemeClr val="accent1"/>
            </a:solidFill>
            <a:prstDash val="solid"/>
          </a:ln>
        </p:spPr>
      </p:sp>
      <p:pic>
        <p:nvPicPr>
          <p:cNvPr id="15" name="Costos ícono" descr="Costos">    </p:cNvPr>
          <p:cNvPicPr>
            <a:picLocks noChangeAspect="1"/>
          </p:cNvPicPr>
          <p:nvPr/>
        </p:nvPicPr>
        <p:blipFill>
          <a:blip r:embed="rId3"/>
          <a:stretch>
            <a:fillRect/>
          </a:stretch>
        </p:blipFill>
        <p:spPr>
          <a:xfrm>
            <a:off x="6477610" y="1658722"/>
            <a:ext cx="285293" cy="285293"/>
          </a:xfrm>
          <a:prstGeom prst="rect">
            <a:avLst/>
          </a:prstGeom>
        </p:spPr>
      </p:pic>
      <p:sp>
        <p:nvSpPr>
          <p:cNvPr id="16" name="Text 11"/>
          <p:cNvSpPr txBox="1"/>
          <p:nvPr/>
        </p:nvSpPr>
        <p:spPr>
          <a:xfrm>
            <a:off x="7031736" y="1490472"/>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Costos</a:t>
            </a:r>
            <a:endParaRPr lang="en-US" sz="1400" dirty="0"/>
          </a:p>
        </p:txBody>
      </p:sp>
      <p:sp>
        <p:nvSpPr>
          <p:cNvPr id="17" name="Text 12"/>
          <p:cNvSpPr txBox="1"/>
          <p:nvPr/>
        </p:nvSpPr>
        <p:spPr>
          <a:xfrm>
            <a:off x="6345936" y="2148840"/>
            <a:ext cx="2331720" cy="548640"/>
          </a:xfrm>
          <a:prstGeom prst="rect">
            <a:avLst/>
          </a:prstGeom>
          <a:noFill/>
          <a:ln/>
        </p:spPr>
        <p:txBody>
          <a:bodyPr wrap="square" lIns="0" tIns="0" rIns="0" bIns="0" rtlCol="0" anchor="t"/>
          <a:lstStyle/>
          <a:p>
            <a:pPr indent="0" marL="0">
              <a:buNone/>
            </a:pPr>
            <a:r>
              <a:rPr lang="en-US" sz="1100" dirty="0">
                <a:solidFill>
                  <a:schemeClr val="tx1"/>
                </a:solidFill>
              </a:rPr>
              <a:t>Valor ganado, Curva S y control de costos.</a:t>
            </a:r>
            <a:endParaRPr lang="en-US" sz="1100" dirty="0"/>
          </a:p>
        </p:txBody>
      </p:sp>
      <p:sp>
        <p:nvSpPr>
          <p:cNvPr id="18" name="Calidad"/>
          <p:cNvSpPr/>
          <p:nvPr/>
        </p:nvSpPr>
        <p:spPr>
          <a:xfrm>
            <a:off x="8970264" y="1325880"/>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Calidad círculo"/>
          <p:cNvSpPr/>
          <p:nvPr/>
        </p:nvSpPr>
        <p:spPr>
          <a:xfrm>
            <a:off x="9153144" y="1527048"/>
            <a:ext cx="548640" cy="548640"/>
          </a:xfrm>
          <a:prstGeom prst="ellipse">
            <a:avLst/>
          </a:prstGeom>
          <a:solidFill>
            <a:schemeClr val="accent3"/>
          </a:solidFill>
          <a:ln w="12700">
            <a:solidFill>
              <a:schemeClr val="accent3"/>
            </a:solidFill>
            <a:prstDash val="solid"/>
          </a:ln>
        </p:spPr>
      </p:sp>
      <p:pic>
        <p:nvPicPr>
          <p:cNvPr id="20" name="Calidad ícono" descr="Calidad">    </p:cNvPr>
          <p:cNvPicPr>
            <a:picLocks noChangeAspect="1"/>
          </p:cNvPicPr>
          <p:nvPr/>
        </p:nvPicPr>
        <p:blipFill>
          <a:blip r:embed="rId4"/>
          <a:stretch>
            <a:fillRect/>
          </a:stretch>
        </p:blipFill>
        <p:spPr>
          <a:xfrm>
            <a:off x="9284818" y="1658722"/>
            <a:ext cx="285293" cy="285293"/>
          </a:xfrm>
          <a:prstGeom prst="rect">
            <a:avLst/>
          </a:prstGeom>
        </p:spPr>
      </p:pic>
      <p:sp>
        <p:nvSpPr>
          <p:cNvPr id="21" name="Text 15"/>
          <p:cNvSpPr txBox="1"/>
          <p:nvPr/>
        </p:nvSpPr>
        <p:spPr>
          <a:xfrm>
            <a:off x="9838944" y="1490472"/>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Calidad</a:t>
            </a:r>
            <a:endParaRPr lang="en-US" sz="1400" dirty="0"/>
          </a:p>
        </p:txBody>
      </p:sp>
      <p:sp>
        <p:nvSpPr>
          <p:cNvPr id="22" name="Text 16"/>
          <p:cNvSpPr txBox="1"/>
          <p:nvPr/>
        </p:nvSpPr>
        <p:spPr>
          <a:xfrm>
            <a:off x="9153144" y="2148840"/>
            <a:ext cx="2331720" cy="548640"/>
          </a:xfrm>
          <a:prstGeom prst="rect">
            <a:avLst/>
          </a:prstGeom>
          <a:noFill/>
          <a:ln/>
        </p:spPr>
        <p:txBody>
          <a:bodyPr wrap="square" lIns="0" tIns="0" rIns="0" bIns="0" rtlCol="0" anchor="t"/>
          <a:lstStyle/>
          <a:p>
            <a:pPr indent="0" marL="0">
              <a:buNone/>
            </a:pPr>
            <a:r>
              <a:rPr lang="en-US" sz="1100" dirty="0">
                <a:solidFill>
                  <a:schemeClr val="tx1"/>
                </a:solidFill>
              </a:rPr>
              <a:t>Consulta avance; registra riesgos de calidad.</a:t>
            </a:r>
            <a:endParaRPr lang="en-US" sz="1100" dirty="0"/>
          </a:p>
        </p:txBody>
      </p:sp>
      <p:sp>
        <p:nvSpPr>
          <p:cNvPr id="23" name="Administración de Contratos"/>
          <p:cNvSpPr/>
          <p:nvPr/>
        </p:nvSpPr>
        <p:spPr>
          <a:xfrm>
            <a:off x="548640" y="2953512"/>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Administración de Contratos círculo"/>
          <p:cNvSpPr/>
          <p:nvPr/>
        </p:nvSpPr>
        <p:spPr>
          <a:xfrm>
            <a:off x="731520" y="3154680"/>
            <a:ext cx="548640" cy="548640"/>
          </a:xfrm>
          <a:prstGeom prst="ellipse">
            <a:avLst/>
          </a:prstGeom>
          <a:solidFill>
            <a:schemeClr val="accent2"/>
          </a:solidFill>
          <a:ln w="12700">
            <a:solidFill>
              <a:schemeClr val="accent2"/>
            </a:solidFill>
            <a:prstDash val="solid"/>
          </a:ln>
        </p:spPr>
      </p:sp>
      <p:pic>
        <p:nvPicPr>
          <p:cNvPr id="25" name="Administración de Contratos ícono" descr="Administración de Contratos">    </p:cNvPr>
          <p:cNvPicPr>
            <a:picLocks noChangeAspect="1"/>
          </p:cNvPicPr>
          <p:nvPr/>
        </p:nvPicPr>
        <p:blipFill>
          <a:blip r:embed="rId5"/>
          <a:stretch>
            <a:fillRect/>
          </a:stretch>
        </p:blipFill>
        <p:spPr>
          <a:xfrm>
            <a:off x="863194" y="3286354"/>
            <a:ext cx="285293" cy="285293"/>
          </a:xfrm>
          <a:prstGeom prst="rect">
            <a:avLst/>
          </a:prstGeom>
        </p:spPr>
      </p:pic>
      <p:sp>
        <p:nvSpPr>
          <p:cNvPr id="26" name="Text 19"/>
          <p:cNvSpPr txBox="1"/>
          <p:nvPr/>
        </p:nvSpPr>
        <p:spPr>
          <a:xfrm>
            <a:off x="1417320" y="3118104"/>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Administración de Contratos</a:t>
            </a:r>
            <a:endParaRPr lang="en-US" sz="1400" dirty="0"/>
          </a:p>
        </p:txBody>
      </p:sp>
      <p:sp>
        <p:nvSpPr>
          <p:cNvPr id="27" name="Text 20"/>
          <p:cNvSpPr txBox="1"/>
          <p:nvPr/>
        </p:nvSpPr>
        <p:spPr>
          <a:xfrm>
            <a:off x="731520" y="3776472"/>
            <a:ext cx="2331720" cy="548640"/>
          </a:xfrm>
          <a:prstGeom prst="rect">
            <a:avLst/>
          </a:prstGeom>
          <a:noFill/>
          <a:ln/>
        </p:spPr>
        <p:txBody>
          <a:bodyPr wrap="square" lIns="0" tIns="0" rIns="0" bIns="0" rtlCol="0" anchor="t"/>
          <a:lstStyle/>
          <a:p>
            <a:pPr indent="0" marL="0">
              <a:buNone/>
            </a:pPr>
            <a:r>
              <a:rPr lang="en-US" sz="1100" dirty="0">
                <a:solidFill>
                  <a:schemeClr val="tx1"/>
                </a:solidFill>
              </a:rPr>
              <a:t>Valorizaciones, adicionales y riesgos contractuales.</a:t>
            </a:r>
            <a:endParaRPr lang="en-US" sz="1100" dirty="0"/>
          </a:p>
        </p:txBody>
      </p:sp>
      <p:sp>
        <p:nvSpPr>
          <p:cNvPr id="28" name="Administración de Obra"/>
          <p:cNvSpPr/>
          <p:nvPr/>
        </p:nvSpPr>
        <p:spPr>
          <a:xfrm>
            <a:off x="3355848" y="2953512"/>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Administración de Obra círculo"/>
          <p:cNvSpPr/>
          <p:nvPr/>
        </p:nvSpPr>
        <p:spPr>
          <a:xfrm>
            <a:off x="3538728" y="3154680"/>
            <a:ext cx="548640" cy="548640"/>
          </a:xfrm>
          <a:prstGeom prst="ellipse">
            <a:avLst/>
          </a:prstGeom>
          <a:solidFill>
            <a:schemeClr val="accent1"/>
          </a:solidFill>
          <a:ln w="12700">
            <a:solidFill>
              <a:schemeClr val="accent1"/>
            </a:solidFill>
            <a:prstDash val="solid"/>
          </a:ln>
        </p:spPr>
      </p:sp>
      <p:pic>
        <p:nvPicPr>
          <p:cNvPr id="30" name="Administración de Obra ícono" descr="Administración de Obra">    </p:cNvPr>
          <p:cNvPicPr>
            <a:picLocks noChangeAspect="1"/>
          </p:cNvPicPr>
          <p:nvPr/>
        </p:nvPicPr>
        <p:blipFill>
          <a:blip r:embed="rId6"/>
          <a:stretch>
            <a:fillRect/>
          </a:stretch>
        </p:blipFill>
        <p:spPr>
          <a:xfrm>
            <a:off x="3670402" y="3286354"/>
            <a:ext cx="285293" cy="285293"/>
          </a:xfrm>
          <a:prstGeom prst="rect">
            <a:avLst/>
          </a:prstGeom>
        </p:spPr>
      </p:pic>
      <p:sp>
        <p:nvSpPr>
          <p:cNvPr id="31" name="Text 23"/>
          <p:cNvSpPr txBox="1"/>
          <p:nvPr/>
        </p:nvSpPr>
        <p:spPr>
          <a:xfrm>
            <a:off x="4224528" y="3118104"/>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Administración de Obra</a:t>
            </a:r>
            <a:endParaRPr lang="en-US" sz="1400" dirty="0"/>
          </a:p>
        </p:txBody>
      </p:sp>
      <p:sp>
        <p:nvSpPr>
          <p:cNvPr id="32" name="Text 24"/>
          <p:cNvSpPr txBox="1"/>
          <p:nvPr/>
        </p:nvSpPr>
        <p:spPr>
          <a:xfrm>
            <a:off x="3538728" y="3776472"/>
            <a:ext cx="2331720" cy="548640"/>
          </a:xfrm>
          <a:prstGeom prst="rect">
            <a:avLst/>
          </a:prstGeom>
          <a:noFill/>
          <a:ln/>
        </p:spPr>
        <p:txBody>
          <a:bodyPr wrap="square" lIns="0" tIns="0" rIns="0" bIns="0" rtlCol="0" anchor="t"/>
          <a:lstStyle/>
          <a:p>
            <a:pPr indent="0" marL="0">
              <a:buNone/>
            </a:pPr>
            <a:r>
              <a:rPr lang="en-US" sz="1100" dirty="0">
                <a:solidFill>
                  <a:schemeClr val="tx1"/>
                </a:solidFill>
              </a:rPr>
              <a:t>Reporta avance en campo y gestiona el Lookahead.</a:t>
            </a:r>
            <a:endParaRPr lang="en-US" sz="1100" dirty="0"/>
          </a:p>
        </p:txBody>
      </p:sp>
      <p:sp>
        <p:nvSpPr>
          <p:cNvPr id="33" name="Seguridad"/>
          <p:cNvSpPr/>
          <p:nvPr/>
        </p:nvSpPr>
        <p:spPr>
          <a:xfrm>
            <a:off x="6163056" y="2953512"/>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Seguridad círculo"/>
          <p:cNvSpPr/>
          <p:nvPr/>
        </p:nvSpPr>
        <p:spPr>
          <a:xfrm>
            <a:off x="6345936" y="3154680"/>
            <a:ext cx="548640" cy="548640"/>
          </a:xfrm>
          <a:prstGeom prst="ellipse">
            <a:avLst/>
          </a:prstGeom>
          <a:solidFill>
            <a:schemeClr val="accent3"/>
          </a:solidFill>
          <a:ln w="12700">
            <a:solidFill>
              <a:schemeClr val="accent3"/>
            </a:solidFill>
            <a:prstDash val="solid"/>
          </a:ln>
        </p:spPr>
      </p:sp>
      <p:pic>
        <p:nvPicPr>
          <p:cNvPr id="35" name="Seguridad ícono" descr="Seguridad">    </p:cNvPr>
          <p:cNvPicPr>
            <a:picLocks noChangeAspect="1"/>
          </p:cNvPicPr>
          <p:nvPr/>
        </p:nvPicPr>
        <p:blipFill>
          <a:blip r:embed="rId7"/>
          <a:stretch>
            <a:fillRect/>
          </a:stretch>
        </p:blipFill>
        <p:spPr>
          <a:xfrm>
            <a:off x="6477610" y="3286354"/>
            <a:ext cx="285293" cy="285293"/>
          </a:xfrm>
          <a:prstGeom prst="rect">
            <a:avLst/>
          </a:prstGeom>
        </p:spPr>
      </p:pic>
      <p:sp>
        <p:nvSpPr>
          <p:cNvPr id="36" name="Text 27"/>
          <p:cNvSpPr txBox="1"/>
          <p:nvPr/>
        </p:nvSpPr>
        <p:spPr>
          <a:xfrm>
            <a:off x="7031736" y="3118104"/>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Seguridad</a:t>
            </a:r>
            <a:endParaRPr lang="en-US" sz="1400" dirty="0"/>
          </a:p>
        </p:txBody>
      </p:sp>
      <p:sp>
        <p:nvSpPr>
          <p:cNvPr id="37" name="Text 28"/>
          <p:cNvSpPr txBox="1"/>
          <p:nvPr/>
        </p:nvSpPr>
        <p:spPr>
          <a:xfrm>
            <a:off x="6345936" y="3776472"/>
            <a:ext cx="2331720" cy="548640"/>
          </a:xfrm>
          <a:prstGeom prst="rect">
            <a:avLst/>
          </a:prstGeom>
          <a:noFill/>
          <a:ln/>
        </p:spPr>
        <p:txBody>
          <a:bodyPr wrap="square" lIns="0" tIns="0" rIns="0" bIns="0" rtlCol="0" anchor="t"/>
          <a:lstStyle/>
          <a:p>
            <a:pPr indent="0" marL="0">
              <a:buNone/>
            </a:pPr>
            <a:r>
              <a:rPr lang="en-US" sz="1100" dirty="0">
                <a:solidFill>
                  <a:schemeClr val="tx1"/>
                </a:solidFill>
              </a:rPr>
              <a:t>Consulta el plan; registra riesgos de seguridad.</a:t>
            </a:r>
            <a:endParaRPr lang="en-US" sz="1100" dirty="0"/>
          </a:p>
        </p:txBody>
      </p:sp>
      <p:sp>
        <p:nvSpPr>
          <p:cNvPr id="38" name="Servicios Generales"/>
          <p:cNvSpPr/>
          <p:nvPr/>
        </p:nvSpPr>
        <p:spPr>
          <a:xfrm>
            <a:off x="8970264" y="2953512"/>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9" name="Servicios Generales círculo"/>
          <p:cNvSpPr/>
          <p:nvPr/>
        </p:nvSpPr>
        <p:spPr>
          <a:xfrm>
            <a:off x="9153144" y="3154680"/>
            <a:ext cx="548640" cy="548640"/>
          </a:xfrm>
          <a:prstGeom prst="ellipse">
            <a:avLst/>
          </a:prstGeom>
          <a:solidFill>
            <a:schemeClr val="accent2"/>
          </a:solidFill>
          <a:ln w="12700">
            <a:solidFill>
              <a:schemeClr val="accent2"/>
            </a:solidFill>
            <a:prstDash val="solid"/>
          </a:ln>
        </p:spPr>
      </p:sp>
      <p:pic>
        <p:nvPicPr>
          <p:cNvPr id="40" name="Servicios Generales ícono" descr="Servicios Generales">    </p:cNvPr>
          <p:cNvPicPr>
            <a:picLocks noChangeAspect="1"/>
          </p:cNvPicPr>
          <p:nvPr/>
        </p:nvPicPr>
        <p:blipFill>
          <a:blip r:embed="rId8"/>
          <a:stretch>
            <a:fillRect/>
          </a:stretch>
        </p:blipFill>
        <p:spPr>
          <a:xfrm>
            <a:off x="9284818" y="3286354"/>
            <a:ext cx="285293" cy="285293"/>
          </a:xfrm>
          <a:prstGeom prst="rect">
            <a:avLst/>
          </a:prstGeom>
        </p:spPr>
      </p:pic>
      <p:sp>
        <p:nvSpPr>
          <p:cNvPr id="41" name="Text 31"/>
          <p:cNvSpPr txBox="1"/>
          <p:nvPr/>
        </p:nvSpPr>
        <p:spPr>
          <a:xfrm>
            <a:off x="9838944" y="3118104"/>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Servicios Generales</a:t>
            </a:r>
            <a:endParaRPr lang="en-US" sz="1400" dirty="0"/>
          </a:p>
        </p:txBody>
      </p:sp>
      <p:sp>
        <p:nvSpPr>
          <p:cNvPr id="42" name="Text 32"/>
          <p:cNvSpPr txBox="1"/>
          <p:nvPr/>
        </p:nvSpPr>
        <p:spPr>
          <a:xfrm>
            <a:off x="9153144" y="3776472"/>
            <a:ext cx="2331720" cy="548640"/>
          </a:xfrm>
          <a:prstGeom prst="rect">
            <a:avLst/>
          </a:prstGeom>
          <a:noFill/>
          <a:ln/>
        </p:spPr>
        <p:txBody>
          <a:bodyPr wrap="square" lIns="0" tIns="0" rIns="0" bIns="0" rtlCol="0" anchor="t"/>
          <a:lstStyle/>
          <a:p>
            <a:pPr indent="0" marL="0">
              <a:buNone/>
            </a:pPr>
            <a:r>
              <a:rPr lang="en-US" sz="1100" dirty="0">
                <a:solidFill>
                  <a:schemeClr val="tx1"/>
                </a:solidFill>
              </a:rPr>
              <a:t>Consulta el plan y el Lookahead.</a:t>
            </a:r>
            <a:endParaRPr lang="en-US" sz="1100" dirty="0"/>
          </a:p>
        </p:txBody>
      </p:sp>
      <p:sp>
        <p:nvSpPr>
          <p:cNvPr id="43" name="Almacén"/>
          <p:cNvSpPr/>
          <p:nvPr/>
        </p:nvSpPr>
        <p:spPr>
          <a:xfrm>
            <a:off x="548640" y="4581144"/>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4" name="Almacén círculo"/>
          <p:cNvSpPr/>
          <p:nvPr/>
        </p:nvSpPr>
        <p:spPr>
          <a:xfrm>
            <a:off x="731520" y="4782312"/>
            <a:ext cx="548640" cy="548640"/>
          </a:xfrm>
          <a:prstGeom prst="ellipse">
            <a:avLst/>
          </a:prstGeom>
          <a:solidFill>
            <a:schemeClr val="accent1"/>
          </a:solidFill>
          <a:ln w="12700">
            <a:solidFill>
              <a:schemeClr val="accent1"/>
            </a:solidFill>
            <a:prstDash val="solid"/>
          </a:ln>
        </p:spPr>
      </p:sp>
      <p:pic>
        <p:nvPicPr>
          <p:cNvPr id="45" name="Almacén ícono" descr="Almacén">    </p:cNvPr>
          <p:cNvPicPr>
            <a:picLocks noChangeAspect="1"/>
          </p:cNvPicPr>
          <p:nvPr/>
        </p:nvPicPr>
        <p:blipFill>
          <a:blip r:embed="rId9"/>
          <a:stretch>
            <a:fillRect/>
          </a:stretch>
        </p:blipFill>
        <p:spPr>
          <a:xfrm>
            <a:off x="863194" y="4913986"/>
            <a:ext cx="285293" cy="285293"/>
          </a:xfrm>
          <a:prstGeom prst="rect">
            <a:avLst/>
          </a:prstGeom>
        </p:spPr>
      </p:pic>
      <p:sp>
        <p:nvSpPr>
          <p:cNvPr id="46" name="Text 35"/>
          <p:cNvSpPr txBox="1"/>
          <p:nvPr/>
        </p:nvSpPr>
        <p:spPr>
          <a:xfrm>
            <a:off x="1417320" y="4745736"/>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Almacén</a:t>
            </a:r>
            <a:endParaRPr lang="en-US" sz="1400" dirty="0"/>
          </a:p>
        </p:txBody>
      </p:sp>
      <p:sp>
        <p:nvSpPr>
          <p:cNvPr id="47" name="Text 36"/>
          <p:cNvSpPr txBox="1"/>
          <p:nvPr/>
        </p:nvSpPr>
        <p:spPr>
          <a:xfrm>
            <a:off x="731520" y="5404104"/>
            <a:ext cx="2331720" cy="548640"/>
          </a:xfrm>
          <a:prstGeom prst="rect">
            <a:avLst/>
          </a:prstGeom>
          <a:noFill/>
          <a:ln/>
        </p:spPr>
        <p:txBody>
          <a:bodyPr wrap="square" lIns="0" tIns="0" rIns="0" bIns="0" rtlCol="0" anchor="t"/>
          <a:lstStyle/>
          <a:p>
            <a:pPr indent="0" marL="0">
              <a:buNone/>
            </a:pPr>
            <a:r>
              <a:rPr lang="en-US" sz="1100" dirty="0">
                <a:solidFill>
                  <a:schemeClr val="tx1"/>
                </a:solidFill>
              </a:rPr>
              <a:t>Consulta recursos y necesidades del Lookahead.</a:t>
            </a:r>
            <a:endParaRPr lang="en-US" sz="1100" dirty="0"/>
          </a:p>
        </p:txBody>
      </p:sp>
      <p:sp>
        <p:nvSpPr>
          <p:cNvPr id="48" name="Ingeniería"/>
          <p:cNvSpPr/>
          <p:nvPr/>
        </p:nvSpPr>
        <p:spPr>
          <a:xfrm>
            <a:off x="3355848" y="4581144"/>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9" name="Ingeniería círculo"/>
          <p:cNvSpPr/>
          <p:nvPr/>
        </p:nvSpPr>
        <p:spPr>
          <a:xfrm>
            <a:off x="3538728" y="4782312"/>
            <a:ext cx="548640" cy="548640"/>
          </a:xfrm>
          <a:prstGeom prst="ellipse">
            <a:avLst/>
          </a:prstGeom>
          <a:solidFill>
            <a:schemeClr val="accent3"/>
          </a:solidFill>
          <a:ln w="12700">
            <a:solidFill>
              <a:schemeClr val="accent3"/>
            </a:solidFill>
            <a:prstDash val="solid"/>
          </a:ln>
        </p:spPr>
      </p:sp>
      <p:pic>
        <p:nvPicPr>
          <p:cNvPr id="50" name="Ingeniería ícono" descr="Ingeniería">    </p:cNvPr>
          <p:cNvPicPr>
            <a:picLocks noChangeAspect="1"/>
          </p:cNvPicPr>
          <p:nvPr/>
        </p:nvPicPr>
        <p:blipFill>
          <a:blip r:embed="rId10"/>
          <a:stretch>
            <a:fillRect/>
          </a:stretch>
        </p:blipFill>
        <p:spPr>
          <a:xfrm>
            <a:off x="3670402" y="4913986"/>
            <a:ext cx="285293" cy="285293"/>
          </a:xfrm>
          <a:prstGeom prst="rect">
            <a:avLst/>
          </a:prstGeom>
        </p:spPr>
      </p:pic>
      <p:sp>
        <p:nvSpPr>
          <p:cNvPr id="51" name="Text 39"/>
          <p:cNvSpPr txBox="1"/>
          <p:nvPr/>
        </p:nvSpPr>
        <p:spPr>
          <a:xfrm>
            <a:off x="4224528" y="4745736"/>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Ingeniería</a:t>
            </a:r>
            <a:endParaRPr lang="en-US" sz="1400" dirty="0"/>
          </a:p>
        </p:txBody>
      </p:sp>
      <p:sp>
        <p:nvSpPr>
          <p:cNvPr id="52" name="Text 40"/>
          <p:cNvSpPr txBox="1"/>
          <p:nvPr/>
        </p:nvSpPr>
        <p:spPr>
          <a:xfrm>
            <a:off x="3538728" y="5404104"/>
            <a:ext cx="2331720" cy="548640"/>
          </a:xfrm>
          <a:prstGeom prst="rect">
            <a:avLst/>
          </a:prstGeom>
          <a:noFill/>
          <a:ln/>
        </p:spPr>
        <p:txBody>
          <a:bodyPr wrap="square" lIns="0" tIns="0" rIns="0" bIns="0" rtlCol="0" anchor="t"/>
          <a:lstStyle/>
          <a:p>
            <a:pPr indent="0" marL="0">
              <a:buNone/>
            </a:pPr>
            <a:r>
              <a:rPr lang="en-US" sz="1100" dirty="0">
                <a:solidFill>
                  <a:schemeClr val="tx1"/>
                </a:solidFill>
              </a:rPr>
              <a:t>Reporta avance de entregables de ingeniería.</a:t>
            </a:r>
            <a:endParaRPr lang="en-US" sz="1100" dirty="0"/>
          </a:p>
        </p:txBody>
      </p:sp>
      <p:sp>
        <p:nvSpPr>
          <p:cNvPr id="53" name="Otros"/>
          <p:cNvSpPr/>
          <p:nvPr/>
        </p:nvSpPr>
        <p:spPr>
          <a:xfrm>
            <a:off x="6163056" y="4581144"/>
            <a:ext cx="2633472" cy="1444752"/>
          </a:xfrm>
          <a:prstGeom prst="roundRect">
            <a:avLst>
              <a:gd name="adj" fmla="val 759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4" name="Otros círculo"/>
          <p:cNvSpPr/>
          <p:nvPr/>
        </p:nvSpPr>
        <p:spPr>
          <a:xfrm>
            <a:off x="6345936" y="4782312"/>
            <a:ext cx="548640" cy="548640"/>
          </a:xfrm>
          <a:prstGeom prst="ellipse">
            <a:avLst/>
          </a:prstGeom>
          <a:solidFill>
            <a:schemeClr val="accent2"/>
          </a:solidFill>
          <a:ln w="12700">
            <a:solidFill>
              <a:schemeClr val="accent2"/>
            </a:solidFill>
            <a:prstDash val="solid"/>
          </a:ln>
        </p:spPr>
      </p:sp>
      <p:pic>
        <p:nvPicPr>
          <p:cNvPr id="55" name="Otros ícono" descr="Otros">    </p:cNvPr>
          <p:cNvPicPr>
            <a:picLocks noChangeAspect="1"/>
          </p:cNvPicPr>
          <p:nvPr/>
        </p:nvPicPr>
        <p:blipFill>
          <a:blip r:embed="rId11"/>
          <a:stretch>
            <a:fillRect/>
          </a:stretch>
        </p:blipFill>
        <p:spPr>
          <a:xfrm>
            <a:off x="6477610" y="4913986"/>
            <a:ext cx="285293" cy="285293"/>
          </a:xfrm>
          <a:prstGeom prst="rect">
            <a:avLst/>
          </a:prstGeom>
        </p:spPr>
      </p:pic>
      <p:sp>
        <p:nvSpPr>
          <p:cNvPr id="56" name="Text 43"/>
          <p:cNvSpPr txBox="1"/>
          <p:nvPr/>
        </p:nvSpPr>
        <p:spPr>
          <a:xfrm>
            <a:off x="7031736" y="4745736"/>
            <a:ext cx="1673352" cy="603504"/>
          </a:xfrm>
          <a:prstGeom prst="rect">
            <a:avLst/>
          </a:prstGeom>
          <a:noFill/>
          <a:ln/>
        </p:spPr>
        <p:txBody>
          <a:bodyPr wrap="square" lIns="0" tIns="0" rIns="0" bIns="0" rtlCol="0" anchor="ctr"/>
          <a:lstStyle/>
          <a:p>
            <a:pPr indent="0" marL="0">
              <a:buNone/>
            </a:pPr>
            <a:r>
              <a:rPr lang="en-US" sz="1400" b="1" dirty="0">
                <a:solidFill>
                  <a:schemeClr val="tx2"/>
                </a:solidFill>
              </a:rPr>
              <a:t>Otros</a:t>
            </a:r>
            <a:endParaRPr lang="en-US" sz="1400" dirty="0"/>
          </a:p>
        </p:txBody>
      </p:sp>
      <p:sp>
        <p:nvSpPr>
          <p:cNvPr id="57" name="Text 44"/>
          <p:cNvSpPr txBox="1"/>
          <p:nvPr/>
        </p:nvSpPr>
        <p:spPr>
          <a:xfrm>
            <a:off x="6345936" y="5404104"/>
            <a:ext cx="2331720" cy="548640"/>
          </a:xfrm>
          <a:prstGeom prst="rect">
            <a:avLst/>
          </a:prstGeom>
          <a:noFill/>
          <a:ln/>
        </p:spPr>
        <p:txBody>
          <a:bodyPr wrap="square" lIns="0" tIns="0" rIns="0" bIns="0" rtlCol="0" anchor="t"/>
          <a:lstStyle/>
          <a:p>
            <a:pPr indent="0" marL="0">
              <a:buNone/>
            </a:pPr>
            <a:r>
              <a:rPr lang="en-US" sz="1100" dirty="0">
                <a:solidFill>
                  <a:schemeClr val="tx1"/>
                </a:solidFill>
              </a:rPr>
              <a:t>Perfil genérico de solo lectura, ajustable.</a:t>
            </a:r>
            <a:endParaRPr lang="en-US" sz="1100" dirty="0"/>
          </a:p>
        </p:txBody>
      </p:sp>
      <p:sp>
        <p:nvSpPr>
          <p:cNvPr id="58" name="Nota áreas"/>
          <p:cNvSpPr/>
          <p:nvPr/>
        </p:nvSpPr>
        <p:spPr>
          <a:xfrm>
            <a:off x="8970264" y="4581144"/>
            <a:ext cx="2633472" cy="1444752"/>
          </a:xfrm>
          <a:prstGeom prst="roundRect">
            <a:avLst>
              <a:gd name="adj" fmla="val 7595"/>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59" name="Text 46"/>
          <p:cNvSpPr txBox="1"/>
          <p:nvPr/>
        </p:nvSpPr>
        <p:spPr>
          <a:xfrm>
            <a:off x="9153144" y="4764024"/>
            <a:ext cx="2286000" cy="1097280"/>
          </a:xfrm>
          <a:prstGeom prst="rect">
            <a:avLst/>
          </a:prstGeom>
          <a:noFill/>
          <a:ln/>
        </p:spPr>
        <p:txBody>
          <a:bodyPr wrap="square" lIns="0" tIns="0" rIns="0" bIns="0" rtlCol="0" anchor="ctr"/>
          <a:lstStyle/>
          <a:p>
            <a:pPr indent="0" marL="0">
              <a:buNone/>
            </a:pPr>
            <a:r>
              <a:rPr lang="en-US" sz="1300" dirty="0">
                <a:solidFill>
                  <a:schemeClr val="bg1"/>
                </a:solidFill>
              </a:rPr>
              <a:t>Lista editable, como "Cargos" en LPS-GT. Se pueden agregar áreas sin programar.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Plantilla de permisos por área (editable)</a:t>
            </a:r>
            <a:endParaRPr lang="en-US" sz="3600" dirty="0"/>
          </a:p>
        </p:txBody>
      </p:sp>
      <p:sp>
        <p:nvSpPr>
          <p:cNvPr id="3" name="leyenda Editar"/>
          <p:cNvSpPr/>
          <p:nvPr/>
        </p:nvSpPr>
        <p:spPr>
          <a:xfrm>
            <a:off x="548640" y="1280160"/>
            <a:ext cx="1188720" cy="384048"/>
          </a:xfrm>
          <a:prstGeom prst="roundRect">
            <a:avLst>
              <a:gd name="adj" fmla="val 14286"/>
            </a:avLst>
          </a:prstGeom>
          <a:solidFill>
            <a:srgbClr val="2A8C82"/>
          </a:solidFill>
          <a:ln w="9525">
            <a:solidFill>
              <a:srgbClr val="D5DCE5"/>
            </a:solidFill>
            <a:prstDash val="solid"/>
          </a:ln>
        </p:spPr>
      </p:sp>
      <p:sp>
        <p:nvSpPr>
          <p:cNvPr id="4" name="Text 2"/>
          <p:cNvSpPr txBox="1"/>
          <p:nvPr/>
        </p:nvSpPr>
        <p:spPr>
          <a:xfrm>
            <a:off x="548640" y="1280160"/>
            <a:ext cx="1188720" cy="384048"/>
          </a:xfrm>
          <a:prstGeom prst="rect">
            <a:avLst/>
          </a:prstGeom>
          <a:noFill/>
          <a:ln/>
        </p:spPr>
        <p:txBody>
          <a:bodyPr wrap="square" lIns="0" tIns="0" rIns="0" bIns="0" rtlCol="0" anchor="ctr"/>
          <a:lstStyle/>
          <a:p>
            <a:pPr algn="ctr" indent="0" marL="0">
              <a:buNone/>
            </a:pPr>
            <a:r>
              <a:rPr lang="en-US" sz="1200" b="1" dirty="0">
                <a:solidFill>
                  <a:schemeClr val="bg1"/>
                </a:solidFill>
              </a:rPr>
              <a:t>Editar</a:t>
            </a:r>
            <a:endParaRPr lang="en-US" sz="1200" dirty="0"/>
          </a:p>
        </p:txBody>
      </p:sp>
      <p:sp>
        <p:nvSpPr>
          <p:cNvPr id="5" name="Text 3"/>
          <p:cNvSpPr txBox="1"/>
          <p:nvPr/>
        </p:nvSpPr>
        <p:spPr>
          <a:xfrm>
            <a:off x="1828800" y="1280160"/>
            <a:ext cx="1463040" cy="384048"/>
          </a:xfrm>
          <a:prstGeom prst="rect">
            <a:avLst/>
          </a:prstGeom>
          <a:noFill/>
          <a:ln/>
        </p:spPr>
        <p:txBody>
          <a:bodyPr wrap="square" lIns="0" tIns="0" rIns="0" bIns="0" rtlCol="0" anchor="ctr"/>
          <a:lstStyle/>
          <a:p>
            <a:pPr indent="0" marL="0">
              <a:buNone/>
            </a:pPr>
            <a:r>
              <a:rPr lang="en-US" sz="1100" dirty="0">
                <a:solidFill>
                  <a:schemeClr val="accent5"/>
                </a:solidFill>
              </a:rPr>
              <a:t>crea, modifica y borra</a:t>
            </a:r>
            <a:endParaRPr lang="en-US" sz="1100" dirty="0"/>
          </a:p>
        </p:txBody>
      </p:sp>
      <p:sp>
        <p:nvSpPr>
          <p:cNvPr id="6" name="leyenda Solo avance"/>
          <p:cNvSpPr/>
          <p:nvPr/>
        </p:nvSpPr>
        <p:spPr>
          <a:xfrm>
            <a:off x="3337560" y="1280160"/>
            <a:ext cx="1188720" cy="384048"/>
          </a:xfrm>
          <a:prstGeom prst="roundRect">
            <a:avLst>
              <a:gd name="adj" fmla="val 14286"/>
            </a:avLst>
          </a:prstGeom>
          <a:solidFill>
            <a:srgbClr val="F6E3C1"/>
          </a:solidFill>
          <a:ln w="9525">
            <a:solidFill>
              <a:srgbClr val="D5DCE5"/>
            </a:solidFill>
            <a:prstDash val="solid"/>
          </a:ln>
        </p:spPr>
      </p:sp>
      <p:sp>
        <p:nvSpPr>
          <p:cNvPr id="7" name="Text 5"/>
          <p:cNvSpPr txBox="1"/>
          <p:nvPr/>
        </p:nvSpPr>
        <p:spPr>
          <a:xfrm>
            <a:off x="3337560" y="1280160"/>
            <a:ext cx="1188720" cy="384048"/>
          </a:xfrm>
          <a:prstGeom prst="rect">
            <a:avLst/>
          </a:prstGeom>
          <a:noFill/>
          <a:ln/>
        </p:spPr>
        <p:txBody>
          <a:bodyPr wrap="square" lIns="0" tIns="0" rIns="0" bIns="0" rtlCol="0" anchor="ctr"/>
          <a:lstStyle/>
          <a:p>
            <a:pPr algn="ctr" indent="0" marL="0">
              <a:buNone/>
            </a:pPr>
            <a:r>
              <a:rPr lang="en-US" sz="1200" b="1" dirty="0">
                <a:solidFill>
                  <a:schemeClr val="tx1"/>
                </a:solidFill>
              </a:rPr>
              <a:t>Solo avance</a:t>
            </a:r>
            <a:endParaRPr lang="en-US" sz="1200" dirty="0"/>
          </a:p>
        </p:txBody>
      </p:sp>
      <p:sp>
        <p:nvSpPr>
          <p:cNvPr id="8" name="Text 6"/>
          <p:cNvSpPr txBox="1"/>
          <p:nvPr/>
        </p:nvSpPr>
        <p:spPr>
          <a:xfrm>
            <a:off x="4617720" y="1280160"/>
            <a:ext cx="1463040" cy="384048"/>
          </a:xfrm>
          <a:prstGeom prst="rect">
            <a:avLst/>
          </a:prstGeom>
          <a:noFill/>
          <a:ln/>
        </p:spPr>
        <p:txBody>
          <a:bodyPr wrap="square" lIns="0" tIns="0" rIns="0" bIns="0" rtlCol="0" anchor="ctr"/>
          <a:lstStyle/>
          <a:p>
            <a:pPr indent="0" marL="0">
              <a:buNone/>
            </a:pPr>
            <a:r>
              <a:rPr lang="en-US" sz="1100" dirty="0">
                <a:solidFill>
                  <a:schemeClr val="accent5"/>
                </a:solidFill>
              </a:rPr>
              <a:t>actualiza % y fechas reales</a:t>
            </a:r>
            <a:endParaRPr lang="en-US" sz="1100" dirty="0"/>
          </a:p>
        </p:txBody>
      </p:sp>
      <p:sp>
        <p:nvSpPr>
          <p:cNvPr id="9" name="leyenda Solo ver"/>
          <p:cNvSpPr/>
          <p:nvPr/>
        </p:nvSpPr>
        <p:spPr>
          <a:xfrm>
            <a:off x="6126480" y="1280160"/>
            <a:ext cx="1188720" cy="384048"/>
          </a:xfrm>
          <a:prstGeom prst="roundRect">
            <a:avLst>
              <a:gd name="adj" fmla="val 14286"/>
            </a:avLst>
          </a:prstGeom>
          <a:solidFill>
            <a:srgbClr val="EEF2F6"/>
          </a:solidFill>
          <a:ln w="9525">
            <a:solidFill>
              <a:srgbClr val="D5DCE5"/>
            </a:solidFill>
            <a:prstDash val="solid"/>
          </a:ln>
        </p:spPr>
      </p:sp>
      <p:sp>
        <p:nvSpPr>
          <p:cNvPr id="10" name="Text 8"/>
          <p:cNvSpPr txBox="1"/>
          <p:nvPr/>
        </p:nvSpPr>
        <p:spPr>
          <a:xfrm>
            <a:off x="6126480" y="1280160"/>
            <a:ext cx="1188720" cy="384048"/>
          </a:xfrm>
          <a:prstGeom prst="rect">
            <a:avLst/>
          </a:prstGeom>
          <a:noFill/>
          <a:ln/>
        </p:spPr>
        <p:txBody>
          <a:bodyPr wrap="square" lIns="0" tIns="0" rIns="0" bIns="0" rtlCol="0" anchor="ctr"/>
          <a:lstStyle/>
          <a:p>
            <a:pPr algn="ctr" indent="0" marL="0">
              <a:buNone/>
            </a:pPr>
            <a:r>
              <a:rPr lang="en-US" sz="1200" b="1" dirty="0">
                <a:solidFill>
                  <a:schemeClr val="tx2"/>
                </a:solidFill>
              </a:rPr>
              <a:t>Solo ver</a:t>
            </a:r>
            <a:endParaRPr lang="en-US" sz="1200" dirty="0"/>
          </a:p>
        </p:txBody>
      </p:sp>
      <p:sp>
        <p:nvSpPr>
          <p:cNvPr id="11" name="Text 9"/>
          <p:cNvSpPr txBox="1"/>
          <p:nvPr/>
        </p:nvSpPr>
        <p:spPr>
          <a:xfrm>
            <a:off x="7406640" y="1280160"/>
            <a:ext cx="1463040" cy="384048"/>
          </a:xfrm>
          <a:prstGeom prst="rect">
            <a:avLst/>
          </a:prstGeom>
          <a:noFill/>
          <a:ln/>
        </p:spPr>
        <p:txBody>
          <a:bodyPr wrap="square" lIns="0" tIns="0" rIns="0" bIns="0" rtlCol="0" anchor="ctr"/>
          <a:lstStyle/>
          <a:p>
            <a:pPr indent="0" marL="0">
              <a:buNone/>
            </a:pPr>
            <a:r>
              <a:rPr lang="en-US" sz="1100" dirty="0">
                <a:solidFill>
                  <a:schemeClr val="accent5"/>
                </a:solidFill>
              </a:rPr>
              <a:t>consulta sin cambiar nada</a:t>
            </a:r>
            <a:endParaRPr lang="en-US" sz="1100" dirty="0"/>
          </a:p>
        </p:txBody>
      </p:sp>
      <p:sp>
        <p:nvSpPr>
          <p:cNvPr id="12" name="leyenda Sin acceso"/>
          <p:cNvSpPr/>
          <p:nvPr/>
        </p:nvSpPr>
        <p:spPr>
          <a:xfrm>
            <a:off x="8915400" y="1280160"/>
            <a:ext cx="1188720" cy="384048"/>
          </a:xfrm>
          <a:prstGeom prst="roundRect">
            <a:avLst>
              <a:gd name="adj" fmla="val 14286"/>
            </a:avLst>
          </a:prstGeom>
          <a:solidFill>
            <a:srgbClr val="FFFFFF"/>
          </a:solidFill>
          <a:ln w="9525">
            <a:solidFill>
              <a:srgbClr val="D5DCE5"/>
            </a:solidFill>
            <a:prstDash val="solid"/>
          </a:ln>
        </p:spPr>
      </p:sp>
      <p:sp>
        <p:nvSpPr>
          <p:cNvPr id="13" name="Text 11"/>
          <p:cNvSpPr txBox="1"/>
          <p:nvPr/>
        </p:nvSpPr>
        <p:spPr>
          <a:xfrm>
            <a:off x="8915400" y="1280160"/>
            <a:ext cx="1188720" cy="384048"/>
          </a:xfrm>
          <a:prstGeom prst="rect">
            <a:avLst/>
          </a:prstGeom>
          <a:noFill/>
          <a:ln/>
        </p:spPr>
        <p:txBody>
          <a:bodyPr wrap="square" lIns="0" tIns="0" rIns="0" bIns="0" rtlCol="0" anchor="ctr"/>
          <a:lstStyle/>
          <a:p>
            <a:pPr algn="ctr" indent="0" marL="0">
              <a:buNone/>
            </a:pPr>
            <a:r>
              <a:rPr lang="en-US" sz="1200" b="1" dirty="0">
                <a:solidFill>
                  <a:schemeClr val="accent5"/>
                </a:solidFill>
              </a:rPr>
              <a:t>Sin acceso</a:t>
            </a:r>
            <a:endParaRPr lang="en-US" sz="1200" dirty="0"/>
          </a:p>
        </p:txBody>
      </p:sp>
      <p:sp>
        <p:nvSpPr>
          <p:cNvPr id="14" name="Text 12"/>
          <p:cNvSpPr txBox="1"/>
          <p:nvPr/>
        </p:nvSpPr>
        <p:spPr>
          <a:xfrm>
            <a:off x="10195560" y="1280160"/>
            <a:ext cx="1463040" cy="384048"/>
          </a:xfrm>
          <a:prstGeom prst="rect">
            <a:avLst/>
          </a:prstGeom>
          <a:noFill/>
          <a:ln/>
        </p:spPr>
        <p:txBody>
          <a:bodyPr wrap="square" lIns="0" tIns="0" rIns="0" bIns="0" rtlCol="0" anchor="ctr"/>
          <a:lstStyle/>
          <a:p>
            <a:pPr indent="0" marL="0">
              <a:buNone/>
            </a:pPr>
            <a:r>
              <a:rPr lang="en-US" sz="1100" dirty="0">
                <a:solidFill>
                  <a:schemeClr val="accent5"/>
                </a:solidFill>
              </a:rPr>
              <a:t>no le aparece el módulo</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560320"/>
                <a:gridCol w="1216152"/>
                <a:gridCol w="1216152"/>
                <a:gridCol w="1216152"/>
                <a:gridCol w="1216152"/>
                <a:gridCol w="1216152"/>
                <a:gridCol w="1216152"/>
                <a:gridCol w="1207008"/>
              </a:tblGrid>
              <a:tr h="457200">
                <a:tc>
                  <a:txBody>
                    <a:bodyPr/>
                    <a:lstStyle/>
                    <a:p>
                      <a:pPr indent="0" marL="0">
                        <a:buNone/>
                      </a:pPr>
                      <a:r>
                        <a:rPr lang="en-US" sz="1300" b="1" dirty="0">
                          <a:solidFill>
                            <a:schemeClr val="bg1"/>
                          </a:solidFill>
                        </a:rPr>
                        <a:t>Área</a:t>
                      </a:r>
                      <a:endParaRPr lang="en-US" sz="13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Cronograma / EDT / Gantt</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Calendarios y recursos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Líneas base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Lookahead / LPS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EVM / Curva 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Riesgos / MC / DCMA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Reportes PDF</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347472">
                <a:tc>
                  <a:txBody>
                    <a:bodyPr/>
                    <a:lstStyle/>
                    <a:p>
                      <a:pPr indent="0" marL="0">
                        <a:buNone/>
                      </a:pPr>
                      <a:r>
                        <a:rPr lang="en-US" sz="1200" b="1" dirty="0">
                          <a:solidFill>
                            <a:schemeClr val="tx2"/>
                          </a:solidFill>
                        </a:rPr>
                        <a:t>Oficina Técnica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Planificación</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Costos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Calidad</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Administración de Contratos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Administración de Obra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Solo avance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6E3C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Seguridad</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bg1"/>
                          </a:solidFill>
                        </a:rPr>
                        <a:t>Editar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2A8C82"/>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Servicios Generales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Almacén</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Ingeniería</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Solo avance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6E3C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accent5"/>
                          </a:solidFill>
                        </a:rPr>
                        <a:t>Sin acceso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r h="347472">
                <a:tc>
                  <a:txBody>
                    <a:bodyPr/>
                    <a:lstStyle/>
                    <a:p>
                      <a:pPr indent="0" marL="0">
                        <a:buNone/>
                      </a:pPr>
                      <a:r>
                        <a:rPr lang="en-US" sz="1200" b="1" dirty="0">
                          <a:solidFill>
                            <a:schemeClr val="tx2"/>
                          </a:solidFill>
                        </a:rPr>
                        <a:t>Otros</a:t>
                      </a:r>
                      <a:endParaRPr lang="en-US" sz="12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dirty="0">
                          <a:solidFill>
                            <a:schemeClr val="tx2"/>
                          </a:solidFill>
                        </a:rPr>
                        <a:t>Solo ver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EF2F6"/>
                    </a:solidFill>
                  </a:tcPr>
                </a:tc>
                <a:tc>
                  <a:txBody>
                    <a:bodyPr/>
                    <a:lstStyle/>
                    <a:p>
                      <a:pPr algn="ctr" indent="0" marL="0">
                        <a:buNone/>
                      </a:pPr>
                      <a:r>
                        <a:rPr lang="en-US" sz="1100" b="1" dirty="0">
                          <a:solidFill>
                            <a:schemeClr val="bg1"/>
                          </a:solidFill>
                        </a:rPr>
                        <a:t>Imprimir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3D6FA8"/>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Usuario y clave</a:t>
            </a:r>
            <a:endParaRPr lang="en-US" sz="3600" dirty="0"/>
          </a:p>
        </p:txBody>
      </p:sp>
      <p:sp>
        <p:nvSpPr>
          <p:cNvPr id="3" name="Alta por el administrador"/>
          <p:cNvSpPr/>
          <p:nvPr/>
        </p:nvSpPr>
        <p:spPr>
          <a:xfrm>
            <a:off x="548640" y="13258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Alta por el administrador círculo"/>
          <p:cNvSpPr/>
          <p:nvPr/>
        </p:nvSpPr>
        <p:spPr>
          <a:xfrm>
            <a:off x="777240" y="1645920"/>
            <a:ext cx="731520" cy="731520"/>
          </a:xfrm>
          <a:prstGeom prst="ellipse">
            <a:avLst/>
          </a:prstGeom>
          <a:solidFill>
            <a:schemeClr val="accent2"/>
          </a:solidFill>
          <a:ln w="12700">
            <a:solidFill>
              <a:schemeClr val="accent2"/>
            </a:solidFill>
            <a:prstDash val="solid"/>
          </a:ln>
        </p:spPr>
      </p:sp>
      <p:pic>
        <p:nvPicPr>
          <p:cNvPr id="5" name="Alta por el administrador ícono" descr="Alta por el administrador">    </p:cNvPr>
          <p:cNvPicPr>
            <a:picLocks noChangeAspect="1"/>
          </p:cNvPicPr>
          <p:nvPr/>
        </p:nvPicPr>
        <p:blipFill>
          <a:blip r:embed="rId1"/>
          <a:stretch>
            <a:fillRect/>
          </a:stretch>
        </p:blipFill>
        <p:spPr>
          <a:xfrm>
            <a:off x="952805" y="1821485"/>
            <a:ext cx="380390" cy="380390"/>
          </a:xfrm>
          <a:prstGeom prst="rect">
            <a:avLst/>
          </a:prstGeom>
        </p:spPr>
      </p:pic>
      <p:sp>
        <p:nvSpPr>
          <p:cNvPr id="6" name="Text 3"/>
          <p:cNvSpPr txBox="1"/>
          <p:nvPr/>
        </p:nvSpPr>
        <p:spPr>
          <a:xfrm>
            <a:off x="1691640" y="14904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Alta por el administrador</a:t>
            </a:r>
            <a:endParaRPr lang="en-US" sz="1600" dirty="0"/>
          </a:p>
        </p:txBody>
      </p:sp>
      <p:sp>
        <p:nvSpPr>
          <p:cNvPr id="7" name="Text 4"/>
          <p:cNvSpPr txBox="1"/>
          <p:nvPr/>
        </p:nvSpPr>
        <p:spPr>
          <a:xfrm>
            <a:off x="1691640" y="1874520"/>
            <a:ext cx="4114800" cy="777240"/>
          </a:xfrm>
          <a:prstGeom prst="rect">
            <a:avLst/>
          </a:prstGeom>
          <a:noFill/>
          <a:ln/>
        </p:spPr>
        <p:txBody>
          <a:bodyPr wrap="square" lIns="0" tIns="0" rIns="0" bIns="0" rtlCol="0" anchor="t"/>
          <a:lstStyle/>
          <a:p>
            <a:pPr indent="0" marL="0">
              <a:buNone/>
            </a:pPr>
            <a:r>
              <a:rPr lang="en-US" sz="1300" dirty="0">
                <a:solidFill>
                  <a:schemeClr val="tx1"/>
                </a:solidFill>
              </a:rPr>
              <a:t>Nombre, correo, cargo, código, nivel y grupos con su área. La app genera una clave temporal y muestra los datos para entregarlos.</a:t>
            </a:r>
            <a:endParaRPr lang="en-US" sz="1300" dirty="0"/>
          </a:p>
        </p:txBody>
      </p:sp>
      <p:sp>
        <p:nvSpPr>
          <p:cNvPr id="8" name="O invitación por enlace"/>
          <p:cNvSpPr/>
          <p:nvPr/>
        </p:nvSpPr>
        <p:spPr>
          <a:xfrm>
            <a:off x="6172200" y="13258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O invitación por enlace círculo"/>
          <p:cNvSpPr/>
          <p:nvPr/>
        </p:nvSpPr>
        <p:spPr>
          <a:xfrm>
            <a:off x="6400800" y="1645920"/>
            <a:ext cx="731520" cy="731520"/>
          </a:xfrm>
          <a:prstGeom prst="ellipse">
            <a:avLst/>
          </a:prstGeom>
          <a:solidFill>
            <a:schemeClr val="accent2"/>
          </a:solidFill>
          <a:ln w="12700">
            <a:solidFill>
              <a:schemeClr val="accent2"/>
            </a:solidFill>
            <a:prstDash val="solid"/>
          </a:ln>
        </p:spPr>
      </p:sp>
      <p:pic>
        <p:nvPicPr>
          <p:cNvPr id="10" name="O invitación por enlace ícono" descr="O invitación por enlace">    </p:cNvPr>
          <p:cNvPicPr>
            <a:picLocks noChangeAspect="1"/>
          </p:cNvPicPr>
          <p:nvPr/>
        </p:nvPicPr>
        <p:blipFill>
          <a:blip r:embed="rId2"/>
          <a:stretch>
            <a:fillRect/>
          </a:stretch>
        </p:blipFill>
        <p:spPr>
          <a:xfrm>
            <a:off x="6576365" y="1821485"/>
            <a:ext cx="380390" cy="380390"/>
          </a:xfrm>
          <a:prstGeom prst="rect">
            <a:avLst/>
          </a:prstGeom>
        </p:spPr>
      </p:pic>
      <p:sp>
        <p:nvSpPr>
          <p:cNvPr id="11" name="Text 7"/>
          <p:cNvSpPr txBox="1"/>
          <p:nvPr/>
        </p:nvSpPr>
        <p:spPr>
          <a:xfrm>
            <a:off x="7315200" y="14904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O invitación por enlace</a:t>
            </a:r>
            <a:endParaRPr lang="en-US" sz="1600" dirty="0"/>
          </a:p>
        </p:txBody>
      </p:sp>
      <p:sp>
        <p:nvSpPr>
          <p:cNvPr id="12" name="Text 8"/>
          <p:cNvSpPr txBox="1"/>
          <p:nvPr/>
        </p:nvSpPr>
        <p:spPr>
          <a:xfrm>
            <a:off x="7315200" y="1874520"/>
            <a:ext cx="4114800" cy="777240"/>
          </a:xfrm>
          <a:prstGeom prst="rect">
            <a:avLst/>
          </a:prstGeom>
          <a:noFill/>
          <a:ln/>
        </p:spPr>
        <p:txBody>
          <a:bodyPr wrap="square" lIns="0" tIns="0" rIns="0" bIns="0" rtlCol="0" anchor="t"/>
          <a:lstStyle/>
          <a:p>
            <a:pPr indent="0" marL="0">
              <a:buNone/>
            </a:pPr>
            <a:r>
              <a:rPr lang="en-US" sz="1300" dirty="0">
                <a:solidFill>
                  <a:schemeClr val="tx1"/>
                </a:solidFill>
              </a:rPr>
              <a:t>Quien se registra queda Pendiente y los administradores reciben un aviso para asignarle grupo y área.</a:t>
            </a:r>
            <a:endParaRPr lang="en-US" sz="1300" dirty="0"/>
          </a:p>
        </p:txBody>
      </p:sp>
      <p:sp>
        <p:nvSpPr>
          <p:cNvPr id="13" name="Primer ingreso"/>
          <p:cNvSpPr/>
          <p:nvPr/>
        </p:nvSpPr>
        <p:spPr>
          <a:xfrm>
            <a:off x="548640" y="29260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Primer ingreso círculo"/>
          <p:cNvSpPr/>
          <p:nvPr/>
        </p:nvSpPr>
        <p:spPr>
          <a:xfrm>
            <a:off x="777240" y="3246120"/>
            <a:ext cx="731520" cy="731520"/>
          </a:xfrm>
          <a:prstGeom prst="ellipse">
            <a:avLst/>
          </a:prstGeom>
          <a:solidFill>
            <a:schemeClr val="accent1"/>
          </a:solidFill>
          <a:ln w="12700">
            <a:solidFill>
              <a:schemeClr val="accent1"/>
            </a:solidFill>
            <a:prstDash val="solid"/>
          </a:ln>
        </p:spPr>
      </p:sp>
      <p:pic>
        <p:nvPicPr>
          <p:cNvPr id="15" name="Primer ingreso ícono" descr="Primer ingreso">    </p:cNvPr>
          <p:cNvPicPr>
            <a:picLocks noChangeAspect="1"/>
          </p:cNvPicPr>
          <p:nvPr/>
        </p:nvPicPr>
        <p:blipFill>
          <a:blip r:embed="rId3"/>
          <a:stretch>
            <a:fillRect/>
          </a:stretch>
        </p:blipFill>
        <p:spPr>
          <a:xfrm>
            <a:off x="952805" y="3421685"/>
            <a:ext cx="380390" cy="380390"/>
          </a:xfrm>
          <a:prstGeom prst="rect">
            <a:avLst/>
          </a:prstGeom>
        </p:spPr>
      </p:pic>
      <p:sp>
        <p:nvSpPr>
          <p:cNvPr id="16" name="Text 11"/>
          <p:cNvSpPr txBox="1"/>
          <p:nvPr/>
        </p:nvSpPr>
        <p:spPr>
          <a:xfrm>
            <a:off x="1691640" y="30906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Primer ingreso</a:t>
            </a:r>
            <a:endParaRPr lang="en-US" sz="1600" dirty="0"/>
          </a:p>
        </p:txBody>
      </p:sp>
      <p:sp>
        <p:nvSpPr>
          <p:cNvPr id="17" name="Text 12"/>
          <p:cNvSpPr txBox="1"/>
          <p:nvPr/>
        </p:nvSpPr>
        <p:spPr>
          <a:xfrm>
            <a:off x="1691640" y="3474720"/>
            <a:ext cx="4114800" cy="777240"/>
          </a:xfrm>
          <a:prstGeom prst="rect">
            <a:avLst/>
          </a:prstGeom>
          <a:noFill/>
          <a:ln/>
        </p:spPr>
        <p:txBody>
          <a:bodyPr wrap="square" lIns="0" tIns="0" rIns="0" bIns="0" rtlCol="0" anchor="t"/>
          <a:lstStyle/>
          <a:p>
            <a:pPr indent="0" marL="0">
              <a:buNone/>
            </a:pPr>
            <a:r>
              <a:rPr lang="en-US" sz="1300" dirty="0">
                <a:solidFill>
                  <a:schemeClr val="tx1"/>
                </a:solidFill>
              </a:rPr>
              <a:t>Cambio obligatorio de la clave temporal. Mínimo 10 caracteres, con letras y números.</a:t>
            </a:r>
            <a:endParaRPr lang="en-US" sz="1300" dirty="0"/>
          </a:p>
        </p:txBody>
      </p:sp>
      <p:sp>
        <p:nvSpPr>
          <p:cNvPr id="18" name="Restablecer y bloquear"/>
          <p:cNvSpPr/>
          <p:nvPr/>
        </p:nvSpPr>
        <p:spPr>
          <a:xfrm>
            <a:off x="6172200" y="29260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Restablecer y bloquear círculo"/>
          <p:cNvSpPr/>
          <p:nvPr/>
        </p:nvSpPr>
        <p:spPr>
          <a:xfrm>
            <a:off x="6400800" y="3246120"/>
            <a:ext cx="731520" cy="731520"/>
          </a:xfrm>
          <a:prstGeom prst="ellipse">
            <a:avLst/>
          </a:prstGeom>
          <a:solidFill>
            <a:schemeClr val="accent1"/>
          </a:solidFill>
          <a:ln w="12700">
            <a:solidFill>
              <a:schemeClr val="accent1"/>
            </a:solidFill>
            <a:prstDash val="solid"/>
          </a:ln>
        </p:spPr>
      </p:sp>
      <p:pic>
        <p:nvPicPr>
          <p:cNvPr id="20" name="Restablecer y bloquear ícono" descr="Restablecer y bloquear">    </p:cNvPr>
          <p:cNvPicPr>
            <a:picLocks noChangeAspect="1"/>
          </p:cNvPicPr>
          <p:nvPr/>
        </p:nvPicPr>
        <p:blipFill>
          <a:blip r:embed="rId4"/>
          <a:stretch>
            <a:fillRect/>
          </a:stretch>
        </p:blipFill>
        <p:spPr>
          <a:xfrm>
            <a:off x="6576365" y="3421685"/>
            <a:ext cx="380390" cy="380390"/>
          </a:xfrm>
          <a:prstGeom prst="rect">
            <a:avLst/>
          </a:prstGeom>
        </p:spPr>
      </p:pic>
      <p:sp>
        <p:nvSpPr>
          <p:cNvPr id="21" name="Text 15"/>
          <p:cNvSpPr txBox="1"/>
          <p:nvPr/>
        </p:nvSpPr>
        <p:spPr>
          <a:xfrm>
            <a:off x="7315200" y="30906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Restablecer y bloquear</a:t>
            </a:r>
            <a:endParaRPr lang="en-US" sz="1600" dirty="0"/>
          </a:p>
        </p:txBody>
      </p:sp>
      <p:sp>
        <p:nvSpPr>
          <p:cNvPr id="22" name="Text 16"/>
          <p:cNvSpPr txBox="1"/>
          <p:nvPr/>
        </p:nvSpPr>
        <p:spPr>
          <a:xfrm>
            <a:off x="7315200" y="3474720"/>
            <a:ext cx="4114800" cy="777240"/>
          </a:xfrm>
          <a:prstGeom prst="rect">
            <a:avLst/>
          </a:prstGeom>
          <a:noFill/>
          <a:ln/>
        </p:spPr>
        <p:txBody>
          <a:bodyPr wrap="square" lIns="0" tIns="0" rIns="0" bIns="0" rtlCol="0" anchor="t"/>
          <a:lstStyle/>
          <a:p>
            <a:pPr indent="0" marL="0">
              <a:buNone/>
            </a:pPr>
            <a:r>
              <a:rPr lang="en-US" sz="1300" dirty="0">
                <a:solidFill>
                  <a:schemeClr val="tx1"/>
                </a:solidFill>
              </a:rPr>
              <a:t>🔑 genera otra clave temporal. 5 intentos fallidos bloquean 15 min. La sesión vence a las 8 h.</a:t>
            </a:r>
            <a:endParaRPr lang="en-US" sz="1300" dirty="0"/>
          </a:p>
        </p:txBody>
      </p:sp>
      <p:sp>
        <p:nvSpPr>
          <p:cNvPr id="23" name="Usuario = correo"/>
          <p:cNvSpPr/>
          <p:nvPr/>
        </p:nvSpPr>
        <p:spPr>
          <a:xfrm>
            <a:off x="548640" y="45262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Usuario = correo círculo"/>
          <p:cNvSpPr/>
          <p:nvPr/>
        </p:nvSpPr>
        <p:spPr>
          <a:xfrm>
            <a:off x="777240" y="4846320"/>
            <a:ext cx="731520" cy="731520"/>
          </a:xfrm>
          <a:prstGeom prst="ellipse">
            <a:avLst/>
          </a:prstGeom>
          <a:solidFill>
            <a:schemeClr val="accent3"/>
          </a:solidFill>
          <a:ln w="12700">
            <a:solidFill>
              <a:schemeClr val="accent3"/>
            </a:solidFill>
            <a:prstDash val="solid"/>
          </a:ln>
        </p:spPr>
      </p:sp>
      <p:pic>
        <p:nvPicPr>
          <p:cNvPr id="25" name="Usuario = correo ícono" descr="Usuario = correo">    </p:cNvPr>
          <p:cNvPicPr>
            <a:picLocks noChangeAspect="1"/>
          </p:cNvPicPr>
          <p:nvPr/>
        </p:nvPicPr>
        <p:blipFill>
          <a:blip r:embed="rId5"/>
          <a:stretch>
            <a:fillRect/>
          </a:stretch>
        </p:blipFill>
        <p:spPr>
          <a:xfrm>
            <a:off x="952805" y="5021885"/>
            <a:ext cx="380390" cy="380390"/>
          </a:xfrm>
          <a:prstGeom prst="rect">
            <a:avLst/>
          </a:prstGeom>
        </p:spPr>
      </p:pic>
      <p:sp>
        <p:nvSpPr>
          <p:cNvPr id="26" name="Text 19"/>
          <p:cNvSpPr txBox="1"/>
          <p:nvPr/>
        </p:nvSpPr>
        <p:spPr>
          <a:xfrm>
            <a:off x="1691640" y="46908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Usuario = correo</a:t>
            </a:r>
            <a:endParaRPr lang="en-US" sz="1600" dirty="0"/>
          </a:p>
        </p:txBody>
      </p:sp>
      <p:sp>
        <p:nvSpPr>
          <p:cNvPr id="27" name="Text 20"/>
          <p:cNvSpPr txBox="1"/>
          <p:nvPr/>
        </p:nvSpPr>
        <p:spPr>
          <a:xfrm>
            <a:off x="1691640" y="5074920"/>
            <a:ext cx="4114800" cy="777240"/>
          </a:xfrm>
          <a:prstGeom prst="rect">
            <a:avLst/>
          </a:prstGeom>
          <a:noFill/>
          <a:ln/>
        </p:spPr>
        <p:txBody>
          <a:bodyPr wrap="square" lIns="0" tIns="0" rIns="0" bIns="0" rtlCol="0" anchor="t"/>
          <a:lstStyle/>
          <a:p>
            <a:pPr indent="0" marL="0">
              <a:buNone/>
            </a:pPr>
            <a:r>
              <a:rPr lang="en-US" sz="1300" dirty="0">
                <a:solidFill>
                  <a:schemeClr val="tx1"/>
                </a:solidFill>
              </a:rPr>
              <a:t>Único en la plataforma; la misma persona puede pertenecer a varias empresas. Sin confirmación por correo.</a:t>
            </a:r>
            <a:endParaRPr lang="en-US" sz="1300" dirty="0"/>
          </a:p>
        </p:txBody>
      </p:sp>
      <p:sp>
        <p:nvSpPr>
          <p:cNvPr id="28" name="La clave secreta nunca en el navegador"/>
          <p:cNvSpPr/>
          <p:nvPr/>
        </p:nvSpPr>
        <p:spPr>
          <a:xfrm>
            <a:off x="6172200" y="452628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La clave secreta nunca en el navegador círculo"/>
          <p:cNvSpPr/>
          <p:nvPr/>
        </p:nvSpPr>
        <p:spPr>
          <a:xfrm>
            <a:off x="6400800" y="4846320"/>
            <a:ext cx="731520" cy="731520"/>
          </a:xfrm>
          <a:prstGeom prst="ellipse">
            <a:avLst/>
          </a:prstGeom>
          <a:solidFill>
            <a:schemeClr val="accent3"/>
          </a:solidFill>
          <a:ln w="12700">
            <a:solidFill>
              <a:schemeClr val="accent3"/>
            </a:solidFill>
            <a:prstDash val="solid"/>
          </a:ln>
        </p:spPr>
      </p:sp>
      <p:pic>
        <p:nvPicPr>
          <p:cNvPr id="30" name="La clave secreta nunca en el navegador ícono" descr="La clave secreta nunca en el navegador">    </p:cNvPr>
          <p:cNvPicPr>
            <a:picLocks noChangeAspect="1"/>
          </p:cNvPicPr>
          <p:nvPr/>
        </p:nvPicPr>
        <p:blipFill>
          <a:blip r:embed="rId6"/>
          <a:stretch>
            <a:fillRect/>
          </a:stretch>
        </p:blipFill>
        <p:spPr>
          <a:xfrm>
            <a:off x="6576365" y="5021885"/>
            <a:ext cx="380390" cy="380390"/>
          </a:xfrm>
          <a:prstGeom prst="rect">
            <a:avLst/>
          </a:prstGeom>
        </p:spPr>
      </p:pic>
      <p:sp>
        <p:nvSpPr>
          <p:cNvPr id="31" name="Text 23"/>
          <p:cNvSpPr txBox="1"/>
          <p:nvPr/>
        </p:nvSpPr>
        <p:spPr>
          <a:xfrm>
            <a:off x="7315200" y="4690872"/>
            <a:ext cx="4114800" cy="384048"/>
          </a:xfrm>
          <a:prstGeom prst="rect">
            <a:avLst/>
          </a:prstGeom>
          <a:noFill/>
          <a:ln/>
        </p:spPr>
        <p:txBody>
          <a:bodyPr wrap="square" lIns="0" tIns="0" rIns="0" bIns="0" rtlCol="0" anchor="t"/>
          <a:lstStyle/>
          <a:p>
            <a:pPr indent="0" marL="0">
              <a:buNone/>
            </a:pPr>
            <a:r>
              <a:rPr lang="en-US" sz="1600" b="1" dirty="0">
                <a:solidFill>
                  <a:schemeClr val="tx2"/>
                </a:solidFill>
              </a:rPr>
              <a:t>La clave secreta nunca en el navegador</a:t>
            </a:r>
            <a:endParaRPr lang="en-US" sz="1600" dirty="0"/>
          </a:p>
        </p:txBody>
      </p:sp>
      <p:sp>
        <p:nvSpPr>
          <p:cNvPr id="32" name="Text 24"/>
          <p:cNvSpPr txBox="1"/>
          <p:nvPr/>
        </p:nvSpPr>
        <p:spPr>
          <a:xfrm>
            <a:off x="7315200" y="5074920"/>
            <a:ext cx="4114800" cy="777240"/>
          </a:xfrm>
          <a:prstGeom prst="rect">
            <a:avLst/>
          </a:prstGeom>
          <a:noFill/>
          <a:ln/>
        </p:spPr>
        <p:txBody>
          <a:bodyPr wrap="square" lIns="0" tIns="0" rIns="0" bIns="0" rtlCol="0" anchor="t"/>
          <a:lstStyle/>
          <a:p>
            <a:pPr indent="0" marL="0">
              <a:buNone/>
            </a:pPr>
            <a:r>
              <a:rPr lang="en-US" sz="1300" dirty="0">
                <a:solidFill>
                  <a:schemeClr val="tx1"/>
                </a:solidFill>
              </a:rPr>
              <a:t>Las altas y los restablecimientos pasan por una función del servidor, como admin-usuarios en LPS-GT.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Ciclo de vida de un usuario</a:t>
            </a:r>
            <a:endParaRPr lang="en-US" sz="3600" dirty="0"/>
          </a:p>
        </p:txBody>
      </p:sp>
      <p:sp>
        <p:nvSpPr>
          <p:cNvPr id="3" name="Creado o invitado círculo"/>
          <p:cNvSpPr/>
          <p:nvPr/>
        </p:nvSpPr>
        <p:spPr>
          <a:xfrm>
            <a:off x="1115568" y="1600200"/>
            <a:ext cx="914400" cy="914400"/>
          </a:xfrm>
          <a:prstGeom prst="ellipse">
            <a:avLst/>
          </a:prstGeom>
          <a:solidFill>
            <a:schemeClr val="accent3"/>
          </a:solidFill>
          <a:ln w="12700">
            <a:solidFill>
              <a:schemeClr val="accent3"/>
            </a:solidFill>
            <a:prstDash val="solid"/>
          </a:ln>
        </p:spPr>
      </p:sp>
      <p:pic>
        <p:nvPicPr>
          <p:cNvPr id="4" name="Creado o invitado ícono" descr="Creado o invitado">    </p:cNvPr>
          <p:cNvPicPr>
            <a:picLocks noChangeAspect="1"/>
          </p:cNvPicPr>
          <p:nvPr/>
        </p:nvPicPr>
        <p:blipFill>
          <a:blip r:embed="rId1"/>
          <a:stretch>
            <a:fillRect/>
          </a:stretch>
        </p:blipFill>
        <p:spPr>
          <a:xfrm>
            <a:off x="1335024" y="1819656"/>
            <a:ext cx="475488" cy="475488"/>
          </a:xfrm>
          <a:prstGeom prst="rect">
            <a:avLst/>
          </a:prstGeom>
        </p:spPr>
      </p:pic>
      <p:sp>
        <p:nvSpPr>
          <p:cNvPr id="5" name="flecha 1"/>
          <p:cNvSpPr/>
          <p:nvPr/>
        </p:nvSpPr>
        <p:spPr>
          <a:xfrm>
            <a:off x="2240280" y="1901952"/>
            <a:ext cx="457200" cy="310896"/>
          </a:xfrm>
          <a:prstGeom prst="rightArrow">
            <a:avLst/>
          </a:prstGeom>
          <a:solidFill>
            <a:srgbClr val="D5DCE5"/>
          </a:solidFill>
          <a:ln w="12700">
            <a:solidFill>
              <a:srgbClr val="D5DCE5"/>
            </a:solidFill>
            <a:prstDash val="solid"/>
          </a:ln>
        </p:spPr>
      </p:sp>
      <p:sp>
        <p:nvSpPr>
          <p:cNvPr id="6" name="Text 3"/>
          <p:cNvSpPr txBox="1"/>
          <p:nvPr/>
        </p:nvSpPr>
        <p:spPr>
          <a:xfrm>
            <a:off x="548640" y="2651760"/>
            <a:ext cx="2057400" cy="365760"/>
          </a:xfrm>
          <a:prstGeom prst="rect">
            <a:avLst/>
          </a:prstGeom>
          <a:noFill/>
          <a:ln/>
        </p:spPr>
        <p:txBody>
          <a:bodyPr wrap="square" lIns="0" tIns="0" rIns="0" bIns="0" rtlCol="0" anchor="t"/>
          <a:lstStyle/>
          <a:p>
            <a:pPr algn="ctr" indent="0" marL="0">
              <a:buNone/>
            </a:pPr>
            <a:r>
              <a:rPr lang="en-US" sz="1600" b="1" dirty="0">
                <a:solidFill>
                  <a:schemeClr val="tx2"/>
                </a:solidFill>
              </a:rPr>
              <a:t>Creado o invitado</a:t>
            </a:r>
            <a:endParaRPr lang="en-US" sz="1600" dirty="0"/>
          </a:p>
        </p:txBody>
      </p:sp>
      <p:sp>
        <p:nvSpPr>
          <p:cNvPr id="7" name="Text 4"/>
          <p:cNvSpPr txBox="1"/>
          <p:nvPr/>
        </p:nvSpPr>
        <p:spPr>
          <a:xfrm>
            <a:off x="548640" y="3017520"/>
            <a:ext cx="2057400" cy="640080"/>
          </a:xfrm>
          <a:prstGeom prst="rect">
            <a:avLst/>
          </a:prstGeom>
          <a:noFill/>
          <a:ln/>
        </p:spPr>
        <p:txBody>
          <a:bodyPr wrap="square" lIns="0" tIns="0" rIns="0" bIns="0" rtlCol="0" anchor="t"/>
          <a:lstStyle/>
          <a:p>
            <a:pPr algn="ctr" indent="0" marL="0">
              <a:buNone/>
            </a:pPr>
            <a:r>
              <a:rPr lang="en-US" sz="1300" dirty="0">
                <a:solidFill>
                  <a:schemeClr val="tx1"/>
                </a:solidFill>
              </a:rPr>
              <a:t>por un administrador</a:t>
            </a:r>
            <a:endParaRPr lang="en-US" sz="1300" dirty="0"/>
          </a:p>
        </p:txBody>
      </p:sp>
      <p:sp>
        <p:nvSpPr>
          <p:cNvPr id="8" name="Pendiente círculo"/>
          <p:cNvSpPr/>
          <p:nvPr/>
        </p:nvSpPr>
        <p:spPr>
          <a:xfrm>
            <a:off x="3383280" y="1600200"/>
            <a:ext cx="914400" cy="914400"/>
          </a:xfrm>
          <a:prstGeom prst="ellipse">
            <a:avLst/>
          </a:prstGeom>
          <a:solidFill>
            <a:schemeClr val="accent1"/>
          </a:solidFill>
          <a:ln w="12700">
            <a:solidFill>
              <a:schemeClr val="accent1"/>
            </a:solidFill>
            <a:prstDash val="solid"/>
          </a:ln>
        </p:spPr>
      </p:sp>
      <p:pic>
        <p:nvPicPr>
          <p:cNvPr id="9" name="Pendiente ícono" descr="Pendiente">    </p:cNvPr>
          <p:cNvPicPr>
            <a:picLocks noChangeAspect="1"/>
          </p:cNvPicPr>
          <p:nvPr/>
        </p:nvPicPr>
        <p:blipFill>
          <a:blip r:embed="rId2"/>
          <a:stretch>
            <a:fillRect/>
          </a:stretch>
        </p:blipFill>
        <p:spPr>
          <a:xfrm>
            <a:off x="3602736" y="1819656"/>
            <a:ext cx="475488" cy="475488"/>
          </a:xfrm>
          <a:prstGeom prst="rect">
            <a:avLst/>
          </a:prstGeom>
        </p:spPr>
      </p:pic>
      <p:sp>
        <p:nvSpPr>
          <p:cNvPr id="10" name="flecha 2"/>
          <p:cNvSpPr/>
          <p:nvPr/>
        </p:nvSpPr>
        <p:spPr>
          <a:xfrm>
            <a:off x="4507992" y="1901952"/>
            <a:ext cx="457200" cy="310896"/>
          </a:xfrm>
          <a:prstGeom prst="rightArrow">
            <a:avLst/>
          </a:prstGeom>
          <a:solidFill>
            <a:srgbClr val="D5DCE5"/>
          </a:solidFill>
          <a:ln w="12700">
            <a:solidFill>
              <a:srgbClr val="D5DCE5"/>
            </a:solidFill>
            <a:prstDash val="solid"/>
          </a:ln>
        </p:spPr>
      </p:sp>
      <p:sp>
        <p:nvSpPr>
          <p:cNvPr id="11" name="Text 7"/>
          <p:cNvSpPr txBox="1"/>
          <p:nvPr/>
        </p:nvSpPr>
        <p:spPr>
          <a:xfrm>
            <a:off x="2816352" y="2651760"/>
            <a:ext cx="2057400" cy="365760"/>
          </a:xfrm>
          <a:prstGeom prst="rect">
            <a:avLst/>
          </a:prstGeom>
          <a:noFill/>
          <a:ln/>
        </p:spPr>
        <p:txBody>
          <a:bodyPr wrap="square" lIns="0" tIns="0" rIns="0" bIns="0" rtlCol="0" anchor="t"/>
          <a:lstStyle/>
          <a:p>
            <a:pPr algn="ctr" indent="0" marL="0">
              <a:buNone/>
            </a:pPr>
            <a:r>
              <a:rPr lang="en-US" sz="1600" b="1" dirty="0">
                <a:solidFill>
                  <a:schemeClr val="tx2"/>
                </a:solidFill>
              </a:rPr>
              <a:t>Pendiente</a:t>
            </a:r>
            <a:endParaRPr lang="en-US" sz="1600" dirty="0"/>
          </a:p>
        </p:txBody>
      </p:sp>
      <p:sp>
        <p:nvSpPr>
          <p:cNvPr id="12" name="Text 8"/>
          <p:cNvSpPr txBox="1"/>
          <p:nvPr/>
        </p:nvSpPr>
        <p:spPr>
          <a:xfrm>
            <a:off x="2816352" y="3017520"/>
            <a:ext cx="2057400" cy="640080"/>
          </a:xfrm>
          <a:prstGeom prst="rect">
            <a:avLst/>
          </a:prstGeom>
          <a:noFill/>
          <a:ln/>
        </p:spPr>
        <p:txBody>
          <a:bodyPr wrap="square" lIns="0" tIns="0" rIns="0" bIns="0" rtlCol="0" anchor="t"/>
          <a:lstStyle/>
          <a:p>
            <a:pPr algn="ctr" indent="0" marL="0">
              <a:buNone/>
            </a:pPr>
            <a:r>
              <a:rPr lang="en-US" sz="1300" dirty="0">
                <a:solidFill>
                  <a:schemeClr val="tx1"/>
                </a:solidFill>
              </a:rPr>
              <a:t>sin grupo ni área todavía</a:t>
            </a:r>
            <a:endParaRPr lang="en-US" sz="1300" dirty="0"/>
          </a:p>
        </p:txBody>
      </p:sp>
      <p:sp>
        <p:nvSpPr>
          <p:cNvPr id="13" name="Activo círculo"/>
          <p:cNvSpPr/>
          <p:nvPr/>
        </p:nvSpPr>
        <p:spPr>
          <a:xfrm>
            <a:off x="5650992" y="1600200"/>
            <a:ext cx="914400" cy="914400"/>
          </a:xfrm>
          <a:prstGeom prst="ellipse">
            <a:avLst/>
          </a:prstGeom>
          <a:solidFill>
            <a:schemeClr val="accent2"/>
          </a:solidFill>
          <a:ln w="12700">
            <a:solidFill>
              <a:schemeClr val="accent2"/>
            </a:solidFill>
            <a:prstDash val="solid"/>
          </a:ln>
        </p:spPr>
      </p:sp>
      <p:pic>
        <p:nvPicPr>
          <p:cNvPr id="14" name="Activo ícono" descr="Activo">    </p:cNvPr>
          <p:cNvPicPr>
            <a:picLocks noChangeAspect="1"/>
          </p:cNvPicPr>
          <p:nvPr/>
        </p:nvPicPr>
        <p:blipFill>
          <a:blip r:embed="rId3"/>
          <a:stretch>
            <a:fillRect/>
          </a:stretch>
        </p:blipFill>
        <p:spPr>
          <a:xfrm>
            <a:off x="5870448" y="1819656"/>
            <a:ext cx="475488" cy="475488"/>
          </a:xfrm>
          <a:prstGeom prst="rect">
            <a:avLst/>
          </a:prstGeom>
        </p:spPr>
      </p:pic>
      <p:sp>
        <p:nvSpPr>
          <p:cNvPr id="15" name="flecha 3"/>
          <p:cNvSpPr/>
          <p:nvPr/>
        </p:nvSpPr>
        <p:spPr>
          <a:xfrm>
            <a:off x="6775704" y="1901952"/>
            <a:ext cx="457200" cy="310896"/>
          </a:xfrm>
          <a:prstGeom prst="rightArrow">
            <a:avLst/>
          </a:prstGeom>
          <a:solidFill>
            <a:srgbClr val="D5DCE5"/>
          </a:solidFill>
          <a:ln w="12700">
            <a:solidFill>
              <a:srgbClr val="D5DCE5"/>
            </a:solidFill>
            <a:prstDash val="solid"/>
          </a:ln>
        </p:spPr>
      </p:sp>
      <p:sp>
        <p:nvSpPr>
          <p:cNvPr id="16" name="Text 11"/>
          <p:cNvSpPr txBox="1"/>
          <p:nvPr/>
        </p:nvSpPr>
        <p:spPr>
          <a:xfrm>
            <a:off x="5084064" y="2651760"/>
            <a:ext cx="2057400" cy="365760"/>
          </a:xfrm>
          <a:prstGeom prst="rect">
            <a:avLst/>
          </a:prstGeom>
          <a:noFill/>
          <a:ln/>
        </p:spPr>
        <p:txBody>
          <a:bodyPr wrap="square" lIns="0" tIns="0" rIns="0" bIns="0" rtlCol="0" anchor="t"/>
          <a:lstStyle/>
          <a:p>
            <a:pPr algn="ctr" indent="0" marL="0">
              <a:buNone/>
            </a:pPr>
            <a:r>
              <a:rPr lang="en-US" sz="1600" b="1" dirty="0">
                <a:solidFill>
                  <a:schemeClr val="tx2"/>
                </a:solidFill>
              </a:rPr>
              <a:t>Activo</a:t>
            </a:r>
            <a:endParaRPr lang="en-US" sz="1600" dirty="0"/>
          </a:p>
        </p:txBody>
      </p:sp>
      <p:sp>
        <p:nvSpPr>
          <p:cNvPr id="17" name="Text 12"/>
          <p:cNvSpPr txBox="1"/>
          <p:nvPr/>
        </p:nvSpPr>
        <p:spPr>
          <a:xfrm>
            <a:off x="5084064" y="3017520"/>
            <a:ext cx="2057400" cy="640080"/>
          </a:xfrm>
          <a:prstGeom prst="rect">
            <a:avLst/>
          </a:prstGeom>
          <a:noFill/>
          <a:ln/>
        </p:spPr>
        <p:txBody>
          <a:bodyPr wrap="square" lIns="0" tIns="0" rIns="0" bIns="0" rtlCol="0" anchor="t"/>
          <a:lstStyle/>
          <a:p>
            <a:pPr algn="ctr" indent="0" marL="0">
              <a:buNone/>
            </a:pPr>
            <a:r>
              <a:rPr lang="en-US" sz="1300" dirty="0">
                <a:solidFill>
                  <a:schemeClr val="tx1"/>
                </a:solidFill>
              </a:rPr>
              <a:t>trabaja según su área en cada grupo</a:t>
            </a:r>
            <a:endParaRPr lang="en-US" sz="1300" dirty="0"/>
          </a:p>
        </p:txBody>
      </p:sp>
      <p:sp>
        <p:nvSpPr>
          <p:cNvPr id="18" name="Desactivado círculo"/>
          <p:cNvSpPr/>
          <p:nvPr/>
        </p:nvSpPr>
        <p:spPr>
          <a:xfrm>
            <a:off x="7918704" y="1600200"/>
            <a:ext cx="914400" cy="914400"/>
          </a:xfrm>
          <a:prstGeom prst="ellipse">
            <a:avLst/>
          </a:prstGeom>
          <a:solidFill>
            <a:schemeClr val="accent5"/>
          </a:solidFill>
          <a:ln w="12700">
            <a:solidFill>
              <a:schemeClr val="accent5"/>
            </a:solidFill>
            <a:prstDash val="solid"/>
          </a:ln>
        </p:spPr>
      </p:sp>
      <p:pic>
        <p:nvPicPr>
          <p:cNvPr id="19" name="Desactivado ícono" descr="Desactivado">    </p:cNvPr>
          <p:cNvPicPr>
            <a:picLocks noChangeAspect="1"/>
          </p:cNvPicPr>
          <p:nvPr/>
        </p:nvPicPr>
        <p:blipFill>
          <a:blip r:embed="rId4"/>
          <a:stretch>
            <a:fillRect/>
          </a:stretch>
        </p:blipFill>
        <p:spPr>
          <a:xfrm>
            <a:off x="8138160" y="1819656"/>
            <a:ext cx="475488" cy="475488"/>
          </a:xfrm>
          <a:prstGeom prst="rect">
            <a:avLst/>
          </a:prstGeom>
        </p:spPr>
      </p:pic>
      <p:sp>
        <p:nvSpPr>
          <p:cNvPr id="20" name="flecha 4"/>
          <p:cNvSpPr/>
          <p:nvPr/>
        </p:nvSpPr>
        <p:spPr>
          <a:xfrm>
            <a:off x="9043416" y="1901952"/>
            <a:ext cx="457200" cy="310896"/>
          </a:xfrm>
          <a:prstGeom prst="rightArrow">
            <a:avLst/>
          </a:prstGeom>
          <a:solidFill>
            <a:srgbClr val="D5DCE5"/>
          </a:solidFill>
          <a:ln w="12700">
            <a:solidFill>
              <a:srgbClr val="D5DCE5"/>
            </a:solidFill>
            <a:prstDash val="solid"/>
          </a:ln>
        </p:spPr>
      </p:sp>
      <p:sp>
        <p:nvSpPr>
          <p:cNvPr id="21" name="Text 15"/>
          <p:cNvSpPr txBox="1"/>
          <p:nvPr/>
        </p:nvSpPr>
        <p:spPr>
          <a:xfrm>
            <a:off x="7351776" y="2651760"/>
            <a:ext cx="2057400" cy="365760"/>
          </a:xfrm>
          <a:prstGeom prst="rect">
            <a:avLst/>
          </a:prstGeom>
          <a:noFill/>
          <a:ln/>
        </p:spPr>
        <p:txBody>
          <a:bodyPr wrap="square" lIns="0" tIns="0" rIns="0" bIns="0" rtlCol="0" anchor="t"/>
          <a:lstStyle/>
          <a:p>
            <a:pPr algn="ctr" indent="0" marL="0">
              <a:buNone/>
            </a:pPr>
            <a:r>
              <a:rPr lang="en-US" sz="1600" b="1" dirty="0">
                <a:solidFill>
                  <a:schemeClr val="tx2"/>
                </a:solidFill>
              </a:rPr>
              <a:t>Desactivado</a:t>
            </a:r>
            <a:endParaRPr lang="en-US" sz="1600" dirty="0"/>
          </a:p>
        </p:txBody>
      </p:sp>
      <p:sp>
        <p:nvSpPr>
          <p:cNvPr id="22" name="Text 16"/>
          <p:cNvSpPr txBox="1"/>
          <p:nvPr/>
        </p:nvSpPr>
        <p:spPr>
          <a:xfrm>
            <a:off x="7351776" y="3017520"/>
            <a:ext cx="2057400" cy="640080"/>
          </a:xfrm>
          <a:prstGeom prst="rect">
            <a:avLst/>
          </a:prstGeom>
          <a:noFill/>
          <a:ln/>
        </p:spPr>
        <p:txBody>
          <a:bodyPr wrap="square" lIns="0" tIns="0" rIns="0" bIns="0" rtlCol="0" anchor="t"/>
          <a:lstStyle/>
          <a:p>
            <a:pPr algn="ctr" indent="0" marL="0">
              <a:buNone/>
            </a:pPr>
            <a:r>
              <a:rPr lang="en-US" sz="1300" dirty="0">
                <a:solidFill>
                  <a:schemeClr val="tx1"/>
                </a:solidFill>
              </a:rPr>
              <a:t>sin acceso; conserva su historial</a:t>
            </a:r>
            <a:endParaRPr lang="en-US" sz="1300" dirty="0"/>
          </a:p>
        </p:txBody>
      </p:sp>
      <p:sp>
        <p:nvSpPr>
          <p:cNvPr id="23" name="Eliminado círculo"/>
          <p:cNvSpPr/>
          <p:nvPr/>
        </p:nvSpPr>
        <p:spPr>
          <a:xfrm>
            <a:off x="10186416" y="1600200"/>
            <a:ext cx="914400" cy="914400"/>
          </a:xfrm>
          <a:prstGeom prst="ellipse">
            <a:avLst/>
          </a:prstGeom>
          <a:solidFill>
            <a:schemeClr val="accent4"/>
          </a:solidFill>
          <a:ln w="12700">
            <a:solidFill>
              <a:schemeClr val="accent4"/>
            </a:solidFill>
            <a:prstDash val="solid"/>
          </a:ln>
        </p:spPr>
      </p:sp>
      <p:pic>
        <p:nvPicPr>
          <p:cNvPr id="24" name="Eliminado ícono" descr="Eliminado">    </p:cNvPr>
          <p:cNvPicPr>
            <a:picLocks noChangeAspect="1"/>
          </p:cNvPicPr>
          <p:nvPr/>
        </p:nvPicPr>
        <p:blipFill>
          <a:blip r:embed="rId5"/>
          <a:stretch>
            <a:fillRect/>
          </a:stretch>
        </p:blipFill>
        <p:spPr>
          <a:xfrm>
            <a:off x="10405872" y="1819656"/>
            <a:ext cx="475488" cy="475488"/>
          </a:xfrm>
          <a:prstGeom prst="rect">
            <a:avLst/>
          </a:prstGeom>
        </p:spPr>
      </p:pic>
      <p:sp>
        <p:nvSpPr>
          <p:cNvPr id="25" name="Text 18"/>
          <p:cNvSpPr txBox="1"/>
          <p:nvPr/>
        </p:nvSpPr>
        <p:spPr>
          <a:xfrm>
            <a:off x="9619488" y="2651760"/>
            <a:ext cx="2057400" cy="365760"/>
          </a:xfrm>
          <a:prstGeom prst="rect">
            <a:avLst/>
          </a:prstGeom>
          <a:noFill/>
          <a:ln/>
        </p:spPr>
        <p:txBody>
          <a:bodyPr wrap="square" lIns="0" tIns="0" rIns="0" bIns="0" rtlCol="0" anchor="t"/>
          <a:lstStyle/>
          <a:p>
            <a:pPr algn="ctr" indent="0" marL="0">
              <a:buNone/>
            </a:pPr>
            <a:r>
              <a:rPr lang="en-US" sz="1600" b="1" dirty="0">
                <a:solidFill>
                  <a:schemeClr val="tx2"/>
                </a:solidFill>
              </a:rPr>
              <a:t>Eliminado</a:t>
            </a:r>
            <a:endParaRPr lang="en-US" sz="1600" dirty="0"/>
          </a:p>
        </p:txBody>
      </p:sp>
      <p:sp>
        <p:nvSpPr>
          <p:cNvPr id="26" name="Text 19"/>
          <p:cNvSpPr txBox="1"/>
          <p:nvPr/>
        </p:nvSpPr>
        <p:spPr>
          <a:xfrm>
            <a:off x="9619488" y="3017520"/>
            <a:ext cx="2057400" cy="640080"/>
          </a:xfrm>
          <a:prstGeom prst="rect">
            <a:avLst/>
          </a:prstGeom>
          <a:noFill/>
          <a:ln/>
        </p:spPr>
        <p:txBody>
          <a:bodyPr wrap="square" lIns="0" tIns="0" rIns="0" bIns="0" rtlCol="0" anchor="t"/>
          <a:lstStyle/>
          <a:p>
            <a:pPr algn="ctr" indent="0" marL="0">
              <a:buNone/>
            </a:pPr>
            <a:r>
              <a:rPr lang="en-US" sz="1300" dirty="0">
                <a:solidFill>
                  <a:schemeClr val="tx1"/>
                </a:solidFill>
              </a:rPr>
              <a:t>solo si no registró nada</a:t>
            </a:r>
            <a:endParaRPr lang="en-US" sz="1300" dirty="0"/>
          </a:p>
        </p:txBody>
      </p:sp>
      <p:sp>
        <p:nvSpPr>
          <p:cNvPr id="27" name="Desactivar"/>
          <p:cNvSpPr/>
          <p:nvPr/>
        </p:nvSpPr>
        <p:spPr>
          <a:xfrm>
            <a:off x="548640" y="4023360"/>
            <a:ext cx="54406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Text 21"/>
          <p:cNvSpPr txBox="1"/>
          <p:nvPr/>
        </p:nvSpPr>
        <p:spPr>
          <a:xfrm>
            <a:off x="822960" y="4206240"/>
            <a:ext cx="4937760" cy="1143000"/>
          </a:xfrm>
          <a:prstGeom prst="rect">
            <a:avLst/>
          </a:prstGeom>
          <a:noFill/>
          <a:ln/>
        </p:spPr>
        <p:txBody>
          <a:bodyPr wrap="square" lIns="0" tIns="0" rIns="0" bIns="0" rtlCol="0" anchor="t"/>
          <a:lstStyle/>
          <a:p>
            <a:pPr indent="0" marL="0">
              <a:buNone/>
            </a:pPr>
            <a:r>
              <a:rPr lang="en-US" sz="1600" b="1" dirty="0">
                <a:solidFill>
                  <a:schemeClr val="tx2"/>
                </a:solidFill>
              </a:rPr>
              <a:t>Desactivar (lo normal)</a:t>
            </a:r>
            <a:endParaRPr lang="en-US" sz="1400" dirty="0"/>
          </a:p>
          <a:p>
            <a:pPr indent="0" marL="0">
              <a:buNone/>
            </a:pPr>
            <a:r>
              <a:rPr lang="en-US" sz="1400" dirty="0">
                <a:solidFill>
                  <a:schemeClr val="tx1"/>
                </a:solidFill>
              </a:rPr>
              <a:t>Para ausencias o salidas. Se puede reactivar. Su nombre sigue en actividades, cierres y reportes pasados.</a:t>
            </a:r>
            <a:endParaRPr lang="en-US" sz="1400" dirty="0"/>
          </a:p>
        </p:txBody>
      </p:sp>
      <p:sp>
        <p:nvSpPr>
          <p:cNvPr id="29" name="Eliminar"/>
          <p:cNvSpPr/>
          <p:nvPr/>
        </p:nvSpPr>
        <p:spPr>
          <a:xfrm>
            <a:off x="6172200" y="4023360"/>
            <a:ext cx="5440680" cy="1463040"/>
          </a:xfrm>
          <a:prstGeom prst="roundRect">
            <a:avLst>
              <a:gd name="adj" fmla="val 7500"/>
            </a:avLst>
          </a:prstGeom>
          <a:solidFill>
            <a:srgbClr val="FBEAE6"/>
          </a:solidFill>
          <a:ln w="12700">
            <a:solidFill>
              <a:srgbClr val="FBEAE6"/>
            </a:solidFill>
            <a:prstDash val="solid"/>
          </a:ln>
          <a:effectLst>
            <a:outerShdw sx="100000" sy="100000" kx="0" ky="0" algn="bl" rotWithShape="0" blurRad="76200" dist="25400" dir="5400000">
              <a:srgbClr val="000000">
                <a:alpha val="12000"/>
              </a:srgbClr>
            </a:outerShdw>
          </a:effectLst>
        </p:spPr>
      </p:sp>
      <p:sp>
        <p:nvSpPr>
          <p:cNvPr id="30" name="Text 23"/>
          <p:cNvSpPr txBox="1"/>
          <p:nvPr/>
        </p:nvSpPr>
        <p:spPr>
          <a:xfrm>
            <a:off x="6446520" y="4206240"/>
            <a:ext cx="4937760" cy="1143000"/>
          </a:xfrm>
          <a:prstGeom prst="rect">
            <a:avLst/>
          </a:prstGeom>
          <a:noFill/>
          <a:ln/>
        </p:spPr>
        <p:txBody>
          <a:bodyPr wrap="square" lIns="0" tIns="0" rIns="0" bIns="0" rtlCol="0" anchor="t"/>
          <a:lstStyle/>
          <a:p>
            <a:pPr indent="0" marL="0">
              <a:buNone/>
            </a:pPr>
            <a:r>
              <a:rPr lang="en-US" sz="1600" b="1" dirty="0">
                <a:solidFill>
                  <a:schemeClr val="accent4"/>
                </a:solidFill>
              </a:rPr>
              <a:t>Eliminar (excepcional)</a:t>
            </a:r>
            <a:endParaRPr lang="en-US" sz="1400" dirty="0"/>
          </a:p>
          <a:p>
            <a:pPr indent="0" marL="0">
              <a:buNone/>
            </a:pPr>
            <a:r>
              <a:rPr lang="en-US" sz="1400" dirty="0">
                <a:solidFill>
                  <a:schemeClr val="tx1"/>
                </a:solidFill>
              </a:rPr>
              <a:t>Solo el Super administrador. Si tiene historial, pierde el acceso para siempre pero su nombre se conserva; su correo queda libre.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El espacio "Configuración"</a:t>
            </a:r>
            <a:endParaRPr lang="en-US" sz="3600" dirty="0"/>
          </a:p>
        </p:txBody>
      </p:sp>
      <p:sp>
        <p:nvSpPr>
          <p:cNvPr id="3" name="Menú configuración"/>
          <p:cNvSpPr/>
          <p:nvPr/>
        </p:nvSpPr>
        <p:spPr>
          <a:xfrm>
            <a:off x="548640" y="1325880"/>
            <a:ext cx="3017520" cy="4846320"/>
          </a:xfrm>
          <a:prstGeom prst="roundRect">
            <a:avLst>
              <a:gd name="adj" fmla="val 3636"/>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pic>
        <p:nvPicPr>
          <p:cNvPr id="4" name="Image 0" descr="Empresa">    </p:cNvPr>
          <p:cNvPicPr>
            <a:picLocks noChangeAspect="1"/>
          </p:cNvPicPr>
          <p:nvPr/>
        </p:nvPicPr>
        <p:blipFill>
          <a:blip r:embed="rId1"/>
          <a:stretch>
            <a:fillRect/>
          </a:stretch>
        </p:blipFill>
        <p:spPr>
          <a:xfrm>
            <a:off x="914400" y="1572768"/>
            <a:ext cx="274320" cy="274320"/>
          </a:xfrm>
          <a:prstGeom prst="rect">
            <a:avLst/>
          </a:prstGeom>
        </p:spPr>
      </p:pic>
      <p:sp>
        <p:nvSpPr>
          <p:cNvPr id="5" name="Text 2"/>
          <p:cNvSpPr txBox="1"/>
          <p:nvPr/>
        </p:nvSpPr>
        <p:spPr>
          <a:xfrm>
            <a:off x="1325880" y="1508760"/>
            <a:ext cx="2103120" cy="411480"/>
          </a:xfrm>
          <a:prstGeom prst="rect">
            <a:avLst/>
          </a:prstGeom>
          <a:noFill/>
          <a:ln/>
        </p:spPr>
        <p:txBody>
          <a:bodyPr wrap="square" lIns="0" tIns="0" rIns="0" bIns="0" rtlCol="0" anchor="ctr"/>
          <a:lstStyle/>
          <a:p>
            <a:pPr indent="0" marL="0">
              <a:buNone/>
            </a:pPr>
            <a:r>
              <a:rPr lang="en-US" sz="1400" dirty="0">
                <a:solidFill>
                  <a:schemeClr val="bg1"/>
                </a:solidFill>
              </a:rPr>
              <a:t>Empresa</a:t>
            </a:r>
            <a:endParaRPr lang="en-US" sz="1400" dirty="0"/>
          </a:p>
        </p:txBody>
      </p:sp>
      <p:pic>
        <p:nvPicPr>
          <p:cNvPr id="6" name="Image 1" descr="Grupos">    </p:cNvPr>
          <p:cNvPicPr>
            <a:picLocks noChangeAspect="1"/>
          </p:cNvPicPr>
          <p:nvPr/>
        </p:nvPicPr>
        <p:blipFill>
          <a:blip r:embed="rId2"/>
          <a:stretch>
            <a:fillRect/>
          </a:stretch>
        </p:blipFill>
        <p:spPr>
          <a:xfrm>
            <a:off x="914400" y="2139696"/>
            <a:ext cx="274320" cy="274320"/>
          </a:xfrm>
          <a:prstGeom prst="rect">
            <a:avLst/>
          </a:prstGeom>
        </p:spPr>
      </p:pic>
      <p:sp>
        <p:nvSpPr>
          <p:cNvPr id="7" name="Text 3"/>
          <p:cNvSpPr txBox="1"/>
          <p:nvPr/>
        </p:nvSpPr>
        <p:spPr>
          <a:xfrm>
            <a:off x="1325880" y="2075688"/>
            <a:ext cx="2103120" cy="411480"/>
          </a:xfrm>
          <a:prstGeom prst="rect">
            <a:avLst/>
          </a:prstGeom>
          <a:noFill/>
          <a:ln/>
        </p:spPr>
        <p:txBody>
          <a:bodyPr wrap="square" lIns="0" tIns="0" rIns="0" bIns="0" rtlCol="0" anchor="ctr"/>
          <a:lstStyle/>
          <a:p>
            <a:pPr indent="0" marL="0">
              <a:buNone/>
            </a:pPr>
            <a:r>
              <a:rPr lang="en-US" sz="1400" dirty="0">
                <a:solidFill>
                  <a:schemeClr val="bg1"/>
                </a:solidFill>
              </a:rPr>
              <a:t>Grupos</a:t>
            </a:r>
            <a:endParaRPr lang="en-US" sz="1400" dirty="0"/>
          </a:p>
        </p:txBody>
      </p:sp>
      <p:sp>
        <p:nvSpPr>
          <p:cNvPr id="8" name="opción activa"/>
          <p:cNvSpPr/>
          <p:nvPr/>
        </p:nvSpPr>
        <p:spPr>
          <a:xfrm>
            <a:off x="731520" y="2569464"/>
            <a:ext cx="2651760" cy="548640"/>
          </a:xfrm>
          <a:prstGeom prst="roundRect">
            <a:avLst>
              <a:gd name="adj" fmla="val 13333"/>
            </a:avLst>
          </a:prstGeom>
          <a:solidFill>
            <a:schemeClr val="accent1"/>
          </a:solidFill>
          <a:ln w="12700">
            <a:solidFill>
              <a:schemeClr val="accent1"/>
            </a:solidFill>
            <a:prstDash val="solid"/>
          </a:ln>
        </p:spPr>
      </p:sp>
      <p:pic>
        <p:nvPicPr>
          <p:cNvPr id="9" name="Image 2" descr="Usuarios y roles">    </p:cNvPr>
          <p:cNvPicPr>
            <a:picLocks noChangeAspect="1"/>
          </p:cNvPicPr>
          <p:nvPr/>
        </p:nvPicPr>
        <p:blipFill>
          <a:blip r:embed="rId3"/>
          <a:stretch>
            <a:fillRect/>
          </a:stretch>
        </p:blipFill>
        <p:spPr>
          <a:xfrm>
            <a:off x="914400" y="2706624"/>
            <a:ext cx="274320" cy="274320"/>
          </a:xfrm>
          <a:prstGeom prst="rect">
            <a:avLst/>
          </a:prstGeom>
        </p:spPr>
      </p:pic>
      <p:sp>
        <p:nvSpPr>
          <p:cNvPr id="10" name="Text 5"/>
          <p:cNvSpPr txBox="1"/>
          <p:nvPr/>
        </p:nvSpPr>
        <p:spPr>
          <a:xfrm>
            <a:off x="1325880" y="2642616"/>
            <a:ext cx="2103120" cy="411480"/>
          </a:xfrm>
          <a:prstGeom prst="rect">
            <a:avLst/>
          </a:prstGeom>
          <a:noFill/>
          <a:ln/>
        </p:spPr>
        <p:txBody>
          <a:bodyPr wrap="square" lIns="0" tIns="0" rIns="0" bIns="0" rtlCol="0" anchor="ctr"/>
          <a:lstStyle/>
          <a:p>
            <a:pPr indent="0" marL="0">
              <a:buNone/>
            </a:pPr>
            <a:r>
              <a:rPr lang="en-US" sz="1400" b="1" dirty="0">
                <a:solidFill>
                  <a:schemeClr val="tx2"/>
                </a:solidFill>
              </a:rPr>
              <a:t>Usuarios y roles</a:t>
            </a:r>
            <a:endParaRPr lang="en-US" sz="1400" dirty="0"/>
          </a:p>
        </p:txBody>
      </p:sp>
      <p:pic>
        <p:nvPicPr>
          <p:cNvPr id="11" name="Image 3" descr="Áreas y permisos">    </p:cNvPr>
          <p:cNvPicPr>
            <a:picLocks noChangeAspect="1"/>
          </p:cNvPicPr>
          <p:nvPr/>
        </p:nvPicPr>
        <p:blipFill>
          <a:blip r:embed="rId4"/>
          <a:stretch>
            <a:fillRect/>
          </a:stretch>
        </p:blipFill>
        <p:spPr>
          <a:xfrm>
            <a:off x="914400" y="3273552"/>
            <a:ext cx="274320" cy="274320"/>
          </a:xfrm>
          <a:prstGeom prst="rect">
            <a:avLst/>
          </a:prstGeom>
        </p:spPr>
      </p:pic>
      <p:sp>
        <p:nvSpPr>
          <p:cNvPr id="12" name="Text 6"/>
          <p:cNvSpPr txBox="1"/>
          <p:nvPr/>
        </p:nvSpPr>
        <p:spPr>
          <a:xfrm>
            <a:off x="1325880" y="3209544"/>
            <a:ext cx="2103120" cy="411480"/>
          </a:xfrm>
          <a:prstGeom prst="rect">
            <a:avLst/>
          </a:prstGeom>
          <a:noFill/>
          <a:ln/>
        </p:spPr>
        <p:txBody>
          <a:bodyPr wrap="square" lIns="0" tIns="0" rIns="0" bIns="0" rtlCol="0" anchor="ctr"/>
          <a:lstStyle/>
          <a:p>
            <a:pPr indent="0" marL="0">
              <a:buNone/>
            </a:pPr>
            <a:r>
              <a:rPr lang="en-US" sz="1400" dirty="0">
                <a:solidFill>
                  <a:schemeClr val="bg1"/>
                </a:solidFill>
              </a:rPr>
              <a:t>Áreas y permisos</a:t>
            </a:r>
            <a:endParaRPr lang="en-US" sz="1400" dirty="0"/>
          </a:p>
        </p:txBody>
      </p:sp>
      <p:pic>
        <p:nvPicPr>
          <p:cNvPr id="13" name="Image 4" descr="Listas (cargos, áreas)">    </p:cNvPr>
          <p:cNvPicPr>
            <a:picLocks noChangeAspect="1"/>
          </p:cNvPicPr>
          <p:nvPr/>
        </p:nvPicPr>
        <p:blipFill>
          <a:blip r:embed="rId5"/>
          <a:stretch>
            <a:fillRect/>
          </a:stretch>
        </p:blipFill>
        <p:spPr>
          <a:xfrm>
            <a:off x="914400" y="3840480"/>
            <a:ext cx="274320" cy="274320"/>
          </a:xfrm>
          <a:prstGeom prst="rect">
            <a:avLst/>
          </a:prstGeom>
        </p:spPr>
      </p:pic>
      <p:sp>
        <p:nvSpPr>
          <p:cNvPr id="14" name="Text 7"/>
          <p:cNvSpPr txBox="1"/>
          <p:nvPr/>
        </p:nvSpPr>
        <p:spPr>
          <a:xfrm>
            <a:off x="1325880" y="3776472"/>
            <a:ext cx="2103120" cy="411480"/>
          </a:xfrm>
          <a:prstGeom prst="rect">
            <a:avLst/>
          </a:prstGeom>
          <a:noFill/>
          <a:ln/>
        </p:spPr>
        <p:txBody>
          <a:bodyPr wrap="square" lIns="0" tIns="0" rIns="0" bIns="0" rtlCol="0" anchor="ctr"/>
          <a:lstStyle/>
          <a:p>
            <a:pPr indent="0" marL="0">
              <a:buNone/>
            </a:pPr>
            <a:r>
              <a:rPr lang="en-US" sz="1400" dirty="0">
                <a:solidFill>
                  <a:schemeClr val="bg1"/>
                </a:solidFill>
              </a:rPr>
              <a:t>Listas (cargos, áreas)</a:t>
            </a:r>
            <a:endParaRPr lang="en-US" sz="1400" dirty="0"/>
          </a:p>
        </p:txBody>
      </p:sp>
      <p:pic>
        <p:nvPicPr>
          <p:cNvPr id="15" name="Image 5" descr="Seguridad">    </p:cNvPr>
          <p:cNvPicPr>
            <a:picLocks noChangeAspect="1"/>
          </p:cNvPicPr>
          <p:nvPr/>
        </p:nvPicPr>
        <p:blipFill>
          <a:blip r:embed="rId6"/>
          <a:stretch>
            <a:fillRect/>
          </a:stretch>
        </p:blipFill>
        <p:spPr>
          <a:xfrm>
            <a:off x="914400" y="4407408"/>
            <a:ext cx="274320" cy="274320"/>
          </a:xfrm>
          <a:prstGeom prst="rect">
            <a:avLst/>
          </a:prstGeom>
        </p:spPr>
      </p:pic>
      <p:sp>
        <p:nvSpPr>
          <p:cNvPr id="16" name="Text 8"/>
          <p:cNvSpPr txBox="1"/>
          <p:nvPr/>
        </p:nvSpPr>
        <p:spPr>
          <a:xfrm>
            <a:off x="1325880" y="4343400"/>
            <a:ext cx="2103120" cy="411480"/>
          </a:xfrm>
          <a:prstGeom prst="rect">
            <a:avLst/>
          </a:prstGeom>
          <a:noFill/>
          <a:ln/>
        </p:spPr>
        <p:txBody>
          <a:bodyPr wrap="square" lIns="0" tIns="0" rIns="0" bIns="0" rtlCol="0" anchor="ctr"/>
          <a:lstStyle/>
          <a:p>
            <a:pPr indent="0" marL="0">
              <a:buNone/>
            </a:pPr>
            <a:r>
              <a:rPr lang="en-US" sz="1400" dirty="0">
                <a:solidFill>
                  <a:schemeClr val="bg1"/>
                </a:solidFill>
              </a:rPr>
              <a:t>Seguridad</a:t>
            </a:r>
            <a:endParaRPr lang="en-US" sz="1400" dirty="0"/>
          </a:p>
        </p:txBody>
      </p:sp>
      <p:pic>
        <p:nvPicPr>
          <p:cNvPr id="17" name="Image 6" descr="Auditoría">    </p:cNvPr>
          <p:cNvPicPr>
            <a:picLocks noChangeAspect="1"/>
          </p:cNvPicPr>
          <p:nvPr/>
        </p:nvPicPr>
        <p:blipFill>
          <a:blip r:embed="rId7"/>
          <a:stretch>
            <a:fillRect/>
          </a:stretch>
        </p:blipFill>
        <p:spPr>
          <a:xfrm>
            <a:off x="914400" y="4974336"/>
            <a:ext cx="274320" cy="274320"/>
          </a:xfrm>
          <a:prstGeom prst="rect">
            <a:avLst/>
          </a:prstGeom>
        </p:spPr>
      </p:pic>
      <p:sp>
        <p:nvSpPr>
          <p:cNvPr id="18" name="Text 9"/>
          <p:cNvSpPr txBox="1"/>
          <p:nvPr/>
        </p:nvSpPr>
        <p:spPr>
          <a:xfrm>
            <a:off x="1325880" y="4910328"/>
            <a:ext cx="2103120" cy="411480"/>
          </a:xfrm>
          <a:prstGeom prst="rect">
            <a:avLst/>
          </a:prstGeom>
          <a:noFill/>
          <a:ln/>
        </p:spPr>
        <p:txBody>
          <a:bodyPr wrap="square" lIns="0" tIns="0" rIns="0" bIns="0" rtlCol="0" anchor="ctr"/>
          <a:lstStyle/>
          <a:p>
            <a:pPr indent="0" marL="0">
              <a:buNone/>
            </a:pPr>
            <a:r>
              <a:rPr lang="en-US" sz="1400" dirty="0">
                <a:solidFill>
                  <a:schemeClr val="bg1"/>
                </a:solidFill>
              </a:rPr>
              <a:t>Auditoría</a:t>
            </a:r>
            <a:endParaRPr lang="en-US" sz="1400" dirty="0"/>
          </a:p>
        </p:txBody>
      </p:sp>
      <p:pic>
        <p:nvPicPr>
          <p:cNvPr id="19" name="Image 7" descr="Respaldo">    </p:cNvPr>
          <p:cNvPicPr>
            <a:picLocks noChangeAspect="1"/>
          </p:cNvPicPr>
          <p:nvPr/>
        </p:nvPicPr>
        <p:blipFill>
          <a:blip r:embed="rId8"/>
          <a:stretch>
            <a:fillRect/>
          </a:stretch>
        </p:blipFill>
        <p:spPr>
          <a:xfrm>
            <a:off x="914400" y="5541264"/>
            <a:ext cx="274320" cy="274320"/>
          </a:xfrm>
          <a:prstGeom prst="rect">
            <a:avLst/>
          </a:prstGeom>
        </p:spPr>
      </p:pic>
      <p:sp>
        <p:nvSpPr>
          <p:cNvPr id="20" name="Text 10"/>
          <p:cNvSpPr txBox="1"/>
          <p:nvPr/>
        </p:nvSpPr>
        <p:spPr>
          <a:xfrm>
            <a:off x="1325880" y="5477256"/>
            <a:ext cx="2103120" cy="411480"/>
          </a:xfrm>
          <a:prstGeom prst="rect">
            <a:avLst/>
          </a:prstGeom>
          <a:noFill/>
          <a:ln/>
        </p:spPr>
        <p:txBody>
          <a:bodyPr wrap="square" lIns="0" tIns="0" rIns="0" bIns="0" rtlCol="0" anchor="ctr"/>
          <a:lstStyle/>
          <a:p>
            <a:pPr indent="0" marL="0">
              <a:buNone/>
            </a:pPr>
            <a:r>
              <a:rPr lang="en-US" sz="1400" dirty="0">
                <a:solidFill>
                  <a:schemeClr val="bg1"/>
                </a:solidFill>
              </a:rPr>
              <a:t>Respaldo</a:t>
            </a:r>
            <a:endParaRPr lang="en-US" sz="1400" dirty="0"/>
          </a:p>
        </p:txBody>
      </p:sp>
      <p:sp>
        <p:nvSpPr>
          <p:cNvPr id="21" name="Panel usuarios"/>
          <p:cNvSpPr/>
          <p:nvPr/>
        </p:nvSpPr>
        <p:spPr>
          <a:xfrm>
            <a:off x="3840480" y="1325880"/>
            <a:ext cx="7772400" cy="4846320"/>
          </a:xfrm>
          <a:prstGeom prst="roundRect">
            <a:avLst>
              <a:gd name="adj" fmla="val 226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12"/>
          <p:cNvSpPr txBox="1"/>
          <p:nvPr/>
        </p:nvSpPr>
        <p:spPr>
          <a:xfrm>
            <a:off x="4114800" y="1508760"/>
            <a:ext cx="2194560" cy="411480"/>
          </a:xfrm>
          <a:prstGeom prst="rect">
            <a:avLst/>
          </a:prstGeom>
          <a:noFill/>
          <a:ln/>
        </p:spPr>
        <p:txBody>
          <a:bodyPr wrap="square" lIns="0" tIns="0" rIns="0" bIns="0" rtlCol="0" anchor="t"/>
          <a:lstStyle/>
          <a:p>
            <a:pPr indent="0" marL="0">
              <a:buNone/>
            </a:pPr>
            <a:r>
              <a:rPr lang="en-US" sz="1800" b="1" dirty="0">
                <a:solidFill>
                  <a:schemeClr val="tx2"/>
                </a:solidFill>
              </a:rPr>
              <a:t>Usuarios y roles</a:t>
            </a:r>
            <a:endParaRPr lang="en-US" sz="1800" dirty="0"/>
          </a:p>
        </p:txBody>
      </p:sp>
      <p:sp>
        <p:nvSpPr>
          <p:cNvPr id="23" name="etiqueta Empresa A ▾"/>
          <p:cNvSpPr/>
          <p:nvPr/>
        </p:nvSpPr>
        <p:spPr>
          <a:xfrm>
            <a:off x="6263640" y="1508760"/>
            <a:ext cx="1600200" cy="411480"/>
          </a:xfrm>
          <a:prstGeom prst="roundRect">
            <a:avLst>
              <a:gd name="adj" fmla="val 15556"/>
            </a:avLst>
          </a:prstGeom>
          <a:solidFill>
            <a:srgbClr val="E8A33D"/>
          </a:solidFill>
          <a:ln w="12700">
            <a:solidFill>
              <a:srgbClr val="E8A33D"/>
            </a:solidFill>
            <a:prstDash val="solid"/>
          </a:ln>
        </p:spPr>
      </p:sp>
      <p:sp>
        <p:nvSpPr>
          <p:cNvPr id="24" name="Text 14"/>
          <p:cNvSpPr txBox="1"/>
          <p:nvPr/>
        </p:nvSpPr>
        <p:spPr>
          <a:xfrm>
            <a:off x="6263640" y="1508760"/>
            <a:ext cx="1600200" cy="411480"/>
          </a:xfrm>
          <a:prstGeom prst="rect">
            <a:avLst/>
          </a:prstGeom>
          <a:noFill/>
          <a:ln/>
        </p:spPr>
        <p:txBody>
          <a:bodyPr wrap="square" lIns="0" tIns="0" rIns="0" bIns="0" rtlCol="0" anchor="ctr"/>
          <a:lstStyle/>
          <a:p>
            <a:pPr algn="ctr" indent="0" marL="0">
              <a:buNone/>
            </a:pPr>
            <a:r>
              <a:rPr lang="en-US" sz="1200" b="1" dirty="0">
                <a:solidFill>
                  <a:schemeClr val="tx2"/>
                </a:solidFill>
              </a:rPr>
              <a:t>Empresa A ▾</a:t>
            </a:r>
            <a:endParaRPr lang="en-US" sz="1200" dirty="0"/>
          </a:p>
        </p:txBody>
      </p:sp>
      <p:sp>
        <p:nvSpPr>
          <p:cNvPr id="25" name="etiqueta ✉ Invitar"/>
          <p:cNvSpPr/>
          <p:nvPr/>
        </p:nvSpPr>
        <p:spPr>
          <a:xfrm>
            <a:off x="8001000" y="1508760"/>
            <a:ext cx="1463040" cy="411480"/>
          </a:xfrm>
          <a:prstGeom prst="roundRect">
            <a:avLst>
              <a:gd name="adj" fmla="val 15556"/>
            </a:avLst>
          </a:prstGeom>
          <a:solidFill>
            <a:srgbClr val="5B6B80"/>
          </a:solidFill>
          <a:ln w="12700">
            <a:solidFill>
              <a:srgbClr val="5B6B80"/>
            </a:solidFill>
            <a:prstDash val="solid"/>
          </a:ln>
        </p:spPr>
      </p:sp>
      <p:sp>
        <p:nvSpPr>
          <p:cNvPr id="26" name="Text 16"/>
          <p:cNvSpPr txBox="1"/>
          <p:nvPr/>
        </p:nvSpPr>
        <p:spPr>
          <a:xfrm>
            <a:off x="8001000" y="1508760"/>
            <a:ext cx="1463040" cy="411480"/>
          </a:xfrm>
          <a:prstGeom prst="rect">
            <a:avLst/>
          </a:prstGeom>
          <a:noFill/>
          <a:ln/>
        </p:spPr>
        <p:txBody>
          <a:bodyPr wrap="square" lIns="0" tIns="0" rIns="0" bIns="0" rtlCol="0" anchor="ctr"/>
          <a:lstStyle/>
          <a:p>
            <a:pPr algn="ctr" indent="0" marL="0">
              <a:buNone/>
            </a:pPr>
            <a:r>
              <a:rPr lang="en-US" sz="1200" b="1" dirty="0">
                <a:solidFill>
                  <a:schemeClr val="bg1"/>
                </a:solidFill>
              </a:rPr>
              <a:t>✉ Invitar</a:t>
            </a:r>
            <a:endParaRPr lang="en-US" sz="1200" dirty="0"/>
          </a:p>
        </p:txBody>
      </p:sp>
      <p:sp>
        <p:nvSpPr>
          <p:cNvPr id="27" name="etiqueta + Nuevo usuario"/>
          <p:cNvSpPr/>
          <p:nvPr/>
        </p:nvSpPr>
        <p:spPr>
          <a:xfrm>
            <a:off x="9601200" y="1508760"/>
            <a:ext cx="1783080" cy="411480"/>
          </a:xfrm>
          <a:prstGeom prst="roundRect">
            <a:avLst>
              <a:gd name="adj" fmla="val 15556"/>
            </a:avLst>
          </a:prstGeom>
          <a:solidFill>
            <a:srgbClr val="2A8C82"/>
          </a:solidFill>
          <a:ln w="12700">
            <a:solidFill>
              <a:srgbClr val="2A8C82"/>
            </a:solidFill>
            <a:prstDash val="solid"/>
          </a:ln>
        </p:spPr>
      </p:sp>
      <p:sp>
        <p:nvSpPr>
          <p:cNvPr id="28" name="Text 18"/>
          <p:cNvSpPr txBox="1"/>
          <p:nvPr/>
        </p:nvSpPr>
        <p:spPr>
          <a:xfrm>
            <a:off x="9601200" y="1508760"/>
            <a:ext cx="1783080" cy="411480"/>
          </a:xfrm>
          <a:prstGeom prst="rect">
            <a:avLst/>
          </a:prstGeom>
          <a:noFill/>
          <a:ln/>
        </p:spPr>
        <p:txBody>
          <a:bodyPr wrap="square" lIns="0" tIns="0" rIns="0" bIns="0" rtlCol="0" anchor="ctr"/>
          <a:lstStyle/>
          <a:p>
            <a:pPr algn="ctr" indent="0" marL="0">
              <a:buNone/>
            </a:pPr>
            <a:r>
              <a:rPr lang="en-US" sz="1200" b="1" dirty="0">
                <a:solidFill>
                  <a:schemeClr val="bg1"/>
                </a:solidFill>
              </a:rPr>
              <a:t>+ Nuevo usuario</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0" y="2103120"/>
          <a:ext cx="7269480" cy="914400"/>
        </p:xfrm>
        <a:graphic>
          <a:graphicData uri="http://schemas.openxmlformats.org/drawingml/2006/table">
            <a:tbl>
              <a:tblPr/>
              <a:tblGrid>
                <a:gridCol w="1005840"/>
                <a:gridCol w="457200"/>
                <a:gridCol w="1005840"/>
                <a:gridCol w="1051560"/>
                <a:gridCol w="2194560"/>
                <a:gridCol w="914400"/>
                <a:gridCol w="640080"/>
              </a:tblGrid>
              <a:tr h="411480">
                <a:tc>
                  <a:txBody>
                    <a:bodyPr/>
                    <a:lstStyle/>
                    <a:p>
                      <a:pPr indent="0" marL="0">
                        <a:buNone/>
                      </a:pPr>
                      <a:r>
                        <a:rPr lang="en-US" sz="1100" b="1" dirty="0">
                          <a:solidFill>
                            <a:schemeClr val="bg1"/>
                          </a:solidFill>
                        </a:rPr>
                        <a:t>Nombre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bg1"/>
                          </a:solidFill>
                        </a:rPr>
                        <a:t>Cód.</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bg1"/>
                          </a:solidFill>
                        </a:rPr>
                        <a:t>Cargo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bg1"/>
                          </a:solidFill>
                        </a:rPr>
                        <a:t>Rol empresa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bg1"/>
                          </a:solidFill>
                        </a:rPr>
                        <a:t>Proyectos · rol o área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r>
                        <a:rPr lang="en-US" sz="1100" b="1" dirty="0">
                          <a:solidFill>
                            <a:schemeClr val="bg1"/>
                          </a:solidFill>
                        </a:rPr>
                        <a:t>Estado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c>
                  <a:txBody>
                    <a:bodyPr/>
                    <a:lstStyle/>
                    <a:p>
                      <a:pPr indent="0" marL="0">
                        <a:buNone/>
                      </a:pP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5"/>
                    </a:solidFill>
                  </a:tcPr>
                </a:tc>
              </a:tr>
              <a:tr h="411480">
                <a:tc>
                  <a:txBody>
                    <a:bodyPr/>
                    <a:lstStyle/>
                    <a:p>
                      <a:pPr indent="0" marL="0">
                        <a:buNone/>
                      </a:pPr>
                      <a:r>
                        <a:rPr lang="en-US" sz="1100" dirty="0">
                          <a:solidFill>
                            <a:schemeClr val="tx1"/>
                          </a:solidFill>
                        </a:rPr>
                        <a:t>J. Pérez</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JP</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Jefe de obra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Miembro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Proy. A · Administrador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2"/>
                          </a:solidFill>
                        </a:rPr>
                        <a:t>Activo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 ✎</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M. Rojas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Planificador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Miembro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Proy. A · Planif. / Proy. B · Consulta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2"/>
                          </a:solidFill>
                        </a:rPr>
                        <a:t>Activo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 ✎</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L. Soto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Analista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Miembro</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Proy. A · Costos</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Clave temporal</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 ✎</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100" dirty="0">
                          <a:solidFill>
                            <a:schemeClr val="tx1"/>
                          </a:solidFill>
                        </a:rPr>
                        <a:t>R. Vega</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Pendiente</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Por aprobar</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 ✖</a:t>
                      </a:r>
                      <a:endParaRPr lang="en-US" sz="1100" dirty="0"/>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30" name="Text 19"/>
          <p:cNvSpPr txBox="1"/>
          <p:nvPr/>
        </p:nvSpPr>
        <p:spPr>
          <a:xfrm>
            <a:off x="4114800" y="4343400"/>
            <a:ext cx="7269480" cy="731520"/>
          </a:xfrm>
          <a:prstGeom prst="rect">
            <a:avLst/>
          </a:prstGeom>
          <a:noFill/>
          <a:ln/>
        </p:spPr>
        <p:txBody>
          <a:bodyPr wrap="square" lIns="0" tIns="0" rIns="0" bIns="0" rtlCol="0" anchor="t"/>
          <a:lstStyle/>
          <a:p>
            <a:pPr indent="0" marL="0">
              <a:buNone/>
            </a:pPr>
            <a:r>
              <a:rPr lang="en-US" sz="1200" dirty="0">
                <a:solidFill>
                  <a:schemeClr val="accent5"/>
                </a:solidFill>
              </a:rPr>
              <a:t>Debajo de la tabla: organigrama del equipo (como en LPS-GT). Acciones: 🔑 restablecer clave · ✎ editar rol, proyectos y área · desactivar · ✔/✖ aprobar o rechazar pendientes.</a:t>
            </a:r>
            <a:endParaRPr lang="en-US" sz="1200" dirty="0"/>
          </a:p>
        </p:txBody>
      </p:sp>
      <p:sp>
        <p:nvSpPr>
          <p:cNvPr id="31" name="Text 20"/>
          <p:cNvSpPr txBox="1"/>
          <p:nvPr/>
        </p:nvSpPr>
        <p:spPr>
          <a:xfrm>
            <a:off x="4114800" y="5760720"/>
            <a:ext cx="7269480" cy="274320"/>
          </a:xfrm>
          <a:prstGeom prst="rect">
            <a:avLst/>
          </a:prstGeom>
          <a:noFill/>
          <a:ln/>
        </p:spPr>
        <p:txBody>
          <a:bodyPr wrap="square" lIns="0" tIns="0" rIns="0" bIns="0" rtlCol="0" anchor="t"/>
          <a:lstStyle/>
          <a:p>
            <a:pPr indent="0" marL="0">
              <a:buNone/>
            </a:pPr>
            <a:r>
              <a:rPr lang="en-US" sz="1100" i="1" dirty="0">
                <a:solidFill>
                  <a:schemeClr val="accent5"/>
                </a:solidFill>
              </a:rPr>
              <a:t>Maqueta ilustrativa: los datos son de ejemplo.</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Base de datos y seguridad</a:t>
            </a:r>
            <a:endParaRPr lang="en-US" sz="3600" dirty="0"/>
          </a:p>
        </p:txBody>
      </p:sp>
      <p:sp>
        <p:nvSpPr>
          <p:cNvPr id="3" name="organizations"/>
          <p:cNvSpPr/>
          <p:nvPr/>
        </p:nvSpPr>
        <p:spPr>
          <a:xfrm>
            <a:off x="548640" y="132588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50876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organizations</a:t>
            </a:r>
            <a:endParaRPr lang="en-US" sz="1300" dirty="0"/>
          </a:p>
        </p:txBody>
      </p:sp>
      <p:sp>
        <p:nvSpPr>
          <p:cNvPr id="5" name="etiqueta Ampliar"/>
          <p:cNvSpPr/>
          <p:nvPr/>
        </p:nvSpPr>
        <p:spPr>
          <a:xfrm>
            <a:off x="3108960" y="1554480"/>
            <a:ext cx="777240" cy="310896"/>
          </a:xfrm>
          <a:prstGeom prst="roundRect">
            <a:avLst>
              <a:gd name="adj" fmla="val 20588"/>
            </a:avLst>
          </a:prstGeom>
          <a:solidFill>
            <a:schemeClr val="accent1"/>
          </a:solidFill>
          <a:ln w="12700">
            <a:solidFill>
              <a:schemeClr val="accent1"/>
            </a:solidFill>
            <a:prstDash val="solid"/>
          </a:ln>
        </p:spPr>
      </p:sp>
      <p:sp>
        <p:nvSpPr>
          <p:cNvPr id="6" name="Text 4"/>
          <p:cNvSpPr txBox="1"/>
          <p:nvPr/>
        </p:nvSpPr>
        <p:spPr>
          <a:xfrm>
            <a:off x="3108960" y="155448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Ampliar</a:t>
            </a:r>
            <a:endParaRPr lang="en-US" sz="1000" dirty="0"/>
          </a:p>
        </p:txBody>
      </p:sp>
      <p:sp>
        <p:nvSpPr>
          <p:cNvPr id="7" name="Text 5"/>
          <p:cNvSpPr txBox="1"/>
          <p:nvPr/>
        </p:nvSpPr>
        <p:spPr>
          <a:xfrm>
            <a:off x="777240" y="2011680"/>
            <a:ext cx="3108960" cy="731520"/>
          </a:xfrm>
          <a:prstGeom prst="rect">
            <a:avLst/>
          </a:prstGeom>
          <a:noFill/>
          <a:ln/>
        </p:spPr>
        <p:txBody>
          <a:bodyPr wrap="square" lIns="0" tIns="0" rIns="0" bIns="0" rtlCol="0" anchor="t"/>
          <a:lstStyle/>
          <a:p>
            <a:pPr indent="0" marL="0">
              <a:buNone/>
            </a:pPr>
            <a:r>
              <a:rPr lang="en-US" sz="1300" dirty="0">
                <a:solidFill>
                  <a:schemeClr val="tx1"/>
                </a:solidFill>
              </a:rPr>
              <a:t>La empresa: cada tabla lleva su empresa y las reglas la separan.</a:t>
            </a:r>
            <a:endParaRPr lang="en-US" sz="1300" dirty="0"/>
          </a:p>
        </p:txBody>
      </p:sp>
      <p:sp>
        <p:nvSpPr>
          <p:cNvPr id="8" name="projects → grupos"/>
          <p:cNvSpPr/>
          <p:nvPr/>
        </p:nvSpPr>
        <p:spPr>
          <a:xfrm>
            <a:off x="4297680" y="132588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526280" y="150876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projects → grupos</a:t>
            </a:r>
            <a:endParaRPr lang="en-US" sz="1300" dirty="0"/>
          </a:p>
        </p:txBody>
      </p:sp>
      <p:sp>
        <p:nvSpPr>
          <p:cNvPr id="10" name="etiqueta Ya existe"/>
          <p:cNvSpPr/>
          <p:nvPr/>
        </p:nvSpPr>
        <p:spPr>
          <a:xfrm>
            <a:off x="6858000" y="1554480"/>
            <a:ext cx="777240" cy="310896"/>
          </a:xfrm>
          <a:prstGeom prst="roundRect">
            <a:avLst>
              <a:gd name="adj" fmla="val 20588"/>
            </a:avLst>
          </a:prstGeom>
          <a:solidFill>
            <a:schemeClr val="accent2"/>
          </a:solidFill>
          <a:ln w="12700">
            <a:solidFill>
              <a:schemeClr val="accent2"/>
            </a:solidFill>
            <a:prstDash val="solid"/>
          </a:ln>
        </p:spPr>
      </p:sp>
      <p:sp>
        <p:nvSpPr>
          <p:cNvPr id="11" name="Text 9"/>
          <p:cNvSpPr txBox="1"/>
          <p:nvPr/>
        </p:nvSpPr>
        <p:spPr>
          <a:xfrm>
            <a:off x="6858000" y="155448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Ya existe</a:t>
            </a:r>
            <a:endParaRPr lang="en-US" sz="1000" dirty="0"/>
          </a:p>
        </p:txBody>
      </p:sp>
      <p:sp>
        <p:nvSpPr>
          <p:cNvPr id="12" name="Text 10"/>
          <p:cNvSpPr txBox="1"/>
          <p:nvPr/>
        </p:nvSpPr>
        <p:spPr>
          <a:xfrm>
            <a:off x="4526280" y="2011680"/>
            <a:ext cx="3108960" cy="731520"/>
          </a:xfrm>
          <a:prstGeom prst="rect">
            <a:avLst/>
          </a:prstGeom>
          <a:noFill/>
          <a:ln/>
        </p:spPr>
        <p:txBody>
          <a:bodyPr wrap="square" lIns="0" tIns="0" rIns="0" bIns="0" rtlCol="0" anchor="t"/>
          <a:lstStyle/>
          <a:p>
            <a:pPr indent="0" marL="0">
              <a:buNone/>
            </a:pPr>
            <a:r>
              <a:rPr lang="en-US" sz="1300" dirty="0">
                <a:solidFill>
                  <a:schemeClr val="tx1"/>
                </a:solidFill>
              </a:rPr>
              <a:t>Cada proyecto es un grupo.</a:t>
            </a:r>
            <a:endParaRPr lang="en-US" sz="1300" dirty="0"/>
          </a:p>
        </p:txBody>
      </p:sp>
      <p:sp>
        <p:nvSpPr>
          <p:cNvPr id="13" name="profiles · plataforma_roles"/>
          <p:cNvSpPr/>
          <p:nvPr/>
        </p:nvSpPr>
        <p:spPr>
          <a:xfrm>
            <a:off x="8046720" y="132588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275320" y="150876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profiles · plataforma_roles</a:t>
            </a:r>
            <a:endParaRPr lang="en-US" sz="1300" dirty="0"/>
          </a:p>
        </p:txBody>
      </p:sp>
      <p:sp>
        <p:nvSpPr>
          <p:cNvPr id="15" name="etiqueta Ampliar"/>
          <p:cNvSpPr/>
          <p:nvPr/>
        </p:nvSpPr>
        <p:spPr>
          <a:xfrm>
            <a:off x="10607040" y="1554480"/>
            <a:ext cx="777240" cy="310896"/>
          </a:xfrm>
          <a:prstGeom prst="roundRect">
            <a:avLst>
              <a:gd name="adj" fmla="val 20588"/>
            </a:avLst>
          </a:prstGeom>
          <a:solidFill>
            <a:schemeClr val="accent1"/>
          </a:solidFill>
          <a:ln w="12700">
            <a:solidFill>
              <a:schemeClr val="accent1"/>
            </a:solidFill>
            <a:prstDash val="solid"/>
          </a:ln>
        </p:spPr>
      </p:sp>
      <p:sp>
        <p:nvSpPr>
          <p:cNvPr id="16" name="Text 14"/>
          <p:cNvSpPr txBox="1"/>
          <p:nvPr/>
        </p:nvSpPr>
        <p:spPr>
          <a:xfrm>
            <a:off x="10607040" y="155448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Ampliar</a:t>
            </a:r>
            <a:endParaRPr lang="en-US" sz="1000" dirty="0"/>
          </a:p>
        </p:txBody>
      </p:sp>
      <p:sp>
        <p:nvSpPr>
          <p:cNvPr id="17" name="Text 15"/>
          <p:cNvSpPr txBox="1"/>
          <p:nvPr/>
        </p:nvSpPr>
        <p:spPr>
          <a:xfrm>
            <a:off x="8275320" y="2011680"/>
            <a:ext cx="3108960" cy="731520"/>
          </a:xfrm>
          <a:prstGeom prst="rect">
            <a:avLst/>
          </a:prstGeom>
          <a:noFill/>
          <a:ln/>
        </p:spPr>
        <p:txBody>
          <a:bodyPr wrap="square" lIns="0" tIns="0" rIns="0" bIns="0" rtlCol="0" anchor="t"/>
          <a:lstStyle/>
          <a:p>
            <a:pPr indent="0" marL="0">
              <a:buNone/>
            </a:pPr>
            <a:r>
              <a:rPr lang="en-US" sz="1300" dirty="0">
                <a:solidFill>
                  <a:schemeClr val="tx1"/>
                </a:solidFill>
              </a:rPr>
              <a:t>Código, cargo, activo, cambio de clave; propietario y co-propietario.</a:t>
            </a:r>
            <a:endParaRPr lang="en-US" sz="1300" dirty="0"/>
          </a:p>
        </p:txBody>
      </p:sp>
      <p:sp>
        <p:nvSpPr>
          <p:cNvPr id="18" name="memberships"/>
          <p:cNvSpPr/>
          <p:nvPr/>
        </p:nvSpPr>
        <p:spPr>
          <a:xfrm>
            <a:off x="548640" y="301752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77240" y="320040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memberships</a:t>
            </a:r>
            <a:endParaRPr lang="en-US" sz="1300" dirty="0"/>
          </a:p>
        </p:txBody>
      </p:sp>
      <p:sp>
        <p:nvSpPr>
          <p:cNvPr id="20" name="etiqueta Ampliar"/>
          <p:cNvSpPr/>
          <p:nvPr/>
        </p:nvSpPr>
        <p:spPr>
          <a:xfrm>
            <a:off x="3108960" y="3246120"/>
            <a:ext cx="777240" cy="310896"/>
          </a:xfrm>
          <a:prstGeom prst="roundRect">
            <a:avLst>
              <a:gd name="adj" fmla="val 20588"/>
            </a:avLst>
          </a:prstGeom>
          <a:solidFill>
            <a:schemeClr val="accent1"/>
          </a:solidFill>
          <a:ln w="12700">
            <a:solidFill>
              <a:schemeClr val="accent1"/>
            </a:solidFill>
            <a:prstDash val="solid"/>
          </a:ln>
        </p:spPr>
      </p:sp>
      <p:sp>
        <p:nvSpPr>
          <p:cNvPr id="21" name="Text 19"/>
          <p:cNvSpPr txBox="1"/>
          <p:nvPr/>
        </p:nvSpPr>
        <p:spPr>
          <a:xfrm>
            <a:off x="3108960" y="324612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Ampliar</a:t>
            </a:r>
            <a:endParaRPr lang="en-US" sz="1000" dirty="0"/>
          </a:p>
        </p:txBody>
      </p:sp>
      <p:sp>
        <p:nvSpPr>
          <p:cNvPr id="22" name="Text 20"/>
          <p:cNvSpPr txBox="1"/>
          <p:nvPr/>
        </p:nvSpPr>
        <p:spPr>
          <a:xfrm>
            <a:off x="777240" y="3703320"/>
            <a:ext cx="3108960" cy="731520"/>
          </a:xfrm>
          <a:prstGeom prst="rect">
            <a:avLst/>
          </a:prstGeom>
          <a:noFill/>
          <a:ln/>
        </p:spPr>
        <p:txBody>
          <a:bodyPr wrap="square" lIns="0" tIns="0" rIns="0" bIns="0" rtlCol="0" anchor="t"/>
          <a:lstStyle/>
          <a:p>
            <a:pPr indent="0" marL="0">
              <a:buNone/>
            </a:pPr>
            <a:r>
              <a:rPr lang="en-US" sz="1300" dirty="0">
                <a:solidFill>
                  <a:schemeClr val="tx1"/>
                </a:solidFill>
              </a:rPr>
              <a:t>Persona ↔ empresa (rol) y persona ↔ grupo (rol y área).</a:t>
            </a:r>
            <a:endParaRPr lang="en-US" sz="1300" dirty="0"/>
          </a:p>
        </p:txBody>
      </p:sp>
      <p:sp>
        <p:nvSpPr>
          <p:cNvPr id="23" name="permisos"/>
          <p:cNvSpPr/>
          <p:nvPr/>
        </p:nvSpPr>
        <p:spPr>
          <a:xfrm>
            <a:off x="4297680" y="301752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4526280" y="320040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permisos</a:t>
            </a:r>
            <a:endParaRPr lang="en-US" sz="1300" dirty="0"/>
          </a:p>
        </p:txBody>
      </p:sp>
      <p:sp>
        <p:nvSpPr>
          <p:cNvPr id="25" name="etiqueta Nueva"/>
          <p:cNvSpPr/>
          <p:nvPr/>
        </p:nvSpPr>
        <p:spPr>
          <a:xfrm>
            <a:off x="6858000" y="3246120"/>
            <a:ext cx="777240" cy="310896"/>
          </a:xfrm>
          <a:prstGeom prst="roundRect">
            <a:avLst>
              <a:gd name="adj" fmla="val 20588"/>
            </a:avLst>
          </a:prstGeom>
          <a:solidFill>
            <a:schemeClr val="accent3"/>
          </a:solidFill>
          <a:ln w="12700">
            <a:solidFill>
              <a:schemeClr val="accent3"/>
            </a:solidFill>
            <a:prstDash val="solid"/>
          </a:ln>
        </p:spPr>
      </p:sp>
      <p:sp>
        <p:nvSpPr>
          <p:cNvPr id="26" name="Text 24"/>
          <p:cNvSpPr txBox="1"/>
          <p:nvPr/>
        </p:nvSpPr>
        <p:spPr>
          <a:xfrm>
            <a:off x="6858000" y="324612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Nueva</a:t>
            </a:r>
            <a:endParaRPr lang="en-US" sz="1000" dirty="0"/>
          </a:p>
        </p:txBody>
      </p:sp>
      <p:sp>
        <p:nvSpPr>
          <p:cNvPr id="27" name="Text 25"/>
          <p:cNvSpPr txBox="1"/>
          <p:nvPr/>
        </p:nvSpPr>
        <p:spPr>
          <a:xfrm>
            <a:off x="4526280" y="3703320"/>
            <a:ext cx="3108960" cy="731520"/>
          </a:xfrm>
          <a:prstGeom prst="rect">
            <a:avLst/>
          </a:prstGeom>
          <a:noFill/>
          <a:ln/>
        </p:spPr>
        <p:txBody>
          <a:bodyPr wrap="square" lIns="0" tIns="0" rIns="0" bIns="0" rtlCol="0" anchor="t"/>
          <a:lstStyle/>
          <a:p>
            <a:pPr indent="0" marL="0">
              <a:buNone/>
            </a:pPr>
            <a:r>
              <a:rPr lang="en-US" sz="1300" dirty="0">
                <a:solidFill>
                  <a:schemeClr val="tx1"/>
                </a:solidFill>
              </a:rPr>
              <a:t>Plantilla área × módulo y ajustes por grupo.</a:t>
            </a:r>
            <a:endParaRPr lang="en-US" sz="1300" dirty="0"/>
          </a:p>
        </p:txBody>
      </p:sp>
      <p:sp>
        <p:nvSpPr>
          <p:cNvPr id="28" name="auditoria · acceso_soporte"/>
          <p:cNvSpPr/>
          <p:nvPr/>
        </p:nvSpPr>
        <p:spPr>
          <a:xfrm>
            <a:off x="8046720" y="301752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8275320" y="3200400"/>
            <a:ext cx="2286000" cy="411480"/>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auditoria · acceso_soporte</a:t>
            </a:r>
            <a:endParaRPr lang="en-US" sz="1300" dirty="0"/>
          </a:p>
        </p:txBody>
      </p:sp>
      <p:sp>
        <p:nvSpPr>
          <p:cNvPr id="30" name="etiqueta Nueva"/>
          <p:cNvSpPr/>
          <p:nvPr/>
        </p:nvSpPr>
        <p:spPr>
          <a:xfrm>
            <a:off x="10607040" y="3246120"/>
            <a:ext cx="777240" cy="310896"/>
          </a:xfrm>
          <a:prstGeom prst="roundRect">
            <a:avLst>
              <a:gd name="adj" fmla="val 20588"/>
            </a:avLst>
          </a:prstGeom>
          <a:solidFill>
            <a:schemeClr val="accent3"/>
          </a:solidFill>
          <a:ln w="12700">
            <a:solidFill>
              <a:schemeClr val="accent3"/>
            </a:solidFill>
            <a:prstDash val="solid"/>
          </a:ln>
        </p:spPr>
      </p:sp>
      <p:sp>
        <p:nvSpPr>
          <p:cNvPr id="31" name="Text 29"/>
          <p:cNvSpPr txBox="1"/>
          <p:nvPr/>
        </p:nvSpPr>
        <p:spPr>
          <a:xfrm>
            <a:off x="10607040" y="3246120"/>
            <a:ext cx="777240" cy="310896"/>
          </a:xfrm>
          <a:prstGeom prst="rect">
            <a:avLst/>
          </a:prstGeom>
          <a:noFill/>
          <a:ln/>
        </p:spPr>
        <p:txBody>
          <a:bodyPr wrap="square" lIns="0" tIns="0" rIns="0" bIns="0" rtlCol="0" anchor="ctr"/>
          <a:lstStyle/>
          <a:p>
            <a:pPr algn="ctr" indent="0" marL="0">
              <a:buNone/>
            </a:pPr>
            <a:r>
              <a:rPr lang="en-US" sz="1000" b="1" dirty="0">
                <a:solidFill>
                  <a:schemeClr val="bg1"/>
                </a:solidFill>
              </a:rPr>
              <a:t>Nueva</a:t>
            </a:r>
            <a:endParaRPr lang="en-US" sz="1000" dirty="0"/>
          </a:p>
        </p:txBody>
      </p:sp>
      <p:sp>
        <p:nvSpPr>
          <p:cNvPr id="32" name="Text 30"/>
          <p:cNvSpPr txBox="1"/>
          <p:nvPr/>
        </p:nvSpPr>
        <p:spPr>
          <a:xfrm>
            <a:off x="8275320" y="3703320"/>
            <a:ext cx="3108960" cy="731520"/>
          </a:xfrm>
          <a:prstGeom prst="rect">
            <a:avLst/>
          </a:prstGeom>
          <a:noFill/>
          <a:ln/>
        </p:spPr>
        <p:txBody>
          <a:bodyPr wrap="square" lIns="0" tIns="0" rIns="0" bIns="0" rtlCol="0" anchor="t"/>
          <a:lstStyle/>
          <a:p>
            <a:pPr indent="0" marL="0">
              <a:buNone/>
            </a:pPr>
            <a:r>
              <a:rPr lang="en-US" sz="1300" dirty="0">
                <a:solidFill>
                  <a:schemeClr val="tx1"/>
                </a:solidFill>
              </a:rPr>
              <a:t>Quién hizo qué; permisos de soporte temporales.</a:t>
            </a:r>
            <a:endParaRPr lang="en-US" sz="1300" dirty="0"/>
          </a:p>
        </p:txBody>
      </p:sp>
      <p:sp>
        <p:nvSpPr>
          <p:cNvPr id="33" name="Seguridad"/>
          <p:cNvSpPr/>
          <p:nvPr/>
        </p:nvSpPr>
        <p:spPr>
          <a:xfrm>
            <a:off x="548640" y="4846320"/>
            <a:ext cx="11064240" cy="1325880"/>
          </a:xfrm>
          <a:prstGeom prst="roundRect">
            <a:avLst>
              <a:gd name="adj" fmla="val 8276"/>
            </a:avLst>
          </a:prstGeom>
          <a:solidFill>
            <a:srgbClr val="FBEAE6"/>
          </a:solidFill>
          <a:ln w="12700">
            <a:solidFill>
              <a:srgbClr val="FBEAE6"/>
            </a:solidFill>
            <a:prstDash val="solid"/>
          </a:ln>
          <a:effectLst>
            <a:outerShdw sx="100000" sy="100000" kx="0" ky="0" algn="bl" rotWithShape="0" blurRad="76200" dist="25400" dir="5400000">
              <a:srgbClr val="000000">
                <a:alpha val="12000"/>
              </a:srgbClr>
            </a:outerShdw>
          </a:effectLst>
        </p:spPr>
      </p:sp>
      <p:sp>
        <p:nvSpPr>
          <p:cNvPr id="34" name="Seguridad círculo"/>
          <p:cNvSpPr/>
          <p:nvPr/>
        </p:nvSpPr>
        <p:spPr>
          <a:xfrm>
            <a:off x="777240" y="5120640"/>
            <a:ext cx="731520" cy="731520"/>
          </a:xfrm>
          <a:prstGeom prst="ellipse">
            <a:avLst/>
          </a:prstGeom>
          <a:solidFill>
            <a:schemeClr val="accent4"/>
          </a:solidFill>
          <a:ln w="12700">
            <a:solidFill>
              <a:schemeClr val="accent4"/>
            </a:solidFill>
            <a:prstDash val="solid"/>
          </a:ln>
        </p:spPr>
      </p:sp>
      <p:pic>
        <p:nvPicPr>
          <p:cNvPr id="35" name="Seguridad ícono" descr="Seguridad">    </p:cNvPr>
          <p:cNvPicPr>
            <a:picLocks noChangeAspect="1"/>
          </p:cNvPicPr>
          <p:nvPr/>
        </p:nvPicPr>
        <p:blipFill>
          <a:blip r:embed="rId1"/>
          <a:stretch>
            <a:fillRect/>
          </a:stretch>
        </p:blipFill>
        <p:spPr>
          <a:xfrm>
            <a:off x="952805" y="5296205"/>
            <a:ext cx="380390" cy="380390"/>
          </a:xfrm>
          <a:prstGeom prst="rect">
            <a:avLst/>
          </a:prstGeom>
        </p:spPr>
      </p:pic>
      <p:sp>
        <p:nvSpPr>
          <p:cNvPr id="36" name="Text 33"/>
          <p:cNvSpPr txBox="1"/>
          <p:nvPr/>
        </p:nvSpPr>
        <p:spPr>
          <a:xfrm>
            <a:off x="1737360" y="4937760"/>
            <a:ext cx="9692640" cy="1143000"/>
          </a:xfrm>
          <a:prstGeom prst="rect">
            <a:avLst/>
          </a:prstGeom>
          <a:noFill/>
          <a:ln/>
        </p:spPr>
        <p:txBody>
          <a:bodyPr wrap="square" lIns="0" tIns="0" rIns="0" bIns="0" rtlCol="0" anchor="ctr"/>
          <a:lstStyle/>
          <a:p>
            <a:pPr indent="0" marL="0">
              <a:buNone/>
            </a:pPr>
            <a:r>
              <a:rPr lang="en-US" sz="1400" b="1" dirty="0">
                <a:solidFill>
                  <a:schemeClr val="accent4"/>
                </a:solidFill>
              </a:rPr>
              <a:t>Primero, cerrar la base de ECM. </a:t>
            </a:r>
            <a:pPr indent="0" marL="0">
              <a:buNone/>
            </a:pPr>
            <a:r>
              <a:rPr lang="en-US" sz="1400" dirty="0">
                <a:solidFill>
                  <a:schemeClr val="tx1"/>
                </a:solidFill>
              </a:rPr>
              <a:t>Hoy permite leer y escribir todo sin sesión. Se reemplaza por reglas por empresa y por grupo en la base de datos, con una función puede(acción) como en LPS-GT y pruebas automáticas que verifican que ninguna empresa vea datos de otra.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Proyecto DEMO: una plantilla maestra, cuatro usos</a:t>
            </a:r>
            <a:endParaRPr lang="en-US" sz="3600" dirty="0"/>
          </a:p>
        </p:txBody>
      </p:sp>
      <p:sp>
        <p:nvSpPr>
          <p:cNvPr id="3" name="1. Modo demostración"/>
          <p:cNvSpPr/>
          <p:nvPr/>
        </p:nvSpPr>
        <p:spPr>
          <a:xfrm>
            <a:off x="548640" y="1325880"/>
            <a:ext cx="26334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1. Modo demostración círculo"/>
          <p:cNvSpPr/>
          <p:nvPr/>
        </p:nvSpPr>
        <p:spPr>
          <a:xfrm>
            <a:off x="749808" y="1508760"/>
            <a:ext cx="640080" cy="640080"/>
          </a:xfrm>
          <a:prstGeom prst="ellipse">
            <a:avLst/>
          </a:prstGeom>
          <a:solidFill>
            <a:schemeClr val="accent3"/>
          </a:solidFill>
          <a:ln w="12700">
            <a:solidFill>
              <a:schemeClr val="accent3"/>
            </a:solidFill>
            <a:prstDash val="solid"/>
          </a:ln>
        </p:spPr>
      </p:sp>
      <p:pic>
        <p:nvPicPr>
          <p:cNvPr id="5" name="1. Modo demostración ícono" descr="1. Modo demostración">    </p:cNvPr>
          <p:cNvPicPr>
            <a:picLocks noChangeAspect="1"/>
          </p:cNvPicPr>
          <p:nvPr/>
        </p:nvPicPr>
        <p:blipFill>
          <a:blip r:embed="rId1"/>
          <a:stretch>
            <a:fillRect/>
          </a:stretch>
        </p:blipFill>
        <p:spPr>
          <a:xfrm>
            <a:off x="903427" y="1662379"/>
            <a:ext cx="332842" cy="332842"/>
          </a:xfrm>
          <a:prstGeom prst="rect">
            <a:avLst/>
          </a:prstGeom>
        </p:spPr>
      </p:pic>
      <p:sp>
        <p:nvSpPr>
          <p:cNvPr id="6" name="Text 3"/>
          <p:cNvSpPr txBox="1"/>
          <p:nvPr/>
        </p:nvSpPr>
        <p:spPr>
          <a:xfrm>
            <a:off x="1463040" y="1508760"/>
            <a:ext cx="1645920" cy="640080"/>
          </a:xfrm>
          <a:prstGeom prst="rect">
            <a:avLst/>
          </a:prstGeom>
          <a:noFill/>
          <a:ln/>
        </p:spPr>
        <p:txBody>
          <a:bodyPr wrap="square" lIns="0" tIns="0" rIns="0" bIns="0" rtlCol="0" anchor="ctr"/>
          <a:lstStyle/>
          <a:p>
            <a:pPr indent="0" marL="0">
              <a:buNone/>
            </a:pPr>
            <a:r>
              <a:rPr lang="en-US" sz="1400" b="1" dirty="0">
                <a:solidFill>
                  <a:schemeClr val="tx2"/>
                </a:solidFill>
              </a:rPr>
              <a:t>1. Modo demostración</a:t>
            </a:r>
            <a:endParaRPr lang="en-US" sz="1400" dirty="0"/>
          </a:p>
        </p:txBody>
      </p:sp>
      <p:sp>
        <p:nvSpPr>
          <p:cNvPr id="7" name="Text 4"/>
          <p:cNvSpPr txBox="1"/>
          <p:nvPr/>
        </p:nvSpPr>
        <p:spPr>
          <a:xfrm>
            <a:off x="749808" y="2286000"/>
            <a:ext cx="2286000" cy="146304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Dónde: </a:t>
            </a:r>
            <a:pPr indent="0" marL="0">
              <a:spcAft>
                <a:spcPts val="600"/>
              </a:spcAft>
              <a:buNone/>
            </a:pPr>
            <a:r>
              <a:rPr lang="en-US" sz="1200" dirty="0">
                <a:solidFill>
                  <a:schemeClr val="tx1"/>
                </a:solidFill>
              </a:rPr>
              <a:t>Solo en el navegador de quien lo abre, sin cuenta</a:t>
            </a:r>
            <a:endParaRPr lang="en-US" sz="1200" dirty="0"/>
          </a:p>
          <a:p>
            <a:pPr indent="0" marL="0">
              <a:spcAft>
                <a:spcPts val="600"/>
              </a:spcAft>
              <a:buNone/>
            </a:pPr>
            <a:r>
              <a:rPr lang="en-US" sz="1200" b="1" dirty="0">
                <a:solidFill>
                  <a:schemeClr val="tx2"/>
                </a:solidFill>
              </a:rPr>
              <a:t>Para: </a:t>
            </a:r>
            <a:pPr indent="0" marL="0">
              <a:spcAft>
                <a:spcPts val="600"/>
              </a:spcAft>
              <a:buNone/>
            </a:pPr>
            <a:r>
              <a:rPr lang="en-US" sz="1200" dirty="0">
                <a:solidFill>
                  <a:schemeClr val="tx1"/>
                </a:solidFill>
              </a:rPr>
              <a:t>Probar la app sin tocar datos reales</a:t>
            </a:r>
            <a:endParaRPr lang="en-US" sz="1200" dirty="0"/>
          </a:p>
        </p:txBody>
      </p:sp>
      <p:sp>
        <p:nvSpPr>
          <p:cNvPr id="8" name="2. Empresa &quot;Demo&quot;"/>
          <p:cNvSpPr/>
          <p:nvPr/>
        </p:nvSpPr>
        <p:spPr>
          <a:xfrm>
            <a:off x="3355848" y="1325880"/>
            <a:ext cx="26334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2. Empresa &quot;Demo&quot; círculo"/>
          <p:cNvSpPr/>
          <p:nvPr/>
        </p:nvSpPr>
        <p:spPr>
          <a:xfrm>
            <a:off x="3557016" y="1508760"/>
            <a:ext cx="640080" cy="640080"/>
          </a:xfrm>
          <a:prstGeom prst="ellipse">
            <a:avLst/>
          </a:prstGeom>
          <a:solidFill>
            <a:schemeClr val="accent1"/>
          </a:solidFill>
          <a:ln w="12700">
            <a:solidFill>
              <a:schemeClr val="accent1"/>
            </a:solidFill>
            <a:prstDash val="solid"/>
          </a:ln>
        </p:spPr>
      </p:sp>
      <p:pic>
        <p:nvPicPr>
          <p:cNvPr id="10" name="2. Empresa &quot;Demo&quot; ícono" descr="2. Empresa &quot;Demo&quot;">    </p:cNvPr>
          <p:cNvPicPr>
            <a:picLocks noChangeAspect="1"/>
          </p:cNvPicPr>
          <p:nvPr/>
        </p:nvPicPr>
        <p:blipFill>
          <a:blip r:embed="rId2"/>
          <a:stretch>
            <a:fillRect/>
          </a:stretch>
        </p:blipFill>
        <p:spPr>
          <a:xfrm>
            <a:off x="3710635" y="1662379"/>
            <a:ext cx="332842" cy="332842"/>
          </a:xfrm>
          <a:prstGeom prst="rect">
            <a:avLst/>
          </a:prstGeom>
        </p:spPr>
      </p:pic>
      <p:sp>
        <p:nvSpPr>
          <p:cNvPr id="11" name="Text 7"/>
          <p:cNvSpPr txBox="1"/>
          <p:nvPr/>
        </p:nvSpPr>
        <p:spPr>
          <a:xfrm>
            <a:off x="4270248" y="1508760"/>
            <a:ext cx="1645920" cy="640080"/>
          </a:xfrm>
          <a:prstGeom prst="rect">
            <a:avLst/>
          </a:prstGeom>
          <a:noFill/>
          <a:ln/>
        </p:spPr>
        <p:txBody>
          <a:bodyPr wrap="square" lIns="0" tIns="0" rIns="0" bIns="0" rtlCol="0" anchor="ctr"/>
          <a:lstStyle/>
          <a:p>
            <a:pPr indent="0" marL="0">
              <a:buNone/>
            </a:pPr>
            <a:r>
              <a:rPr lang="en-US" sz="1400" b="1" dirty="0">
                <a:solidFill>
                  <a:schemeClr val="tx2"/>
                </a:solidFill>
              </a:rPr>
              <a:t>2. Empresa "Demo"</a:t>
            </a:r>
            <a:endParaRPr lang="en-US" sz="1400" dirty="0"/>
          </a:p>
        </p:txBody>
      </p:sp>
      <p:sp>
        <p:nvSpPr>
          <p:cNvPr id="12" name="Text 8"/>
          <p:cNvSpPr txBox="1"/>
          <p:nvPr/>
        </p:nvSpPr>
        <p:spPr>
          <a:xfrm>
            <a:off x="3557016" y="2286000"/>
            <a:ext cx="2286000" cy="146304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Dónde: </a:t>
            </a:r>
            <a:pPr indent="0" marL="0">
              <a:spcAft>
                <a:spcPts val="600"/>
              </a:spcAft>
              <a:buNone/>
            </a:pPr>
            <a:r>
              <a:rPr lang="en-US" sz="1200" dirty="0">
                <a:solidFill>
                  <a:schemeClr val="tx1"/>
                </a:solidFill>
              </a:rPr>
              <a:t>Una empresa en la plataforma; se restablece cada noche</a:t>
            </a:r>
            <a:endParaRPr lang="en-US" sz="1200" dirty="0"/>
          </a:p>
          <a:p>
            <a:pPr indent="0" marL="0">
              <a:spcAft>
                <a:spcPts val="600"/>
              </a:spcAft>
              <a:buNone/>
            </a:pPr>
            <a:r>
              <a:rPr lang="en-US" sz="1200" b="1" dirty="0">
                <a:solidFill>
                  <a:schemeClr val="tx2"/>
                </a:solidFill>
              </a:rPr>
              <a:t>Para: </a:t>
            </a:r>
            <a:pPr indent="0" marL="0">
              <a:spcAft>
                <a:spcPts val="600"/>
              </a:spcAft>
              <a:buNone/>
            </a:pPr>
            <a:r>
              <a:rPr lang="en-US" sz="1200" dirty="0">
                <a:solidFill>
                  <a:schemeClr val="tx1"/>
                </a:solidFill>
              </a:rPr>
              <a:t>Presentaciones y capacitaciones con invitados</a:t>
            </a:r>
            <a:endParaRPr lang="en-US" sz="1200" dirty="0"/>
          </a:p>
        </p:txBody>
      </p:sp>
      <p:sp>
        <p:nvSpPr>
          <p:cNvPr id="13" name="3. Proyecto de ejemplo"/>
          <p:cNvSpPr/>
          <p:nvPr/>
        </p:nvSpPr>
        <p:spPr>
          <a:xfrm>
            <a:off x="6163056" y="1325880"/>
            <a:ext cx="26334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3. Proyecto de ejemplo círculo"/>
          <p:cNvSpPr/>
          <p:nvPr/>
        </p:nvSpPr>
        <p:spPr>
          <a:xfrm>
            <a:off x="6364224" y="1508760"/>
            <a:ext cx="640080" cy="640080"/>
          </a:xfrm>
          <a:prstGeom prst="ellipse">
            <a:avLst/>
          </a:prstGeom>
          <a:solidFill>
            <a:schemeClr val="accent2"/>
          </a:solidFill>
          <a:ln w="12700">
            <a:solidFill>
              <a:schemeClr val="accent2"/>
            </a:solidFill>
            <a:prstDash val="solid"/>
          </a:ln>
        </p:spPr>
      </p:sp>
      <p:pic>
        <p:nvPicPr>
          <p:cNvPr id="15" name="3. Proyecto de ejemplo ícono" descr="3. Proyecto de ejemplo">    </p:cNvPr>
          <p:cNvPicPr>
            <a:picLocks noChangeAspect="1"/>
          </p:cNvPicPr>
          <p:nvPr/>
        </p:nvPicPr>
        <p:blipFill>
          <a:blip r:embed="rId3"/>
          <a:stretch>
            <a:fillRect/>
          </a:stretch>
        </p:blipFill>
        <p:spPr>
          <a:xfrm>
            <a:off x="6517843" y="1662379"/>
            <a:ext cx="332842" cy="332842"/>
          </a:xfrm>
          <a:prstGeom prst="rect">
            <a:avLst/>
          </a:prstGeom>
        </p:spPr>
      </p:pic>
      <p:sp>
        <p:nvSpPr>
          <p:cNvPr id="16" name="Text 11"/>
          <p:cNvSpPr txBox="1"/>
          <p:nvPr/>
        </p:nvSpPr>
        <p:spPr>
          <a:xfrm>
            <a:off x="7077456" y="1508760"/>
            <a:ext cx="1645920" cy="640080"/>
          </a:xfrm>
          <a:prstGeom prst="rect">
            <a:avLst/>
          </a:prstGeom>
          <a:noFill/>
          <a:ln/>
        </p:spPr>
        <p:txBody>
          <a:bodyPr wrap="square" lIns="0" tIns="0" rIns="0" bIns="0" rtlCol="0" anchor="ctr"/>
          <a:lstStyle/>
          <a:p>
            <a:pPr indent="0" marL="0">
              <a:buNone/>
            </a:pPr>
            <a:r>
              <a:rPr lang="en-US" sz="1400" b="1" dirty="0">
                <a:solidFill>
                  <a:schemeClr val="tx2"/>
                </a:solidFill>
              </a:rPr>
              <a:t>3. Proyecto de ejemplo</a:t>
            </a:r>
            <a:endParaRPr lang="en-US" sz="1400" dirty="0"/>
          </a:p>
        </p:txBody>
      </p:sp>
      <p:sp>
        <p:nvSpPr>
          <p:cNvPr id="17" name="Text 12"/>
          <p:cNvSpPr txBox="1"/>
          <p:nvPr/>
        </p:nvSpPr>
        <p:spPr>
          <a:xfrm>
            <a:off x="6364224" y="2286000"/>
            <a:ext cx="2286000" cy="146304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Dónde: </a:t>
            </a:r>
            <a:pPr indent="0" marL="0">
              <a:spcAft>
                <a:spcPts val="600"/>
              </a:spcAft>
              <a:buNone/>
            </a:pPr>
            <a:r>
              <a:rPr lang="en-US" sz="1200" dirty="0">
                <a:solidFill>
                  <a:schemeClr val="tx1"/>
                </a:solidFill>
              </a:rPr>
              <a:t>Dentro de cada empresa, solo si lo pide; marcado [DEMO]</a:t>
            </a:r>
            <a:endParaRPr lang="en-US" sz="1200" dirty="0"/>
          </a:p>
          <a:p>
            <a:pPr indent="0" marL="0">
              <a:spcAft>
                <a:spcPts val="600"/>
              </a:spcAft>
              <a:buNone/>
            </a:pPr>
            <a:r>
              <a:rPr lang="en-US" sz="1200" b="1" dirty="0">
                <a:solidFill>
                  <a:schemeClr val="tx2"/>
                </a:solidFill>
              </a:rPr>
              <a:t>Para: </a:t>
            </a:r>
            <a:pPr indent="0" marL="0">
              <a:spcAft>
                <a:spcPts val="600"/>
              </a:spcAft>
              <a:buNone/>
            </a:pPr>
            <a:r>
              <a:rPr lang="en-US" sz="1200" dirty="0">
                <a:solidFill>
                  <a:schemeClr val="tx1"/>
                </a:solidFill>
              </a:rPr>
              <a:t>Aprender con su plantilla; no cuenta en indicadores</a:t>
            </a:r>
            <a:endParaRPr lang="en-US" sz="1200" dirty="0"/>
          </a:p>
        </p:txBody>
      </p:sp>
      <p:sp>
        <p:nvSpPr>
          <p:cNvPr id="18" name="4. Ejecutable"/>
          <p:cNvSpPr/>
          <p:nvPr/>
        </p:nvSpPr>
        <p:spPr>
          <a:xfrm>
            <a:off x="8970264" y="1325880"/>
            <a:ext cx="2633472"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4. Ejecutable círculo"/>
          <p:cNvSpPr/>
          <p:nvPr/>
        </p:nvSpPr>
        <p:spPr>
          <a:xfrm>
            <a:off x="9171432" y="1508760"/>
            <a:ext cx="640080" cy="640080"/>
          </a:xfrm>
          <a:prstGeom prst="ellipse">
            <a:avLst/>
          </a:prstGeom>
          <a:solidFill>
            <a:schemeClr val="accent4"/>
          </a:solidFill>
          <a:ln w="12700">
            <a:solidFill>
              <a:schemeClr val="accent4"/>
            </a:solidFill>
            <a:prstDash val="solid"/>
          </a:ln>
        </p:spPr>
      </p:sp>
      <p:pic>
        <p:nvPicPr>
          <p:cNvPr id="20" name="4. Ejecutable ícono" descr="4. Ejecutable">    </p:cNvPr>
          <p:cNvPicPr>
            <a:picLocks noChangeAspect="1"/>
          </p:cNvPicPr>
          <p:nvPr/>
        </p:nvPicPr>
        <p:blipFill>
          <a:blip r:embed="rId4"/>
          <a:stretch>
            <a:fillRect/>
          </a:stretch>
        </p:blipFill>
        <p:spPr>
          <a:xfrm>
            <a:off x="9325051" y="1662379"/>
            <a:ext cx="332842" cy="332842"/>
          </a:xfrm>
          <a:prstGeom prst="rect">
            <a:avLst/>
          </a:prstGeom>
        </p:spPr>
      </p:pic>
      <p:sp>
        <p:nvSpPr>
          <p:cNvPr id="21" name="Text 15"/>
          <p:cNvSpPr txBox="1"/>
          <p:nvPr/>
        </p:nvSpPr>
        <p:spPr>
          <a:xfrm>
            <a:off x="9884664" y="1508760"/>
            <a:ext cx="1645920" cy="640080"/>
          </a:xfrm>
          <a:prstGeom prst="rect">
            <a:avLst/>
          </a:prstGeom>
          <a:noFill/>
          <a:ln/>
        </p:spPr>
        <p:txBody>
          <a:bodyPr wrap="square" lIns="0" tIns="0" rIns="0" bIns="0" rtlCol="0" anchor="ctr"/>
          <a:lstStyle/>
          <a:p>
            <a:pPr indent="0" marL="0">
              <a:buNone/>
            </a:pPr>
            <a:r>
              <a:rPr lang="en-US" sz="1400" b="1" dirty="0">
                <a:solidFill>
                  <a:schemeClr val="tx2"/>
                </a:solidFill>
              </a:rPr>
              <a:t>4. Ejecutable</a:t>
            </a:r>
            <a:endParaRPr lang="en-US" sz="1400" dirty="0"/>
          </a:p>
        </p:txBody>
      </p:sp>
      <p:sp>
        <p:nvSpPr>
          <p:cNvPr id="22" name="Text 16"/>
          <p:cNvSpPr txBox="1"/>
          <p:nvPr/>
        </p:nvSpPr>
        <p:spPr>
          <a:xfrm>
            <a:off x="9171432" y="2286000"/>
            <a:ext cx="2286000" cy="146304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Dónde: </a:t>
            </a:r>
            <a:pPr indent="0" marL="0">
              <a:spcAft>
                <a:spcPts val="600"/>
              </a:spcAft>
              <a:buNone/>
            </a:pPr>
            <a:r>
              <a:rPr lang="en-US" sz="1200" dirty="0">
                <a:solidFill>
                  <a:schemeClr val="tx1"/>
                </a:solidFill>
              </a:rPr>
              <a:t>Base local de la laptop</a:t>
            </a:r>
            <a:endParaRPr lang="en-US" sz="1200" dirty="0"/>
          </a:p>
          <a:p>
            <a:pPr indent="0" marL="0">
              <a:spcAft>
                <a:spcPts val="600"/>
              </a:spcAft>
              <a:buNone/>
            </a:pPr>
            <a:r>
              <a:rPr lang="en-US" sz="1200" b="1" dirty="0">
                <a:solidFill>
                  <a:schemeClr val="tx2"/>
                </a:solidFill>
              </a:rPr>
              <a:t>Para: </a:t>
            </a:r>
            <a:pPr indent="0" marL="0">
              <a:spcAft>
                <a:spcPts val="600"/>
              </a:spcAft>
              <a:buNone/>
            </a:pPr>
            <a:r>
              <a:rPr lang="en-US" sz="1200" dirty="0">
                <a:solidFill>
                  <a:schemeClr val="tx1"/>
                </a:solidFill>
              </a:rPr>
              <a:t>Uso personal sin conexión</a:t>
            </a:r>
            <a:endParaRPr lang="en-US" sz="1200" dirty="0"/>
          </a:p>
        </p:txBody>
      </p:sp>
      <p:sp>
        <p:nvSpPr>
          <p:cNvPr id="23" name="Contenido DEMO"/>
          <p:cNvSpPr/>
          <p:nvPr/>
        </p:nvSpPr>
        <p:spPr>
          <a:xfrm>
            <a:off x="548640" y="3566160"/>
            <a:ext cx="544068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18"/>
          <p:cNvSpPr txBox="1"/>
          <p:nvPr/>
        </p:nvSpPr>
        <p:spPr>
          <a:xfrm>
            <a:off x="822960" y="3703320"/>
            <a:ext cx="4937760" cy="1371600"/>
          </a:xfrm>
          <a:prstGeom prst="rect">
            <a:avLst/>
          </a:prstGeom>
          <a:noFill/>
          <a:ln/>
        </p:spPr>
        <p:txBody>
          <a:bodyPr wrap="square" lIns="0" tIns="0" rIns="0" bIns="0" rtlCol="0" anchor="t"/>
          <a:lstStyle/>
          <a:p>
            <a:pPr indent="0" marL="0">
              <a:buNone/>
            </a:pPr>
            <a:r>
              <a:rPr lang="en-US" sz="1500" b="1" dirty="0">
                <a:solidFill>
                  <a:schemeClr val="tx2"/>
                </a:solidFill>
              </a:rPr>
              <a:t>Datos en todos los módulos (ya implementado)</a:t>
            </a:r>
            <a:endParaRPr lang="en-US" sz="1400" dirty="0"/>
          </a:p>
          <a:p>
            <a:pPr indent="0" marL="0">
              <a:buNone/>
            </a:pPr>
            <a:r>
              <a:rPr lang="en-US" sz="1300" dirty="0">
                <a:solidFill>
                  <a:schemeClr val="tx1"/>
                </a:solidFill>
              </a:rPr>
              <a:t>Cronograma con avance y fechas reales, costos y valor ganado, 2 líneas base, 14 recursos, riesgos, diccionario WBS, Monte Carlo y Last Planner. Fechas relativas a hoy: siempre a mitad de obra.</a:t>
            </a:r>
            <a:endParaRPr lang="en-US" sz="1400" dirty="0"/>
          </a:p>
        </p:txBody>
      </p:sp>
      <p:sp>
        <p:nvSpPr>
          <p:cNvPr id="25" name="Cambio"/>
          <p:cNvSpPr/>
          <p:nvPr/>
        </p:nvSpPr>
        <p:spPr>
          <a:xfrm>
            <a:off x="6172200" y="3566160"/>
            <a:ext cx="5440680" cy="1600200"/>
          </a:xfrm>
          <a:prstGeom prst="roundRect">
            <a:avLst>
              <a:gd name="adj" fmla="val 6857"/>
            </a:avLst>
          </a:prstGeom>
          <a:solidFill>
            <a:srgbClr val="FBEAE6"/>
          </a:solidFill>
          <a:ln w="12700">
            <a:solidFill>
              <a:srgbClr val="FBEAE6"/>
            </a:solidFill>
            <a:prstDash val="solid"/>
          </a:ln>
          <a:effectLst>
            <a:outerShdw sx="100000" sy="100000" kx="0" ky="0" algn="bl" rotWithShape="0" blurRad="76200" dist="25400" dir="5400000">
              <a:srgbClr val="000000">
                <a:alpha val="12000"/>
              </a:srgbClr>
            </a:outerShdw>
          </a:effectLst>
        </p:spPr>
      </p:sp>
      <p:sp>
        <p:nvSpPr>
          <p:cNvPr id="26" name="Text 20"/>
          <p:cNvSpPr txBox="1"/>
          <p:nvPr/>
        </p:nvSpPr>
        <p:spPr>
          <a:xfrm>
            <a:off x="6446520" y="3703320"/>
            <a:ext cx="4937760" cy="1371600"/>
          </a:xfrm>
          <a:prstGeom prst="rect">
            <a:avLst/>
          </a:prstGeom>
          <a:noFill/>
          <a:ln/>
        </p:spPr>
        <p:txBody>
          <a:bodyPr wrap="square" lIns="0" tIns="0" rIns="0" bIns="0" rtlCol="0" anchor="t"/>
          <a:lstStyle/>
          <a:p>
            <a:pPr indent="0" marL="0">
              <a:buNone/>
            </a:pPr>
            <a:r>
              <a:rPr lang="en-US" sz="1500" b="1" dirty="0">
                <a:solidFill>
                  <a:schemeClr val="accent4"/>
                </a:solidFill>
              </a:rPr>
              <a:t>Cambio en la versión web</a:t>
            </a:r>
            <a:endParaRPr lang="en-US" sz="1400" dirty="0"/>
          </a:p>
          <a:p>
            <a:pPr indent="0" marL="0">
              <a:buNone/>
            </a:pPr>
            <a:r>
              <a:rPr lang="en-US" sz="1300" dirty="0">
                <a:solidFill>
                  <a:schemeClr val="tx1"/>
                </a:solidFill>
              </a:rPr>
              <a:t>Quitar la restauración automática del DEMO. En su lugar, un botón "Crear proyecto de ejemplo" en Configuración → Grupos. La restauración automática se mantiene en el modo demostración y en el ejecutable.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2"/>
                </a:solidFill>
              </a:rPr>
              <a:t>El ejecutable sin internet</a:t>
            </a:r>
            <a:endParaRPr lang="en-US" sz="3600" dirty="0"/>
          </a:p>
        </p:txBody>
      </p:sp>
      <p:sp>
        <p:nvSpPr>
          <p:cNvPr id="3" name="Web"/>
          <p:cNvSpPr/>
          <p:nvPr/>
        </p:nvSpPr>
        <p:spPr>
          <a:xfrm>
            <a:off x="548640" y="1371600"/>
            <a:ext cx="544068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Web círculo"/>
          <p:cNvSpPr/>
          <p:nvPr/>
        </p:nvSpPr>
        <p:spPr>
          <a:xfrm>
            <a:off x="822960" y="1645920"/>
            <a:ext cx="777240" cy="777240"/>
          </a:xfrm>
          <a:prstGeom prst="ellipse">
            <a:avLst/>
          </a:prstGeom>
          <a:solidFill>
            <a:schemeClr val="accent2"/>
          </a:solidFill>
          <a:ln w="12700">
            <a:solidFill>
              <a:schemeClr val="accent2"/>
            </a:solidFill>
            <a:prstDash val="solid"/>
          </a:ln>
        </p:spPr>
      </p:sp>
      <p:pic>
        <p:nvPicPr>
          <p:cNvPr id="5" name="Web ícono" descr="Web">    </p:cNvPr>
          <p:cNvPicPr>
            <a:picLocks noChangeAspect="1"/>
          </p:cNvPicPr>
          <p:nvPr/>
        </p:nvPicPr>
        <p:blipFill>
          <a:blip r:embed="rId1"/>
          <a:stretch>
            <a:fillRect/>
          </a:stretch>
        </p:blipFill>
        <p:spPr>
          <a:xfrm>
            <a:off x="1009498" y="1832458"/>
            <a:ext cx="404165" cy="404165"/>
          </a:xfrm>
          <a:prstGeom prst="rect">
            <a:avLst/>
          </a:prstGeom>
        </p:spPr>
      </p:pic>
      <p:sp>
        <p:nvSpPr>
          <p:cNvPr id="6" name="Text 3"/>
          <p:cNvSpPr txBox="1"/>
          <p:nvPr/>
        </p:nvSpPr>
        <p:spPr>
          <a:xfrm>
            <a:off x="1783080" y="16916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Versión web: todo el esquema</a:t>
            </a:r>
            <a:endParaRPr lang="en-US" sz="1800" dirty="0"/>
          </a:p>
        </p:txBody>
      </p:sp>
      <p:sp>
        <p:nvSpPr>
          <p:cNvPr id="7" name="Text 4"/>
          <p:cNvSpPr txBox="1"/>
          <p:nvPr/>
        </p:nvSpPr>
        <p:spPr>
          <a:xfrm>
            <a:off x="914400" y="246888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Grupos, niveles, áreas y permisos.</a:t>
            </a:r>
            <a:endParaRPr lang="en-US" sz="1500" dirty="0"/>
          </a:p>
          <a:p>
            <a:pPr marL="342900" indent="-342900">
              <a:spcAft>
                <a:spcPts val="800"/>
              </a:spcAft>
              <a:buSzPct val="100000"/>
              <a:buChar char="•"/>
            </a:pPr>
            <a:r>
              <a:rPr lang="en-US" sz="1500" dirty="0">
                <a:solidFill>
                  <a:schemeClr val="tx1"/>
                </a:solidFill>
              </a:rPr>
              <a:t>Datos compartidos por el equipo del proyecto.</a:t>
            </a:r>
            <a:endParaRPr lang="en-US" sz="1500" dirty="0"/>
          </a:p>
          <a:p>
            <a:pPr marL="342900" indent="-342900">
              <a:spcAft>
                <a:spcPts val="800"/>
              </a:spcAft>
              <a:buSzPct val="100000"/>
              <a:buChar char="•"/>
            </a:pPr>
            <a:r>
              <a:rPr lang="en-US" sz="1500" dirty="0">
                <a:solidFill>
                  <a:schemeClr val="tx1"/>
                </a:solidFill>
              </a:rPr>
              <a:t>Reglas aplicadas en el servidor.</a:t>
            </a:r>
            <a:endParaRPr lang="en-US" sz="1500" dirty="0"/>
          </a:p>
          <a:p>
            <a:pPr marL="342900" indent="-342900">
              <a:spcAft>
                <a:spcPts val="800"/>
              </a:spcAft>
              <a:buSzPct val="100000"/>
              <a:buChar char="•"/>
            </a:pPr>
            <a:r>
              <a:rPr lang="en-US" sz="1500" dirty="0">
                <a:solidFill>
                  <a:schemeClr val="tx1"/>
                </a:solidFill>
              </a:rPr>
              <a:t>Funciona igual en PC y celular.</a:t>
            </a:r>
            <a:endParaRPr lang="en-US" sz="1500" dirty="0"/>
          </a:p>
        </p:txBody>
      </p:sp>
      <p:sp>
        <p:nvSpPr>
          <p:cNvPr id="8" name="Exe"/>
          <p:cNvSpPr/>
          <p:nvPr/>
        </p:nvSpPr>
        <p:spPr>
          <a:xfrm>
            <a:off x="6172200" y="1371600"/>
            <a:ext cx="544068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Exe círculo"/>
          <p:cNvSpPr/>
          <p:nvPr/>
        </p:nvSpPr>
        <p:spPr>
          <a:xfrm>
            <a:off x="6446520" y="1645920"/>
            <a:ext cx="777240" cy="777240"/>
          </a:xfrm>
          <a:prstGeom prst="ellipse">
            <a:avLst/>
          </a:prstGeom>
          <a:solidFill>
            <a:schemeClr val="accent1"/>
          </a:solidFill>
          <a:ln w="12700">
            <a:solidFill>
              <a:schemeClr val="accent1"/>
            </a:solidFill>
            <a:prstDash val="solid"/>
          </a:ln>
        </p:spPr>
      </p:sp>
      <p:pic>
        <p:nvPicPr>
          <p:cNvPr id="10" name="Exe ícono" descr="Exe">    </p:cNvPr>
          <p:cNvPicPr>
            <a:picLocks noChangeAspect="1"/>
          </p:cNvPicPr>
          <p:nvPr/>
        </p:nvPicPr>
        <p:blipFill>
          <a:blip r:embed="rId2"/>
          <a:stretch>
            <a:fillRect/>
          </a:stretch>
        </p:blipFill>
        <p:spPr>
          <a:xfrm>
            <a:off x="6633058" y="1832458"/>
            <a:ext cx="404165" cy="404165"/>
          </a:xfrm>
          <a:prstGeom prst="rect">
            <a:avLst/>
          </a:prstGeom>
        </p:spPr>
      </p:pic>
      <p:sp>
        <p:nvSpPr>
          <p:cNvPr id="11" name="Text 7"/>
          <p:cNvSpPr txBox="1"/>
          <p:nvPr/>
        </p:nvSpPr>
        <p:spPr>
          <a:xfrm>
            <a:off x="7406640" y="16916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Ejecutable: uso personal</a:t>
            </a:r>
            <a:endParaRPr lang="en-US" sz="1800" dirty="0"/>
          </a:p>
        </p:txBody>
      </p:sp>
      <p:sp>
        <p:nvSpPr>
          <p:cNvPr id="12" name="Text 8"/>
          <p:cNvSpPr txBox="1"/>
          <p:nvPr/>
        </p:nvSpPr>
        <p:spPr>
          <a:xfrm>
            <a:off x="6537960" y="246888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Sin login; base local con el proyecto DEMO.</a:t>
            </a:r>
            <a:endParaRPr lang="en-US" sz="1500" dirty="0"/>
          </a:p>
          <a:p>
            <a:pPr marL="342900" indent="-342900">
              <a:spcAft>
                <a:spcPts val="800"/>
              </a:spcAft>
              <a:buSzPct val="100000"/>
              <a:buChar char="•"/>
            </a:pPr>
            <a:r>
              <a:rPr lang="en-US" sz="1500" dirty="0">
                <a:solidFill>
                  <a:schemeClr val="tx1"/>
                </a:solidFill>
              </a:rPr>
              <a:t>Exporta e importa proyectos para llevarlos a un grupo.</a:t>
            </a:r>
            <a:endParaRPr lang="en-US" sz="1500" dirty="0"/>
          </a:p>
          <a:p>
            <a:pPr marL="342900" indent="-342900">
              <a:spcAft>
                <a:spcPts val="800"/>
              </a:spcAft>
              <a:buSzPct val="100000"/>
              <a:buChar char="•"/>
            </a:pPr>
            <a:r>
              <a:rPr lang="en-US" sz="1500" dirty="0">
                <a:solidFill>
                  <a:schemeClr val="tx1"/>
                </a:solidFill>
              </a:rPr>
              <a:t>En laptops corporativas, TI puede bloquearlo (lo vimos con la v1.0.164).</a:t>
            </a:r>
            <a:endParaRPr lang="en-US" sz="1500" dirty="0"/>
          </a:p>
        </p:txBody>
      </p:sp>
      <p:sp>
        <p:nvSpPr>
          <p:cNvPr id="13" name="Text 9"/>
          <p:cNvSpPr txBox="1"/>
          <p:nvPr/>
        </p:nvSpPr>
        <p:spPr>
          <a:xfrm>
            <a:off x="548640" y="4709160"/>
            <a:ext cx="11064240" cy="457200"/>
          </a:xfrm>
          <a:prstGeom prst="rect">
            <a:avLst/>
          </a:prstGeom>
          <a:noFill/>
          <a:ln/>
        </p:spPr>
        <p:txBody>
          <a:bodyPr wrap="square" lIns="0" tIns="0" rIns="0" bIns="0" rtlCol="0" anchor="t"/>
          <a:lstStyle/>
          <a:p>
            <a:pPr indent="0" marL="0">
              <a:buNone/>
            </a:pPr>
            <a:r>
              <a:rPr lang="en-US" sz="1500" b="1" dirty="0">
                <a:solidFill>
                  <a:schemeClr val="tx2"/>
                </a:solidFill>
              </a:rPr>
              <a:t>Recomendación: grupos y permisos solo en la web; el .exe como herramienta personal sin conexión.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Hoja de ruta de desarrollo</a:t>
            </a:r>
            <a:endParaRPr lang="en-US" sz="3600" dirty="0"/>
          </a:p>
        </p:txBody>
      </p:sp>
      <p:sp>
        <p:nvSpPr>
          <p:cNvPr id="3" name="línea de tiempo"/>
          <p:cNvSpPr/>
          <p:nvPr/>
        </p:nvSpPr>
        <p:spPr>
          <a:xfrm>
            <a:off x="1097280" y="2148840"/>
            <a:ext cx="9966960" cy="0"/>
          </a:xfrm>
          <a:prstGeom prst="line">
            <a:avLst/>
          </a:prstGeom>
          <a:noFill/>
          <a:ln w="25400">
            <a:solidFill>
              <a:srgbClr val="5B6B80"/>
            </a:solidFill>
            <a:prstDash val="solid"/>
          </a:ln>
        </p:spPr>
      </p:sp>
      <p:sp>
        <p:nvSpPr>
          <p:cNvPr id="4" name="fase 0"/>
          <p:cNvSpPr/>
          <p:nvPr/>
        </p:nvSpPr>
        <p:spPr>
          <a:xfrm>
            <a:off x="1033272" y="173736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1033272"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0</a:t>
            </a:r>
            <a:endParaRPr lang="en-US" sz="2400" dirty="0"/>
          </a:p>
        </p:txBody>
      </p:sp>
      <p:sp>
        <p:nvSpPr>
          <p:cNvPr id="6" name="Text 4"/>
          <p:cNvSpPr txBox="1"/>
          <p:nvPr/>
        </p:nvSpPr>
        <p:spPr>
          <a:xfrm>
            <a:off x="548640"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0</a:t>
            </a:r>
            <a:endParaRPr lang="en-US" sz="1300" dirty="0"/>
          </a:p>
        </p:txBody>
      </p:sp>
      <p:sp>
        <p:nvSpPr>
          <p:cNvPr id="7" name="Text 5"/>
          <p:cNvSpPr txBox="1"/>
          <p:nvPr/>
        </p:nvSpPr>
        <p:spPr>
          <a:xfrm>
            <a:off x="548640"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Empresas y seguridad</a:t>
            </a:r>
            <a:endParaRPr lang="en-US" sz="1600" dirty="0"/>
          </a:p>
        </p:txBody>
      </p:sp>
      <p:sp>
        <p:nvSpPr>
          <p:cNvPr id="8" name="Text 6"/>
          <p:cNvSpPr txBox="1"/>
          <p:nvPr/>
        </p:nvSpPr>
        <p:spPr>
          <a:xfrm>
            <a:off x="548640"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Tres capas, propietario y co-propietario; reglas por empresa y grupo.</a:t>
            </a:r>
            <a:endParaRPr lang="en-US" sz="1200" dirty="0"/>
          </a:p>
        </p:txBody>
      </p:sp>
      <p:sp>
        <p:nvSpPr>
          <p:cNvPr id="9" name="fase 1"/>
          <p:cNvSpPr/>
          <p:nvPr/>
        </p:nvSpPr>
        <p:spPr>
          <a:xfrm>
            <a:off x="2916936" y="1737360"/>
            <a:ext cx="822960" cy="822960"/>
          </a:xfrm>
          <a:prstGeom prst="ellipse">
            <a:avLst/>
          </a:prstGeom>
          <a:solidFill>
            <a:schemeClr val="accent1"/>
          </a:solidFill>
          <a:ln w="12700">
            <a:solidFill>
              <a:schemeClr val="accent1"/>
            </a:solidFill>
            <a:prstDash val="solid"/>
          </a:ln>
        </p:spPr>
      </p:sp>
      <p:sp>
        <p:nvSpPr>
          <p:cNvPr id="10" name="Text 8"/>
          <p:cNvSpPr txBox="1"/>
          <p:nvPr/>
        </p:nvSpPr>
        <p:spPr>
          <a:xfrm>
            <a:off x="2916936"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11" name="Text 9"/>
          <p:cNvSpPr txBox="1"/>
          <p:nvPr/>
        </p:nvSpPr>
        <p:spPr>
          <a:xfrm>
            <a:off x="2432304"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1</a:t>
            </a:r>
            <a:endParaRPr lang="en-US" sz="1300" dirty="0"/>
          </a:p>
        </p:txBody>
      </p:sp>
      <p:sp>
        <p:nvSpPr>
          <p:cNvPr id="12" name="Text 10"/>
          <p:cNvSpPr txBox="1"/>
          <p:nvPr/>
        </p:nvSpPr>
        <p:spPr>
          <a:xfrm>
            <a:off x="2432304"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Ingreso y usuarios</a:t>
            </a:r>
            <a:endParaRPr lang="en-US" sz="1600" dirty="0"/>
          </a:p>
        </p:txBody>
      </p:sp>
      <p:sp>
        <p:nvSpPr>
          <p:cNvPr id="13" name="Text 11"/>
          <p:cNvSpPr txBox="1"/>
          <p:nvPr/>
        </p:nvSpPr>
        <p:spPr>
          <a:xfrm>
            <a:off x="2432304"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Correo y clave, clave temporal, pendientes, relevo, auditoría.</a:t>
            </a:r>
            <a:endParaRPr lang="en-US" sz="1200" dirty="0"/>
          </a:p>
        </p:txBody>
      </p:sp>
      <p:sp>
        <p:nvSpPr>
          <p:cNvPr id="14" name="fase 2"/>
          <p:cNvSpPr/>
          <p:nvPr/>
        </p:nvSpPr>
        <p:spPr>
          <a:xfrm>
            <a:off x="4800600" y="1737360"/>
            <a:ext cx="822960" cy="822960"/>
          </a:xfrm>
          <a:prstGeom prst="ellipse">
            <a:avLst/>
          </a:prstGeom>
          <a:solidFill>
            <a:schemeClr val="accent1"/>
          </a:solidFill>
          <a:ln w="12700">
            <a:solidFill>
              <a:schemeClr val="accent1"/>
            </a:solidFill>
            <a:prstDash val="solid"/>
          </a:ln>
        </p:spPr>
      </p:sp>
      <p:sp>
        <p:nvSpPr>
          <p:cNvPr id="15" name="Text 13"/>
          <p:cNvSpPr txBox="1"/>
          <p:nvPr/>
        </p:nvSpPr>
        <p:spPr>
          <a:xfrm>
            <a:off x="4800600"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16" name="Text 14"/>
          <p:cNvSpPr txBox="1"/>
          <p:nvPr/>
        </p:nvSpPr>
        <p:spPr>
          <a:xfrm>
            <a:off x="4315968"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2</a:t>
            </a:r>
            <a:endParaRPr lang="en-US" sz="1300" dirty="0"/>
          </a:p>
        </p:txBody>
      </p:sp>
      <p:sp>
        <p:nvSpPr>
          <p:cNvPr id="17" name="Text 15"/>
          <p:cNvSpPr txBox="1"/>
          <p:nvPr/>
        </p:nvSpPr>
        <p:spPr>
          <a:xfrm>
            <a:off x="4315968"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Grupos y áreas</a:t>
            </a:r>
            <a:endParaRPr lang="en-US" sz="1600" dirty="0"/>
          </a:p>
        </p:txBody>
      </p:sp>
      <p:sp>
        <p:nvSpPr>
          <p:cNvPr id="18" name="Text 16"/>
          <p:cNvSpPr txBox="1"/>
          <p:nvPr/>
        </p:nvSpPr>
        <p:spPr>
          <a:xfrm>
            <a:off x="4315968"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Proyectos como grupos; 11 áreas por empresa; DEMO sin restauración automática.</a:t>
            </a:r>
            <a:endParaRPr lang="en-US" sz="1200" dirty="0"/>
          </a:p>
        </p:txBody>
      </p:sp>
      <p:sp>
        <p:nvSpPr>
          <p:cNvPr id="19" name="fase 3"/>
          <p:cNvSpPr/>
          <p:nvPr/>
        </p:nvSpPr>
        <p:spPr>
          <a:xfrm>
            <a:off x="6684264" y="1737360"/>
            <a:ext cx="822960" cy="822960"/>
          </a:xfrm>
          <a:prstGeom prst="ellipse">
            <a:avLst/>
          </a:prstGeom>
          <a:solidFill>
            <a:schemeClr val="accent1"/>
          </a:solidFill>
          <a:ln w="12700">
            <a:solidFill>
              <a:schemeClr val="accent1"/>
            </a:solidFill>
            <a:prstDash val="solid"/>
          </a:ln>
        </p:spPr>
      </p:sp>
      <p:sp>
        <p:nvSpPr>
          <p:cNvPr id="20" name="Text 18"/>
          <p:cNvSpPr txBox="1"/>
          <p:nvPr/>
        </p:nvSpPr>
        <p:spPr>
          <a:xfrm>
            <a:off x="6684264"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21" name="Text 19"/>
          <p:cNvSpPr txBox="1"/>
          <p:nvPr/>
        </p:nvSpPr>
        <p:spPr>
          <a:xfrm>
            <a:off x="6199632"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3</a:t>
            </a:r>
            <a:endParaRPr lang="en-US" sz="1300" dirty="0"/>
          </a:p>
        </p:txBody>
      </p:sp>
      <p:sp>
        <p:nvSpPr>
          <p:cNvPr id="22" name="Text 20"/>
          <p:cNvSpPr txBox="1"/>
          <p:nvPr/>
        </p:nvSpPr>
        <p:spPr>
          <a:xfrm>
            <a:off x="6199632"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Invitados externos</a:t>
            </a:r>
            <a:endParaRPr lang="en-US" sz="1600" dirty="0"/>
          </a:p>
        </p:txBody>
      </p:sp>
      <p:sp>
        <p:nvSpPr>
          <p:cNvPr id="23" name="Text 21"/>
          <p:cNvSpPr txBox="1"/>
          <p:nvPr/>
        </p:nvSpPr>
        <p:spPr>
          <a:xfrm>
            <a:off x="6199632"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Acceso por proyecto, empresa y vencimiento.</a:t>
            </a:r>
            <a:endParaRPr lang="en-US" sz="1200" dirty="0"/>
          </a:p>
        </p:txBody>
      </p:sp>
      <p:sp>
        <p:nvSpPr>
          <p:cNvPr id="24" name="fase 4"/>
          <p:cNvSpPr/>
          <p:nvPr/>
        </p:nvSpPr>
        <p:spPr>
          <a:xfrm>
            <a:off x="8567928" y="1737360"/>
            <a:ext cx="822960" cy="822960"/>
          </a:xfrm>
          <a:prstGeom prst="ellipse">
            <a:avLst/>
          </a:prstGeom>
          <a:solidFill>
            <a:schemeClr val="accent1"/>
          </a:solidFill>
          <a:ln w="12700">
            <a:solidFill>
              <a:schemeClr val="accent1"/>
            </a:solidFill>
            <a:prstDash val="solid"/>
          </a:ln>
        </p:spPr>
      </p:sp>
      <p:sp>
        <p:nvSpPr>
          <p:cNvPr id="25" name="Text 23"/>
          <p:cNvSpPr txBox="1"/>
          <p:nvPr/>
        </p:nvSpPr>
        <p:spPr>
          <a:xfrm>
            <a:off x="8567928"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26" name="Text 24"/>
          <p:cNvSpPr txBox="1"/>
          <p:nvPr/>
        </p:nvSpPr>
        <p:spPr>
          <a:xfrm>
            <a:off x="8083296"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4</a:t>
            </a:r>
            <a:endParaRPr lang="en-US" sz="1300" dirty="0"/>
          </a:p>
        </p:txBody>
      </p:sp>
      <p:sp>
        <p:nvSpPr>
          <p:cNvPr id="27" name="Text 25"/>
          <p:cNvSpPr txBox="1"/>
          <p:nvPr/>
        </p:nvSpPr>
        <p:spPr>
          <a:xfrm>
            <a:off x="8083296"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Piloto</a:t>
            </a:r>
            <a:endParaRPr lang="en-US" sz="1600" dirty="0"/>
          </a:p>
        </p:txBody>
      </p:sp>
      <p:sp>
        <p:nvSpPr>
          <p:cNvPr id="28" name="Text 26"/>
          <p:cNvSpPr txBox="1"/>
          <p:nvPr/>
        </p:nvSpPr>
        <p:spPr>
          <a:xfrm>
            <a:off x="8083296"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Una empresa y un proyecto real.</a:t>
            </a:r>
            <a:endParaRPr lang="en-US" sz="1200" dirty="0"/>
          </a:p>
        </p:txBody>
      </p:sp>
      <p:sp>
        <p:nvSpPr>
          <p:cNvPr id="29" name="fase 5"/>
          <p:cNvSpPr/>
          <p:nvPr/>
        </p:nvSpPr>
        <p:spPr>
          <a:xfrm>
            <a:off x="10451592" y="1737360"/>
            <a:ext cx="822960" cy="822960"/>
          </a:xfrm>
          <a:prstGeom prst="ellipse">
            <a:avLst/>
          </a:prstGeom>
          <a:solidFill>
            <a:schemeClr val="accent1"/>
          </a:solidFill>
          <a:ln w="12700">
            <a:solidFill>
              <a:schemeClr val="accent1"/>
            </a:solidFill>
            <a:prstDash val="solid"/>
          </a:ln>
        </p:spPr>
      </p:sp>
      <p:sp>
        <p:nvSpPr>
          <p:cNvPr id="30" name="Text 28"/>
          <p:cNvSpPr txBox="1"/>
          <p:nvPr/>
        </p:nvSpPr>
        <p:spPr>
          <a:xfrm>
            <a:off x="10451592" y="1737360"/>
            <a:ext cx="822960" cy="822960"/>
          </a:xfrm>
          <a:prstGeom prst="rect">
            <a:avLst/>
          </a:prstGeom>
          <a:noFill/>
          <a:ln/>
        </p:spPr>
        <p:txBody>
          <a:bodyPr wrap="square" lIns="0" tIns="0" rIns="0" bIns="0" rtlCol="0" anchor="ctr"/>
          <a:lstStyle/>
          <a:p>
            <a:pPr algn="ctr" indent="0" marL="0">
              <a:buNone/>
            </a:pPr>
            <a:r>
              <a:rPr lang="en-US" sz="2400" b="1" dirty="0">
                <a:solidFill>
                  <a:schemeClr val="tx2"/>
                </a:solidFill>
              </a:rPr>
              <a:t>5</a:t>
            </a:r>
            <a:endParaRPr lang="en-US" sz="2400" dirty="0"/>
          </a:p>
        </p:txBody>
      </p:sp>
      <p:sp>
        <p:nvSpPr>
          <p:cNvPr id="31" name="Text 29"/>
          <p:cNvSpPr txBox="1"/>
          <p:nvPr/>
        </p:nvSpPr>
        <p:spPr>
          <a:xfrm>
            <a:off x="9966960" y="2743200"/>
            <a:ext cx="1783080" cy="320040"/>
          </a:xfrm>
          <a:prstGeom prst="rect">
            <a:avLst/>
          </a:prstGeom>
          <a:noFill/>
          <a:ln/>
        </p:spPr>
        <p:txBody>
          <a:bodyPr wrap="square" lIns="0" tIns="0" rIns="0" bIns="0" rtlCol="0" anchor="t"/>
          <a:lstStyle/>
          <a:p>
            <a:pPr algn="ctr" indent="0" marL="0">
              <a:buNone/>
            </a:pPr>
            <a:r>
              <a:rPr lang="en-US" sz="1300" b="1" dirty="0">
                <a:solidFill>
                  <a:schemeClr val="accent1"/>
                </a:solidFill>
              </a:rPr>
              <a:t>Fase 5</a:t>
            </a:r>
            <a:endParaRPr lang="en-US" sz="1300" dirty="0"/>
          </a:p>
        </p:txBody>
      </p:sp>
      <p:sp>
        <p:nvSpPr>
          <p:cNvPr id="32" name="Text 30"/>
          <p:cNvSpPr txBox="1"/>
          <p:nvPr/>
        </p:nvSpPr>
        <p:spPr>
          <a:xfrm>
            <a:off x="9966960" y="3063240"/>
            <a:ext cx="1783080" cy="640080"/>
          </a:xfrm>
          <a:prstGeom prst="rect">
            <a:avLst/>
          </a:prstGeom>
          <a:noFill/>
          <a:ln/>
        </p:spPr>
        <p:txBody>
          <a:bodyPr wrap="square" lIns="0" tIns="0" rIns="0" bIns="0" rtlCol="0" anchor="t"/>
          <a:lstStyle/>
          <a:p>
            <a:pPr algn="ctr" indent="0" marL="0">
              <a:buNone/>
            </a:pPr>
            <a:r>
              <a:rPr lang="en-US" sz="1600" b="1" dirty="0">
                <a:solidFill>
                  <a:schemeClr val="bg1"/>
                </a:solidFill>
              </a:rPr>
              <a:t>Segunda empresa</a:t>
            </a:r>
            <a:endParaRPr lang="en-US" sz="1600" dirty="0"/>
          </a:p>
        </p:txBody>
      </p:sp>
      <p:sp>
        <p:nvSpPr>
          <p:cNvPr id="33" name="Text 31"/>
          <p:cNvSpPr txBox="1"/>
          <p:nvPr/>
        </p:nvSpPr>
        <p:spPr>
          <a:xfrm>
            <a:off x="9966960" y="3749040"/>
            <a:ext cx="1783080" cy="1097280"/>
          </a:xfrm>
          <a:prstGeom prst="rect">
            <a:avLst/>
          </a:prstGeom>
          <a:noFill/>
          <a:ln/>
        </p:spPr>
        <p:txBody>
          <a:bodyPr wrap="square" lIns="0" tIns="0" rIns="0" bIns="0" rtlCol="0" anchor="t"/>
          <a:lstStyle/>
          <a:p>
            <a:pPr algn="ctr" indent="0" marL="0">
              <a:buNone/>
            </a:pPr>
            <a:r>
              <a:rPr lang="en-US" sz="1200" dirty="0">
                <a:solidFill>
                  <a:schemeClr val="bg2"/>
                </a:solidFill>
              </a:rPr>
              <a:t>Alta de otra empresa y prueba de que no se cruzan.</a:t>
            </a:r>
            <a:endParaRPr lang="en-US" sz="1200" dirty="0"/>
          </a:p>
        </p:txBody>
      </p:sp>
      <p:sp>
        <p:nvSpPr>
          <p:cNvPr id="34" name="regla de avance"/>
          <p:cNvSpPr/>
          <p:nvPr/>
        </p:nvSpPr>
        <p:spPr>
          <a:xfrm>
            <a:off x="548640" y="4983480"/>
            <a:ext cx="11064240" cy="914400"/>
          </a:xfrm>
          <a:prstGeom prst="roundRect">
            <a:avLst>
              <a:gd name="adj" fmla="val 10000"/>
            </a:avLst>
          </a:prstGeom>
          <a:solidFill>
            <a:srgbClr val="22324D"/>
          </a:solidFill>
          <a:ln w="12700">
            <a:solidFill>
              <a:srgbClr val="22324D"/>
            </a:solidFill>
            <a:prstDash val="solid"/>
          </a:ln>
        </p:spPr>
      </p:sp>
      <p:sp>
        <p:nvSpPr>
          <p:cNvPr id="35" name="Text 33"/>
          <p:cNvSpPr txBox="1"/>
          <p:nvPr/>
        </p:nvSpPr>
        <p:spPr>
          <a:xfrm>
            <a:off x="822960" y="5074920"/>
            <a:ext cx="10515600" cy="731520"/>
          </a:xfrm>
          <a:prstGeom prst="rect">
            <a:avLst/>
          </a:prstGeom>
          <a:noFill/>
          <a:ln/>
        </p:spPr>
        <p:txBody>
          <a:bodyPr wrap="square" lIns="0" tIns="0" rIns="0" bIns="0" rtlCol="0" anchor="ctr"/>
          <a:lstStyle/>
          <a:p>
            <a:pPr indent="0" marL="0">
              <a:buNone/>
            </a:pPr>
            <a:r>
              <a:rPr lang="en-US" sz="1400" b="1" dirty="0">
                <a:solidFill>
                  <a:schemeClr val="accent1"/>
                </a:solidFill>
              </a:rPr>
              <a:t>Regla de avance: </a:t>
            </a:r>
            <a:pPr indent="0" marL="0">
              <a:buNone/>
            </a:pPr>
            <a:r>
              <a:rPr lang="en-US" sz="1400" dirty="0">
                <a:solidFill>
                  <a:schemeClr val="bg1"/>
                </a:solidFill>
              </a:rPr>
              <a:t>cada fase se prueba con usuarios de cada nivel (como en LPS-GT) y no se pasa a la siguiente sin tu visto bueno. La fase 0 va primero: hoy la base está abierta y la capa empresa es más barata desde el inicio.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ECM Configuración">
  <a:themeElements>
    <a:clrScheme name="ECM Configuración">
      <a:dk1>
        <a:srgbClr val="1F2937"/>
      </a:dk1>
      <a:lt1>
        <a:srgbClr val="FFFFFF"/>
      </a:lt1>
      <a:dk2>
        <a:srgbClr val="17243A"/>
      </a:dk2>
      <a:lt2>
        <a:srgbClr val="EEF2F6"/>
      </a:lt2>
      <a:accent1>
        <a:srgbClr val="E8A33D"/>
      </a:accent1>
      <a:accent2>
        <a:srgbClr val="2A8C82"/>
      </a:accent2>
      <a:accent3>
        <a:srgbClr val="3D6FA8"/>
      </a:accent3>
      <a:accent4>
        <a:srgbClr val="C2553F"/>
      </a:accent4>
      <a:accent5>
        <a:srgbClr val="5B6B80"/>
      </a:accent5>
      <a:accent6>
        <a:srgbClr val="D5DCE5"/>
      </a:accent6>
      <a:hlink>
        <a:srgbClr val="3D6FA8"/>
      </a:hlink>
      <a:folHlink>
        <a:srgbClr val="5B6B80"/>
      </a:folHlink>
    </a:clrScheme>
    <a:fontScheme name="ECM Configuració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Espacio de Configuración — Esquema funcional</dc:title>
  <dc:subject>PptxGenJS Presentation</dc:subject>
  <dc:creator>E. Chávez</dc:creator>
  <cp:lastModifiedBy>E. Chávez</cp:lastModifiedBy>
  <cp:revision>1</cp:revision>
  <dcterms:created xsi:type="dcterms:W3CDTF">2026-10-27T01:07:40Z</dcterms:created>
  <dcterms:modified xsi:type="dcterms:W3CDTF">2026-10-27T01:07:40Z</dcterms:modified>
</cp:coreProperties>
</file>